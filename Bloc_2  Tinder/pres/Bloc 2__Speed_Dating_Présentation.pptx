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932ADA-E2F7-4A82-B7EC-A9BE817B13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146677-1D1E-4DA4-9859-D86D3E2654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8FDC39-DBBB-4D73-BD6B-D3BABAD33F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BAF1D5-9864-4E49-A8FD-EF2C6DE738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716CE6-B193-4897-BA45-B763E2D9CF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BB1023-0DD6-4419-9620-4174CB1DB0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2A5B24-28FE-4F2D-9FC6-ABA7AC0EB9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6D0241-4AC1-4F8A-A870-79DF652D98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DC4694-616F-43EE-B81F-3FD3355749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28E644-2FBF-4A1E-8AEB-1A11C51378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097675-BB20-4BB1-9BAA-57E810E1F6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7863840" y="118800"/>
            <a:ext cx="4327560" cy="6738840"/>
          </a:xfrm>
          <a:prstGeom prst="rect">
            <a:avLst/>
          </a:prstGeom>
          <a:solidFill>
            <a:srgbClr val="0B48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548640" y="548640"/>
            <a:ext cx="6217560" cy="13712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Analyse des déterminants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d’un match mutuel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560520" y="1714320"/>
            <a:ext cx="502884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Projet Speed Dating — Bloc 2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567000" y="2340000"/>
            <a:ext cx="640044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CE8EC"/>
                </a:solidFill>
                <a:effectLst/>
                <a:uFillTx/>
                <a:latin typeface="Aptos"/>
              </a:rPr>
              <a:t>Approche exploratoire, visualisations et lecture produit type Tinder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406800" y="3305520"/>
            <a:ext cx="7296480" cy="1023840"/>
          </a:xfrm>
          <a:prstGeom prst="roundRect">
            <a:avLst>
              <a:gd name="adj" fmla="val 16667"/>
            </a:avLst>
          </a:prstGeom>
          <a:solidFill>
            <a:srgbClr val="0E5469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Objectif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Comprendre quels facteurs augmentent la probabilité d’un intérêt réciproque après une première rencontre.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567000" y="6035040"/>
            <a:ext cx="3286080" cy="2282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Groupe 3 — Bloc 2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9"/>
          <p:cNvSpPr/>
          <p:nvPr/>
        </p:nvSpPr>
        <p:spPr>
          <a:xfrm>
            <a:off x="8217360" y="763560"/>
            <a:ext cx="1051200" cy="868320"/>
          </a:xfrm>
          <a:prstGeom prst="roundRect">
            <a:avLst>
              <a:gd name="adj" fmla="val 16667"/>
            </a:avLst>
          </a:prstGeom>
          <a:solidFill>
            <a:srgbClr val="0F5469"/>
          </a:solidFill>
          <a:ln w="1270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5A623"/>
                </a:solidFill>
                <a:effectLst/>
                <a:uFillTx/>
                <a:latin typeface="Aptos"/>
              </a:rPr>
              <a:t>8 378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lignes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10"/>
          <p:cNvSpPr/>
          <p:nvPr/>
        </p:nvSpPr>
        <p:spPr>
          <a:xfrm>
            <a:off x="9418320" y="777240"/>
            <a:ext cx="1307160" cy="868320"/>
          </a:xfrm>
          <a:prstGeom prst="roundRect">
            <a:avLst>
              <a:gd name="adj" fmla="val 16667"/>
            </a:avLst>
          </a:prstGeom>
          <a:solidFill>
            <a:srgbClr val="0F5469"/>
          </a:solidFill>
          <a:ln w="1270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551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participants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1"/>
          <p:cNvSpPr/>
          <p:nvPr/>
        </p:nvSpPr>
        <p:spPr>
          <a:xfrm>
            <a:off x="10931760" y="777240"/>
            <a:ext cx="1051200" cy="868320"/>
          </a:xfrm>
          <a:prstGeom prst="roundRect">
            <a:avLst>
              <a:gd name="adj" fmla="val 16667"/>
            </a:avLst>
          </a:prstGeom>
          <a:solidFill>
            <a:srgbClr val="0F5469"/>
          </a:solidFill>
          <a:ln w="1270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E96B56"/>
                </a:solidFill>
                <a:effectLst/>
                <a:uFillTx/>
                <a:latin typeface="Aptos"/>
              </a:rPr>
              <a:t>21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waves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12" descr="s1_8.png"/>
          <p:cNvPicPr/>
          <p:nvPr/>
        </p:nvPicPr>
        <p:blipFill>
          <a:blip r:embed="rId1"/>
          <a:stretch/>
        </p:blipFill>
        <p:spPr>
          <a:xfrm>
            <a:off x="8183880" y="1691640"/>
            <a:ext cx="3382920" cy="29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Rounded Rectangle 13"/>
          <p:cNvSpPr/>
          <p:nvPr/>
        </p:nvSpPr>
        <p:spPr>
          <a:xfrm>
            <a:off x="7863840" y="5166360"/>
            <a:ext cx="4230000" cy="50256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73B4C"/>
                </a:solidFill>
                <a:effectLst/>
                <a:uFillTx/>
                <a:latin typeface="Aptos"/>
              </a:rPr>
              <a:t>Question centrale : Qu’est-ce qui crée un vrai match ?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4"/>
          <p:cNvSpPr/>
          <p:nvPr/>
        </p:nvSpPr>
        <p:spPr>
          <a:xfrm>
            <a:off x="11688840" y="65106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-1332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360" y="28800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640080" y="35172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Problématique produit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11688840" y="65106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6"/>
          <p:cNvSpPr/>
          <p:nvPr/>
        </p:nvSpPr>
        <p:spPr>
          <a:xfrm>
            <a:off x="0" y="668412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7"/>
          <p:cNvSpPr/>
          <p:nvPr/>
        </p:nvSpPr>
        <p:spPr>
          <a:xfrm>
            <a:off x="604440" y="1026360"/>
            <a:ext cx="8595000" cy="6397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Quels facteurs augmentent réellement la probabilité qu’un rendez-vous débouche sur un intérêt réciproque ?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8"/>
          <p:cNvSpPr/>
          <p:nvPr/>
        </p:nvSpPr>
        <p:spPr>
          <a:xfrm>
            <a:off x="530280" y="2028960"/>
            <a:ext cx="10881000" cy="4111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Le brief demande d’utiliser le dataset pour comprendre ce qui rend deux personnes intéressées l’une par l’autre, avec des statistiques descriptives, des visualisations et des interprétations.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640080" y="2965320"/>
            <a:ext cx="2697120" cy="32868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Décision individuelle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0"/>
          <p:cNvSpPr/>
          <p:nvPr/>
        </p:nvSpPr>
        <p:spPr>
          <a:xfrm>
            <a:off x="602280" y="3564000"/>
            <a:ext cx="26971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dec = “je veux revoir cette personne”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1"/>
          <p:cNvSpPr/>
          <p:nvPr/>
        </p:nvSpPr>
        <p:spPr>
          <a:xfrm>
            <a:off x="3246120" y="2871360"/>
            <a:ext cx="548280" cy="45684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→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2"/>
          <p:cNvSpPr/>
          <p:nvPr/>
        </p:nvSpPr>
        <p:spPr>
          <a:xfrm>
            <a:off x="3958560" y="2962440"/>
            <a:ext cx="2697120" cy="328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Match mutuel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3"/>
          <p:cNvSpPr/>
          <p:nvPr/>
        </p:nvSpPr>
        <p:spPr>
          <a:xfrm>
            <a:off x="3958560" y="3538800"/>
            <a:ext cx="26971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F5A6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match = “les deux disent oui”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4"/>
          <p:cNvSpPr/>
          <p:nvPr/>
        </p:nvSpPr>
        <p:spPr>
          <a:xfrm>
            <a:off x="7277400" y="2935080"/>
            <a:ext cx="4023000" cy="32868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Angle retenu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7315200" y="3474720"/>
            <a:ext cx="402300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distinguer le profil avant rencontre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isoler ce qui se construit pendant l’échange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raisonner en logique de matching réciproque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6"/>
          <p:cNvSpPr/>
          <p:nvPr/>
        </p:nvSpPr>
        <p:spPr>
          <a:xfrm>
            <a:off x="746640" y="5340240"/>
            <a:ext cx="10698120" cy="50256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Message clé : le produit doit optimiser la réciprocité, pas seulement le nombre de “oui”.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320040" y="43884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Dataset et méthode d’analyse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11688840" y="65106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6"/>
          <p:cNvSpPr/>
          <p:nvPr/>
        </p:nvSpPr>
        <p:spPr>
          <a:xfrm>
            <a:off x="274320" y="665676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533520" y="1271160"/>
            <a:ext cx="201132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F5A623"/>
                </a:solidFill>
                <a:effectLst/>
                <a:uFillTx/>
                <a:latin typeface="Aptos"/>
              </a:rPr>
              <a:t>8 378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lignes observées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8"/>
          <p:cNvSpPr/>
          <p:nvPr/>
        </p:nvSpPr>
        <p:spPr>
          <a:xfrm>
            <a:off x="2666880" y="1271160"/>
            <a:ext cx="201132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4 184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speed dates uniques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9"/>
          <p:cNvSpPr/>
          <p:nvPr/>
        </p:nvSpPr>
        <p:spPr>
          <a:xfrm>
            <a:off x="4837680" y="1271160"/>
            <a:ext cx="182844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96B56"/>
                </a:solidFill>
                <a:effectLst/>
                <a:uFillTx/>
                <a:latin typeface="Aptos"/>
              </a:rPr>
              <a:t>551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participants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0"/>
          <p:cNvSpPr/>
          <p:nvPr/>
        </p:nvSpPr>
        <p:spPr>
          <a:xfrm>
            <a:off x="6825240" y="127116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6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21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waves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11"/>
          <p:cNvSpPr/>
          <p:nvPr/>
        </p:nvSpPr>
        <p:spPr>
          <a:xfrm>
            <a:off x="8442720" y="1271160"/>
            <a:ext cx="3245760" cy="78588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Source : événements expérimentaux de speed dating 2002–2004.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Chaque rendez-vous dure environ 4 minutes.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2"/>
          <p:cNvSpPr/>
          <p:nvPr/>
        </p:nvSpPr>
        <p:spPr>
          <a:xfrm>
            <a:off x="624960" y="2606040"/>
            <a:ext cx="5211720" cy="32868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Méthode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3"/>
          <p:cNvSpPr/>
          <p:nvPr/>
        </p:nvSpPr>
        <p:spPr>
          <a:xfrm>
            <a:off x="624960" y="3465720"/>
            <a:ext cx="52117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statistiques descriptives et groupby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visualisations comparatives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checks par participant et par paire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bonus modeling : profil seul vs impressions du date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4"/>
          <p:cNvSpPr/>
          <p:nvPr/>
        </p:nvSpPr>
        <p:spPr>
          <a:xfrm>
            <a:off x="5989320" y="2603160"/>
            <a:ext cx="5577480" cy="328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Unités d’analyse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5"/>
          <p:cNvSpPr/>
          <p:nvPr/>
        </p:nvSpPr>
        <p:spPr>
          <a:xfrm>
            <a:off x="6080760" y="3465720"/>
            <a:ext cx="55774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F5A6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ligne : perception d’un participant sur un date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paire : rencontre réelle entre deux participants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participant : comportement moyen individuel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6"/>
          <p:cNvSpPr/>
          <p:nvPr/>
        </p:nvSpPr>
        <p:spPr>
          <a:xfrm>
            <a:off x="670320" y="5431680"/>
            <a:ext cx="11018160" cy="52992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Point de rigueur : un même rendez-vous apparaît généralement deux fois dans le dataset brut.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320040" y="43884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Décision positive vs match mutuel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5"/>
          <p:cNvSpPr/>
          <p:nvPr/>
        </p:nvSpPr>
        <p:spPr>
          <a:xfrm>
            <a:off x="11773080" y="642384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0" y="659772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ounded Rectangle 7"/>
          <p:cNvSpPr/>
          <p:nvPr/>
        </p:nvSpPr>
        <p:spPr>
          <a:xfrm>
            <a:off x="594360" y="1005840"/>
            <a:ext cx="4659840" cy="3382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Picture 8" descr="s4_5.png"/>
          <p:cNvPicPr/>
          <p:nvPr/>
        </p:nvPicPr>
        <p:blipFill>
          <a:blip r:embed="rId1"/>
          <a:stretch/>
        </p:blipFill>
        <p:spPr>
          <a:xfrm>
            <a:off x="750960" y="1170360"/>
            <a:ext cx="4147920" cy="29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Rounded Rectangle 9"/>
          <p:cNvSpPr/>
          <p:nvPr/>
        </p:nvSpPr>
        <p:spPr>
          <a:xfrm>
            <a:off x="5695560" y="1001160"/>
            <a:ext cx="5668920" cy="328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Résultat clé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0"/>
          <p:cNvSpPr/>
          <p:nvPr/>
        </p:nvSpPr>
        <p:spPr>
          <a:xfrm>
            <a:off x="5695560" y="1723680"/>
            <a:ext cx="566892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F5A6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7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Les hommes disent plus souvent “oui”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2000" b="1" u="none" strike="noStrike">
                <a:solidFill>
                  <a:srgbClr val="E96B56"/>
                </a:solidFill>
                <a:effectLst/>
                <a:uFillTx/>
                <a:latin typeface="Aptos"/>
              </a:rPr>
              <a:t>47,4 % vs 36,5 %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Mais le taux final de match reste quasi identique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16,5 % des deux côtés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1"/>
          <p:cNvSpPr/>
          <p:nvPr/>
        </p:nvSpPr>
        <p:spPr>
          <a:xfrm>
            <a:off x="5695560" y="3447360"/>
            <a:ext cx="5668920" cy="32868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Insight produit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2"/>
          <p:cNvSpPr/>
          <p:nvPr/>
        </p:nvSpPr>
        <p:spPr>
          <a:xfrm>
            <a:off x="5695560" y="4037040"/>
            <a:ext cx="566892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Augmenter le nombre de décisions positives ne suffit pas : l’enjeu est de maximiser la réciprocité.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La bonne métrique produit est donc le match mutuel, pas seulement le “like”.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13"/>
          <p:cNvSpPr/>
          <p:nvPr/>
        </p:nvSpPr>
        <p:spPr>
          <a:xfrm>
            <a:off x="5636520" y="53766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2700">
            <a:solidFill>
              <a:srgbClr val="C8EB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96B56"/>
                </a:solidFill>
                <a:effectLst/>
                <a:uFillTx/>
                <a:latin typeface="Aptos"/>
              </a:rPr>
              <a:t>47,4 %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yes-rate hommes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4"/>
          <p:cNvSpPr/>
          <p:nvPr/>
        </p:nvSpPr>
        <p:spPr>
          <a:xfrm>
            <a:off x="7700400" y="53766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E5F6F6"/>
          </a:solidFill>
          <a:ln w="12700">
            <a:solidFill>
              <a:srgbClr val="BAE4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36,5 %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yes-rate femmes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5"/>
          <p:cNvSpPr/>
          <p:nvPr/>
        </p:nvSpPr>
        <p:spPr>
          <a:xfrm>
            <a:off x="9764640" y="5349240"/>
            <a:ext cx="1599840" cy="822600"/>
          </a:xfrm>
          <a:prstGeom prst="roundRect">
            <a:avLst>
              <a:gd name="adj" fmla="val 16667"/>
            </a:avLst>
          </a:prstGeom>
          <a:solidFill>
            <a:srgbClr val="FFF7EC"/>
          </a:solidFill>
          <a:ln w="12700">
            <a:solidFill>
              <a:srgbClr val="EFDA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F5A623"/>
                </a:solidFill>
                <a:effectLst/>
                <a:uFillTx/>
                <a:latin typeface="Aptos"/>
              </a:rPr>
              <a:t>16,5 %</a:t>
            </a:r>
            <a:endParaRPr lang="fr-F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match mutuel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320040" y="43884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Ce qui pèse pendant l’interaction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5"/>
          <p:cNvSpPr/>
          <p:nvPr/>
        </p:nvSpPr>
        <p:spPr>
          <a:xfrm>
            <a:off x="11688840" y="65106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6"/>
          <p:cNvSpPr/>
          <p:nvPr/>
        </p:nvSpPr>
        <p:spPr>
          <a:xfrm>
            <a:off x="274320" y="665676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7"/>
          <p:cNvSpPr/>
          <p:nvPr/>
        </p:nvSpPr>
        <p:spPr>
          <a:xfrm>
            <a:off x="274320" y="905400"/>
            <a:ext cx="4114440" cy="72216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Variables les plus associées au match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8"/>
          <p:cNvSpPr/>
          <p:nvPr/>
        </p:nvSpPr>
        <p:spPr>
          <a:xfrm>
            <a:off x="274320" y="2203560"/>
            <a:ext cx="411444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like : appréciation globale de la personne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fun : échange perçu comme agréable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shar : intérêts communs perçus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attr : attractivité perçue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9"/>
          <p:cNvSpPr/>
          <p:nvPr/>
        </p:nvSpPr>
        <p:spPr>
          <a:xfrm>
            <a:off x="4495680" y="868680"/>
            <a:ext cx="6716160" cy="361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5A6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Picture 10" descr="s5_5.png"/>
          <p:cNvPicPr/>
          <p:nvPr/>
        </p:nvPicPr>
        <p:blipFill>
          <a:blip r:embed="rId1"/>
          <a:stretch/>
        </p:blipFill>
        <p:spPr>
          <a:xfrm>
            <a:off x="4767840" y="1170360"/>
            <a:ext cx="6040080" cy="319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Rounded Rectangle 11"/>
          <p:cNvSpPr/>
          <p:nvPr/>
        </p:nvSpPr>
        <p:spPr>
          <a:xfrm>
            <a:off x="274320" y="5358240"/>
            <a:ext cx="11612520" cy="84996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Message central : les signaux construits pendant l’échange expliquent mieux l’issue du rendez-vous que les seules caractéristiques statiques du profil.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3"/>
          <p:cNvSpPr/>
          <p:nvPr/>
        </p:nvSpPr>
        <p:spPr>
          <a:xfrm>
            <a:off x="320040" y="43884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Préférences déclarées vs impact observé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5"/>
          <p:cNvSpPr/>
          <p:nvPr/>
        </p:nvSpPr>
        <p:spPr>
          <a:xfrm>
            <a:off x="11773080" y="65052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6"/>
          <p:cNvSpPr/>
          <p:nvPr/>
        </p:nvSpPr>
        <p:spPr>
          <a:xfrm>
            <a:off x="45720" y="661968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ounded Rectangle 7"/>
          <p:cNvSpPr/>
          <p:nvPr/>
        </p:nvSpPr>
        <p:spPr>
          <a:xfrm>
            <a:off x="274320" y="872640"/>
            <a:ext cx="5303160" cy="32868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 que les participants disent vouloir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274320" y="1380600"/>
            <a:ext cx="5577480" cy="268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Picture 9" descr="s6_6.png"/>
          <p:cNvPicPr/>
          <p:nvPr/>
        </p:nvPicPr>
        <p:blipFill>
          <a:blip r:embed="rId1"/>
          <a:stretch/>
        </p:blipFill>
        <p:spPr>
          <a:xfrm>
            <a:off x="522720" y="1460160"/>
            <a:ext cx="5080680" cy="255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ounded Rectangle 10"/>
          <p:cNvSpPr/>
          <p:nvPr/>
        </p:nvSpPr>
        <p:spPr>
          <a:xfrm>
            <a:off x="6126480" y="831960"/>
            <a:ext cx="5440320" cy="328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 qui est observé dans les décisions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1"/>
          <p:cNvSpPr/>
          <p:nvPr/>
        </p:nvSpPr>
        <p:spPr>
          <a:xfrm>
            <a:off x="6126480" y="1380600"/>
            <a:ext cx="5760360" cy="2688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5A6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12" descr="s6_8.png"/>
          <p:cNvPicPr/>
          <p:nvPr/>
        </p:nvPicPr>
        <p:blipFill>
          <a:blip r:embed="rId2"/>
          <a:stretch/>
        </p:blipFill>
        <p:spPr>
          <a:xfrm>
            <a:off x="6379200" y="1566360"/>
            <a:ext cx="4982040" cy="238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Rounded Rectangle 13"/>
          <p:cNvSpPr/>
          <p:nvPr/>
        </p:nvSpPr>
        <p:spPr>
          <a:xfrm>
            <a:off x="320040" y="4476600"/>
            <a:ext cx="11041200" cy="50256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Lecture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4"/>
          <p:cNvSpPr/>
          <p:nvPr/>
        </p:nvSpPr>
        <p:spPr>
          <a:xfrm>
            <a:off x="320040" y="5225400"/>
            <a:ext cx="11246760" cy="1184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ptos"/>
              </a:rPr>
              <a:t>L’attractivité compte, mais elle ne suffit pas. Le fun, l’appréciation globale et les intérêts partagés structurent aussi fortement le résultat.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chemeClr val="lt2">
                    <a:lumMod val="10000"/>
                  </a:schemeClr>
                </a:solidFill>
                <a:effectLst/>
                <a:uFillTx/>
                <a:latin typeface="Aptos"/>
              </a:rPr>
              <a:t>Point de rigueur : certaines préférences déclarées ont été normalisées pour limiter les biais liés aux échelles de réponse.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320040" y="43884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Intérêts partagés vs similarité démographique</a:t>
            </a:r>
            <a:endParaRPr lang="fr-F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5"/>
          <p:cNvSpPr/>
          <p:nvPr/>
        </p:nvSpPr>
        <p:spPr>
          <a:xfrm>
            <a:off x="11848680" y="650988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6"/>
          <p:cNvSpPr/>
          <p:nvPr/>
        </p:nvSpPr>
        <p:spPr>
          <a:xfrm>
            <a:off x="113040" y="659664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ounded Rectangle 7"/>
          <p:cNvSpPr/>
          <p:nvPr/>
        </p:nvSpPr>
        <p:spPr>
          <a:xfrm>
            <a:off x="320040" y="1570320"/>
            <a:ext cx="4800240" cy="32868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Même race : effet faible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8"/>
          <p:cNvSpPr/>
          <p:nvPr/>
        </p:nvSpPr>
        <p:spPr>
          <a:xfrm>
            <a:off x="182520" y="2277360"/>
            <a:ext cx="5235840" cy="2770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73B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4" name="Picture 9" descr="s7_6.png"/>
          <p:cNvPicPr/>
          <p:nvPr/>
        </p:nvPicPr>
        <p:blipFill>
          <a:blip r:embed="rId1"/>
          <a:stretch/>
        </p:blipFill>
        <p:spPr>
          <a:xfrm>
            <a:off x="369360" y="2378160"/>
            <a:ext cx="4546440" cy="253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Rounded Rectangle 10"/>
          <p:cNvSpPr/>
          <p:nvPr/>
        </p:nvSpPr>
        <p:spPr>
          <a:xfrm>
            <a:off x="5712840" y="1527840"/>
            <a:ext cx="5825520" cy="32868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Intérêts partagés : effet massif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1"/>
          <p:cNvSpPr/>
          <p:nvPr/>
        </p:nvSpPr>
        <p:spPr>
          <a:xfrm>
            <a:off x="5699880" y="2325240"/>
            <a:ext cx="5938920" cy="2742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7" name="Picture 12" descr="s7_8.png"/>
          <p:cNvPicPr/>
          <p:nvPr/>
        </p:nvPicPr>
        <p:blipFill>
          <a:blip r:embed="rId2"/>
          <a:stretch/>
        </p:blipFill>
        <p:spPr>
          <a:xfrm>
            <a:off x="5959440" y="2453400"/>
            <a:ext cx="5287320" cy="250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Rounded Rectangle 13"/>
          <p:cNvSpPr/>
          <p:nvPr/>
        </p:nvSpPr>
        <p:spPr>
          <a:xfrm>
            <a:off x="621720" y="5372280"/>
            <a:ext cx="2011320" cy="776880"/>
          </a:xfrm>
          <a:prstGeom prst="roundRect">
            <a:avLst>
              <a:gd name="adj" fmla="val 16667"/>
            </a:avLst>
          </a:prstGeom>
          <a:solidFill>
            <a:srgbClr val="FFF7EC"/>
          </a:solidFill>
          <a:ln w="12700">
            <a:solidFill>
              <a:srgbClr val="F0D6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3080" rIns="9000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5A623"/>
                </a:solidFill>
                <a:effectLst/>
                <a:uFillTx/>
                <a:latin typeface="Aptos"/>
              </a:rPr>
              <a:t>5 % → 34 %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taux de match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4"/>
          <p:cNvSpPr/>
          <p:nvPr/>
        </p:nvSpPr>
        <p:spPr>
          <a:xfrm>
            <a:off x="3135240" y="5372280"/>
            <a:ext cx="8503560" cy="86832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Implication produit : recommander seulement des profils “similaires” est moins pertinent que favoriser des compatibilités relationnelles concrètes.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3"/>
          <p:cNvSpPr/>
          <p:nvPr/>
        </p:nvSpPr>
        <p:spPr>
          <a:xfrm>
            <a:off x="320040" y="43884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Robustesse : profil seul vs impressions du date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5"/>
          <p:cNvSpPr/>
          <p:nvPr/>
        </p:nvSpPr>
        <p:spPr>
          <a:xfrm>
            <a:off x="11773080" y="65106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6"/>
          <p:cNvSpPr/>
          <p:nvPr/>
        </p:nvSpPr>
        <p:spPr>
          <a:xfrm>
            <a:off x="99000" y="660816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ounded Rectangle 7"/>
          <p:cNvSpPr/>
          <p:nvPr/>
        </p:nvSpPr>
        <p:spPr>
          <a:xfrm>
            <a:off x="320040" y="1277280"/>
            <a:ext cx="5257440" cy="32868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Pouvoir prédictif comparé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8"/>
          <p:cNvSpPr/>
          <p:nvPr/>
        </p:nvSpPr>
        <p:spPr>
          <a:xfrm>
            <a:off x="320040" y="1853280"/>
            <a:ext cx="5257440" cy="2776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8" name="Picture 9" descr="s8_6.png"/>
          <p:cNvPicPr/>
          <p:nvPr/>
        </p:nvPicPr>
        <p:blipFill>
          <a:blip r:embed="rId1"/>
          <a:stretch/>
        </p:blipFill>
        <p:spPr>
          <a:xfrm>
            <a:off x="531720" y="2013840"/>
            <a:ext cx="4833720" cy="24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Rounded Rectangle 10"/>
          <p:cNvSpPr/>
          <p:nvPr/>
        </p:nvSpPr>
        <p:spPr>
          <a:xfrm>
            <a:off x="6080760" y="1281600"/>
            <a:ext cx="5211720" cy="32868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Calibration des attentes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1"/>
          <p:cNvSpPr/>
          <p:nvPr/>
        </p:nvSpPr>
        <p:spPr>
          <a:xfrm>
            <a:off x="6174360" y="1853280"/>
            <a:ext cx="5211720" cy="280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5A6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1" name="Picture 12" descr="s8_8.png"/>
          <p:cNvPicPr/>
          <p:nvPr/>
        </p:nvPicPr>
        <p:blipFill>
          <a:blip r:embed="rId2"/>
          <a:stretch/>
        </p:blipFill>
        <p:spPr>
          <a:xfrm>
            <a:off x="6298560" y="2037600"/>
            <a:ext cx="4482720" cy="229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Rounded Rectangle 13"/>
          <p:cNvSpPr/>
          <p:nvPr/>
        </p:nvSpPr>
        <p:spPr>
          <a:xfrm>
            <a:off x="548640" y="4712040"/>
            <a:ext cx="10972440" cy="45684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Deux confirmations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4"/>
          <p:cNvSpPr/>
          <p:nvPr/>
        </p:nvSpPr>
        <p:spPr>
          <a:xfrm>
            <a:off x="548640" y="5334120"/>
            <a:ext cx="10972440" cy="108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Le profil pur explique moins que les impressions du date ; les participants anticipent partiellement leur succès, mais avec une tendance à la surestimation.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606E78"/>
                </a:solidFill>
                <a:effectLst/>
                <a:uFillTx/>
                <a:latin typeface="Aptos"/>
              </a:rPr>
              <a:t>Le bonus modeling reste un appui méthodologique : le cœur du projet demeure l’EDA, les statistiques descriptives et les visualisations.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3"/>
          <p:cNvSpPr/>
          <p:nvPr/>
        </p:nvSpPr>
        <p:spPr>
          <a:xfrm>
            <a:off x="320040" y="60156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Limites et précautions d’interprétation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5"/>
          <p:cNvSpPr/>
          <p:nvPr/>
        </p:nvSpPr>
        <p:spPr>
          <a:xfrm>
            <a:off x="11773080" y="642384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9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6"/>
          <p:cNvSpPr/>
          <p:nvPr/>
        </p:nvSpPr>
        <p:spPr>
          <a:xfrm>
            <a:off x="0" y="662472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ounded Rectangle 7"/>
          <p:cNvSpPr/>
          <p:nvPr/>
        </p:nvSpPr>
        <p:spPr>
          <a:xfrm>
            <a:off x="407160" y="1474920"/>
            <a:ext cx="5257440" cy="58356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 que l’analyse permet de dire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407160" y="2428920"/>
            <a:ext cx="5002560" cy="2277000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identifier les signaux les plus associés au match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comparer profil, préférences et interaction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formuler des hypothèses produit exploitables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9"/>
          <p:cNvSpPr/>
          <p:nvPr/>
        </p:nvSpPr>
        <p:spPr>
          <a:xfrm>
            <a:off x="6095880" y="1449360"/>
            <a:ext cx="5303160" cy="609120"/>
          </a:xfrm>
          <a:prstGeom prst="roundRect">
            <a:avLst>
              <a:gd name="adj" fmla="val 16667"/>
            </a:avLst>
          </a:prstGeom>
          <a:solidFill>
            <a:srgbClr val="E96B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Ce qu’elle ne permet pas de conclure seule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0"/>
          <p:cNvSpPr/>
          <p:nvPr/>
        </p:nvSpPr>
        <p:spPr>
          <a:xfrm>
            <a:off x="6095880" y="2428920"/>
            <a:ext cx="5288040" cy="227700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15240">
            <a:solidFill>
              <a:srgbClr val="E96B5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démontrer une causalité certaine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transposer directement les résultats à Tinder aujourd’hui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utiliser toutes les variables fortes avant le match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ignorer la dépendance entre observations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1"/>
          <p:cNvSpPr/>
          <p:nvPr/>
        </p:nvSpPr>
        <p:spPr>
          <a:xfrm>
            <a:off x="320040" y="5532120"/>
            <a:ext cx="11174760" cy="822600"/>
          </a:xfrm>
          <a:prstGeom prst="roundRect">
            <a:avLst>
              <a:gd name="adj" fmla="val 27249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1098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Point important : plusieurs variables très prédictives sont mesurées après interaction. Elles expliquent le succès d’un date, mais ne sont pas toutes disponibles avant une recommandation de profils.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2"/>
          <p:cNvSpPr/>
          <p:nvPr/>
        </p:nvSpPr>
        <p:spPr>
          <a:xfrm>
            <a:off x="0" y="320040"/>
            <a:ext cx="12191400" cy="453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320040" y="438840"/>
            <a:ext cx="7863480" cy="5025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Améliorations possibles et perspectives produit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4"/>
          <p:cNvSpPr/>
          <p:nvPr/>
        </p:nvSpPr>
        <p:spPr>
          <a:xfrm>
            <a:off x="9326880" y="457200"/>
            <a:ext cx="2605680" cy="3196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Bloc 2 — Speed Dating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5"/>
          <p:cNvSpPr/>
          <p:nvPr/>
        </p:nvSpPr>
        <p:spPr>
          <a:xfrm>
            <a:off x="11688840" y="65106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274320" y="6656760"/>
            <a:ext cx="11612520" cy="27000"/>
          </a:xfrm>
          <a:prstGeom prst="rect">
            <a:avLst/>
          </a:prstGeom>
          <a:solidFill>
            <a:srgbClr val="DCE4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ounded Rectangle 7"/>
          <p:cNvSpPr/>
          <p:nvPr/>
        </p:nvSpPr>
        <p:spPr>
          <a:xfrm>
            <a:off x="548640" y="1173600"/>
            <a:ext cx="5303160" cy="62460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Améliorations analytiques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8"/>
          <p:cNvSpPr/>
          <p:nvPr/>
        </p:nvSpPr>
        <p:spPr>
          <a:xfrm>
            <a:off x="548640" y="197964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tester les résultats sur un dataset plus récent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ajouter une validation statistique plus poussée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mieux modéliser la dépendance entre participants et waves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9"/>
          <p:cNvSpPr/>
          <p:nvPr/>
        </p:nvSpPr>
        <p:spPr>
          <a:xfrm>
            <a:off x="6126480" y="1135440"/>
            <a:ext cx="5394600" cy="62460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Améliorations produit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10"/>
          <p:cNvSpPr/>
          <p:nvPr/>
        </p:nvSpPr>
        <p:spPr>
          <a:xfrm>
            <a:off x="6126480" y="1979640"/>
            <a:ext cx="539460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F5A62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valoriser les intérêts communs et contextes d’échange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collecter des signaux conversationnels réels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8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• mesurer la réciprocité plutôt que le volume de likes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1"/>
          <p:cNvSpPr/>
          <p:nvPr/>
        </p:nvSpPr>
        <p:spPr>
          <a:xfrm>
            <a:off x="548640" y="4370760"/>
            <a:ext cx="10972440" cy="328680"/>
          </a:xfrm>
          <a:prstGeom prst="roundRect">
            <a:avLst>
              <a:gd name="adj" fmla="val 16667"/>
            </a:avLst>
          </a:prstGeom>
          <a:solidFill>
            <a:srgbClr val="073B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Conclusion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12"/>
          <p:cNvSpPr/>
          <p:nvPr/>
        </p:nvSpPr>
        <p:spPr>
          <a:xfrm>
            <a:off x="548640" y="5074920"/>
            <a:ext cx="109724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2BF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1440" rIns="90000" bIns="9144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253440"/>
                </a:solidFill>
                <a:effectLst/>
                <a:uFillTx/>
                <a:latin typeface="Aptos"/>
              </a:rPr>
              <a:t>Le match ne se résume pas au profil. Les meilleurs signaux observés viennent surtout de la qualité perçue de l’interaction : like, fun, shared interests et attractiveness.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122D42"/>
                </a:solidFill>
                <a:effectLst/>
                <a:uFillTx/>
                <a:latin typeface="Aptos"/>
              </a:rPr>
              <a:t>Pour une application de rencontre, la valeur n’est donc pas seulement de rapprocher des profils similaires, mais de favoriser des interactions susceptibles de devenir réciproques.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837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2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3"/>
          <p:cNvSpPr/>
          <p:nvPr/>
        </p:nvSpPr>
        <p:spPr>
          <a:xfrm>
            <a:off x="640080" y="914400"/>
            <a:ext cx="4114440" cy="6397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Merci !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4"/>
          <p:cNvSpPr/>
          <p:nvPr/>
        </p:nvSpPr>
        <p:spPr>
          <a:xfrm>
            <a:off x="640080" y="1508760"/>
            <a:ext cx="3657240" cy="36540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2BFC0"/>
                </a:solidFill>
                <a:effectLst/>
                <a:uFillTx/>
                <a:latin typeface="Aptos"/>
              </a:rPr>
              <a:t>Questions / réponses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6"/>
          <p:cNvSpPr/>
          <p:nvPr/>
        </p:nvSpPr>
        <p:spPr>
          <a:xfrm>
            <a:off x="658440" y="5989320"/>
            <a:ext cx="2925720" cy="2739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tIns="58680" rIns="73080" bIns="3672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Projet Bloc 2 — Speed Dating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2"/>
          <p:cNvSpPr/>
          <p:nvPr/>
        </p:nvSpPr>
        <p:spPr>
          <a:xfrm>
            <a:off x="11688840" y="6510600"/>
            <a:ext cx="319680" cy="228240"/>
          </a:xfrm>
          <a:prstGeom prst="roundRect">
            <a:avLst>
              <a:gd name="adj" fmla="val 16667"/>
            </a:avLst>
          </a:prstGeom>
          <a:solidFill>
            <a:srgbClr val="12BF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LibreOffice/26.2.3.2$Windows_X86_64 LibreOffice_project/70e089b17412e4cb7773e41413306b17a2328c34</Application>
  <AppVersion>15.0000</AppVersion>
  <Words>872</Words>
  <Paragraphs>135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Etudiant Thomas JEDHA</dc:creator>
  <dc:description>generated using python-pptx</dc:description>
  <dc:language>fr-FR</dc:language>
  <cp:lastModifiedBy/>
  <dcterms:modified xsi:type="dcterms:W3CDTF">2026-05-28T12:55:05Z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11</vt:i4>
  </property>
</Properties>
</file>