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7559675" cy="10691813"/>
  <p:embeddedFontLst>
    <p:embeddedFont>
      <p:font typeface="Inter SemiBold"/>
    </p:embeddedFont>
    <p:embeddedFont>
      <p:font typeface="Inter"/>
      <p:regular r:id="rId13"/>
      <p:bold r:id="rId14"/>
    </p:embeddedFont>
    <p:embeddedFont>
      <p:font typeface="Inter Medium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font" Target="fonts/Font_1_Inter_Regular.fntdata"/><Relationship Id="rId14" Type="http://schemas.openxmlformats.org/officeDocument/2006/relationships/font" Target="fonts/Font_2_Inter_Bold.fntdata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déplacer la diapo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&lt;en-tête&gt;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80EBE8A-8EC7-4C26-9781-9DFC73A89375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fr-FR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8 378 lignes = la perception d'un participant pour un rendez-vous ; un même rendez-vous apparaît deux fois, soit 4 184 speed dates uniques, 551 participants sur 21 vagues. Le match n'a lieu que si les deux personnes disent oui : environ 16,5 % des rendez-vous.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fr-FR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 match dépend de la qualité de l'échange, pas du volume de « oui » : les hommes disent oui 47,4 % du temps contre 36,5 % pour les femmes, mais le taux de match reste de 16,5 % des deux côtés. Les intérêts communs font passer le taux de match de 5 % à 34 %, alors que la même origine ne change quasiment rien.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fr-FR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Merci — place aux questions.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fr-FR" sz="5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fr-FR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E2E2514-0A3F-4F57-959B-FD59E7074188}" type="slidenum">
              <a: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3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 hasCustomPrompt="1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ctr">
              <a:lnSpc>
                <a:spcPct val="100000"/>
              </a:lnSpc>
              <a:buNone/>
              <a:defRPr lang="fr-FR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fr-FR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lang="fr-FR" sz="1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7EE0AF3-2923-4DDF-89F5-CE2160FD668C}" type="slidenum">
              <a: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&lt;numéro&gt;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FBC2815-650A-4941-9FFC-65B40A24249F}" type="slidenum">
              <a: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&lt;numéro&gt;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fr-FR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fr-FR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D653C62-3063-489E-911A-141F99D69773}" type="slidenum">
              <a: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&lt;numéro&gt;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E23018D-3255-4929-A539-958521A0B9AB}" type="slidenum">
              <a: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&lt;numéro&gt;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1D4C14B-2518-4276-BBCC-95D58EB80E83}" type="slidenum">
              <a: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&lt;numéro&gt;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5296160-1A7F-4A97-9421-8479CE82F496}" type="slidenum">
              <a: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&lt;numéro&gt;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049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FE6D2C7-90FB-471C-8EC9-9508BB879C51}" type="slidenum">
              <a: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&lt;numéro&gt;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fr-FR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fr-FR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93DB4A5-09C6-41D2-9D51-FAAF79834B8C}" type="slidenum">
              <a: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&lt;numéro&gt;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fr-FR" sz="4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fr-FR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DDA1F0E-73A3-4B17-BB80-DCB84C2BEDDA}" type="slidenum">
              <a: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&lt;numéro&gt;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A3C53F1-15DB-436C-BD5D-00CD89D9A7D8}" type="slidenum">
              <a: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&lt;numéro&gt;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FDA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31520" y="1554480"/>
            <a:ext cx="4114440" cy="1554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400" b="0" u="none" strike="noStrike">
                <a:solidFill>
                  <a:srgbClr val="0E3449"/>
                </a:solidFill>
                <a:effectLst/>
                <a:uFillTx/>
                <a:latin typeface="Inter SemiBold"/>
                <a:ea typeface="Arial"/>
              </a:rPr>
              <a:t>Qu'est-ce qui crée un match ?</a:t>
            </a:r>
            <a:endParaRPr lang="fr-F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Google Shape;55;p13"/>
          <p:cNvPicPr/>
          <p:nvPr/>
        </p:nvPicPr>
        <p:blipFill>
          <a:blip r:embed="rId1"/>
          <a:stretch/>
        </p:blipFill>
        <p:spPr>
          <a:xfrm>
            <a:off x="4685400" y="2595600"/>
            <a:ext cx="3818160" cy="2547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Google Shape;56;p13"/>
          <p:cNvPicPr/>
          <p:nvPr/>
        </p:nvPicPr>
        <p:blipFill>
          <a:blip r:embed="rId2"/>
          <a:stretch/>
        </p:blipFill>
        <p:spPr>
          <a:xfrm>
            <a:off x="840600" y="787320"/>
            <a:ext cx="973080" cy="65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PlaceHolder 2"/>
          <p:cNvSpPr>
            <a:spLocks noGrp="1"/>
          </p:cNvSpPr>
          <p:nvPr>
            <p:ph type="title"/>
          </p:nvPr>
        </p:nvSpPr>
        <p:spPr>
          <a:xfrm>
            <a:off x="749880" y="3200400"/>
            <a:ext cx="3931560" cy="1371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500" b="0" u="none" strike="noStrike">
                <a:solidFill>
                  <a:schemeClr val="dk1"/>
                </a:solidFill>
                <a:effectLst/>
                <a:uFillTx/>
                <a:latin typeface="Inter Medium"/>
                <a:ea typeface="Arial"/>
              </a:rPr>
              <a:t>Déterminants d'un intérêt réciproque — Speed Dating  ·  Groupe 4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192680" y="403200"/>
            <a:ext cx="5314680" cy="532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500" b="0" u="none" strike="noStrike">
                <a:solidFill>
                  <a:srgbClr val="0E3449"/>
                </a:solidFill>
                <a:effectLst/>
                <a:uFillTx/>
                <a:latin typeface="Inter SemiBold"/>
                <a:ea typeface="Arial"/>
              </a:rPr>
              <a:t>Problématique &amp; données</a:t>
            </a:r>
            <a:endParaRPr lang="fr-F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Google Shape;75;p15"/>
          <p:cNvPicPr/>
          <p:nvPr/>
        </p:nvPicPr>
        <p:blipFill>
          <a:blip r:embed="rId1"/>
          <a:stretch/>
        </p:blipFill>
        <p:spPr>
          <a:xfrm>
            <a:off x="463320" y="482760"/>
            <a:ext cx="576720" cy="38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Google Shape;76;p15"/>
          <p:cNvSpPr/>
          <p:nvPr/>
        </p:nvSpPr>
        <p:spPr>
          <a:xfrm>
            <a:off x="10080" y="4892040"/>
            <a:ext cx="9143640" cy="250920"/>
          </a:xfrm>
          <a:prstGeom prst="rect">
            <a:avLst/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Box 76"/>
          <p:cNvSpPr/>
          <p:nvPr/>
        </p:nvSpPr>
        <p:spPr>
          <a:xfrm>
            <a:off x="640080" y="105156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fr-FR" sz="900" b="1" u="none" strike="noStrike">
                <a:solidFill>
                  <a:srgbClr val="0097A7"/>
                </a:solidFill>
                <a:effectLst/>
                <a:uFillTx/>
                <a:latin typeface="Arial"/>
                <a:ea typeface="Arial"/>
              </a:rPr>
              <a:t>QUESTION CENTRALE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Box 77"/>
          <p:cNvSpPr/>
          <p:nvPr/>
        </p:nvSpPr>
        <p:spPr>
          <a:xfrm>
            <a:off x="640080" y="1353240"/>
            <a:ext cx="39772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25000"/>
              </a:lnSpc>
            </a:pPr>
            <a:r>
              <a:rPr lang="fr-FR" sz="1700" b="1" u="none" strike="noStrike">
                <a:solidFill>
                  <a:srgbClr val="0E3449"/>
                </a:solidFill>
                <a:effectLst/>
                <a:uFillTx/>
                <a:latin typeface="Arial"/>
                <a:ea typeface="Arial"/>
              </a:rPr>
              <a:t>Quels facteurs créent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</a:pPr>
            <a:r>
              <a:rPr lang="fr-FR" sz="1700" b="1" u="none" strike="noStrike">
                <a:solidFill>
                  <a:srgbClr val="0E3449"/>
                </a:solidFill>
                <a:effectLst/>
                <a:uFillTx/>
                <a:latin typeface="Arial"/>
                <a:ea typeface="Arial"/>
              </a:rPr>
              <a:t>un intérêt réciproque ?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Rectangle 78"/>
          <p:cNvSpPr/>
          <p:nvPr/>
        </p:nvSpPr>
        <p:spPr>
          <a:xfrm>
            <a:off x="640080" y="2560320"/>
            <a:ext cx="123408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E7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18360" rIns="54720" bIns="18360" anchor="ctr">
            <a:noAutofit/>
          </a:bodyPr>
          <a:p>
            <a:pPr algn="ctr">
              <a:lnSpc>
                <a:spcPct val="100000"/>
              </a:lnSpc>
            </a:pPr>
            <a:r>
              <a:rPr lang="fr-FR" sz="1400" b="1" u="none" strike="noStrike">
                <a:solidFill>
                  <a:srgbClr val="0097A7"/>
                </a:solidFill>
                <a:effectLst/>
                <a:uFillTx/>
                <a:latin typeface="Arial"/>
                <a:ea typeface="Arial"/>
              </a:rPr>
              <a:t>8 378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Box 79"/>
          <p:cNvSpPr/>
          <p:nvPr/>
        </p:nvSpPr>
        <p:spPr>
          <a:xfrm>
            <a:off x="640080" y="313632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fr-FR" sz="900" b="0" u="none" strike="noStrike">
                <a:solidFill>
                  <a:srgbClr val="5E646A"/>
                </a:solidFill>
                <a:effectLst/>
                <a:uFillTx/>
                <a:latin typeface="Arial"/>
                <a:ea typeface="Arial"/>
              </a:rPr>
              <a:t>perceptions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Rectangle 80"/>
          <p:cNvSpPr/>
          <p:nvPr/>
        </p:nvSpPr>
        <p:spPr>
          <a:xfrm>
            <a:off x="1993320" y="2560320"/>
            <a:ext cx="123408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E7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18360" rIns="54720" bIns="18360" anchor="ctr">
            <a:noAutofit/>
          </a:bodyPr>
          <a:p>
            <a:pPr algn="ctr">
              <a:lnSpc>
                <a:spcPct val="100000"/>
              </a:lnSpc>
            </a:pPr>
            <a:r>
              <a:rPr lang="fr-FR" sz="1400" b="1" u="none" strike="noStrike">
                <a:solidFill>
                  <a:srgbClr val="0097A7"/>
                </a:solidFill>
                <a:effectLst/>
                <a:uFillTx/>
                <a:latin typeface="Arial"/>
                <a:ea typeface="Arial"/>
              </a:rPr>
              <a:t>4 184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Box 81"/>
          <p:cNvSpPr/>
          <p:nvPr/>
        </p:nvSpPr>
        <p:spPr>
          <a:xfrm>
            <a:off x="1993320" y="313632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fr-FR" sz="900" b="0" u="none" strike="noStrike">
                <a:solidFill>
                  <a:srgbClr val="5E646A"/>
                </a:solidFill>
                <a:effectLst/>
                <a:uFillTx/>
                <a:latin typeface="Arial"/>
                <a:ea typeface="Arial"/>
              </a:rPr>
              <a:t>rendez-vous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Rectangle 82"/>
          <p:cNvSpPr/>
          <p:nvPr/>
        </p:nvSpPr>
        <p:spPr>
          <a:xfrm>
            <a:off x="3346560" y="2560320"/>
            <a:ext cx="123408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E7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18360" rIns="54720" bIns="18360" anchor="ctr">
            <a:noAutofit/>
          </a:bodyPr>
          <a:p>
            <a:pPr algn="ctr">
              <a:lnSpc>
                <a:spcPct val="100000"/>
              </a:lnSpc>
            </a:pPr>
            <a:r>
              <a:rPr lang="fr-FR" sz="1400" b="1" u="none" strike="noStrike">
                <a:solidFill>
                  <a:srgbClr val="0097A7"/>
                </a:solidFill>
                <a:effectLst/>
                <a:uFillTx/>
                <a:latin typeface="Arial"/>
                <a:ea typeface="Arial"/>
              </a:rPr>
              <a:t>551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Box 83"/>
          <p:cNvSpPr/>
          <p:nvPr/>
        </p:nvSpPr>
        <p:spPr>
          <a:xfrm>
            <a:off x="3346560" y="313632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fr-FR" sz="900" b="0" u="none" strike="noStrike">
                <a:solidFill>
                  <a:srgbClr val="5E646A"/>
                </a:solidFill>
                <a:effectLst/>
                <a:uFillTx/>
                <a:latin typeface="Arial"/>
                <a:ea typeface="Arial"/>
              </a:rPr>
              <a:t>participants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Box 84"/>
          <p:cNvSpPr/>
          <p:nvPr/>
        </p:nvSpPr>
        <p:spPr>
          <a:xfrm>
            <a:off x="640080" y="3657600"/>
            <a:ext cx="4023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35000"/>
              </a:lnSpc>
            </a:pPr>
            <a:r>
              <a:rPr lang="fr-FR" sz="1150" b="0" u="none" strike="noStrike">
                <a:solidFill>
                  <a:srgbClr val="4B5258"/>
                </a:solidFill>
                <a:effectLst/>
                <a:uFillTx/>
                <a:latin typeface="Arial"/>
                <a:ea typeface="Arial"/>
              </a:rPr>
              <a:t>Décision = un « oui » individuel.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lang="fr-FR" sz="1150" b="0" u="none" strike="noStrike">
                <a:solidFill>
                  <a:srgbClr val="4B5258"/>
                </a:solidFill>
                <a:effectLst/>
                <a:uFillTx/>
                <a:latin typeface="Arial"/>
                <a:ea typeface="Arial"/>
              </a:rPr>
              <a:t>Match = les deux disent oui.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Box 85"/>
          <p:cNvSpPr/>
          <p:nvPr/>
        </p:nvSpPr>
        <p:spPr>
          <a:xfrm>
            <a:off x="640080" y="422460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fr-FR" sz="1150" b="0" u="none" strike="noStrike">
                <a:solidFill>
                  <a:srgbClr val="5E646A"/>
                </a:solidFill>
                <a:effectLst/>
                <a:uFillTx/>
                <a:latin typeface="Arial"/>
                <a:ea typeface="Arial"/>
              </a:rPr>
              <a:t>Le produit doit optimiser la réciprocité, pas le nombre de « oui ».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Picture 86" descr="match_rule.png"/>
          <p:cNvPicPr/>
          <p:nvPr/>
        </p:nvPicPr>
        <p:blipFill>
          <a:blip r:embed="rId2"/>
          <a:stretch/>
        </p:blipFill>
        <p:spPr>
          <a:xfrm>
            <a:off x="4983480" y="1051560"/>
            <a:ext cx="3565800" cy="2854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94;p17"/>
          <p:cNvPicPr/>
          <p:nvPr/>
        </p:nvPicPr>
        <p:blipFill>
          <a:blip r:embed="rId1"/>
          <a:stretch/>
        </p:blipFill>
        <p:spPr>
          <a:xfrm>
            <a:off x="463320" y="482760"/>
            <a:ext cx="576720" cy="38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878480" y="327240"/>
            <a:ext cx="5314680" cy="385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E3449"/>
                </a:solidFill>
                <a:effectLst/>
                <a:uFillTx/>
                <a:latin typeface="Inter"/>
                <a:ea typeface="Arial"/>
              </a:rPr>
              <a:t>Dire « oui » ne suffit pas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title"/>
          </p:nvPr>
        </p:nvSpPr>
        <p:spPr>
          <a:xfrm>
            <a:off x="649440" y="4468320"/>
            <a:ext cx="7772760" cy="314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000" b="0" u="none" strike="noStrike">
                <a:solidFill>
                  <a:srgbClr val="4B5258"/>
                </a:solidFill>
                <a:effectLst/>
                <a:uFillTx/>
                <a:latin typeface="Inter"/>
                <a:ea typeface="Arial"/>
              </a:rPr>
              <a:t>Les hommes disent « oui » bien plus souvent (47 % vs 36 %), mais le match mutuel n'est que ~16 % des deux côtés : la réciprocité prime sur le volume.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Google Shape;98;p17"/>
          <p:cNvSpPr/>
          <p:nvPr/>
        </p:nvSpPr>
        <p:spPr>
          <a:xfrm>
            <a:off x="10080" y="4892040"/>
            <a:ext cx="9143640" cy="250920"/>
          </a:xfrm>
          <a:prstGeom prst="rect">
            <a:avLst/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Picture 98" descr="c_decision.png"/>
          <p:cNvPicPr/>
          <p:nvPr/>
        </p:nvPicPr>
        <p:blipFill>
          <a:blip r:embed="rId2"/>
          <a:stretch/>
        </p:blipFill>
        <p:spPr>
          <a:xfrm>
            <a:off x="1463040" y="913680"/>
            <a:ext cx="6217560" cy="3393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94;p17"/>
          <p:cNvPicPr/>
          <p:nvPr/>
        </p:nvPicPr>
        <p:blipFill>
          <a:blip r:embed="rId1"/>
          <a:stretch/>
        </p:blipFill>
        <p:spPr>
          <a:xfrm>
            <a:off x="463320" y="482760"/>
            <a:ext cx="576720" cy="38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878480" y="327240"/>
            <a:ext cx="5314680" cy="385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E3449"/>
                </a:solidFill>
                <a:effectLst/>
                <a:uFillTx/>
                <a:latin typeface="Inter"/>
                <a:ea typeface="Arial"/>
              </a:rPr>
              <a:t>Ce qui pèse pendant l'interaction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title"/>
          </p:nvPr>
        </p:nvSpPr>
        <p:spPr>
          <a:xfrm>
            <a:off x="649440" y="4468320"/>
            <a:ext cx="7772760" cy="314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000" b="0" u="none" strike="noStrike">
                <a:solidFill>
                  <a:srgbClr val="4B5258"/>
                </a:solidFill>
                <a:effectLst/>
                <a:uFillTx/>
                <a:latin typeface="Inter"/>
                <a:ea typeface="Arial"/>
              </a:rPr>
              <a:t>Les signaux nés de l'échange — j'aime, fun, intérêts partagés, attirance — sont les plus corrélés au match, loin devant l'intelligence ou l'ambition.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98;p17"/>
          <p:cNvSpPr/>
          <p:nvPr/>
        </p:nvSpPr>
        <p:spPr>
          <a:xfrm>
            <a:off x="10080" y="4892040"/>
            <a:ext cx="9143640" cy="250920"/>
          </a:xfrm>
          <a:prstGeom prst="rect">
            <a:avLst/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Picture 98" descr="c_corr.png"/>
          <p:cNvPicPr/>
          <p:nvPr/>
        </p:nvPicPr>
        <p:blipFill>
          <a:blip r:embed="rId2"/>
          <a:stretch/>
        </p:blipFill>
        <p:spPr>
          <a:xfrm>
            <a:off x="1463040" y="928440"/>
            <a:ext cx="6217560" cy="3364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94;p17"/>
          <p:cNvPicPr/>
          <p:nvPr/>
        </p:nvPicPr>
        <p:blipFill>
          <a:blip r:embed="rId1"/>
          <a:stretch/>
        </p:blipFill>
        <p:spPr>
          <a:xfrm>
            <a:off x="463320" y="482760"/>
            <a:ext cx="576720" cy="38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878480" y="327240"/>
            <a:ext cx="5314680" cy="385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E3449"/>
                </a:solidFill>
                <a:effectLst/>
                <a:uFillTx/>
                <a:latin typeface="Inter"/>
                <a:ea typeface="Arial"/>
              </a:rPr>
              <a:t>Ce qu'on dit vouloir ≠ ce qui compte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title"/>
          </p:nvPr>
        </p:nvSpPr>
        <p:spPr>
          <a:xfrm>
            <a:off x="649440" y="4468320"/>
            <a:ext cx="7772760" cy="314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000" b="0" u="none" strike="noStrike">
                <a:solidFill>
                  <a:srgbClr val="4B5258"/>
                </a:solidFill>
                <a:effectLst/>
                <a:uFillTx/>
                <a:latin typeface="Inter"/>
                <a:ea typeface="Arial"/>
              </a:rPr>
              <a:t>À gauche, les préférences déclarées avant le date ; à droite, l'impact réel sur le « oui ». Le fun et les intérêts partagés pèsent bien plus qu'annoncé.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98;p17"/>
          <p:cNvSpPr/>
          <p:nvPr/>
        </p:nvSpPr>
        <p:spPr>
          <a:xfrm>
            <a:off x="10080" y="4892040"/>
            <a:ext cx="9143640" cy="250920"/>
          </a:xfrm>
          <a:prstGeom prst="rect">
            <a:avLst/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98" descr="c_pref.png"/>
          <p:cNvPicPr/>
          <p:nvPr/>
        </p:nvPicPr>
        <p:blipFill>
          <a:blip r:embed="rId2"/>
          <a:stretch/>
        </p:blipFill>
        <p:spPr>
          <a:xfrm>
            <a:off x="423360" y="960120"/>
            <a:ext cx="4044600" cy="329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Picture 99" descr="c_impact.png"/>
          <p:cNvPicPr/>
          <p:nvPr/>
        </p:nvPicPr>
        <p:blipFill>
          <a:blip r:embed="rId3"/>
          <a:stretch/>
        </p:blipFill>
        <p:spPr>
          <a:xfrm>
            <a:off x="4685760" y="960120"/>
            <a:ext cx="4023720" cy="3291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94;p17"/>
          <p:cNvPicPr/>
          <p:nvPr/>
        </p:nvPicPr>
        <p:blipFill>
          <a:blip r:embed="rId1"/>
          <a:stretch/>
        </p:blipFill>
        <p:spPr>
          <a:xfrm>
            <a:off x="463320" y="482760"/>
            <a:ext cx="576720" cy="38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878480" y="327240"/>
            <a:ext cx="5314680" cy="385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E3449"/>
                </a:solidFill>
                <a:effectLst/>
                <a:uFillTx/>
                <a:latin typeface="Inter"/>
                <a:ea typeface="Arial"/>
              </a:rPr>
              <a:t>Intérêts partagés &gt; similarité d'origine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title"/>
          </p:nvPr>
        </p:nvSpPr>
        <p:spPr>
          <a:xfrm>
            <a:off x="649440" y="4468320"/>
            <a:ext cx="7772760" cy="314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000" b="0" u="none" strike="noStrike">
                <a:solidFill>
                  <a:srgbClr val="4B5258"/>
                </a:solidFill>
                <a:effectLst/>
                <a:uFillTx/>
                <a:latin typeface="Inter"/>
                <a:ea typeface="Arial"/>
              </a:rPr>
              <a:t>À gauche : le taux de match grimpe de 5 % à 34 % avec les intérêts communs. À droite : partager la même origine ne change quasiment rien (16 % vs 17 %).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98;p17"/>
          <p:cNvSpPr/>
          <p:nvPr/>
        </p:nvSpPr>
        <p:spPr>
          <a:xfrm>
            <a:off x="10080" y="4892040"/>
            <a:ext cx="9143640" cy="250920"/>
          </a:xfrm>
          <a:prstGeom prst="rect">
            <a:avLst/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Picture 98" descr="c_interets.png"/>
          <p:cNvPicPr/>
          <p:nvPr/>
        </p:nvPicPr>
        <p:blipFill>
          <a:blip r:embed="rId2"/>
          <a:stretch/>
        </p:blipFill>
        <p:spPr>
          <a:xfrm>
            <a:off x="411480" y="988560"/>
            <a:ext cx="4068720" cy="3234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Picture 99" descr="c_meme_race.png"/>
          <p:cNvPicPr/>
          <p:nvPr/>
        </p:nvPicPr>
        <p:blipFill>
          <a:blip r:embed="rId3"/>
          <a:stretch/>
        </p:blipFill>
        <p:spPr>
          <a:xfrm>
            <a:off x="4663440" y="1072800"/>
            <a:ext cx="4068720" cy="306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94;p17"/>
          <p:cNvPicPr/>
          <p:nvPr/>
        </p:nvPicPr>
        <p:blipFill>
          <a:blip r:embed="rId1"/>
          <a:stretch/>
        </p:blipFill>
        <p:spPr>
          <a:xfrm>
            <a:off x="463320" y="482760"/>
            <a:ext cx="576720" cy="38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878480" y="327240"/>
            <a:ext cx="5314680" cy="385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E3449"/>
                </a:solidFill>
                <a:effectLst/>
                <a:uFillTx/>
                <a:latin typeface="Inter"/>
                <a:ea typeface="Arial"/>
              </a:rPr>
              <a:t>Le date prédit mieux que le profil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title"/>
          </p:nvPr>
        </p:nvSpPr>
        <p:spPr>
          <a:xfrm>
            <a:off x="649440" y="4468320"/>
            <a:ext cx="7772760" cy="314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000" b="0" u="none" strike="noStrike">
                <a:solidFill>
                  <a:srgbClr val="4B5258"/>
                </a:solidFill>
                <a:effectLst/>
                <a:uFillTx/>
                <a:latin typeface="Inter"/>
                <a:ea typeface="Arial"/>
              </a:rPr>
              <a:t>Un modèle nourri des impressions du date atteint un ROC-AUC de 0,77, contre 0,56 pour le profil seul : ce qui se joue pendant l'échange est décisif.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98;p17"/>
          <p:cNvSpPr/>
          <p:nvPr/>
        </p:nvSpPr>
        <p:spPr>
          <a:xfrm>
            <a:off x="10080" y="4892040"/>
            <a:ext cx="9143640" cy="250920"/>
          </a:xfrm>
          <a:prstGeom prst="rect">
            <a:avLst/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Picture 98" descr="c_roc.png"/>
          <p:cNvPicPr/>
          <p:nvPr/>
        </p:nvPicPr>
        <p:blipFill>
          <a:blip r:embed="rId2"/>
          <a:stretch/>
        </p:blipFill>
        <p:spPr>
          <a:xfrm>
            <a:off x="1584720" y="896040"/>
            <a:ext cx="5974200" cy="3428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192680" y="403200"/>
            <a:ext cx="5314680" cy="532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500" b="0" u="none" strike="noStrike">
                <a:solidFill>
                  <a:srgbClr val="0E3449"/>
                </a:solidFill>
                <a:effectLst/>
                <a:uFillTx/>
                <a:latin typeface="Inter SemiBold"/>
                <a:ea typeface="Arial"/>
              </a:rPr>
              <a:t>Conclusion &amp; perspectives</a:t>
            </a:r>
            <a:endParaRPr lang="fr-F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Google Shape;75;p15"/>
          <p:cNvPicPr/>
          <p:nvPr/>
        </p:nvPicPr>
        <p:blipFill>
          <a:blip r:embed="rId1"/>
          <a:stretch/>
        </p:blipFill>
        <p:spPr>
          <a:xfrm>
            <a:off x="463320" y="482760"/>
            <a:ext cx="576720" cy="38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Google Shape;76;p15"/>
          <p:cNvSpPr/>
          <p:nvPr/>
        </p:nvSpPr>
        <p:spPr>
          <a:xfrm>
            <a:off x="10080" y="4892040"/>
            <a:ext cx="9143640" cy="250920"/>
          </a:xfrm>
          <a:prstGeom prst="rect">
            <a:avLst/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76"/>
          <p:cNvSpPr/>
          <p:nvPr/>
        </p:nvSpPr>
        <p:spPr>
          <a:xfrm>
            <a:off x="640080" y="1051560"/>
            <a:ext cx="39772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20000"/>
              </a:lnSpc>
            </a:pPr>
            <a:r>
              <a:rPr lang="fr-FR" sz="1900" b="1" u="none" strike="noStrike">
                <a:solidFill>
                  <a:srgbClr val="0E3449"/>
                </a:solidFill>
                <a:effectLst/>
                <a:uFillTx/>
                <a:latin typeface="Arial"/>
                <a:ea typeface="Arial"/>
              </a:rPr>
              <a:t>Le match naît de l'interaction,</a:t>
            </a:r>
            <a:endParaRPr lang="fr-F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fr-FR" sz="1900" b="1" u="none" strike="noStrike">
                <a:solidFill>
                  <a:srgbClr val="0E3449"/>
                </a:solidFill>
                <a:effectLst/>
                <a:uFillTx/>
                <a:latin typeface="Arial"/>
                <a:ea typeface="Arial"/>
              </a:rPr>
              <a:t>pas du profil</a:t>
            </a:r>
            <a:endParaRPr lang="fr-F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77"/>
          <p:cNvSpPr/>
          <p:nvPr/>
        </p:nvSpPr>
        <p:spPr>
          <a:xfrm>
            <a:off x="640080" y="2331720"/>
            <a:ext cx="123408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E7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18360" rIns="54720" bIns="18360" anchor="ctr">
            <a:noAutofit/>
          </a:bodyPr>
          <a:p>
            <a:pPr algn="ctr">
              <a:lnSpc>
                <a:spcPct val="100000"/>
              </a:lnSpc>
            </a:pPr>
            <a:r>
              <a:rPr lang="fr-FR" sz="1400" b="1" u="none" strike="noStrike">
                <a:solidFill>
                  <a:srgbClr val="F39A2B"/>
                </a:solidFill>
                <a:effectLst/>
                <a:uFillTx/>
                <a:latin typeface="Arial"/>
                <a:ea typeface="Arial"/>
              </a:rPr>
              <a:t>0,77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78"/>
          <p:cNvSpPr/>
          <p:nvPr/>
        </p:nvSpPr>
        <p:spPr>
          <a:xfrm>
            <a:off x="640080" y="2907720"/>
            <a:ext cx="1234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20000"/>
              </a:lnSpc>
            </a:pPr>
            <a:r>
              <a:rPr lang="fr-FR" sz="800" b="0" u="none" strike="noStrike">
                <a:solidFill>
                  <a:srgbClr val="5E646A"/>
                </a:solidFill>
                <a:effectLst/>
                <a:uFillTx/>
                <a:latin typeface="Arial"/>
                <a:ea typeface="Arial"/>
              </a:rPr>
              <a:t>ROC-AUC avec le date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79"/>
          <p:cNvSpPr/>
          <p:nvPr/>
        </p:nvSpPr>
        <p:spPr>
          <a:xfrm>
            <a:off x="1993320" y="2331720"/>
            <a:ext cx="123408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E7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18360" rIns="54720" bIns="18360" anchor="ctr">
            <a:noAutofit/>
          </a:bodyPr>
          <a:p>
            <a:pPr algn="ctr">
              <a:lnSpc>
                <a:spcPct val="100000"/>
              </a:lnSpc>
            </a:pPr>
            <a:r>
              <a:rPr lang="fr-FR" sz="1400" b="1" u="none" strike="noStrike">
                <a:solidFill>
                  <a:srgbClr val="0097A7"/>
                </a:solidFill>
                <a:effectLst/>
                <a:uFillTx/>
                <a:latin typeface="Arial"/>
                <a:ea typeface="Arial"/>
              </a:rPr>
              <a:t>0,56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80"/>
          <p:cNvSpPr/>
          <p:nvPr/>
        </p:nvSpPr>
        <p:spPr>
          <a:xfrm>
            <a:off x="1993320" y="2907720"/>
            <a:ext cx="1234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20000"/>
              </a:lnSpc>
            </a:pPr>
            <a:r>
              <a:rPr lang="fr-FR" sz="800" b="0" u="none" strike="noStrike">
                <a:solidFill>
                  <a:srgbClr val="5E646A"/>
                </a:solidFill>
                <a:effectLst/>
                <a:uFillTx/>
                <a:latin typeface="Arial"/>
                <a:ea typeface="Arial"/>
              </a:rPr>
              <a:t>profil seul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81"/>
          <p:cNvSpPr/>
          <p:nvPr/>
        </p:nvSpPr>
        <p:spPr>
          <a:xfrm>
            <a:off x="3346560" y="2331720"/>
            <a:ext cx="123408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E7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18360" rIns="54720" bIns="18360" anchor="ctr">
            <a:noAutofit/>
          </a:bodyPr>
          <a:p>
            <a:pPr algn="ctr">
              <a:lnSpc>
                <a:spcPct val="100000"/>
              </a:lnSpc>
            </a:pPr>
            <a:r>
              <a:rPr lang="fr-FR" sz="1400" b="1" u="none" strike="noStrike">
                <a:solidFill>
                  <a:srgbClr val="0097A7"/>
                </a:solidFill>
                <a:effectLst/>
                <a:uFillTx/>
                <a:latin typeface="Arial"/>
                <a:ea typeface="Arial"/>
              </a:rPr>
              <a:t>34 %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82"/>
          <p:cNvSpPr/>
          <p:nvPr/>
        </p:nvSpPr>
        <p:spPr>
          <a:xfrm>
            <a:off x="3346560" y="2907720"/>
            <a:ext cx="1234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20000"/>
              </a:lnSpc>
            </a:pPr>
            <a:r>
              <a:rPr lang="fr-FR" sz="800" b="0" u="none" strike="noStrike">
                <a:solidFill>
                  <a:srgbClr val="5E646A"/>
                </a:solidFill>
                <a:effectLst/>
                <a:uFillTx/>
                <a:latin typeface="Arial"/>
                <a:ea typeface="Arial"/>
              </a:rPr>
              <a:t>match si intérêts communs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83"/>
          <p:cNvSpPr/>
          <p:nvPr/>
        </p:nvSpPr>
        <p:spPr>
          <a:xfrm>
            <a:off x="640080" y="347472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fr-FR" sz="1250" b="1" u="none" strike="noStrike">
                <a:solidFill>
                  <a:srgbClr val="0E3449"/>
                </a:solidFill>
                <a:effectLst/>
                <a:uFillTx/>
                <a:latin typeface="Arial"/>
                <a:ea typeface="Arial"/>
              </a:rPr>
              <a:t>Limites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84"/>
          <p:cNvSpPr/>
          <p:nvPr/>
        </p:nvSpPr>
        <p:spPr>
          <a:xfrm>
            <a:off x="640080" y="381312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0000"/>
              </a:lnSpc>
            </a:pPr>
            <a:r>
              <a:rPr lang="fr-FR" sz="1000" b="0" u="none" strike="noStrike">
                <a:solidFill>
                  <a:srgbClr val="5E646A"/>
                </a:solidFill>
                <a:effectLst/>
                <a:uFillTx/>
                <a:latin typeface="Arial"/>
                <a:ea typeface="Arial"/>
              </a:rPr>
              <a:t>signaux mesurés après le rendez-vous : à intégrer avec prudence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fr-FR" sz="1000" b="0" u="none" strike="noStrike">
                <a:solidFill>
                  <a:srgbClr val="5E646A"/>
                </a:solidFill>
                <a:effectLst/>
                <a:uFillTx/>
                <a:latin typeface="Arial"/>
                <a:ea typeface="Arial"/>
              </a:rPr>
              <a:t>données expérimentales des années 2000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Picture 85" descr="product.png"/>
          <p:cNvPicPr/>
          <p:nvPr/>
        </p:nvPicPr>
        <p:blipFill>
          <a:blip r:embed="rId2"/>
          <a:stretch/>
        </p:blipFill>
        <p:spPr>
          <a:xfrm>
            <a:off x="4892040" y="1051560"/>
            <a:ext cx="3611520" cy="2774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FDA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1" descr="image.png"/>
          <p:cNvPicPr/>
          <p:nvPr/>
        </p:nvPicPr>
        <p:blipFill>
          <a:blip r:embed="rId1"/>
          <a:stretch/>
        </p:blipFill>
        <p:spPr>
          <a:xfrm>
            <a:off x="841320" y="786240"/>
            <a:ext cx="968760" cy="64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Box 2"/>
          <p:cNvSpPr/>
          <p:nvPr/>
        </p:nvSpPr>
        <p:spPr>
          <a:xfrm>
            <a:off x="731520" y="2103120"/>
            <a:ext cx="7680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>
              <a:lnSpc>
                <a:spcPct val="100000"/>
              </a:lnSpc>
            </a:pPr>
            <a:r>
              <a:rPr lang="fr-FR" sz="3800" b="1" u="none" strike="noStrike">
                <a:solidFill>
                  <a:srgbClr val="0E3449"/>
                </a:solidFill>
                <a:effectLst/>
                <a:uFillTx/>
                <a:latin typeface="Arial"/>
                <a:ea typeface="Arial"/>
              </a:rPr>
              <a:t>Merci pour votre attention</a:t>
            </a:r>
            <a:endParaRPr lang="fr-F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731520" y="3566160"/>
            <a:ext cx="7680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fr-FR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Speed Dating  ·  </a:t>
            </a:r>
            <a:r>
              <a:rPr lang="fr-FR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G4  ·  JEDHA 2026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LibreOffice/26.2.5.2$Windows_X86_64 LibreOffice_project/cd7284b4cbbfeb507e630c1aac019f4157393acb</Application>
  <AppVersion>15.0000</AppVersion>
  <Words>438</Words>
  <Paragraphs>42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Birane Thomas WANE</dc:creator>
  <dc:description/>
  <dc:language>fr-FR</dc:language>
  <cp:lastModifiedBy/>
  <dcterms:modified xsi:type="dcterms:W3CDTF">2026-08-01T16:17:40Z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Affichage à l'écran (16:9)</vt:lpwstr>
  </property>
  <property fmtid="{D5CDD505-2E9C-101B-9397-08002B2CF9AE}" pid="4" name="Slides">
    <vt:i4>9</vt:i4>
  </property>
</Properties>
</file>