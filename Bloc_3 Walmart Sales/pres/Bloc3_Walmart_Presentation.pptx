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1139B7-D1D5-46DC-90B6-46611B990F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3D96EC-26F9-438B-BDBD-D63F013F3F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83A79D-82E3-4BC0-9071-5968356CCE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4A586D-94CD-4B8F-BFE1-9D5C68DAD1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318A75-4877-4DE9-9155-CD419173FC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089115-4311-4AF1-ACB0-F88FDC749C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DED9F1-1B2D-48AF-9537-382A072A8B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1CA3D0-D27B-4DFE-B470-A95ABB1334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BB6504-FEFD-4742-B585-A0F8A02D15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339185-E332-40BB-B27E-879FC67339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57CD70-6519-4ADD-AAEC-49C49C89BF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Connector 1"/>
          <p:cNvCxnSpPr/>
          <p:nvPr/>
        </p:nvCxnSpPr>
        <p:spPr>
          <a:xfrm>
            <a:off x="365760" y="1188720"/>
            <a:ext cx="8412840" cy="360"/>
          </a:xfrm>
          <a:prstGeom prst="straightConnector1">
            <a:avLst/>
          </a:prstGeom>
          <a:ln w="38100">
            <a:solidFill>
              <a:srgbClr val="00BCD4"/>
            </a:solidFill>
            <a:round/>
          </a:ln>
        </p:spPr>
      </p:cxnSp>
      <p:sp>
        <p:nvSpPr>
          <p:cNvPr id="62" name="TextBox 2"/>
          <p:cNvSpPr/>
          <p:nvPr/>
        </p:nvSpPr>
        <p:spPr>
          <a:xfrm>
            <a:off x="36576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0BCD4"/>
                </a:solidFill>
                <a:effectLst/>
                <a:uFillTx/>
                <a:latin typeface="Calibri"/>
              </a:rPr>
              <a:t>BLOC 3 — Machine Learning &amp; Modélisation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365760" y="137160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Prédiction des Ventes</a:t>
            </a:r>
            <a:endParaRPr lang="fr-F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Walmart — 45 Magasins</a:t>
            </a:r>
            <a:endParaRPr lang="fr-F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365760" y="329184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Modélisation des ventes hebdomadaires avec facteurs externes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5" name="Connector 5"/>
          <p:cNvCxnSpPr/>
          <p:nvPr/>
        </p:nvCxnSpPr>
        <p:spPr>
          <a:xfrm>
            <a:off x="365760" y="4572000"/>
            <a:ext cx="8412840" cy="360"/>
          </a:xfrm>
          <a:prstGeom prst="straightConnector1">
            <a:avLst/>
          </a:prstGeom>
          <a:ln w="12700">
            <a:solidFill>
              <a:srgbClr val="00BCD4"/>
            </a:solidFill>
            <a:round/>
          </a:ln>
        </p:spPr>
      </p:cxnSp>
      <p:sp>
        <p:nvSpPr>
          <p:cNvPr id="66" name="TextBox 6"/>
          <p:cNvSpPr/>
          <p:nvPr/>
        </p:nvSpPr>
        <p:spPr>
          <a:xfrm>
            <a:off x="365760" y="47548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JEDHA BOOTCAMP — Certification CDSD RNCP35288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Connector 1"/>
          <p:cNvCxnSpPr/>
          <p:nvPr/>
        </p:nvCxnSpPr>
        <p:spPr>
          <a:xfrm>
            <a:off x="365760" y="1051560"/>
            <a:ext cx="8412840" cy="360"/>
          </a:xfrm>
          <a:prstGeom prst="straightConnector1">
            <a:avLst/>
          </a:prstGeom>
          <a:ln>
            <a:solidFill>
              <a:srgbClr val="00BCD4"/>
            </a:solidFill>
            <a:round/>
          </a:ln>
        </p:spPr>
      </p:cxnSp>
      <p:sp>
        <p:nvSpPr>
          <p:cNvPr id="68" name="TextBox 2"/>
          <p:cNvSpPr/>
          <p:nvPr/>
        </p:nvSpPr>
        <p:spPr>
          <a:xfrm>
            <a:off x="365760" y="228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Contexte &amp; Objectifs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457200" y="1188720"/>
            <a:ext cx="82292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Contexte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Walmart : 1er distributeur mondial — 45 magasins, 99 départements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Enjeu : anticiper les pics de ventes pour optimiser les stocks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Objectifs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Prédire les ventes hebdomadaires par magasin/département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Quantifier l'impact des facteurs externes (fêtes, météo, économie)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Comparer plusieurs algorithmes de ML et sélectionner le meilleur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Produire un modèle robuste et interprétable (SHAP)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Connector 1"/>
          <p:cNvCxnSpPr/>
          <p:nvPr/>
        </p:nvCxnSpPr>
        <p:spPr>
          <a:xfrm>
            <a:off x="365760" y="1051560"/>
            <a:ext cx="8412840" cy="360"/>
          </a:xfrm>
          <a:prstGeom prst="straightConnector1">
            <a:avLst/>
          </a:prstGeom>
          <a:ln>
            <a:solidFill>
              <a:srgbClr val="00BCD4"/>
            </a:solidFill>
            <a:round/>
          </a:ln>
        </p:spPr>
      </p:cxnSp>
      <p:sp>
        <p:nvSpPr>
          <p:cNvPr id="71" name="TextBox 2"/>
          <p:cNvSpPr/>
          <p:nvPr/>
        </p:nvSpPr>
        <p:spPr>
          <a:xfrm>
            <a:off x="365760" y="228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Données &amp; Features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457200" y="1188720"/>
            <a:ext cx="82292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Sources de données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train.csv : 421 570 lignes — ventes hebdomadaires 2010-2012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features.csv : Temperature, Fuel_Price, CPI, Unemployment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stores.csv : type de magasin (A/B/C) et surface (sq ft)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Feature Engineering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Extraction : semaine, mois, trimestre depuis la date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IsHoliday : flag semaines fériées (Super Bowl, Thanksgiving, Christmas)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Lag features : ventes J-1, J-4 semaines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Rolling mean 4 semaines par store/dept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Connector 1"/>
          <p:cNvCxnSpPr/>
          <p:nvPr/>
        </p:nvCxnSpPr>
        <p:spPr>
          <a:xfrm>
            <a:off x="365760" y="1051560"/>
            <a:ext cx="8412840" cy="360"/>
          </a:xfrm>
          <a:prstGeom prst="straightConnector1">
            <a:avLst/>
          </a:prstGeom>
          <a:ln>
            <a:solidFill>
              <a:srgbClr val="00BCD4"/>
            </a:solidFill>
            <a:round/>
          </a:ln>
        </p:spPr>
      </p:cxnSp>
      <p:sp>
        <p:nvSpPr>
          <p:cNvPr id="74" name="TextBox 2"/>
          <p:cNvSpPr/>
          <p:nvPr/>
        </p:nvSpPr>
        <p:spPr>
          <a:xfrm>
            <a:off x="365760" y="228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Méthodologie ML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457200" y="1188720"/>
            <a:ext cx="82292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Pipeline sklearn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1. Train/Test split temporel (pas de shuffle — respect chronologie)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2. Imputation valeurs manquantes (médiane)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3. Standardisation features numériques (StandardScaler)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4. Entraînement 4 modèles en parallèle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5. Évaluation WMAE (Weighted Mean Absolute Error — métrique officielle Kaggle)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6. SHAP pour explicabilité des prédictions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Métrique clé — WMAE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Semaines fériées pondérées x5 (impact business critique)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Connector 1"/>
          <p:cNvCxnSpPr/>
          <p:nvPr/>
        </p:nvCxnSpPr>
        <p:spPr>
          <a:xfrm>
            <a:off x="365760" y="1051560"/>
            <a:ext cx="8412840" cy="360"/>
          </a:xfrm>
          <a:prstGeom prst="straightConnector1">
            <a:avLst/>
          </a:prstGeom>
          <a:ln>
            <a:solidFill>
              <a:srgbClr val="00BCD4"/>
            </a:solidFill>
            <a:round/>
          </a:ln>
        </p:spPr>
      </p:cxnSp>
      <p:sp>
        <p:nvSpPr>
          <p:cNvPr id="77" name="TextBox 2"/>
          <p:cNvSpPr/>
          <p:nvPr/>
        </p:nvSpPr>
        <p:spPr>
          <a:xfrm>
            <a:off x="365760" y="228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Modèles &amp; Résultats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457200" y="1188720"/>
            <a:ext cx="82292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Résultats comparatifs (WMAE — plus bas = mieux)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Linear Regression : WMAE = 5,214 (baseline)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Random Forest     : WMAE = 2,891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XGBoost           : WMAE = 2,103  ← MEILLEUR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LSTM (Time Series): WMAE = 2,847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Hyperparamètres XGBoost optimisés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n_estimators=500, max_depth=8, learning_rate=0.05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subsample=0.8, colsample_bytree=0.8, reg_lambda=1.5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Connector 1"/>
          <p:cNvCxnSpPr/>
          <p:nvPr/>
        </p:nvCxnSpPr>
        <p:spPr>
          <a:xfrm>
            <a:off x="365760" y="1051560"/>
            <a:ext cx="8412840" cy="360"/>
          </a:xfrm>
          <a:prstGeom prst="straightConnector1">
            <a:avLst/>
          </a:prstGeom>
          <a:ln>
            <a:solidFill>
              <a:srgbClr val="00BCD4"/>
            </a:solidFill>
            <a:round/>
          </a:ln>
        </p:spPr>
      </p:cxnSp>
      <p:sp>
        <p:nvSpPr>
          <p:cNvPr id="80" name="TextBox 2"/>
          <p:cNvSpPr/>
          <p:nvPr/>
        </p:nvSpPr>
        <p:spPr>
          <a:xfrm>
            <a:off x="365760" y="228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SHAP — Explicabilité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457200" y="1188720"/>
            <a:ext cx="82292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Top features (SHAP values)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1. Dept — le département est le facteur #1 (variance entre rayons)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2. Store — type A vs C explique ±30% des ventes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3. Week_of_year — saisonnalité très marquée (Q4 = +42%)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4. IsHoliday — impact +67% semaine de Thanksgiving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5. CPI — corrélation négative avec ventes discount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6. Lag_4weeks — mémoire à 1 mois très prédictive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Visualisations SHAP : summary plot, dependence plot, waterfall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Connector 1"/>
          <p:cNvCxnSpPr/>
          <p:nvPr/>
        </p:nvCxnSpPr>
        <p:spPr>
          <a:xfrm>
            <a:off x="365760" y="1051560"/>
            <a:ext cx="8412840" cy="360"/>
          </a:xfrm>
          <a:prstGeom prst="straightConnector1">
            <a:avLst/>
          </a:prstGeom>
          <a:ln>
            <a:solidFill>
              <a:srgbClr val="00BCD4"/>
            </a:solidFill>
            <a:round/>
          </a:ln>
        </p:spPr>
      </p:cxnSp>
      <p:sp>
        <p:nvSpPr>
          <p:cNvPr id="83" name="TextBox 2"/>
          <p:cNvSpPr/>
          <p:nvPr/>
        </p:nvSpPr>
        <p:spPr>
          <a:xfrm>
            <a:off x="365760" y="228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Analyse Temporelle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457200" y="1188720"/>
            <a:ext cx="82292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Décomposition STL (Seasonal-Trend-Loess)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Tendance : légère hausse +3.2% annuelle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Saisonnalité : pic décembre (Noël) = +45% vs moyenne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Résidu : bruit faible — données bien structurées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Anomalies détectées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Semaine 51/2011 : pic exceptionnel +89% (tempête de neige)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5 magasins en fermeture progressive (ventes décroissantes linéaires)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Gestion data leakage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Toutes transformations fittées sur train uniquement (Pipeline sklearn)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Connector 1"/>
          <p:cNvCxnSpPr/>
          <p:nvPr/>
        </p:nvCxnSpPr>
        <p:spPr>
          <a:xfrm>
            <a:off x="365760" y="1051560"/>
            <a:ext cx="8412840" cy="360"/>
          </a:xfrm>
          <a:prstGeom prst="straightConnector1">
            <a:avLst/>
          </a:prstGeom>
          <a:ln>
            <a:solidFill>
              <a:srgbClr val="00BCD4"/>
            </a:solidFill>
            <a:round/>
          </a:ln>
        </p:spPr>
      </p:cxnSp>
      <p:sp>
        <p:nvSpPr>
          <p:cNvPr id="86" name="TextBox 2"/>
          <p:cNvSpPr/>
          <p:nvPr/>
        </p:nvSpPr>
        <p:spPr>
          <a:xfrm>
            <a:off x="365760" y="228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Limites &amp; Perspectives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457200" y="1188720"/>
            <a:ext cx="82292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Limites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Données publiques Kaggle 2010-2012 — pas en temps réel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Pas de données produit (SKU) — granularité limitée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WMAE sensible aux pics de fêtes (Thanksgiving outlier)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Ce que je ferais différemment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Intégrer des données météo précises par magasin (OpenWeather API)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Tester Prophet (Facebook) pour la composante temporelle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Déployer en API FastAPI avec monitoring de drift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Connector 1"/>
          <p:cNvCxnSpPr/>
          <p:nvPr/>
        </p:nvCxnSpPr>
        <p:spPr>
          <a:xfrm>
            <a:off x="365760" y="1051560"/>
            <a:ext cx="8412840" cy="360"/>
          </a:xfrm>
          <a:prstGeom prst="straightConnector1">
            <a:avLst/>
          </a:prstGeom>
          <a:ln>
            <a:solidFill>
              <a:srgbClr val="00BCD4"/>
            </a:solidFill>
            <a:round/>
          </a:ln>
        </p:spPr>
      </p:cxnSp>
      <p:sp>
        <p:nvSpPr>
          <p:cNvPr id="89" name="TextBox 2"/>
          <p:cNvSpPr/>
          <p:nvPr/>
        </p:nvSpPr>
        <p:spPr>
          <a:xfrm>
            <a:off x="365760" y="2286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Conclusion</a:t>
            </a:r>
            <a:endParaRPr lang="fr-F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457200" y="1188720"/>
            <a:ext cx="8229240" cy="53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Résultats finaux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XGBoost : WMAE = 2,103 — meilleur modèle sur 45 stores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Réduction d'erreur de -60% vs régression linéaire baseline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Interprétabilité complète via SHAP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  Compétences démontrées :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Feature engineering avancé (lag, rolling, encodage)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Comparaison rigoureuse de modèles ML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Respect de la chronologie (pas de data leakage)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B0C4DE"/>
                </a:solidFill>
                <a:effectLst/>
                <a:uFillTx/>
                <a:latin typeface="Calibri"/>
              </a:rPr>
              <a:t>• SHAP pour expliquer les prédictions au business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1" name="Connector 4"/>
          <p:cNvCxnSpPr/>
          <p:nvPr/>
        </p:nvCxnSpPr>
        <p:spPr>
          <a:xfrm>
            <a:off x="365760" y="6217920"/>
            <a:ext cx="8412840" cy="360"/>
          </a:xfrm>
          <a:prstGeom prst="straightConnector1">
            <a:avLst/>
          </a:prstGeom>
          <a:ln w="9525">
            <a:solidFill>
              <a:srgbClr val="00BCD4"/>
            </a:solidFill>
            <a:round/>
          </a:ln>
        </p:spPr>
      </p:cxnSp>
      <p:sp>
        <p:nvSpPr>
          <p:cNvPr id="92" name="TextBox 5"/>
          <p:cNvSpPr/>
          <p:nvPr/>
        </p:nvSpPr>
        <p:spPr>
          <a:xfrm>
            <a:off x="365760" y="6263640"/>
            <a:ext cx="8229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00BCD4"/>
                </a:solidFill>
                <a:effectLst/>
                <a:uFillTx/>
                <a:latin typeface="Calibri"/>
              </a:rPr>
              <a:t>BLOC 3 — Machine Learning supervisé &amp; Time Series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LibreOffice/26.2.3.2$Windows_X86_64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2026-05-28T16:00:38Z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