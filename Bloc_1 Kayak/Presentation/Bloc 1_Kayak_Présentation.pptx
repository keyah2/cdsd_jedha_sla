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fr-FR" sz="1800" b="0" u="none" strike="noStrike">
                <a:solidFill>
                  <a:schemeClr val="dk1"/>
                </a:solidFill>
                <a:effectLst/>
                <a:uFillTx/>
                <a:latin typeface="Aptos"/>
              </a:rPr>
              <a:t>Cliquez pour déplacer la diapo</a:t>
            </a:r>
            <a:endParaRPr lang="fr-FR" sz="1800" b="0" u="none" strike="noStrike">
              <a:solidFill>
                <a:schemeClr val="dk1"/>
              </a:solidFill>
              <a:effectLst/>
              <a:uFillTx/>
              <a:latin typeface="Aptos"/>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9"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BC408B41-DF87-4726-A691-0405D9281F57}"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0" y="0"/>
            <a:ext cx="0" cy="0"/>
          </a:xfrm>
          <a:prstGeom prst="rect">
            <a:avLst/>
          </a:prstGeom>
          <a:ln w="0">
            <a:noFill/>
          </a:ln>
        </p:spPr>
      </p:sp>
      <p:sp>
        <p:nvSpPr>
          <p:cNvPr id="35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Bonjour, je présente le projet Kayak du Bloc 1. L’objectif est de construire un pipeline data complet pour recommander des destinations de voyage en France. La recommandation combine une météo favorable et une offre hôtelière exploitable, puis restitue les résultats sous forme de fichiers, base SQL et cartes.</a:t>
            </a:r>
            <a:endParaRPr lang="fr-FR" sz="2000" b="0" u="none" strike="noStrike">
              <a:solidFill>
                <a:srgbClr val="000000"/>
              </a:solidFill>
              <a:effectLst/>
              <a:uFillTx/>
              <a:latin typeface="Arial"/>
            </a:endParaRPr>
          </a:p>
        </p:txBody>
      </p:sp>
      <p:sp>
        <p:nvSpPr>
          <p:cNvPr id="358"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34EBE6B2-5C4F-4135-89A3-9A564F69CD7A}"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0" y="0"/>
            <a:ext cx="0" cy="0"/>
          </a:xfrm>
          <a:prstGeom prst="rect">
            <a:avLst/>
          </a:prstGeom>
          <a:ln w="0">
            <a:noFill/>
          </a:ln>
        </p:spPr>
      </p:sp>
      <p:sp>
        <p:nvSpPr>
          <p:cNvPr id="3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La problématique métier est simple : aider un utilisateur à choisir une destination. La météo seule ne suffit pas, car une bonne destination doit aussi proposer une offre hôtelière exploitable. Le projet répond donc par un pipeline qui récupère, transforme, stocke et visualise les données.</a:t>
            </a:r>
            <a:endParaRPr lang="fr-FR" sz="2000" b="0" u="none" strike="noStrike">
              <a:solidFill>
                <a:srgbClr val="000000"/>
              </a:solidFill>
              <a:effectLst/>
              <a:uFillTx/>
              <a:latin typeface="Arial"/>
            </a:endParaRPr>
          </a:p>
        </p:txBody>
      </p:sp>
      <p:sp>
        <p:nvSpPr>
          <p:cNvPr id="361"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143A16D3-75D0-44B8-9031-D2A9CEBFAE58}"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0" y="0"/>
            <a:ext cx="0" cy="0"/>
          </a:xfrm>
          <a:prstGeom prst="rect">
            <a:avLst/>
          </a:prstGeom>
          <a:ln w="0">
            <a:noFill/>
          </a:ln>
        </p:spPr>
      </p:sp>
      <p:sp>
        <p:nvSpPr>
          <p:cNvPr id="3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J’utilise trois sources : Nominatim pour géocoder les villes, OpenWeather pour récupérer la météo, et Booking pour la partie hôtelière. La stack reste volontairement classique : pandas pour transformer, requests pour les appels API, BeautifulSoup pour parser les pages, boto3 pour S3, psycopg2 pour PostgreSQL et Folium pour les cartes.</a:t>
            </a:r>
            <a:endParaRPr lang="fr-FR" sz="2000" b="0" u="none" strike="noStrike">
              <a:solidFill>
                <a:srgbClr val="000000"/>
              </a:solidFill>
              <a:effectLst/>
              <a:uFillTx/>
              <a:latin typeface="Arial"/>
            </a:endParaRPr>
          </a:p>
        </p:txBody>
      </p:sp>
      <p:sp>
        <p:nvSpPr>
          <p:cNvPr id="364"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5ACE0070-8C87-457E-AE98-DED23ABDCC8F}"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0" y="0"/>
            <a:ext cx="0" cy="0"/>
          </a:xfrm>
          <a:prstGeom prst="rect">
            <a:avLst/>
          </a:prstGeom>
          <a:ln w="0">
            <a:noFill/>
          </a:ln>
        </p:spPr>
      </p:sp>
      <p:sp>
        <p:nvSpPr>
          <p:cNvPr id="3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La logique suit une chaîne ETL : extraction, transformation, chargement et restitution. Je pars d’une liste de villes, je récupère les coordonnées, la météo, puis je calcule un score. Ensuite seulement, je scrape Booking pour les cinq villes retenues. Cela rend le projet plus efficace et plus lisible.</a:t>
            </a:r>
            <a:endParaRPr lang="fr-FR" sz="2000" b="0" u="none" strike="noStrike">
              <a:solidFill>
                <a:srgbClr val="000000"/>
              </a:solidFill>
              <a:effectLst/>
              <a:uFillTx/>
              <a:latin typeface="Arial"/>
            </a:endParaRPr>
          </a:p>
        </p:txBody>
      </p:sp>
      <p:sp>
        <p:nvSpPr>
          <p:cNvPr id="367"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A6D3C1A6-7AE2-44A9-A800-86A67D2A8D9B}"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0" y="0"/>
            <a:ext cx="0" cy="0"/>
          </a:xfrm>
          <a:prstGeom prst="rect">
            <a:avLst/>
          </a:prstGeom>
          <a:ln w="0">
            <a:noFill/>
          </a:ln>
        </p:spPr>
      </p:sp>
      <p:sp>
        <p:nvSpPr>
          <p:cNvPr id="3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Le score météo est calculé sur 7 jours. Il agrège température, pluie, probabilité de pluie et vent. L’objectif est d’éviter un choix subjectif. Le top 5 obtenu est : Avignon, Aix-en-Provence, Nîmes, Bormes-les-Mimosas et Strasbourg.</a:t>
            </a:r>
            <a:endParaRPr lang="fr-FR" sz="2000" b="0" u="none" strike="noStrike">
              <a:solidFill>
                <a:srgbClr val="000000"/>
              </a:solidFill>
              <a:effectLst/>
              <a:uFillTx/>
              <a:latin typeface="Arial"/>
            </a:endParaRPr>
          </a:p>
        </p:txBody>
      </p:sp>
      <p:sp>
        <p:nvSpPr>
          <p:cNvPr id="370"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320EA46C-694E-4AF7-A1C4-DDE1578B539A}"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0" y="0"/>
            <a:ext cx="0" cy="0"/>
          </a:xfrm>
          <a:prstGeom prst="rect">
            <a:avLst/>
          </a:prstGeom>
          <a:ln w="0">
            <a:noFill/>
          </a:ln>
        </p:spPr>
      </p:sp>
      <p:sp>
        <p:nvSpPr>
          <p:cNvPr id="3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La couche hôtelière intervient après la sélection météo. Cela limite le scraping à cinq destinations. Le parser extrait les champs utiles : ville, nom de l’hôtel, note et URL. Le contrôle qualité important est d’obtenir 10 hôtels par ville, soit 50 hôtels au total.</a:t>
            </a:r>
            <a:endParaRPr lang="fr-FR" sz="2000" b="0" u="none" strike="noStrike">
              <a:solidFill>
                <a:srgbClr val="000000"/>
              </a:solidFill>
              <a:effectLst/>
              <a:uFillTx/>
              <a:latin typeface="Arial"/>
            </a:endParaRPr>
          </a:p>
        </p:txBody>
      </p:sp>
      <p:sp>
        <p:nvSpPr>
          <p:cNvPr id="373"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F4B21A18-0529-4561-8371-90F66C3B88A6}"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0" y="0"/>
            <a:ext cx="0" cy="0"/>
          </a:xfrm>
          <a:prstGeom prst="rect">
            <a:avLst/>
          </a:prstGeom>
          <a:ln w="0">
            <a:noFill/>
          </a:ln>
        </p:spPr>
      </p:sp>
      <p:sp>
        <p:nvSpPr>
          <p:cNvPr id="37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Le stockage est organisé en trois niveaux : RAW, PROCESSED et FINAL. Le fichier final est aussi chargé dans PostgreSQL via Neon. L’objectif est d’avoir une donnée traçable, structurée et réutilisable, pas seulement un CSV isolé.</a:t>
            </a:r>
            <a:endParaRPr lang="fr-FR" sz="2000" b="0" u="none" strike="noStrike">
              <a:solidFill>
                <a:srgbClr val="000000"/>
              </a:solidFill>
              <a:effectLst/>
              <a:uFillTx/>
              <a:latin typeface="Arial"/>
            </a:endParaRPr>
          </a:p>
        </p:txBody>
      </p:sp>
      <p:sp>
        <p:nvSpPr>
          <p:cNvPr id="376"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B0089C0E-7C66-4D67-9066-B70732F957B7}"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0" y="0"/>
            <a:ext cx="0" cy="0"/>
          </a:xfrm>
          <a:prstGeom prst="rect">
            <a:avLst/>
          </a:prstGeom>
          <a:ln w="0">
            <a:noFill/>
          </a:ln>
        </p:spPr>
      </p:sp>
      <p:sp>
        <p:nvSpPr>
          <p:cNvPr id="37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Pour éviter les libellés qui se chevauchent, les cartes utilisent des marqueurs sans texte directement posé sur la carte. Les noms, scores et volumes d’hôtels sont lus dans les légendes à côté. Cela rend la restitution plus lisible, surtout pour les villes du Sud qui sont proches géographiquement.</a:t>
            </a:r>
            <a:endParaRPr lang="fr-FR" sz="2000" b="0" u="none" strike="noStrike">
              <a:solidFill>
                <a:srgbClr val="000000"/>
              </a:solidFill>
              <a:effectLst/>
              <a:uFillTx/>
              <a:latin typeface="Arial"/>
            </a:endParaRPr>
          </a:p>
        </p:txBody>
      </p:sp>
      <p:sp>
        <p:nvSpPr>
          <p:cNvPr id="379"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9C765892-461A-42D6-85D4-5F4D86A3F7EC}"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0" y="0"/>
            <a:ext cx="0" cy="0"/>
          </a:xfrm>
          <a:prstGeom prst="rect">
            <a:avLst/>
          </a:prstGeom>
          <a:ln w="0">
            <a:noFill/>
          </a:ln>
        </p:spPr>
      </p:sp>
      <p:sp>
        <p:nvSpPr>
          <p:cNvPr id="3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Il faut être clair sur les limites. Le scraping dépend de la structure HTML, le score météo est simple, et les données d’hôtel pourraient être enrichies avec les prix, disponibilités et avis. Une amélioration importante serait de géocoder chaque hôtel individuellement pour améliorer la carte hôtelière.</a:t>
            </a:r>
            <a:endParaRPr lang="fr-FR" sz="2000" b="0" u="none" strike="noStrike">
              <a:solidFill>
                <a:srgbClr val="000000"/>
              </a:solidFill>
              <a:effectLst/>
              <a:uFillTx/>
              <a:latin typeface="Arial"/>
            </a:endParaRPr>
          </a:p>
        </p:txBody>
      </p:sp>
      <p:sp>
        <p:nvSpPr>
          <p:cNvPr id="382"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6225B226-BA81-4A69-9966-D7282DFEE977}"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0" y="0"/>
            <a:ext cx="0" cy="0"/>
          </a:xfrm>
          <a:prstGeom prst="rect">
            <a:avLst/>
          </a:prstGeom>
          <a:ln w="0">
            <a:noFill/>
          </a:ln>
        </p:spPr>
      </p:sp>
      <p:sp>
        <p:nvSpPr>
          <p:cNvPr id="3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tabLst>
                <a:tab pos="0" algn="l"/>
              </a:tabLst>
            </a:pPr>
            <a:r>
              <a:rPr lang="en-US" sz="2000" b="0" u="none" strike="noStrike">
                <a:solidFill>
                  <a:srgbClr val="000000"/>
                </a:solidFill>
                <a:effectLst/>
                <a:uFillTx/>
                <a:latin typeface="Arial"/>
              </a:rPr>
              <a:t>Pour conclure, le projet montre une chaîne data complète et cohérente. La valeur métier est de combiner météo et hôtels pour proposer une recommandation plus concrète. Techniquement, il mobilise API, scraping, transformation, stockage et visualisation. Merci pour votre attention, je suis disponible pour les questions.</a:t>
            </a:r>
            <a:endParaRPr lang="fr-FR" sz="2000" b="0" u="none" strike="noStrike">
              <a:solidFill>
                <a:srgbClr val="000000"/>
              </a:solidFill>
              <a:effectLst/>
              <a:uFillTx/>
              <a:latin typeface="Arial"/>
            </a:endParaRPr>
          </a:p>
        </p:txBody>
      </p:sp>
      <p:sp>
        <p:nvSpPr>
          <p:cNvPr id="385"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l" defTabSz="914400">
              <a:lnSpc>
                <a:spcPct val="100000"/>
              </a:lnSpc>
              <a:buNone/>
              <a:tabLst>
                <a:tab pos="0" algn="l"/>
              </a:tabLst>
            </a:pPr>
            <a:fld id="{8108E236-2EAF-4C8F-BB62-A8CD9B7D45B3}"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062333"/>
        </a:solidFill>
      </p:bgPr>
    </p:bg>
    <p:spTree>
      <p:nvGrpSpPr>
        <p:cNvPr id="1" name=""/>
        <p:cNvGrpSpPr/>
        <p:nvPr/>
      </p:nvGrpSpPr>
      <p:grpSpPr>
        <a:xfrm>
          <a:off x="0" y="0"/>
          <a:ext cx="0" cy="0"/>
          <a:chOff x="0" y="0"/>
          <a:chExt cx="0" cy="0"/>
        </a:xfrm>
      </p:grpSpPr>
      <p:sp>
        <p:nvSpPr>
          <p:cNvPr id="2" name="Shape 0"/>
          <p:cNvSpPr/>
          <p:nvPr/>
        </p:nvSpPr>
        <p:spPr>
          <a:xfrm>
            <a:off x="0" y="0"/>
            <a:ext cx="12191400" cy="360"/>
          </a:xfrm>
          <a:prstGeom prst="line">
            <a:avLst/>
          </a:prstGeom>
          <a:ln w="38100">
            <a:solidFill>
              <a:srgbClr val="00A6A6"/>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3" name="PlaceHolder 1"/>
          <p:cNvSpPr>
            <a:spLocks noGrp="1"/>
          </p:cNvSpPr>
          <p:nvPr>
            <p:ph type="sldNum" idx="1"/>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0A995286-217E-4862-89B8-C585B6890A9E}" type="slidenum">
              <a:rPr lang="en-US" sz="650" b="0" u="none" strike="noStrike">
                <a:solidFill>
                  <a:srgbClr val="CBD5E1"/>
                </a:solidFill>
                <a:effectLst/>
                <a:uFillTx/>
                <a:latin typeface="Aptos"/>
              </a:rPr>
              <a:t>&lt;numéro&gt;</a:t>
            </a:fld>
            <a:endParaRPr lang="fr-FR" sz="650" b="0" u="none" strike="noStrike">
              <a:solidFill>
                <a:srgbClr val="FFFFFF"/>
              </a:solidFill>
              <a:effectLst/>
              <a:uFillTx/>
              <a:latin typeface="Times New Roman"/>
            </a:endParaRPr>
          </a:p>
        </p:txBody>
      </p:sp>
      <p:sp>
        <p:nvSpPr>
          <p:cNvPr id="4" name="PlaceHolder 2"/>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lvl1pPr indent="0" algn="l">
              <a:lnSpc>
                <a:spcPct val="100000"/>
              </a:lnSpc>
              <a:buNone/>
              <a:tabLst>
                <a:tab pos="0" algn="l"/>
              </a:tabLst>
              <a:defRPr lang="fr-FR" sz="1800" b="0" u="none" strike="noStrike">
                <a:solidFill>
                  <a:schemeClr val="dk1"/>
                </a:solidFill>
                <a:effectLst/>
                <a:uFillTx/>
                <a:latin typeface="Aptos"/>
              </a:defRPr>
            </a:lvl1pPr>
          </a:lstStyle>
          <a:p>
            <a:pPr indent="0" algn="l">
              <a:lnSpc>
                <a:spcPct val="100000"/>
              </a:lnSpc>
              <a:buNone/>
              <a:tabLst>
                <a:tab pos="0" algn="l"/>
              </a:tabLst>
            </a:pPr>
            <a:r>
              <a:rPr lang="fr-FR" sz="1800" b="0" u="none" strike="noStrike">
                <a:solidFill>
                  <a:schemeClr val="dk1"/>
                </a:solidFill>
                <a:effectLst/>
                <a:uFillTx/>
                <a:latin typeface="Aptos"/>
              </a:rPr>
              <a:t>Cliquez pour éditer le format du texte-titre</a:t>
            </a:r>
            <a:endParaRPr lang="fr-FR" sz="1800" b="0" u="none" strike="noStrike">
              <a:solidFill>
                <a:schemeClr val="dk1"/>
              </a:solidFill>
              <a:effectLst/>
              <a:uFillTx/>
              <a:latin typeface="Aptos"/>
            </a:endParaRPr>
          </a:p>
        </p:txBody>
      </p:sp>
      <p:sp>
        <p:nvSpPr>
          <p:cNvPr id="5" name="PlaceHolder 3"/>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a:lnSpc>
                <a:spcPct val="100000"/>
              </a:lnSpc>
              <a:spcBef>
                <a:spcPts val="1417"/>
              </a:spcBef>
              <a:buClr>
                <a:srgbClr val="FFFFFF"/>
              </a:buClr>
              <a:buSzPct val="45000"/>
              <a:buFont typeface="Wingdings" charset="2"/>
              <a:buChar char=""/>
              <a:defRPr lang="fr-FR" sz="3200" b="0" u="none" strike="noStrike">
                <a:solidFill>
                  <a:schemeClr val="dk1"/>
                </a:solidFill>
                <a:effectLst/>
                <a:uFillTx/>
                <a:latin typeface="Aptos"/>
              </a:defRPr>
            </a:lvl1pPr>
            <a:lvl2pPr lvl="1" algn="l">
              <a:lnSpc>
                <a:spcPct val="100000"/>
              </a:lnSpc>
              <a:spcBef>
                <a:spcPts val="1134"/>
              </a:spcBef>
              <a:buClr>
                <a:srgbClr val="FFFFFF"/>
              </a:buClr>
              <a:buSzPct val="75000"/>
              <a:buFont typeface="Symbol" charset="2"/>
              <a:buChar char=""/>
              <a:defRPr lang="fr-FR" sz="2400" b="0" u="none" strike="noStrike">
                <a:solidFill>
                  <a:schemeClr val="dk1"/>
                </a:solidFill>
                <a:effectLst/>
                <a:uFillTx/>
                <a:latin typeface="Aptos"/>
              </a:defRPr>
            </a:lvl2pPr>
            <a:lvl3pPr lvl="2" algn="l">
              <a:lnSpc>
                <a:spcPct val="100000"/>
              </a:lnSpc>
              <a:spcBef>
                <a:spcPts val="850"/>
              </a:spcBef>
              <a:buClr>
                <a:srgbClr val="FFFFFF"/>
              </a:buClr>
              <a:buSzPct val="45000"/>
              <a:buFont typeface="Wingdings" charset="2"/>
              <a:buChar char=""/>
              <a:defRPr lang="fr-FR" sz="2000" b="0" u="none" strike="noStrike">
                <a:solidFill>
                  <a:schemeClr val="dk1"/>
                </a:solidFill>
                <a:effectLst/>
                <a:uFillTx/>
                <a:latin typeface="Aptos"/>
              </a:defRPr>
            </a:lvl3pPr>
            <a:lvl4pPr lvl="3" algn="l">
              <a:lnSpc>
                <a:spcPct val="100000"/>
              </a:lnSpc>
              <a:spcBef>
                <a:spcPts val="567"/>
              </a:spcBef>
              <a:buClr>
                <a:srgbClr val="FFFFFF"/>
              </a:buClr>
              <a:buSzPct val="75000"/>
              <a:buFont typeface="Symbol" charset="2"/>
              <a:buChar char=""/>
              <a:defRPr lang="fr-FR" sz="2000" b="0" u="none" strike="noStrike">
                <a:solidFill>
                  <a:schemeClr val="dk1"/>
                </a:solidFill>
                <a:effectLst/>
                <a:uFillTx/>
                <a:latin typeface="Aptos"/>
              </a:defRPr>
            </a:lvl4pPr>
            <a:lvl5pPr lvl="4" algn="l">
              <a:lnSpc>
                <a:spcPct val="100000"/>
              </a:lnSpc>
              <a:spcBef>
                <a:spcPts val="283"/>
              </a:spcBef>
              <a:buClr>
                <a:srgbClr val="FFFFFF"/>
              </a:buClr>
              <a:buSzPct val="45000"/>
              <a:buFont typeface="Wingdings" charset="2"/>
              <a:buChar char=""/>
              <a:defRPr lang="fr-FR" sz="2000" b="0" u="none" strike="noStrike">
                <a:solidFill>
                  <a:schemeClr val="dk1"/>
                </a:solidFill>
                <a:effectLst/>
                <a:uFillTx/>
                <a:latin typeface="Aptos"/>
              </a:defRPr>
            </a:lvl5pPr>
            <a:lvl6pPr lvl="5" algn="l">
              <a:lnSpc>
                <a:spcPct val="100000"/>
              </a:lnSpc>
              <a:spcBef>
                <a:spcPts val="283"/>
              </a:spcBef>
              <a:buClr>
                <a:srgbClr val="FFFFFF"/>
              </a:buClr>
              <a:buSzPct val="45000"/>
              <a:buFont typeface="Wingdings" charset="2"/>
              <a:buChar char=""/>
              <a:defRPr lang="fr-FR" sz="2000" b="0" u="none" strike="noStrike">
                <a:solidFill>
                  <a:schemeClr val="dk1"/>
                </a:solidFill>
                <a:effectLst/>
                <a:uFillTx/>
                <a:latin typeface="Aptos"/>
              </a:defRPr>
            </a:lvl6pPr>
            <a:lvl7pPr lvl="6" algn="l">
              <a:lnSpc>
                <a:spcPct val="100000"/>
              </a:lnSpc>
              <a:spcBef>
                <a:spcPts val="283"/>
              </a:spcBef>
              <a:buClr>
                <a:srgbClr val="FFFFFF"/>
              </a:buClr>
              <a:buSzPct val="45000"/>
              <a:buFont typeface="Wingdings" charset="2"/>
              <a:buChar char=""/>
              <a:defRPr lang="fr-FR" sz="2000" b="0" u="none" strike="noStrike">
                <a:solidFill>
                  <a:schemeClr val="dk1"/>
                </a:solidFill>
                <a:effectLst/>
                <a:uFillTx/>
                <a:latin typeface="Aptos"/>
              </a:defRPr>
            </a:lvl7pPr>
          </a:lstStyle>
          <a:p>
            <a:pPr marL="432000" indent="-324000" algn="l">
              <a:lnSpc>
                <a:spcPct val="100000"/>
              </a:lnSpc>
              <a:spcBef>
                <a:spcPts val="1417"/>
              </a:spcBef>
              <a:buClr>
                <a:srgbClr val="FFFFFF"/>
              </a:buClr>
              <a:buSzPct val="45000"/>
              <a:buFont typeface="Wingdings" charset="2"/>
              <a:buChar char=""/>
            </a:pPr>
            <a:r>
              <a:rPr lang="fr-FR" sz="3200" b="0" u="none" strike="noStrike">
                <a:solidFill>
                  <a:schemeClr val="dk1"/>
                </a:solidFill>
                <a:effectLst/>
                <a:uFillTx/>
                <a:latin typeface="Aptos"/>
              </a:rPr>
              <a:t>Cliquez pour éditer le format du plan de texte</a:t>
            </a:r>
            <a:endParaRPr lang="fr-FR" sz="3200" b="0" u="none" strike="noStrike">
              <a:solidFill>
                <a:schemeClr val="dk1"/>
              </a:solidFill>
              <a:effectLst/>
              <a:uFillTx/>
              <a:latin typeface="Aptos"/>
            </a:endParaRPr>
          </a:p>
          <a:p>
            <a:pPr marL="864000" lvl="1" indent="-324000" algn="l">
              <a:lnSpc>
                <a:spcPct val="100000"/>
              </a:lnSpc>
              <a:spcBef>
                <a:spcPts val="1134"/>
              </a:spcBef>
              <a:buClr>
                <a:srgbClr val="FFFFFF"/>
              </a:buClr>
              <a:buSzPct val="75000"/>
              <a:buFont typeface="Symbol" charset="2"/>
              <a:buChar char=""/>
            </a:pPr>
            <a:r>
              <a:rPr lang="fr-FR" sz="2400" b="0" u="none" strike="noStrike">
                <a:solidFill>
                  <a:schemeClr val="dk1"/>
                </a:solidFill>
                <a:effectLst/>
                <a:uFillTx/>
                <a:latin typeface="Aptos"/>
              </a:rPr>
              <a:t>Second niveau de plan</a:t>
            </a:r>
            <a:endParaRPr lang="fr-FR" sz="2400" b="0" u="none" strike="noStrike">
              <a:solidFill>
                <a:schemeClr val="dk1"/>
              </a:solidFill>
              <a:effectLst/>
              <a:uFillTx/>
              <a:latin typeface="Aptos"/>
            </a:endParaRPr>
          </a:p>
          <a:p>
            <a:pPr marL="1296000" lvl="2" indent="-288000" algn="l">
              <a:lnSpc>
                <a:spcPct val="100000"/>
              </a:lnSpc>
              <a:spcBef>
                <a:spcPts val="850"/>
              </a:spcBef>
              <a:buClr>
                <a:srgbClr val="FFFFFF"/>
              </a:buClr>
              <a:buSzPct val="45000"/>
              <a:buFont typeface="Wingdings" charset="2"/>
              <a:buChar char=""/>
            </a:pPr>
            <a:r>
              <a:rPr lang="fr-FR" sz="2000" b="0" u="none" strike="noStrike">
                <a:solidFill>
                  <a:schemeClr val="dk1"/>
                </a:solidFill>
                <a:effectLst/>
                <a:uFillTx/>
                <a:latin typeface="Aptos"/>
              </a:rPr>
              <a:t>Troisième niveau de plan</a:t>
            </a:r>
            <a:endParaRPr lang="fr-FR" sz="2000" b="0" u="none" strike="noStrike">
              <a:solidFill>
                <a:schemeClr val="dk1"/>
              </a:solidFill>
              <a:effectLst/>
              <a:uFillTx/>
              <a:latin typeface="Aptos"/>
            </a:endParaRPr>
          </a:p>
          <a:p>
            <a:pPr marL="1728000" lvl="3" indent="-216000" algn="l">
              <a:lnSpc>
                <a:spcPct val="100000"/>
              </a:lnSpc>
              <a:spcBef>
                <a:spcPts val="567"/>
              </a:spcBef>
              <a:buClr>
                <a:srgbClr val="FFFFFF"/>
              </a:buClr>
              <a:buSzPct val="75000"/>
              <a:buFont typeface="Symbol" charset="2"/>
              <a:buChar char=""/>
            </a:pPr>
            <a:r>
              <a:rPr lang="fr-FR" sz="2000" b="0" u="none" strike="noStrike">
                <a:solidFill>
                  <a:schemeClr val="dk1"/>
                </a:solidFill>
                <a:effectLst/>
                <a:uFillTx/>
                <a:latin typeface="Aptos"/>
              </a:rPr>
              <a:t>Quatrième niveau de plan</a:t>
            </a:r>
            <a:endParaRPr lang="fr-FR" sz="2000" b="0" u="none" strike="noStrike">
              <a:solidFill>
                <a:schemeClr val="dk1"/>
              </a:solidFill>
              <a:effectLst/>
              <a:uFillTx/>
              <a:latin typeface="Aptos"/>
            </a:endParaRPr>
          </a:p>
          <a:p>
            <a:pPr marL="2160000" lvl="4" indent="-216000" algn="l">
              <a:lnSpc>
                <a:spcPct val="100000"/>
              </a:lnSpc>
              <a:spcBef>
                <a:spcPts val="283"/>
              </a:spcBef>
              <a:buClr>
                <a:srgbClr val="FFFFFF"/>
              </a:buClr>
              <a:buSzPct val="45000"/>
              <a:buFont typeface="Wingdings" charset="2"/>
              <a:buChar char=""/>
            </a:pPr>
            <a:r>
              <a:rPr lang="fr-FR" sz="2000" b="0" u="none" strike="noStrike">
                <a:solidFill>
                  <a:schemeClr val="dk1"/>
                </a:solidFill>
                <a:effectLst/>
                <a:uFillTx/>
                <a:latin typeface="Aptos"/>
              </a:rPr>
              <a:t>Cinquième niveau de plan</a:t>
            </a:r>
            <a:endParaRPr lang="fr-FR" sz="2000" b="0" u="none" strike="noStrike">
              <a:solidFill>
                <a:schemeClr val="dk1"/>
              </a:solidFill>
              <a:effectLst/>
              <a:uFillTx/>
              <a:latin typeface="Aptos"/>
            </a:endParaRPr>
          </a:p>
          <a:p>
            <a:pPr marL="2592000" lvl="5" indent="-216000" algn="l">
              <a:lnSpc>
                <a:spcPct val="100000"/>
              </a:lnSpc>
              <a:spcBef>
                <a:spcPts val="283"/>
              </a:spcBef>
              <a:buClr>
                <a:srgbClr val="FFFFFF"/>
              </a:buClr>
              <a:buSzPct val="45000"/>
              <a:buFont typeface="Wingdings" charset="2"/>
              <a:buChar char=""/>
            </a:pPr>
            <a:r>
              <a:rPr lang="fr-FR" sz="2000" b="0" u="none" strike="noStrike">
                <a:solidFill>
                  <a:schemeClr val="dk1"/>
                </a:solidFill>
                <a:effectLst/>
                <a:uFillTx/>
                <a:latin typeface="Aptos"/>
              </a:rPr>
              <a:t>Sixième niveau de plan</a:t>
            </a:r>
            <a:endParaRPr lang="fr-FR" sz="2000" b="0" u="none" strike="noStrike">
              <a:solidFill>
                <a:schemeClr val="dk1"/>
              </a:solidFill>
              <a:effectLst/>
              <a:uFillTx/>
              <a:latin typeface="Aptos"/>
            </a:endParaRPr>
          </a:p>
          <a:p>
            <a:pPr marL="3024000" lvl="6" indent="-216000" algn="l">
              <a:lnSpc>
                <a:spcPct val="100000"/>
              </a:lnSpc>
              <a:spcBef>
                <a:spcPts val="283"/>
              </a:spcBef>
              <a:buClr>
                <a:srgbClr val="FFFFFF"/>
              </a:buClr>
              <a:buSzPct val="45000"/>
              <a:buFont typeface="Wingdings" charset="2"/>
              <a:buChar char=""/>
            </a:pPr>
            <a:r>
              <a:rPr lang="fr-FR" sz="2000" b="0" u="none" strike="noStrike">
                <a:solidFill>
                  <a:schemeClr val="dk1"/>
                </a:solidFill>
                <a:effectLst/>
                <a:uFillTx/>
                <a:latin typeface="Aptos"/>
              </a:rPr>
              <a:t>Septième niveau de plan</a:t>
            </a:r>
            <a:endParaRPr lang="fr-FR"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12" name="Shape 0"/>
          <p:cNvSpPr/>
          <p:nvPr/>
        </p:nvSpPr>
        <p:spPr>
          <a:xfrm>
            <a:off x="0" y="10080"/>
            <a:ext cx="12191040" cy="6857280"/>
          </a:xfrm>
          <a:prstGeom prst="rect">
            <a:avLst/>
          </a:prstGeom>
          <a:solidFill>
            <a:srgbClr val="062333"/>
          </a:solidFill>
          <a:ln w="12700">
            <a:solidFill>
              <a:srgbClr val="062333"/>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 name="Shape 1"/>
          <p:cNvSpPr/>
          <p:nvPr/>
        </p:nvSpPr>
        <p:spPr>
          <a:xfrm>
            <a:off x="7589520" y="-731520"/>
            <a:ext cx="5211360" cy="5211360"/>
          </a:xfrm>
          <a:prstGeom prst="arc">
            <a:avLst>
              <a:gd name="adj1" fmla="val 16200000"/>
              <a:gd name="adj2" fmla="val 0"/>
            </a:avLst>
          </a:prstGeom>
          <a:noFill/>
          <a:ln w="25400">
            <a:solidFill>
              <a:srgbClr val="00A6A6">
                <a:alpha val="70000"/>
              </a:srgbClr>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 name="Shape 2"/>
          <p:cNvSpPr/>
          <p:nvPr/>
        </p:nvSpPr>
        <p:spPr>
          <a:xfrm>
            <a:off x="8046720" y="-320040"/>
            <a:ext cx="4022640" cy="4022640"/>
          </a:xfrm>
          <a:prstGeom prst="arc">
            <a:avLst>
              <a:gd name="adj1" fmla="val 16200000"/>
              <a:gd name="adj2" fmla="val 0"/>
            </a:avLst>
          </a:prstGeom>
          <a:noFill/>
          <a:ln w="20320">
            <a:solidFill>
              <a:srgbClr val="F59E0B">
                <a:alpha val="60000"/>
              </a:srgbClr>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 name="Text 3"/>
          <p:cNvSpPr/>
          <p:nvPr/>
        </p:nvSpPr>
        <p:spPr>
          <a:xfrm>
            <a:off x="685800" y="1005840"/>
            <a:ext cx="5851440" cy="703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rgbClr val="FFFFFF"/>
                </a:solidFill>
                <a:effectLst/>
                <a:uFillTx/>
                <a:latin typeface="Aptos Display"/>
                <a:ea typeface="Aptos Display"/>
              </a:rPr>
              <a:t>Projet Kayak</a:t>
            </a:r>
            <a:endParaRPr lang="fr-FR" sz="4400" b="0" u="none" strike="noStrike">
              <a:solidFill>
                <a:srgbClr val="FFFFFF"/>
              </a:solidFill>
              <a:effectLst/>
              <a:uFillTx/>
              <a:latin typeface="Arial"/>
            </a:endParaRPr>
          </a:p>
        </p:txBody>
      </p:sp>
      <p:sp>
        <p:nvSpPr>
          <p:cNvPr id="16" name="Text 4"/>
          <p:cNvSpPr/>
          <p:nvPr/>
        </p:nvSpPr>
        <p:spPr>
          <a:xfrm>
            <a:off x="713160" y="1856160"/>
            <a:ext cx="66744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D9F99D"/>
                </a:solidFill>
                <a:effectLst/>
                <a:uFillTx/>
                <a:latin typeface="Aptos"/>
              </a:rPr>
              <a:t>Pipeline data de recommandation de destinations en France</a:t>
            </a:r>
            <a:endParaRPr lang="fr-FR" sz="1400" b="0" u="none" strike="noStrike">
              <a:solidFill>
                <a:srgbClr val="FFFFFF"/>
              </a:solidFill>
              <a:effectLst/>
              <a:uFillTx/>
              <a:latin typeface="Arial"/>
            </a:endParaRPr>
          </a:p>
        </p:txBody>
      </p:sp>
      <p:sp>
        <p:nvSpPr>
          <p:cNvPr id="17" name="Text 5"/>
          <p:cNvSpPr/>
          <p:nvPr/>
        </p:nvSpPr>
        <p:spPr>
          <a:xfrm>
            <a:off x="713160" y="2359080"/>
            <a:ext cx="54856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BD5E1"/>
                </a:solidFill>
                <a:effectLst/>
                <a:uFillTx/>
                <a:latin typeface="Aptos"/>
              </a:rPr>
              <a:t>Météo 7 jours → hôtels → stockage → cartes</a:t>
            </a:r>
            <a:endParaRPr lang="fr-FR" sz="1100" b="0" u="none" strike="noStrike">
              <a:solidFill>
                <a:srgbClr val="FFFFFF"/>
              </a:solidFill>
              <a:effectLst/>
              <a:uFillTx/>
              <a:latin typeface="Arial"/>
            </a:endParaRPr>
          </a:p>
        </p:txBody>
      </p:sp>
      <p:sp>
        <p:nvSpPr>
          <p:cNvPr id="18" name="Shape 6"/>
          <p:cNvSpPr/>
          <p:nvPr/>
        </p:nvSpPr>
        <p:spPr>
          <a:xfrm>
            <a:off x="713160" y="2999160"/>
            <a:ext cx="1233720" cy="319320"/>
          </a:xfrm>
          <a:prstGeom prst="roundRect">
            <a:avLst>
              <a:gd name="adj" fmla="val 28571"/>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 name="Text 7"/>
          <p:cNvSpPr/>
          <p:nvPr/>
        </p:nvSpPr>
        <p:spPr>
          <a:xfrm>
            <a:off x="786240" y="3067920"/>
            <a:ext cx="1087560" cy="13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API météo</a:t>
            </a:r>
            <a:endParaRPr lang="fr-FR" sz="1400" b="0" u="none" strike="noStrike">
              <a:solidFill>
                <a:srgbClr val="FFFFFF"/>
              </a:solidFill>
              <a:effectLst/>
              <a:uFillTx/>
              <a:latin typeface="Arial"/>
            </a:endParaRPr>
          </a:p>
        </p:txBody>
      </p:sp>
      <p:sp>
        <p:nvSpPr>
          <p:cNvPr id="20" name="Shape 8"/>
          <p:cNvSpPr/>
          <p:nvPr/>
        </p:nvSpPr>
        <p:spPr>
          <a:xfrm>
            <a:off x="2057400" y="2999160"/>
            <a:ext cx="1508040" cy="319320"/>
          </a:xfrm>
          <a:prstGeom prst="roundRect">
            <a:avLst>
              <a:gd name="adj" fmla="val 28571"/>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 name="Text 9"/>
          <p:cNvSpPr/>
          <p:nvPr/>
        </p:nvSpPr>
        <p:spPr>
          <a:xfrm>
            <a:off x="2130480" y="3067920"/>
            <a:ext cx="1361880" cy="13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Scraping</a:t>
            </a:r>
            <a:endParaRPr lang="fr-FR" sz="1400" b="0" u="none" strike="noStrike">
              <a:solidFill>
                <a:srgbClr val="FFFFFF"/>
              </a:solidFill>
              <a:effectLst/>
              <a:uFillTx/>
              <a:latin typeface="Arial"/>
            </a:endParaRPr>
          </a:p>
        </p:txBody>
      </p:sp>
      <p:sp>
        <p:nvSpPr>
          <p:cNvPr id="22" name="Shape 10"/>
          <p:cNvSpPr/>
          <p:nvPr/>
        </p:nvSpPr>
        <p:spPr>
          <a:xfrm>
            <a:off x="3675960" y="2999160"/>
            <a:ext cx="959400" cy="319320"/>
          </a:xfrm>
          <a:prstGeom prst="roundRect">
            <a:avLst>
              <a:gd name="adj" fmla="val 28571"/>
            </a:avLst>
          </a:prstGeom>
          <a:solidFill>
            <a:srgbClr val="0E7490"/>
          </a:solidFill>
          <a:ln w="12700">
            <a:solidFill>
              <a:srgbClr val="0E749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3" name="Text 11"/>
          <p:cNvSpPr/>
          <p:nvPr/>
        </p:nvSpPr>
        <p:spPr>
          <a:xfrm>
            <a:off x="3749040" y="3067920"/>
            <a:ext cx="813240" cy="13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S3</a:t>
            </a:r>
            <a:endParaRPr lang="fr-FR" sz="1400" b="0" u="none" strike="noStrike">
              <a:solidFill>
                <a:srgbClr val="FFFFFF"/>
              </a:solidFill>
              <a:effectLst/>
              <a:uFillTx/>
              <a:latin typeface="Arial"/>
            </a:endParaRPr>
          </a:p>
        </p:txBody>
      </p:sp>
      <p:sp>
        <p:nvSpPr>
          <p:cNvPr id="24" name="Shape 12"/>
          <p:cNvSpPr/>
          <p:nvPr/>
        </p:nvSpPr>
        <p:spPr>
          <a:xfrm>
            <a:off x="4754880" y="2999160"/>
            <a:ext cx="1416600" cy="319320"/>
          </a:xfrm>
          <a:prstGeom prst="roundRect">
            <a:avLst>
              <a:gd name="adj" fmla="val 28571"/>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5" name="Text 13"/>
          <p:cNvSpPr/>
          <p:nvPr/>
        </p:nvSpPr>
        <p:spPr>
          <a:xfrm>
            <a:off x="4827960" y="3067920"/>
            <a:ext cx="1270440" cy="13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PostgreSQL</a:t>
            </a:r>
            <a:endParaRPr lang="fr-FR" sz="1400" b="0" u="none" strike="noStrike">
              <a:solidFill>
                <a:srgbClr val="FFFFFF"/>
              </a:solidFill>
              <a:effectLst/>
              <a:uFillTx/>
              <a:latin typeface="Arial"/>
            </a:endParaRPr>
          </a:p>
        </p:txBody>
      </p:sp>
      <p:sp>
        <p:nvSpPr>
          <p:cNvPr id="26" name="Shape 14"/>
          <p:cNvSpPr/>
          <p:nvPr/>
        </p:nvSpPr>
        <p:spPr>
          <a:xfrm>
            <a:off x="6291000" y="2999160"/>
            <a:ext cx="959400" cy="319320"/>
          </a:xfrm>
          <a:prstGeom prst="roundRect">
            <a:avLst>
              <a:gd name="adj" fmla="val 28571"/>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7" name="Text 15"/>
          <p:cNvSpPr/>
          <p:nvPr/>
        </p:nvSpPr>
        <p:spPr>
          <a:xfrm>
            <a:off x="6364080" y="3067920"/>
            <a:ext cx="813240" cy="136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Cartes</a:t>
            </a:r>
            <a:endParaRPr lang="fr-FR" sz="1400" b="0" u="none" strike="noStrike">
              <a:solidFill>
                <a:srgbClr val="FFFFFF"/>
              </a:solidFill>
              <a:effectLst/>
              <a:uFillTx/>
              <a:latin typeface="Arial"/>
            </a:endParaRPr>
          </a:p>
        </p:txBody>
      </p:sp>
      <p:sp>
        <p:nvSpPr>
          <p:cNvPr id="28" name="Shape 16"/>
          <p:cNvSpPr/>
          <p:nvPr/>
        </p:nvSpPr>
        <p:spPr>
          <a:xfrm>
            <a:off x="713160" y="4160520"/>
            <a:ext cx="4525560" cy="529560"/>
          </a:xfrm>
          <a:prstGeom prst="roundRect">
            <a:avLst>
              <a:gd name="adj" fmla="val 20690"/>
            </a:avLst>
          </a:prstGeom>
          <a:solidFill>
            <a:srgbClr val="0B3144"/>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9" name="Text 17"/>
          <p:cNvSpPr/>
          <p:nvPr/>
        </p:nvSpPr>
        <p:spPr>
          <a:xfrm>
            <a:off x="932760" y="4334400"/>
            <a:ext cx="406836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5 min de présentation + 5 min de questions</a:t>
            </a:r>
            <a:endParaRPr lang="fr-FR" sz="1100" b="0" u="none" strike="noStrike">
              <a:solidFill>
                <a:srgbClr val="FFFFFF"/>
              </a:solidFill>
              <a:effectLst/>
              <a:uFillTx/>
              <a:latin typeface="Arial"/>
            </a:endParaRPr>
          </a:p>
        </p:txBody>
      </p:sp>
      <p:sp>
        <p:nvSpPr>
          <p:cNvPr id="30" name="Shape 18"/>
          <p:cNvSpPr/>
          <p:nvPr/>
        </p:nvSpPr>
        <p:spPr>
          <a:xfrm>
            <a:off x="685800" y="5486400"/>
            <a:ext cx="3288960" cy="258480"/>
          </a:xfrm>
          <a:prstGeom prst="roundRect">
            <a:avLst>
              <a:gd name="adj" fmla="val 20000"/>
            </a:avLst>
          </a:prstGeom>
          <a:solidFill>
            <a:srgbClr val="0B3144"/>
          </a:solidFill>
          <a:ln w="12700">
            <a:solidFill>
              <a:srgbClr val="1E3A8A">
                <a:alpha val="60000"/>
              </a:srgbClr>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 name="Text 19"/>
          <p:cNvSpPr/>
          <p:nvPr/>
        </p:nvSpPr>
        <p:spPr>
          <a:xfrm>
            <a:off x="896040" y="5349240"/>
            <a:ext cx="27608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Groupe 3 — Bloc 1</a:t>
            </a:r>
            <a:endParaRPr lang="fr-FR" sz="1400" b="0" u="none" strike="noStrike">
              <a:solidFill>
                <a:srgbClr val="FFFFFF"/>
              </a:solidFill>
              <a:effectLst/>
              <a:uFillTx/>
              <a:latin typeface="Arial"/>
            </a:endParaRPr>
          </a:p>
        </p:txBody>
      </p:sp>
      <p:sp>
        <p:nvSpPr>
          <p:cNvPr id="32" name="PlaceHolder 1"/>
          <p:cNvSpPr>
            <a:spLocks noGrp="1"/>
          </p:cNvSpPr>
          <p:nvPr>
            <p:ph type="sldNum" idx="5"/>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B56A3378-68F7-44D9-B19F-A8D1945B670C}" type="slidenum">
              <a:rPr lang="en-US" sz="650" b="0" u="none" strike="noStrike">
                <a:solidFill>
                  <a:srgbClr val="CBD5E1"/>
                </a:solidFill>
                <a:effectLst/>
                <a:uFillTx/>
                <a:latin typeface="Aptos"/>
              </a:rPr>
              <a:t>&lt;numéro&gt;</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33"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34" name="Text 1"/>
          <p:cNvSpPr/>
          <p:nvPr/>
        </p:nvSpPr>
        <p:spPr>
          <a:xfrm>
            <a:off x="567000" y="146160"/>
            <a:ext cx="8169840" cy="584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Aptos Display"/>
                <a:ea typeface="Aptos Display"/>
              </a:rPr>
              <a:t>Problème métier</a:t>
            </a:r>
            <a:endParaRPr lang="fr-FR" sz="2400" b="0" u="none" strike="noStrike">
              <a:solidFill>
                <a:srgbClr val="FFFFFF"/>
              </a:solidFill>
              <a:effectLst/>
              <a:uFillTx/>
              <a:latin typeface="Arial"/>
            </a:endParaRPr>
          </a:p>
        </p:txBody>
      </p:sp>
      <p:sp>
        <p:nvSpPr>
          <p:cNvPr id="35" name="Text 2"/>
          <p:cNvSpPr/>
          <p:nvPr/>
        </p:nvSpPr>
        <p:spPr>
          <a:xfrm>
            <a:off x="576000" y="768240"/>
            <a:ext cx="9691920" cy="401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D5E1"/>
                </a:solidFill>
                <a:effectLst/>
                <a:uFillTx/>
                <a:latin typeface="Aptos"/>
              </a:rPr>
              <a:t>Transformer des données brutes en recommandation exploitable</a:t>
            </a:r>
            <a:endParaRPr lang="fr-FR" sz="1600" b="0" u="none" strike="noStrike">
              <a:solidFill>
                <a:srgbClr val="FFFFFF"/>
              </a:solidFill>
              <a:effectLst/>
              <a:uFillTx/>
              <a:latin typeface="Arial"/>
            </a:endParaRPr>
          </a:p>
        </p:txBody>
      </p:sp>
      <p:sp>
        <p:nvSpPr>
          <p:cNvPr id="36" name="Shape 3"/>
          <p:cNvSpPr/>
          <p:nvPr/>
        </p:nvSpPr>
        <p:spPr>
          <a:xfrm>
            <a:off x="621720" y="1325880"/>
            <a:ext cx="5119920" cy="1188000"/>
          </a:xfrm>
          <a:prstGeom prst="roundRect">
            <a:avLst>
              <a:gd name="adj" fmla="val 6154"/>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 name="Shape 4"/>
          <p:cNvSpPr/>
          <p:nvPr/>
        </p:nvSpPr>
        <p:spPr>
          <a:xfrm>
            <a:off x="621720" y="1325880"/>
            <a:ext cx="54000" cy="118800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8" name="Text 5"/>
          <p:cNvSpPr/>
          <p:nvPr/>
        </p:nvSpPr>
        <p:spPr>
          <a:xfrm>
            <a:off x="786240" y="1472040"/>
            <a:ext cx="47908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Question centrale</a:t>
            </a:r>
            <a:endParaRPr lang="fr-FR" sz="1100" b="0" u="none" strike="noStrike">
              <a:solidFill>
                <a:srgbClr val="FFFFFF"/>
              </a:solidFill>
              <a:effectLst/>
              <a:uFillTx/>
              <a:latin typeface="Arial"/>
            </a:endParaRPr>
          </a:p>
        </p:txBody>
      </p:sp>
      <p:sp>
        <p:nvSpPr>
          <p:cNvPr id="39" name="Text 6"/>
          <p:cNvSpPr/>
          <p:nvPr/>
        </p:nvSpPr>
        <p:spPr>
          <a:xfrm>
            <a:off x="786240" y="1801440"/>
            <a:ext cx="4790880" cy="62100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Parmi plusieurs villes françaises, quelles destinations recommander en combinant météo favorable et offre hôtelière exploitable ?</a:t>
            </a:r>
            <a:endParaRPr lang="fr-FR" sz="1400" b="0" u="none" strike="noStrike">
              <a:solidFill>
                <a:srgbClr val="FFFFFF"/>
              </a:solidFill>
              <a:effectLst/>
              <a:uFillTx/>
              <a:latin typeface="Arial"/>
            </a:endParaRPr>
          </a:p>
        </p:txBody>
      </p:sp>
      <p:sp>
        <p:nvSpPr>
          <p:cNvPr id="40" name="Shape 7"/>
          <p:cNvSpPr/>
          <p:nvPr/>
        </p:nvSpPr>
        <p:spPr>
          <a:xfrm>
            <a:off x="621720" y="2788920"/>
            <a:ext cx="2395080" cy="1233720"/>
          </a:xfrm>
          <a:prstGeom prst="roundRect">
            <a:avLst>
              <a:gd name="adj" fmla="val 592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1" name="Shape 8"/>
          <p:cNvSpPr/>
          <p:nvPr/>
        </p:nvSpPr>
        <p:spPr>
          <a:xfrm>
            <a:off x="621720" y="2788920"/>
            <a:ext cx="54000" cy="123372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42" name="Text 9"/>
          <p:cNvSpPr/>
          <p:nvPr/>
        </p:nvSpPr>
        <p:spPr>
          <a:xfrm>
            <a:off x="786240" y="2935080"/>
            <a:ext cx="20656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Besoin utilisateur</a:t>
            </a:r>
            <a:endParaRPr lang="fr-FR" sz="1100" b="0" u="none" strike="noStrike">
              <a:solidFill>
                <a:srgbClr val="FFFFFF"/>
              </a:solidFill>
              <a:effectLst/>
              <a:uFillTx/>
              <a:latin typeface="Arial"/>
            </a:endParaRPr>
          </a:p>
        </p:txBody>
      </p:sp>
      <p:sp>
        <p:nvSpPr>
          <p:cNvPr id="43" name="Text 10"/>
          <p:cNvSpPr/>
          <p:nvPr/>
        </p:nvSpPr>
        <p:spPr>
          <a:xfrm>
            <a:off x="786240" y="3136320"/>
            <a:ext cx="2065680" cy="7948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Préparer un voyage sans consulter séparément météo, hôtels et cartes.</a:t>
            </a:r>
            <a:endParaRPr lang="fr-FR" sz="1200" b="0" u="none" strike="noStrike">
              <a:solidFill>
                <a:srgbClr val="FFFFFF"/>
              </a:solidFill>
              <a:effectLst/>
              <a:uFillTx/>
              <a:latin typeface="Arial"/>
            </a:endParaRPr>
          </a:p>
        </p:txBody>
      </p:sp>
      <p:sp>
        <p:nvSpPr>
          <p:cNvPr id="44" name="Shape 11"/>
          <p:cNvSpPr/>
          <p:nvPr/>
        </p:nvSpPr>
        <p:spPr>
          <a:xfrm>
            <a:off x="3346560" y="2788920"/>
            <a:ext cx="2395080" cy="1233720"/>
          </a:xfrm>
          <a:prstGeom prst="roundRect">
            <a:avLst>
              <a:gd name="adj" fmla="val 592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5" name="Shape 12"/>
          <p:cNvSpPr/>
          <p:nvPr/>
        </p:nvSpPr>
        <p:spPr>
          <a:xfrm>
            <a:off x="3346560" y="2788920"/>
            <a:ext cx="54000" cy="123372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46" name="Text 13"/>
          <p:cNvSpPr/>
          <p:nvPr/>
        </p:nvSpPr>
        <p:spPr>
          <a:xfrm>
            <a:off x="3511440" y="2935080"/>
            <a:ext cx="20656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Réponse data</a:t>
            </a:r>
            <a:endParaRPr lang="fr-FR" sz="1100" b="0" u="none" strike="noStrike">
              <a:solidFill>
                <a:srgbClr val="FFFFFF"/>
              </a:solidFill>
              <a:effectLst/>
              <a:uFillTx/>
              <a:latin typeface="Arial"/>
            </a:endParaRPr>
          </a:p>
        </p:txBody>
      </p:sp>
      <p:sp>
        <p:nvSpPr>
          <p:cNvPr id="47" name="Text 14"/>
          <p:cNvSpPr/>
          <p:nvPr/>
        </p:nvSpPr>
        <p:spPr>
          <a:xfrm>
            <a:off x="3511440" y="3136320"/>
            <a:ext cx="2065680" cy="79488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pPr>
            <a:r>
              <a:rPr lang="fr-FR" sz="1200" b="0" u="none" strike="noStrike">
                <a:solidFill>
                  <a:srgbClr val="0F172A"/>
                </a:solidFill>
                <a:effectLst/>
                <a:uFillTx/>
                <a:latin typeface="Aptos"/>
              </a:rPr>
              <a:t>Construire un pipeline automatisé : météo, hôtels, stockage et visualisation.</a:t>
            </a:r>
            <a:endParaRPr lang="fr-FR" sz="1200" b="0" u="none" strike="noStrike">
              <a:solidFill>
                <a:srgbClr val="FFFFFF"/>
              </a:solidFill>
              <a:effectLst/>
              <a:uFillTx/>
              <a:latin typeface="Arial"/>
            </a:endParaRPr>
          </a:p>
        </p:txBody>
      </p:sp>
      <p:sp>
        <p:nvSpPr>
          <p:cNvPr id="48" name="Shape 15"/>
          <p:cNvSpPr/>
          <p:nvPr/>
        </p:nvSpPr>
        <p:spPr>
          <a:xfrm>
            <a:off x="621720" y="4297680"/>
            <a:ext cx="5119920" cy="959400"/>
          </a:xfrm>
          <a:prstGeom prst="roundRect">
            <a:avLst>
              <a:gd name="adj" fmla="val 7619"/>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9" name="Shape 16"/>
          <p:cNvSpPr/>
          <p:nvPr/>
        </p:nvSpPr>
        <p:spPr>
          <a:xfrm>
            <a:off x="621720" y="4297680"/>
            <a:ext cx="54000" cy="95940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50" name="Text 17"/>
          <p:cNvSpPr/>
          <p:nvPr/>
        </p:nvSpPr>
        <p:spPr>
          <a:xfrm>
            <a:off x="786240" y="4443840"/>
            <a:ext cx="47908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0F172A"/>
                </a:solidFill>
                <a:effectLst/>
                <a:uFillTx/>
                <a:latin typeface="Aptos"/>
              </a:rPr>
              <a:t>Sortie attendue</a:t>
            </a:r>
            <a:endParaRPr lang="fr-FR" sz="1100" b="0" u="none" strike="noStrike">
              <a:solidFill>
                <a:srgbClr val="FFFFFF"/>
              </a:solidFill>
              <a:effectLst/>
              <a:uFillTx/>
              <a:latin typeface="Arial"/>
            </a:endParaRPr>
          </a:p>
        </p:txBody>
      </p:sp>
      <p:sp>
        <p:nvSpPr>
          <p:cNvPr id="51" name="Text 18"/>
          <p:cNvSpPr/>
          <p:nvPr/>
        </p:nvSpPr>
        <p:spPr>
          <a:xfrm>
            <a:off x="786240" y="4773240"/>
            <a:ext cx="4790880" cy="3924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Un classement de destinations, une liste d’hôtels et deux cartes finales lisibles.</a:t>
            </a:r>
            <a:endParaRPr lang="fr-FR" sz="1200" b="0" u="none" strike="noStrike">
              <a:solidFill>
                <a:srgbClr val="FFFFFF"/>
              </a:solidFill>
              <a:effectLst/>
              <a:uFillTx/>
              <a:latin typeface="Arial"/>
            </a:endParaRPr>
          </a:p>
        </p:txBody>
      </p:sp>
      <p:sp>
        <p:nvSpPr>
          <p:cNvPr id="52" name="Shape 19"/>
          <p:cNvSpPr/>
          <p:nvPr/>
        </p:nvSpPr>
        <p:spPr>
          <a:xfrm>
            <a:off x="6400800" y="132588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3" name="Text 20"/>
          <p:cNvSpPr/>
          <p:nvPr/>
        </p:nvSpPr>
        <p:spPr>
          <a:xfrm>
            <a:off x="6510600" y="144468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0A6A6"/>
                </a:solidFill>
                <a:effectLst/>
                <a:uFillTx/>
                <a:latin typeface="Aptos"/>
              </a:rPr>
              <a:t>35</a:t>
            </a:r>
            <a:endParaRPr lang="fr-FR" sz="1800" b="0" u="none" strike="noStrike">
              <a:solidFill>
                <a:srgbClr val="FFFFFF"/>
              </a:solidFill>
              <a:effectLst/>
              <a:uFillTx/>
              <a:latin typeface="Arial"/>
            </a:endParaRPr>
          </a:p>
        </p:txBody>
      </p:sp>
      <p:sp>
        <p:nvSpPr>
          <p:cNvPr id="54" name="Text 21"/>
          <p:cNvSpPr/>
          <p:nvPr/>
        </p:nvSpPr>
        <p:spPr>
          <a:xfrm>
            <a:off x="6492240" y="178308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villes analysées</a:t>
            </a:r>
            <a:endParaRPr lang="fr-FR" sz="1000" b="0" u="none" strike="noStrike">
              <a:solidFill>
                <a:srgbClr val="FFFFFF"/>
              </a:solidFill>
              <a:effectLst/>
              <a:uFillTx/>
              <a:latin typeface="Arial"/>
            </a:endParaRPr>
          </a:p>
        </p:txBody>
      </p:sp>
      <p:sp>
        <p:nvSpPr>
          <p:cNvPr id="55" name="Shape 22"/>
          <p:cNvSpPr/>
          <p:nvPr/>
        </p:nvSpPr>
        <p:spPr>
          <a:xfrm>
            <a:off x="8092440" y="132588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6" name="Text 23"/>
          <p:cNvSpPr/>
          <p:nvPr/>
        </p:nvSpPr>
        <p:spPr>
          <a:xfrm>
            <a:off x="8202240" y="144468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59E0B"/>
                </a:solidFill>
                <a:effectLst/>
                <a:uFillTx/>
                <a:latin typeface="Aptos"/>
              </a:rPr>
              <a:t>5</a:t>
            </a:r>
            <a:endParaRPr lang="fr-FR" sz="1800" b="0" u="none" strike="noStrike">
              <a:solidFill>
                <a:srgbClr val="FFFFFF"/>
              </a:solidFill>
              <a:effectLst/>
              <a:uFillTx/>
              <a:latin typeface="Arial"/>
            </a:endParaRPr>
          </a:p>
        </p:txBody>
      </p:sp>
      <p:sp>
        <p:nvSpPr>
          <p:cNvPr id="57" name="Text 24"/>
          <p:cNvSpPr/>
          <p:nvPr/>
        </p:nvSpPr>
        <p:spPr>
          <a:xfrm>
            <a:off x="8183880" y="178308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destinations retenues</a:t>
            </a:r>
            <a:endParaRPr lang="fr-FR" sz="1000" b="0" u="none" strike="noStrike">
              <a:solidFill>
                <a:srgbClr val="FFFFFF"/>
              </a:solidFill>
              <a:effectLst/>
              <a:uFillTx/>
              <a:latin typeface="Arial"/>
            </a:endParaRPr>
          </a:p>
        </p:txBody>
      </p:sp>
      <p:sp>
        <p:nvSpPr>
          <p:cNvPr id="58" name="Shape 25"/>
          <p:cNvSpPr/>
          <p:nvPr/>
        </p:nvSpPr>
        <p:spPr>
          <a:xfrm>
            <a:off x="9784080" y="132588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9" name="Text 26"/>
          <p:cNvSpPr/>
          <p:nvPr/>
        </p:nvSpPr>
        <p:spPr>
          <a:xfrm>
            <a:off x="9893880" y="144468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0B981"/>
                </a:solidFill>
                <a:effectLst/>
                <a:uFillTx/>
                <a:latin typeface="Aptos"/>
              </a:rPr>
              <a:t>50</a:t>
            </a:r>
            <a:endParaRPr lang="fr-FR" sz="1800" b="0" u="none" strike="noStrike">
              <a:solidFill>
                <a:srgbClr val="FFFFFF"/>
              </a:solidFill>
              <a:effectLst/>
              <a:uFillTx/>
              <a:latin typeface="Arial"/>
            </a:endParaRPr>
          </a:p>
        </p:txBody>
      </p:sp>
      <p:sp>
        <p:nvSpPr>
          <p:cNvPr id="60" name="Text 27"/>
          <p:cNvSpPr/>
          <p:nvPr/>
        </p:nvSpPr>
        <p:spPr>
          <a:xfrm>
            <a:off x="9875520" y="178308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hôtels extraits</a:t>
            </a:r>
            <a:endParaRPr lang="fr-FR" sz="1000" b="0" u="none" strike="noStrike">
              <a:solidFill>
                <a:srgbClr val="FFFFFF"/>
              </a:solidFill>
              <a:effectLst/>
              <a:uFillTx/>
              <a:latin typeface="Arial"/>
            </a:endParaRPr>
          </a:p>
        </p:txBody>
      </p:sp>
      <p:sp>
        <p:nvSpPr>
          <p:cNvPr id="61" name="Shape 28"/>
          <p:cNvSpPr/>
          <p:nvPr/>
        </p:nvSpPr>
        <p:spPr>
          <a:xfrm>
            <a:off x="6400800" y="256032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2" name="Text 29"/>
          <p:cNvSpPr/>
          <p:nvPr/>
        </p:nvSpPr>
        <p:spPr>
          <a:xfrm>
            <a:off x="6510600" y="267912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0E7490"/>
                </a:solidFill>
                <a:effectLst/>
                <a:uFillTx/>
                <a:latin typeface="Aptos"/>
              </a:rPr>
              <a:t>7 j</a:t>
            </a:r>
            <a:endParaRPr lang="fr-FR" sz="1800" b="0" u="none" strike="noStrike">
              <a:solidFill>
                <a:srgbClr val="FFFFFF"/>
              </a:solidFill>
              <a:effectLst/>
              <a:uFillTx/>
              <a:latin typeface="Arial"/>
            </a:endParaRPr>
          </a:p>
        </p:txBody>
      </p:sp>
      <p:sp>
        <p:nvSpPr>
          <p:cNvPr id="63" name="Text 30"/>
          <p:cNvSpPr/>
          <p:nvPr/>
        </p:nvSpPr>
        <p:spPr>
          <a:xfrm>
            <a:off x="6492240" y="301752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météo analysée</a:t>
            </a:r>
            <a:endParaRPr lang="fr-FR" sz="1000" b="0" u="none" strike="noStrike">
              <a:solidFill>
                <a:srgbClr val="FFFFFF"/>
              </a:solidFill>
              <a:effectLst/>
              <a:uFillTx/>
              <a:latin typeface="Arial"/>
            </a:endParaRPr>
          </a:p>
        </p:txBody>
      </p:sp>
      <p:sp>
        <p:nvSpPr>
          <p:cNvPr id="64" name="Shape 31"/>
          <p:cNvSpPr/>
          <p:nvPr/>
        </p:nvSpPr>
        <p:spPr>
          <a:xfrm>
            <a:off x="8092440" y="256032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5" name="Text 32"/>
          <p:cNvSpPr/>
          <p:nvPr/>
        </p:nvSpPr>
        <p:spPr>
          <a:xfrm>
            <a:off x="8202240" y="267912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59E0B"/>
                </a:solidFill>
                <a:effectLst/>
                <a:uFillTx/>
                <a:latin typeface="Aptos"/>
              </a:rPr>
              <a:t>12</a:t>
            </a:r>
            <a:endParaRPr lang="fr-FR" sz="1800" b="0" u="none" strike="noStrike">
              <a:solidFill>
                <a:srgbClr val="FFFFFF"/>
              </a:solidFill>
              <a:effectLst/>
              <a:uFillTx/>
              <a:latin typeface="Arial"/>
            </a:endParaRPr>
          </a:p>
        </p:txBody>
      </p:sp>
      <p:sp>
        <p:nvSpPr>
          <p:cNvPr id="66" name="Text 33"/>
          <p:cNvSpPr/>
          <p:nvPr/>
        </p:nvSpPr>
        <p:spPr>
          <a:xfrm>
            <a:off x="8183880" y="301752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colonnes finales</a:t>
            </a:r>
            <a:endParaRPr lang="fr-FR" sz="1000" b="0" u="none" strike="noStrike">
              <a:solidFill>
                <a:srgbClr val="FFFFFF"/>
              </a:solidFill>
              <a:effectLst/>
              <a:uFillTx/>
              <a:latin typeface="Arial"/>
            </a:endParaRPr>
          </a:p>
        </p:txBody>
      </p:sp>
      <p:sp>
        <p:nvSpPr>
          <p:cNvPr id="67" name="Shape 34"/>
          <p:cNvSpPr/>
          <p:nvPr/>
        </p:nvSpPr>
        <p:spPr>
          <a:xfrm>
            <a:off x="9784080" y="2560320"/>
            <a:ext cx="1416600" cy="840600"/>
          </a:xfrm>
          <a:prstGeom prst="roundRect">
            <a:avLst>
              <a:gd name="adj" fmla="val 978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8" name="Text 35"/>
          <p:cNvSpPr/>
          <p:nvPr/>
        </p:nvSpPr>
        <p:spPr>
          <a:xfrm>
            <a:off x="9893880" y="2679120"/>
            <a:ext cx="118800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0B981"/>
                </a:solidFill>
                <a:effectLst/>
                <a:uFillTx/>
                <a:latin typeface="Aptos"/>
              </a:rPr>
              <a:t>2</a:t>
            </a:r>
            <a:endParaRPr lang="fr-FR" sz="1800" b="0" u="none" strike="noStrike">
              <a:solidFill>
                <a:srgbClr val="FFFFFF"/>
              </a:solidFill>
              <a:effectLst/>
              <a:uFillTx/>
              <a:latin typeface="Arial"/>
            </a:endParaRPr>
          </a:p>
        </p:txBody>
      </p:sp>
      <p:sp>
        <p:nvSpPr>
          <p:cNvPr id="69" name="Text 36"/>
          <p:cNvSpPr/>
          <p:nvPr/>
        </p:nvSpPr>
        <p:spPr>
          <a:xfrm>
            <a:off x="9875520" y="3017520"/>
            <a:ext cx="12337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64748B"/>
                </a:solidFill>
                <a:effectLst/>
                <a:uFillTx/>
                <a:latin typeface="Aptos"/>
              </a:rPr>
              <a:t>cartes finales</a:t>
            </a:r>
            <a:endParaRPr lang="fr-FR" sz="1000" b="0" u="none" strike="noStrike">
              <a:solidFill>
                <a:srgbClr val="FFFFFF"/>
              </a:solidFill>
              <a:effectLst/>
              <a:uFillTx/>
              <a:latin typeface="Arial"/>
            </a:endParaRPr>
          </a:p>
        </p:txBody>
      </p:sp>
      <p:sp>
        <p:nvSpPr>
          <p:cNvPr id="70" name="Shape 37"/>
          <p:cNvSpPr/>
          <p:nvPr/>
        </p:nvSpPr>
        <p:spPr>
          <a:xfrm>
            <a:off x="6400800" y="4251960"/>
            <a:ext cx="4799880" cy="1050840"/>
          </a:xfrm>
          <a:prstGeom prst="roundRect">
            <a:avLst>
              <a:gd name="adj" fmla="val 8696"/>
            </a:avLst>
          </a:prstGeom>
          <a:solidFill>
            <a:srgbClr val="ECFEFF"/>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1" name="Text 38"/>
          <p:cNvSpPr/>
          <p:nvPr/>
        </p:nvSpPr>
        <p:spPr>
          <a:xfrm>
            <a:off x="6629400" y="4462200"/>
            <a:ext cx="16452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E7490"/>
                </a:solidFill>
                <a:effectLst/>
                <a:uFillTx/>
                <a:latin typeface="Aptos"/>
              </a:rPr>
              <a:t>Idée directrice</a:t>
            </a:r>
            <a:endParaRPr lang="fr-FR" sz="1000" b="0" u="none" strike="noStrike">
              <a:solidFill>
                <a:srgbClr val="FFFFFF"/>
              </a:solidFill>
              <a:effectLst/>
              <a:uFillTx/>
              <a:latin typeface="Arial"/>
            </a:endParaRPr>
          </a:p>
        </p:txBody>
      </p:sp>
      <p:sp>
        <p:nvSpPr>
          <p:cNvPr id="72" name="Text 39"/>
          <p:cNvSpPr/>
          <p:nvPr/>
        </p:nvSpPr>
        <p:spPr>
          <a:xfrm>
            <a:off x="6629400" y="4736520"/>
            <a:ext cx="41598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0F172A"/>
                </a:solidFill>
                <a:effectLst/>
                <a:uFillTx/>
                <a:latin typeface="Aptos"/>
              </a:rPr>
              <a:t>Passer d’une logique “où fait-il beau ?” à  une recommandation plus complète : “où partir et où dormir ?”.</a:t>
            </a:r>
            <a:endParaRPr lang="fr-FR" sz="1000" b="0" u="none" strike="noStrike">
              <a:solidFill>
                <a:srgbClr val="FFFFFF"/>
              </a:solidFill>
              <a:effectLst/>
              <a:uFillTx/>
              <a:latin typeface="Arial"/>
            </a:endParaRPr>
          </a:p>
        </p:txBody>
      </p:sp>
      <p:sp>
        <p:nvSpPr>
          <p:cNvPr id="73" name="Text 40"/>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74" name="PlaceHolder 1"/>
          <p:cNvSpPr>
            <a:spLocks noGrp="1"/>
          </p:cNvSpPr>
          <p:nvPr>
            <p:ph type="sldNum" idx="6"/>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255B4F75-FB35-4002-B4C4-3B5E95F3630B}" type="slidenum">
              <a:rPr lang="en-US" sz="650" b="0" u="none" strike="noStrike">
                <a:solidFill>
                  <a:srgbClr val="CBD5E1"/>
                </a:solidFill>
                <a:effectLst/>
                <a:uFillTx/>
                <a:latin typeface="Aptos"/>
              </a:rPr>
              <a:t>2</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75"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76" name="Text 1"/>
          <p:cNvSpPr/>
          <p:nvPr/>
        </p:nvSpPr>
        <p:spPr>
          <a:xfrm>
            <a:off x="567000" y="100440"/>
            <a:ext cx="8352720" cy="630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Aptos Display"/>
                <a:ea typeface="Aptos Display"/>
              </a:rPr>
              <a:t>Données utilisées et stack</a:t>
            </a:r>
            <a:endParaRPr lang="fr-FR" sz="2400" b="0" u="none" strike="noStrike">
              <a:solidFill>
                <a:srgbClr val="FFFFFF"/>
              </a:solidFill>
              <a:effectLst/>
              <a:uFillTx/>
              <a:latin typeface="Arial"/>
            </a:endParaRPr>
          </a:p>
        </p:txBody>
      </p:sp>
      <p:sp>
        <p:nvSpPr>
          <p:cNvPr id="77" name="Text 2"/>
          <p:cNvSpPr/>
          <p:nvPr/>
        </p:nvSpPr>
        <p:spPr>
          <a:xfrm>
            <a:off x="576000" y="768240"/>
            <a:ext cx="9691920" cy="438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CBD5E1"/>
                </a:solidFill>
                <a:effectLst/>
                <a:uFillTx/>
                <a:latin typeface="Aptos"/>
              </a:rPr>
              <a:t>Trois familles de données pour construire la recommandation</a:t>
            </a:r>
            <a:endParaRPr lang="fr-FR" sz="1600" b="0" u="none" strike="noStrike">
              <a:solidFill>
                <a:srgbClr val="FFFFFF"/>
              </a:solidFill>
              <a:effectLst/>
              <a:uFillTx/>
              <a:latin typeface="Arial"/>
            </a:endParaRPr>
          </a:p>
        </p:txBody>
      </p:sp>
      <p:sp>
        <p:nvSpPr>
          <p:cNvPr id="78" name="Shape 3"/>
          <p:cNvSpPr/>
          <p:nvPr/>
        </p:nvSpPr>
        <p:spPr>
          <a:xfrm>
            <a:off x="640080" y="1298520"/>
            <a:ext cx="3428280" cy="1334160"/>
          </a:xfrm>
          <a:prstGeom prst="roundRect">
            <a:avLst>
              <a:gd name="adj" fmla="val 5479"/>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9" name="Shape 4"/>
          <p:cNvSpPr/>
          <p:nvPr/>
        </p:nvSpPr>
        <p:spPr>
          <a:xfrm>
            <a:off x="640080" y="1298520"/>
            <a:ext cx="54000" cy="133416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80" name="Text 5"/>
          <p:cNvSpPr/>
          <p:nvPr/>
        </p:nvSpPr>
        <p:spPr>
          <a:xfrm>
            <a:off x="804600" y="1444680"/>
            <a:ext cx="30992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Géocodage</a:t>
            </a:r>
            <a:endParaRPr lang="fr-FR" sz="1800" b="0" u="none" strike="noStrike">
              <a:solidFill>
                <a:srgbClr val="FFFFFF"/>
              </a:solidFill>
              <a:effectLst/>
              <a:uFillTx/>
              <a:latin typeface="Arial"/>
            </a:endParaRPr>
          </a:p>
        </p:txBody>
      </p:sp>
      <p:sp>
        <p:nvSpPr>
          <p:cNvPr id="81" name="Text 6"/>
          <p:cNvSpPr/>
          <p:nvPr/>
        </p:nvSpPr>
        <p:spPr>
          <a:xfrm>
            <a:off x="804600" y="1774080"/>
            <a:ext cx="3099240" cy="7675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Nominatim transforme les noms de villes en coordonnées GPS : latitude et longitude.</a:t>
            </a:r>
            <a:endParaRPr lang="fr-FR" sz="1400" b="0" u="none" strike="noStrike">
              <a:solidFill>
                <a:srgbClr val="FFFFFF"/>
              </a:solidFill>
              <a:effectLst/>
              <a:uFillTx/>
              <a:latin typeface="Arial"/>
            </a:endParaRPr>
          </a:p>
        </p:txBody>
      </p:sp>
      <p:sp>
        <p:nvSpPr>
          <p:cNvPr id="82" name="Shape 7"/>
          <p:cNvSpPr/>
          <p:nvPr/>
        </p:nvSpPr>
        <p:spPr>
          <a:xfrm>
            <a:off x="4434840" y="1298520"/>
            <a:ext cx="3428280" cy="1334160"/>
          </a:xfrm>
          <a:prstGeom prst="roundRect">
            <a:avLst>
              <a:gd name="adj" fmla="val 5479"/>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3" name="Shape 8"/>
          <p:cNvSpPr/>
          <p:nvPr/>
        </p:nvSpPr>
        <p:spPr>
          <a:xfrm>
            <a:off x="4434840" y="1298520"/>
            <a:ext cx="54000" cy="133416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84" name="Text 9"/>
          <p:cNvSpPr/>
          <p:nvPr/>
        </p:nvSpPr>
        <p:spPr>
          <a:xfrm>
            <a:off x="4599360" y="1444680"/>
            <a:ext cx="30992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Météo</a:t>
            </a:r>
            <a:endParaRPr lang="fr-FR" sz="1800" b="0" u="none" strike="noStrike">
              <a:solidFill>
                <a:srgbClr val="FFFFFF"/>
              </a:solidFill>
              <a:effectLst/>
              <a:uFillTx/>
              <a:latin typeface="Arial"/>
            </a:endParaRPr>
          </a:p>
        </p:txBody>
      </p:sp>
      <p:sp>
        <p:nvSpPr>
          <p:cNvPr id="85" name="Text 10"/>
          <p:cNvSpPr/>
          <p:nvPr/>
        </p:nvSpPr>
        <p:spPr>
          <a:xfrm>
            <a:off x="4599360" y="1774080"/>
            <a:ext cx="3099240" cy="7675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OpenWeather fournit température, probabilité de pluie, pluie cumulée et vent sur 7 jours.</a:t>
            </a:r>
            <a:endParaRPr lang="fr-FR" sz="1400" b="0" u="none" strike="noStrike">
              <a:solidFill>
                <a:srgbClr val="FFFFFF"/>
              </a:solidFill>
              <a:effectLst/>
              <a:uFillTx/>
              <a:latin typeface="Arial"/>
            </a:endParaRPr>
          </a:p>
        </p:txBody>
      </p:sp>
      <p:sp>
        <p:nvSpPr>
          <p:cNvPr id="86" name="Shape 11"/>
          <p:cNvSpPr/>
          <p:nvPr/>
        </p:nvSpPr>
        <p:spPr>
          <a:xfrm>
            <a:off x="8229600" y="1298520"/>
            <a:ext cx="3428280" cy="1334160"/>
          </a:xfrm>
          <a:prstGeom prst="roundRect">
            <a:avLst>
              <a:gd name="adj" fmla="val 5479"/>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7" name="Shape 12"/>
          <p:cNvSpPr/>
          <p:nvPr/>
        </p:nvSpPr>
        <p:spPr>
          <a:xfrm>
            <a:off x="8229600" y="1298520"/>
            <a:ext cx="54000" cy="133416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88" name="Text 13"/>
          <p:cNvSpPr/>
          <p:nvPr/>
        </p:nvSpPr>
        <p:spPr>
          <a:xfrm>
            <a:off x="8394120" y="1444680"/>
            <a:ext cx="30992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Hôtels</a:t>
            </a:r>
            <a:endParaRPr lang="fr-FR" sz="1800" b="0" u="none" strike="noStrike">
              <a:solidFill>
                <a:srgbClr val="FFFFFF"/>
              </a:solidFill>
              <a:effectLst/>
              <a:uFillTx/>
              <a:latin typeface="Arial"/>
            </a:endParaRPr>
          </a:p>
        </p:txBody>
      </p:sp>
      <p:sp>
        <p:nvSpPr>
          <p:cNvPr id="89" name="Text 14"/>
          <p:cNvSpPr/>
          <p:nvPr/>
        </p:nvSpPr>
        <p:spPr>
          <a:xfrm>
            <a:off x="8394120" y="1774080"/>
            <a:ext cx="3099240" cy="7675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Booking est utilisé pour extraire une offre hôtelière pour les destinations retenues.</a:t>
            </a:r>
            <a:endParaRPr lang="fr-FR" sz="1400" b="0" u="none" strike="noStrike">
              <a:solidFill>
                <a:srgbClr val="FFFFFF"/>
              </a:solidFill>
              <a:effectLst/>
              <a:uFillTx/>
              <a:latin typeface="Arial"/>
            </a:endParaRPr>
          </a:p>
        </p:txBody>
      </p:sp>
      <p:sp>
        <p:nvSpPr>
          <p:cNvPr id="90" name="Text 15"/>
          <p:cNvSpPr/>
          <p:nvPr/>
        </p:nvSpPr>
        <p:spPr>
          <a:xfrm>
            <a:off x="640080" y="2896560"/>
            <a:ext cx="4916880" cy="421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lt2"/>
                </a:solidFill>
                <a:effectLst/>
                <a:uFillTx/>
                <a:latin typeface="Aptos"/>
              </a:rPr>
              <a:t>Bibliothèques Python utilisées</a:t>
            </a:r>
            <a:endParaRPr lang="fr-FR" sz="1600" b="0" u="none" strike="noStrike">
              <a:solidFill>
                <a:srgbClr val="FFFFFF"/>
              </a:solidFill>
              <a:effectLst/>
              <a:uFillTx/>
              <a:latin typeface="Arial"/>
            </a:endParaRPr>
          </a:p>
        </p:txBody>
      </p:sp>
      <p:sp>
        <p:nvSpPr>
          <p:cNvPr id="91" name="Shape 16"/>
          <p:cNvSpPr/>
          <p:nvPr/>
        </p:nvSpPr>
        <p:spPr>
          <a:xfrm>
            <a:off x="640080" y="3597480"/>
            <a:ext cx="3309480" cy="56628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2" name="Shape 17"/>
          <p:cNvSpPr/>
          <p:nvPr/>
        </p:nvSpPr>
        <p:spPr>
          <a:xfrm>
            <a:off x="640080" y="3547800"/>
            <a:ext cx="54000" cy="56628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93" name="Text 18"/>
          <p:cNvSpPr/>
          <p:nvPr/>
        </p:nvSpPr>
        <p:spPr>
          <a:xfrm>
            <a:off x="786240" y="363420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pandas</a:t>
            </a:r>
            <a:endParaRPr lang="fr-FR" sz="1800" b="0" u="none" strike="noStrike">
              <a:solidFill>
                <a:srgbClr val="FFFFFF"/>
              </a:solidFill>
              <a:effectLst/>
              <a:uFillTx/>
              <a:latin typeface="Arial"/>
            </a:endParaRPr>
          </a:p>
        </p:txBody>
      </p:sp>
      <p:sp>
        <p:nvSpPr>
          <p:cNvPr id="94" name="Text 19"/>
          <p:cNvSpPr/>
          <p:nvPr/>
        </p:nvSpPr>
        <p:spPr>
          <a:xfrm>
            <a:off x="786240" y="393588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Nettoyage, fusion, exports CSV</a:t>
            </a:r>
            <a:endParaRPr lang="fr-FR" sz="1400" b="0" u="none" strike="noStrike">
              <a:solidFill>
                <a:srgbClr val="FFFFFF"/>
              </a:solidFill>
              <a:effectLst/>
              <a:uFillTx/>
              <a:latin typeface="Arial"/>
            </a:endParaRPr>
          </a:p>
        </p:txBody>
      </p:sp>
      <p:sp>
        <p:nvSpPr>
          <p:cNvPr id="95" name="Shape 20"/>
          <p:cNvSpPr/>
          <p:nvPr/>
        </p:nvSpPr>
        <p:spPr>
          <a:xfrm>
            <a:off x="4389120" y="3547800"/>
            <a:ext cx="3309480" cy="56628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6" name="Shape 21"/>
          <p:cNvSpPr/>
          <p:nvPr/>
        </p:nvSpPr>
        <p:spPr>
          <a:xfrm>
            <a:off x="4389120" y="3547800"/>
            <a:ext cx="54000" cy="5662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97" name="Text 22"/>
          <p:cNvSpPr/>
          <p:nvPr/>
        </p:nvSpPr>
        <p:spPr>
          <a:xfrm>
            <a:off x="4553640" y="369432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requests</a:t>
            </a:r>
            <a:endParaRPr lang="fr-FR" sz="1800" b="0" u="none" strike="noStrike">
              <a:solidFill>
                <a:srgbClr val="FFFFFF"/>
              </a:solidFill>
              <a:effectLst/>
              <a:uFillTx/>
              <a:latin typeface="Arial"/>
            </a:endParaRPr>
          </a:p>
        </p:txBody>
      </p:sp>
      <p:sp>
        <p:nvSpPr>
          <p:cNvPr id="98" name="Text 23"/>
          <p:cNvSpPr/>
          <p:nvPr/>
        </p:nvSpPr>
        <p:spPr>
          <a:xfrm>
            <a:off x="4553640" y="393588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Appels API HTTP</a:t>
            </a:r>
            <a:endParaRPr lang="fr-FR" sz="1400" b="0" u="none" strike="noStrike">
              <a:solidFill>
                <a:srgbClr val="FFFFFF"/>
              </a:solidFill>
              <a:effectLst/>
              <a:uFillTx/>
              <a:latin typeface="Arial"/>
            </a:endParaRPr>
          </a:p>
        </p:txBody>
      </p:sp>
      <p:sp>
        <p:nvSpPr>
          <p:cNvPr id="99" name="Shape 24"/>
          <p:cNvSpPr/>
          <p:nvPr/>
        </p:nvSpPr>
        <p:spPr>
          <a:xfrm>
            <a:off x="8138160" y="3547800"/>
            <a:ext cx="3309480" cy="65016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0" name="Shape 25"/>
          <p:cNvSpPr/>
          <p:nvPr/>
        </p:nvSpPr>
        <p:spPr>
          <a:xfrm>
            <a:off x="8138160" y="3547800"/>
            <a:ext cx="54000" cy="56628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01" name="Text 26"/>
          <p:cNvSpPr/>
          <p:nvPr/>
        </p:nvSpPr>
        <p:spPr>
          <a:xfrm>
            <a:off x="8302680" y="369432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BeautifulSoup / lxml</a:t>
            </a:r>
            <a:endParaRPr lang="fr-FR" sz="1800" b="0" u="none" strike="noStrike">
              <a:solidFill>
                <a:srgbClr val="FFFFFF"/>
              </a:solidFill>
              <a:effectLst/>
              <a:uFillTx/>
              <a:latin typeface="Arial"/>
            </a:endParaRPr>
          </a:p>
        </p:txBody>
      </p:sp>
      <p:sp>
        <p:nvSpPr>
          <p:cNvPr id="102" name="Text 27"/>
          <p:cNvSpPr/>
          <p:nvPr/>
        </p:nvSpPr>
        <p:spPr>
          <a:xfrm>
            <a:off x="8302680" y="402336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Parsing HTML</a:t>
            </a:r>
            <a:endParaRPr lang="fr-FR" sz="1400" b="0" u="none" strike="noStrike">
              <a:solidFill>
                <a:srgbClr val="FFFFFF"/>
              </a:solidFill>
              <a:effectLst/>
              <a:uFillTx/>
              <a:latin typeface="Arial"/>
            </a:endParaRPr>
          </a:p>
        </p:txBody>
      </p:sp>
      <p:sp>
        <p:nvSpPr>
          <p:cNvPr id="103" name="Shape 28"/>
          <p:cNvSpPr/>
          <p:nvPr/>
        </p:nvSpPr>
        <p:spPr>
          <a:xfrm>
            <a:off x="640080" y="4427640"/>
            <a:ext cx="3309480" cy="56628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4" name="Shape 29"/>
          <p:cNvSpPr/>
          <p:nvPr/>
        </p:nvSpPr>
        <p:spPr>
          <a:xfrm>
            <a:off x="640080" y="4389120"/>
            <a:ext cx="54000" cy="5662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05" name="Text 30"/>
          <p:cNvSpPr/>
          <p:nvPr/>
        </p:nvSpPr>
        <p:spPr>
          <a:xfrm>
            <a:off x="804600" y="453528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boto3</a:t>
            </a:r>
            <a:endParaRPr lang="fr-FR" sz="1800" b="0" u="none" strike="noStrike">
              <a:solidFill>
                <a:srgbClr val="FFFFFF"/>
              </a:solidFill>
              <a:effectLst/>
              <a:uFillTx/>
              <a:latin typeface="Arial"/>
            </a:endParaRPr>
          </a:p>
        </p:txBody>
      </p:sp>
      <p:sp>
        <p:nvSpPr>
          <p:cNvPr id="106" name="Text 31"/>
          <p:cNvSpPr/>
          <p:nvPr/>
        </p:nvSpPr>
        <p:spPr>
          <a:xfrm>
            <a:off x="804600" y="473652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Envoi des fichiers dans S3</a:t>
            </a:r>
            <a:endParaRPr lang="fr-FR" sz="1400" b="0" u="none" strike="noStrike">
              <a:solidFill>
                <a:srgbClr val="FFFFFF"/>
              </a:solidFill>
              <a:effectLst/>
              <a:uFillTx/>
              <a:latin typeface="Arial"/>
            </a:endParaRPr>
          </a:p>
        </p:txBody>
      </p:sp>
      <p:sp>
        <p:nvSpPr>
          <p:cNvPr id="107" name="Shape 32"/>
          <p:cNvSpPr/>
          <p:nvPr/>
        </p:nvSpPr>
        <p:spPr>
          <a:xfrm>
            <a:off x="4389120" y="4389120"/>
            <a:ext cx="3309480" cy="56628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8" name="Shape 33"/>
          <p:cNvSpPr/>
          <p:nvPr/>
        </p:nvSpPr>
        <p:spPr>
          <a:xfrm>
            <a:off x="4389120" y="4389120"/>
            <a:ext cx="54000" cy="56628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09" name="Text 34"/>
          <p:cNvSpPr/>
          <p:nvPr/>
        </p:nvSpPr>
        <p:spPr>
          <a:xfrm>
            <a:off x="4553640" y="446436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psycopg2</a:t>
            </a:r>
            <a:endParaRPr lang="fr-FR" sz="1800" b="0" u="none" strike="noStrike">
              <a:solidFill>
                <a:srgbClr val="FFFFFF"/>
              </a:solidFill>
              <a:effectLst/>
              <a:uFillTx/>
              <a:latin typeface="Arial"/>
            </a:endParaRPr>
          </a:p>
        </p:txBody>
      </p:sp>
      <p:sp>
        <p:nvSpPr>
          <p:cNvPr id="110" name="Text 35"/>
          <p:cNvSpPr/>
          <p:nvPr/>
        </p:nvSpPr>
        <p:spPr>
          <a:xfrm>
            <a:off x="4553640" y="473652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Chargement PostgreSQL</a:t>
            </a:r>
            <a:endParaRPr lang="fr-FR" sz="1400" b="0" u="none" strike="noStrike">
              <a:solidFill>
                <a:srgbClr val="FFFFFF"/>
              </a:solidFill>
              <a:effectLst/>
              <a:uFillTx/>
              <a:latin typeface="Arial"/>
            </a:endParaRPr>
          </a:p>
        </p:txBody>
      </p:sp>
      <p:sp>
        <p:nvSpPr>
          <p:cNvPr id="111" name="Shape 36"/>
          <p:cNvSpPr/>
          <p:nvPr/>
        </p:nvSpPr>
        <p:spPr>
          <a:xfrm>
            <a:off x="8138160" y="4399200"/>
            <a:ext cx="3309480" cy="566280"/>
          </a:xfrm>
          <a:prstGeom prst="roundRect">
            <a:avLst>
              <a:gd name="adj" fmla="val 12903"/>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2" name="Shape 37"/>
          <p:cNvSpPr/>
          <p:nvPr/>
        </p:nvSpPr>
        <p:spPr>
          <a:xfrm>
            <a:off x="8138160" y="4389120"/>
            <a:ext cx="54000" cy="5662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13" name="Text 38"/>
          <p:cNvSpPr/>
          <p:nvPr/>
        </p:nvSpPr>
        <p:spPr>
          <a:xfrm>
            <a:off x="8302680" y="4442400"/>
            <a:ext cx="2980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folium</a:t>
            </a:r>
            <a:endParaRPr lang="fr-FR" sz="1800" b="0" u="none" strike="noStrike">
              <a:solidFill>
                <a:srgbClr val="FFFFFF"/>
              </a:solidFill>
              <a:effectLst/>
              <a:uFillTx/>
              <a:latin typeface="Arial"/>
            </a:endParaRPr>
          </a:p>
        </p:txBody>
      </p:sp>
      <p:sp>
        <p:nvSpPr>
          <p:cNvPr id="114" name="Text 39"/>
          <p:cNvSpPr/>
          <p:nvPr/>
        </p:nvSpPr>
        <p:spPr>
          <a:xfrm>
            <a:off x="8302680" y="4736520"/>
            <a:ext cx="2980080" cy="36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tabLst>
                <a:tab pos="0" algn="l"/>
              </a:tabLst>
            </a:pPr>
            <a:r>
              <a:rPr lang="en-US" sz="1400" b="0" u="none" strike="noStrike">
                <a:solidFill>
                  <a:srgbClr val="0F172A"/>
                </a:solidFill>
                <a:effectLst/>
                <a:uFillTx/>
                <a:latin typeface="Aptos"/>
              </a:rPr>
              <a:t>Cartes interactives finales</a:t>
            </a:r>
            <a:endParaRPr lang="fr-FR" sz="1400" b="0" u="none" strike="noStrike">
              <a:solidFill>
                <a:srgbClr val="FFFFFF"/>
              </a:solidFill>
              <a:effectLst/>
              <a:uFillTx/>
              <a:latin typeface="Arial"/>
            </a:endParaRPr>
          </a:p>
        </p:txBody>
      </p:sp>
      <p:sp>
        <p:nvSpPr>
          <p:cNvPr id="115" name="Shape 40"/>
          <p:cNvSpPr/>
          <p:nvPr/>
        </p:nvSpPr>
        <p:spPr>
          <a:xfrm>
            <a:off x="640080" y="5623560"/>
            <a:ext cx="10606320" cy="547920"/>
          </a:xfrm>
          <a:prstGeom prst="roundRect">
            <a:avLst>
              <a:gd name="adj" fmla="val 16667"/>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6" name="Text 41"/>
          <p:cNvSpPr/>
          <p:nvPr/>
        </p:nvSpPr>
        <p:spPr>
          <a:xfrm>
            <a:off x="868680" y="5806440"/>
            <a:ext cx="10057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F172A"/>
                </a:solidFill>
                <a:effectLst/>
                <a:uFillTx/>
                <a:latin typeface="Aptos"/>
              </a:rPr>
              <a:t>Principe de conception : séparer les étapes pour obtenir un pipeline lisible,réexécutable et facile à corriger.</a:t>
            </a:r>
            <a:endParaRPr lang="fr-FR" sz="1200" b="0" u="none" strike="noStrike">
              <a:solidFill>
                <a:srgbClr val="FFFFFF"/>
              </a:solidFill>
              <a:effectLst/>
              <a:uFillTx/>
              <a:latin typeface="Arial"/>
            </a:endParaRPr>
          </a:p>
        </p:txBody>
      </p:sp>
      <p:sp>
        <p:nvSpPr>
          <p:cNvPr id="117" name="Text 42"/>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118" name="PlaceHolder 1"/>
          <p:cNvSpPr>
            <a:spLocks noGrp="1"/>
          </p:cNvSpPr>
          <p:nvPr>
            <p:ph type="sldNum" idx="7"/>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EACFE639-58E1-45E2-B99B-ECAD320ACB14}" type="slidenum">
              <a:rPr lang="en-US" sz="650" b="0" u="none" strike="noStrike">
                <a:solidFill>
                  <a:srgbClr val="CBD5E1"/>
                </a:solidFill>
                <a:effectLst/>
                <a:uFillTx/>
                <a:latin typeface="Aptos"/>
              </a:rPr>
              <a:t>3</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119"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120" name="Text 1"/>
          <p:cNvSpPr/>
          <p:nvPr/>
        </p:nvSpPr>
        <p:spPr>
          <a:xfrm>
            <a:off x="567000" y="384120"/>
            <a:ext cx="8046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Pipeline de traitement</a:t>
            </a:r>
            <a:endParaRPr lang="fr-FR" sz="2200" b="0" u="none" strike="noStrike">
              <a:solidFill>
                <a:srgbClr val="FFFFFF"/>
              </a:solidFill>
              <a:effectLst/>
              <a:uFillTx/>
              <a:latin typeface="Arial"/>
            </a:endParaRPr>
          </a:p>
        </p:txBody>
      </p:sp>
      <p:sp>
        <p:nvSpPr>
          <p:cNvPr id="121" name="Text 2"/>
          <p:cNvSpPr/>
          <p:nvPr/>
        </p:nvSpPr>
        <p:spPr>
          <a:xfrm>
            <a:off x="576000" y="768240"/>
            <a:ext cx="96919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CBD5E1"/>
                </a:solidFill>
                <a:effectLst/>
                <a:uFillTx/>
                <a:latin typeface="Aptos"/>
              </a:rPr>
              <a:t>Une chaîne ETL complète, de la collecte à la restitution</a:t>
            </a:r>
            <a:endParaRPr lang="fr-FR" sz="1100" b="0" u="none" strike="noStrike">
              <a:solidFill>
                <a:srgbClr val="FFFFFF"/>
              </a:solidFill>
              <a:effectLst/>
              <a:uFillTx/>
              <a:latin typeface="Arial"/>
            </a:endParaRPr>
          </a:p>
        </p:txBody>
      </p:sp>
      <p:sp>
        <p:nvSpPr>
          <p:cNvPr id="122" name="Shape 3"/>
          <p:cNvSpPr/>
          <p:nvPr/>
        </p:nvSpPr>
        <p:spPr>
          <a:xfrm>
            <a:off x="502920" y="1874520"/>
            <a:ext cx="1096560" cy="867960"/>
          </a:xfrm>
          <a:prstGeom prst="roundRect">
            <a:avLst>
              <a:gd name="adj" fmla="val 12632"/>
            </a:avLst>
          </a:prstGeom>
          <a:solidFill>
            <a:srgbClr val="ECFEFF"/>
          </a:solidFill>
          <a:ln w="1397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3" name="Text 4"/>
          <p:cNvSpPr/>
          <p:nvPr/>
        </p:nvSpPr>
        <p:spPr>
          <a:xfrm>
            <a:off x="88704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A6A6"/>
                </a:solidFill>
                <a:effectLst/>
                <a:uFillTx/>
                <a:latin typeface="Aptos"/>
              </a:rPr>
              <a:t>1</a:t>
            </a:r>
            <a:endParaRPr lang="fr-FR" sz="1400" b="0" u="none" strike="noStrike">
              <a:solidFill>
                <a:srgbClr val="FFFFFF"/>
              </a:solidFill>
              <a:effectLst/>
              <a:uFillTx/>
              <a:latin typeface="Arial"/>
            </a:endParaRPr>
          </a:p>
        </p:txBody>
      </p:sp>
      <p:sp>
        <p:nvSpPr>
          <p:cNvPr id="124" name="Text 5"/>
          <p:cNvSpPr/>
          <p:nvPr/>
        </p:nvSpPr>
        <p:spPr>
          <a:xfrm>
            <a:off x="57600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Liste de villes</a:t>
            </a:r>
            <a:endParaRPr lang="fr-FR" sz="1200" b="0" u="none" strike="noStrike">
              <a:solidFill>
                <a:srgbClr val="FFFFFF"/>
              </a:solidFill>
              <a:effectLst/>
              <a:uFillTx/>
              <a:latin typeface="Arial"/>
            </a:endParaRPr>
          </a:p>
        </p:txBody>
      </p:sp>
      <p:sp>
        <p:nvSpPr>
          <p:cNvPr id="125" name="Shape 6"/>
          <p:cNvSpPr/>
          <p:nvPr/>
        </p:nvSpPr>
        <p:spPr>
          <a:xfrm>
            <a:off x="158184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6" name="Shape 7"/>
          <p:cNvSpPr/>
          <p:nvPr/>
        </p:nvSpPr>
        <p:spPr>
          <a:xfrm>
            <a:off x="1783080" y="1874520"/>
            <a:ext cx="1096560" cy="867960"/>
          </a:xfrm>
          <a:prstGeom prst="roundRect">
            <a:avLst>
              <a:gd name="adj" fmla="val 12632"/>
            </a:avLst>
          </a:prstGeom>
          <a:solidFill>
            <a:srgbClr val="ECFEFF"/>
          </a:solidFill>
          <a:ln w="1397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7" name="Text 8"/>
          <p:cNvSpPr/>
          <p:nvPr/>
        </p:nvSpPr>
        <p:spPr>
          <a:xfrm>
            <a:off x="216720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A6A6"/>
                </a:solidFill>
                <a:effectLst/>
                <a:uFillTx/>
                <a:latin typeface="Aptos"/>
              </a:rPr>
              <a:t>2</a:t>
            </a:r>
            <a:endParaRPr lang="fr-FR" sz="1400" b="0" u="none" strike="noStrike">
              <a:solidFill>
                <a:srgbClr val="FFFFFF"/>
              </a:solidFill>
              <a:effectLst/>
              <a:uFillTx/>
              <a:latin typeface="Arial"/>
            </a:endParaRPr>
          </a:p>
        </p:txBody>
      </p:sp>
      <p:sp>
        <p:nvSpPr>
          <p:cNvPr id="128" name="Text 9"/>
          <p:cNvSpPr/>
          <p:nvPr/>
        </p:nvSpPr>
        <p:spPr>
          <a:xfrm>
            <a:off x="185616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F172A"/>
                </a:solidFill>
                <a:effectLst/>
                <a:uFillTx/>
                <a:latin typeface="Aptos"/>
              </a:rPr>
              <a:t>Coordonnées GPS</a:t>
            </a:r>
            <a:endParaRPr lang="fr-FR" sz="1100" b="0" u="none" strike="noStrike">
              <a:solidFill>
                <a:srgbClr val="FFFFFF"/>
              </a:solidFill>
              <a:effectLst/>
              <a:uFillTx/>
              <a:latin typeface="Arial"/>
            </a:endParaRPr>
          </a:p>
        </p:txBody>
      </p:sp>
      <p:sp>
        <p:nvSpPr>
          <p:cNvPr id="129" name="Shape 10"/>
          <p:cNvSpPr/>
          <p:nvPr/>
        </p:nvSpPr>
        <p:spPr>
          <a:xfrm>
            <a:off x="286200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0" name="Shape 11"/>
          <p:cNvSpPr/>
          <p:nvPr/>
        </p:nvSpPr>
        <p:spPr>
          <a:xfrm>
            <a:off x="3063240" y="1874520"/>
            <a:ext cx="1096560" cy="867960"/>
          </a:xfrm>
          <a:prstGeom prst="roundRect">
            <a:avLst>
              <a:gd name="adj" fmla="val 12632"/>
            </a:avLst>
          </a:prstGeom>
          <a:solidFill>
            <a:srgbClr val="ECFEFF"/>
          </a:solidFill>
          <a:ln w="1397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1" name="Text 12"/>
          <p:cNvSpPr/>
          <p:nvPr/>
        </p:nvSpPr>
        <p:spPr>
          <a:xfrm>
            <a:off x="344736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A6A6"/>
                </a:solidFill>
                <a:effectLst/>
                <a:uFillTx/>
                <a:latin typeface="Aptos"/>
              </a:rPr>
              <a:t>3</a:t>
            </a:r>
            <a:endParaRPr lang="fr-FR" sz="1400" b="0" u="none" strike="noStrike">
              <a:solidFill>
                <a:srgbClr val="FFFFFF"/>
              </a:solidFill>
              <a:effectLst/>
              <a:uFillTx/>
              <a:latin typeface="Arial"/>
            </a:endParaRPr>
          </a:p>
        </p:txBody>
      </p:sp>
      <p:sp>
        <p:nvSpPr>
          <p:cNvPr id="132" name="Text 13"/>
          <p:cNvSpPr/>
          <p:nvPr/>
        </p:nvSpPr>
        <p:spPr>
          <a:xfrm>
            <a:off x="313632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Météo 7 jours</a:t>
            </a:r>
            <a:endParaRPr lang="fr-FR" sz="1200" b="0" u="none" strike="noStrike">
              <a:solidFill>
                <a:srgbClr val="FFFFFF"/>
              </a:solidFill>
              <a:effectLst/>
              <a:uFillTx/>
              <a:latin typeface="Arial"/>
            </a:endParaRPr>
          </a:p>
        </p:txBody>
      </p:sp>
      <p:sp>
        <p:nvSpPr>
          <p:cNvPr id="133" name="Shape 14"/>
          <p:cNvSpPr/>
          <p:nvPr/>
        </p:nvSpPr>
        <p:spPr>
          <a:xfrm>
            <a:off x="414216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4" name="Shape 15"/>
          <p:cNvSpPr/>
          <p:nvPr/>
        </p:nvSpPr>
        <p:spPr>
          <a:xfrm>
            <a:off x="4343400" y="1874520"/>
            <a:ext cx="1096560" cy="867960"/>
          </a:xfrm>
          <a:prstGeom prst="roundRect">
            <a:avLst>
              <a:gd name="adj" fmla="val 12632"/>
            </a:avLst>
          </a:prstGeom>
          <a:solidFill>
            <a:srgbClr val="ECFEFF"/>
          </a:solidFill>
          <a:ln w="1397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5" name="Text 16"/>
          <p:cNvSpPr/>
          <p:nvPr/>
        </p:nvSpPr>
        <p:spPr>
          <a:xfrm>
            <a:off x="472752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A6A6"/>
                </a:solidFill>
                <a:effectLst/>
                <a:uFillTx/>
                <a:latin typeface="Aptos"/>
              </a:rPr>
              <a:t>4</a:t>
            </a:r>
            <a:endParaRPr lang="fr-FR" sz="1400" b="0" u="none" strike="noStrike">
              <a:solidFill>
                <a:srgbClr val="FFFFFF"/>
              </a:solidFill>
              <a:effectLst/>
              <a:uFillTx/>
              <a:latin typeface="Arial"/>
            </a:endParaRPr>
          </a:p>
        </p:txBody>
      </p:sp>
      <p:sp>
        <p:nvSpPr>
          <p:cNvPr id="136" name="Text 17"/>
          <p:cNvSpPr/>
          <p:nvPr/>
        </p:nvSpPr>
        <p:spPr>
          <a:xfrm>
            <a:off x="441648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Score météo</a:t>
            </a:r>
            <a:endParaRPr lang="fr-FR" sz="1200" b="0" u="none" strike="noStrike">
              <a:solidFill>
                <a:srgbClr val="FFFFFF"/>
              </a:solidFill>
              <a:effectLst/>
              <a:uFillTx/>
              <a:latin typeface="Arial"/>
            </a:endParaRPr>
          </a:p>
        </p:txBody>
      </p:sp>
      <p:sp>
        <p:nvSpPr>
          <p:cNvPr id="137" name="Shape 18"/>
          <p:cNvSpPr/>
          <p:nvPr/>
        </p:nvSpPr>
        <p:spPr>
          <a:xfrm>
            <a:off x="542232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8" name="Shape 19"/>
          <p:cNvSpPr/>
          <p:nvPr/>
        </p:nvSpPr>
        <p:spPr>
          <a:xfrm>
            <a:off x="5623560" y="1874520"/>
            <a:ext cx="1096560" cy="867960"/>
          </a:xfrm>
          <a:prstGeom prst="roundRect">
            <a:avLst>
              <a:gd name="adj" fmla="val 12632"/>
            </a:avLst>
          </a:prstGeom>
          <a:solidFill>
            <a:srgbClr val="ECFEFF"/>
          </a:solidFill>
          <a:ln w="1397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9" name="Text 20"/>
          <p:cNvSpPr/>
          <p:nvPr/>
        </p:nvSpPr>
        <p:spPr>
          <a:xfrm>
            <a:off x="600768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A6A6"/>
                </a:solidFill>
                <a:effectLst/>
                <a:uFillTx/>
                <a:latin typeface="Aptos"/>
              </a:rPr>
              <a:t>5</a:t>
            </a:r>
            <a:endParaRPr lang="fr-FR" sz="1400" b="0" u="none" strike="noStrike">
              <a:solidFill>
                <a:srgbClr val="FFFFFF"/>
              </a:solidFill>
              <a:effectLst/>
              <a:uFillTx/>
              <a:latin typeface="Arial"/>
            </a:endParaRPr>
          </a:p>
        </p:txBody>
      </p:sp>
      <p:sp>
        <p:nvSpPr>
          <p:cNvPr id="140" name="Text 21"/>
          <p:cNvSpPr/>
          <p:nvPr/>
        </p:nvSpPr>
        <p:spPr>
          <a:xfrm>
            <a:off x="569664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Top 5 villes</a:t>
            </a:r>
            <a:endParaRPr lang="fr-FR" sz="1200" b="0" u="none" strike="noStrike">
              <a:solidFill>
                <a:srgbClr val="FFFFFF"/>
              </a:solidFill>
              <a:effectLst/>
              <a:uFillTx/>
              <a:latin typeface="Arial"/>
            </a:endParaRPr>
          </a:p>
        </p:txBody>
      </p:sp>
      <p:sp>
        <p:nvSpPr>
          <p:cNvPr id="141" name="Shape 22"/>
          <p:cNvSpPr/>
          <p:nvPr/>
        </p:nvSpPr>
        <p:spPr>
          <a:xfrm>
            <a:off x="670248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2" name="Shape 23"/>
          <p:cNvSpPr/>
          <p:nvPr/>
        </p:nvSpPr>
        <p:spPr>
          <a:xfrm>
            <a:off x="6903720" y="1874520"/>
            <a:ext cx="1096560" cy="867960"/>
          </a:xfrm>
          <a:prstGeom prst="roundRect">
            <a:avLst>
              <a:gd name="adj" fmla="val 12632"/>
            </a:avLst>
          </a:prstGeom>
          <a:solidFill>
            <a:srgbClr val="FEF3C7"/>
          </a:solidFill>
          <a:ln w="13970">
            <a:solidFill>
              <a:srgbClr val="F59E0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3" name="Text 24"/>
          <p:cNvSpPr/>
          <p:nvPr/>
        </p:nvSpPr>
        <p:spPr>
          <a:xfrm>
            <a:off x="728784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59E0B"/>
                </a:solidFill>
                <a:effectLst/>
                <a:uFillTx/>
                <a:latin typeface="Aptos"/>
              </a:rPr>
              <a:t>6</a:t>
            </a:r>
            <a:endParaRPr lang="fr-FR" sz="1400" b="0" u="none" strike="noStrike">
              <a:solidFill>
                <a:srgbClr val="FFFFFF"/>
              </a:solidFill>
              <a:effectLst/>
              <a:uFillTx/>
              <a:latin typeface="Arial"/>
            </a:endParaRPr>
          </a:p>
        </p:txBody>
      </p:sp>
      <p:sp>
        <p:nvSpPr>
          <p:cNvPr id="144" name="Text 25"/>
          <p:cNvSpPr/>
          <p:nvPr/>
        </p:nvSpPr>
        <p:spPr>
          <a:xfrm>
            <a:off x="697680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Hôtels Booking</a:t>
            </a:r>
            <a:endParaRPr lang="fr-FR" sz="1200" b="0" u="none" strike="noStrike">
              <a:solidFill>
                <a:srgbClr val="FFFFFF"/>
              </a:solidFill>
              <a:effectLst/>
              <a:uFillTx/>
              <a:latin typeface="Arial"/>
            </a:endParaRPr>
          </a:p>
        </p:txBody>
      </p:sp>
      <p:sp>
        <p:nvSpPr>
          <p:cNvPr id="145" name="Shape 26"/>
          <p:cNvSpPr/>
          <p:nvPr/>
        </p:nvSpPr>
        <p:spPr>
          <a:xfrm>
            <a:off x="798264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6" name="Shape 27"/>
          <p:cNvSpPr/>
          <p:nvPr/>
        </p:nvSpPr>
        <p:spPr>
          <a:xfrm>
            <a:off x="8183880" y="1874520"/>
            <a:ext cx="1096560" cy="867960"/>
          </a:xfrm>
          <a:prstGeom prst="roundRect">
            <a:avLst>
              <a:gd name="adj" fmla="val 12632"/>
            </a:avLst>
          </a:prstGeom>
          <a:solidFill>
            <a:srgbClr val="FEF3C7"/>
          </a:solidFill>
          <a:ln w="13970">
            <a:solidFill>
              <a:srgbClr val="F59E0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7" name="Text 28"/>
          <p:cNvSpPr/>
          <p:nvPr/>
        </p:nvSpPr>
        <p:spPr>
          <a:xfrm>
            <a:off x="856800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59E0B"/>
                </a:solidFill>
                <a:effectLst/>
                <a:uFillTx/>
                <a:latin typeface="Aptos"/>
              </a:rPr>
              <a:t>7</a:t>
            </a:r>
            <a:endParaRPr lang="fr-FR" sz="1400" b="0" u="none" strike="noStrike">
              <a:solidFill>
                <a:srgbClr val="FFFFFF"/>
              </a:solidFill>
              <a:effectLst/>
              <a:uFillTx/>
              <a:latin typeface="Arial"/>
            </a:endParaRPr>
          </a:p>
        </p:txBody>
      </p:sp>
      <p:sp>
        <p:nvSpPr>
          <p:cNvPr id="148" name="Text 29"/>
          <p:cNvSpPr/>
          <p:nvPr/>
        </p:nvSpPr>
        <p:spPr>
          <a:xfrm>
            <a:off x="825696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Fusion finale</a:t>
            </a:r>
            <a:endParaRPr lang="fr-FR" sz="1200" b="0" u="none" strike="noStrike">
              <a:solidFill>
                <a:srgbClr val="FFFFFF"/>
              </a:solidFill>
              <a:effectLst/>
              <a:uFillTx/>
              <a:latin typeface="Arial"/>
            </a:endParaRPr>
          </a:p>
        </p:txBody>
      </p:sp>
      <p:sp>
        <p:nvSpPr>
          <p:cNvPr id="149" name="Shape 30"/>
          <p:cNvSpPr/>
          <p:nvPr/>
        </p:nvSpPr>
        <p:spPr>
          <a:xfrm>
            <a:off x="926280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0" name="Shape 31"/>
          <p:cNvSpPr/>
          <p:nvPr/>
        </p:nvSpPr>
        <p:spPr>
          <a:xfrm>
            <a:off x="9464040" y="1874520"/>
            <a:ext cx="1096560" cy="867960"/>
          </a:xfrm>
          <a:prstGeom prst="roundRect">
            <a:avLst>
              <a:gd name="adj" fmla="val 12632"/>
            </a:avLst>
          </a:prstGeom>
          <a:solidFill>
            <a:srgbClr val="F0FDF4"/>
          </a:solidFill>
          <a:ln w="13970">
            <a:solidFill>
              <a:srgbClr val="10B98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1" name="Text 32"/>
          <p:cNvSpPr/>
          <p:nvPr/>
        </p:nvSpPr>
        <p:spPr>
          <a:xfrm>
            <a:off x="984816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B981"/>
                </a:solidFill>
                <a:effectLst/>
                <a:uFillTx/>
                <a:latin typeface="Aptos"/>
              </a:rPr>
              <a:t>8</a:t>
            </a:r>
            <a:endParaRPr lang="fr-FR" sz="1400" b="0" u="none" strike="noStrike">
              <a:solidFill>
                <a:srgbClr val="FFFFFF"/>
              </a:solidFill>
              <a:effectLst/>
              <a:uFillTx/>
              <a:latin typeface="Arial"/>
            </a:endParaRPr>
          </a:p>
        </p:txBody>
      </p:sp>
      <p:sp>
        <p:nvSpPr>
          <p:cNvPr id="152" name="Text 33"/>
          <p:cNvSpPr/>
          <p:nvPr/>
        </p:nvSpPr>
        <p:spPr>
          <a:xfrm>
            <a:off x="953712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S3 + PostgreSQL</a:t>
            </a:r>
            <a:endParaRPr lang="fr-FR" sz="1200" b="0" u="none" strike="noStrike">
              <a:solidFill>
                <a:srgbClr val="FFFFFF"/>
              </a:solidFill>
              <a:effectLst/>
              <a:uFillTx/>
              <a:latin typeface="Arial"/>
            </a:endParaRPr>
          </a:p>
        </p:txBody>
      </p:sp>
      <p:sp>
        <p:nvSpPr>
          <p:cNvPr id="153" name="Shape 34"/>
          <p:cNvSpPr/>
          <p:nvPr/>
        </p:nvSpPr>
        <p:spPr>
          <a:xfrm>
            <a:off x="10542960" y="2167200"/>
            <a:ext cx="300960" cy="25524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4" name="Shape 35"/>
          <p:cNvSpPr/>
          <p:nvPr/>
        </p:nvSpPr>
        <p:spPr>
          <a:xfrm>
            <a:off x="10744200" y="1874520"/>
            <a:ext cx="1096560" cy="867960"/>
          </a:xfrm>
          <a:prstGeom prst="roundRect">
            <a:avLst>
              <a:gd name="adj" fmla="val 12632"/>
            </a:avLst>
          </a:prstGeom>
          <a:solidFill>
            <a:srgbClr val="F0FDF4"/>
          </a:solidFill>
          <a:ln w="13970">
            <a:solidFill>
              <a:srgbClr val="10B98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5" name="Text 36"/>
          <p:cNvSpPr/>
          <p:nvPr/>
        </p:nvSpPr>
        <p:spPr>
          <a:xfrm>
            <a:off x="11128320" y="1984320"/>
            <a:ext cx="328320" cy="182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B981"/>
                </a:solidFill>
                <a:effectLst/>
                <a:uFillTx/>
                <a:latin typeface="Aptos"/>
              </a:rPr>
              <a:t>9</a:t>
            </a:r>
            <a:endParaRPr lang="fr-FR" sz="1400" b="0" u="none" strike="noStrike">
              <a:solidFill>
                <a:srgbClr val="FFFFFF"/>
              </a:solidFill>
              <a:effectLst/>
              <a:uFillTx/>
              <a:latin typeface="Arial"/>
            </a:endParaRPr>
          </a:p>
        </p:txBody>
      </p:sp>
      <p:sp>
        <p:nvSpPr>
          <p:cNvPr id="156" name="Text 37"/>
          <p:cNvSpPr/>
          <p:nvPr/>
        </p:nvSpPr>
        <p:spPr>
          <a:xfrm>
            <a:off x="10817280" y="2304360"/>
            <a:ext cx="95040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172A"/>
                </a:solidFill>
                <a:effectLst/>
                <a:uFillTx/>
                <a:latin typeface="Aptos"/>
              </a:rPr>
              <a:t>Cartes HTML</a:t>
            </a:r>
            <a:endParaRPr lang="fr-FR" sz="1200" b="0" u="none" strike="noStrike">
              <a:solidFill>
                <a:srgbClr val="FFFFFF"/>
              </a:solidFill>
              <a:effectLst/>
              <a:uFillTx/>
              <a:latin typeface="Arial"/>
            </a:endParaRPr>
          </a:p>
        </p:txBody>
      </p:sp>
      <p:sp>
        <p:nvSpPr>
          <p:cNvPr id="157" name="Shape 38"/>
          <p:cNvSpPr/>
          <p:nvPr/>
        </p:nvSpPr>
        <p:spPr>
          <a:xfrm>
            <a:off x="868680" y="3703320"/>
            <a:ext cx="3291120" cy="1233720"/>
          </a:xfrm>
          <a:prstGeom prst="roundRect">
            <a:avLst>
              <a:gd name="adj" fmla="val 592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8" name="Shape 39"/>
          <p:cNvSpPr/>
          <p:nvPr/>
        </p:nvSpPr>
        <p:spPr>
          <a:xfrm>
            <a:off x="868680" y="3703320"/>
            <a:ext cx="54000" cy="123372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59" name="Text 40"/>
          <p:cNvSpPr/>
          <p:nvPr/>
        </p:nvSpPr>
        <p:spPr>
          <a:xfrm>
            <a:off x="1033200" y="3849480"/>
            <a:ext cx="2962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Extract</a:t>
            </a:r>
            <a:endParaRPr lang="fr-FR" sz="1800" b="0" u="none" strike="noStrike">
              <a:solidFill>
                <a:srgbClr val="FFFFFF"/>
              </a:solidFill>
              <a:effectLst/>
              <a:uFillTx/>
              <a:latin typeface="Arial"/>
            </a:endParaRPr>
          </a:p>
        </p:txBody>
      </p:sp>
      <p:sp>
        <p:nvSpPr>
          <p:cNvPr id="160" name="Text 41"/>
          <p:cNvSpPr/>
          <p:nvPr/>
        </p:nvSpPr>
        <p:spPr>
          <a:xfrm>
            <a:off x="1033200" y="4178880"/>
            <a:ext cx="2962080" cy="6667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600" b="0" u="none" strike="noStrike">
                <a:solidFill>
                  <a:srgbClr val="0F172A"/>
                </a:solidFill>
                <a:effectLst/>
                <a:uFillTx/>
                <a:latin typeface="Aptos"/>
              </a:rPr>
              <a:t>API météo + pages HTML Booking</a:t>
            </a:r>
            <a:endParaRPr lang="fr-FR" sz="1600" b="0" u="none" strike="noStrike">
              <a:solidFill>
                <a:srgbClr val="FFFFFF"/>
              </a:solidFill>
              <a:effectLst/>
              <a:uFillTx/>
              <a:latin typeface="Arial"/>
            </a:endParaRPr>
          </a:p>
        </p:txBody>
      </p:sp>
      <p:sp>
        <p:nvSpPr>
          <p:cNvPr id="161" name="Shape 42"/>
          <p:cNvSpPr/>
          <p:nvPr/>
        </p:nvSpPr>
        <p:spPr>
          <a:xfrm>
            <a:off x="4434840" y="3703320"/>
            <a:ext cx="3291120" cy="1233720"/>
          </a:xfrm>
          <a:prstGeom prst="roundRect">
            <a:avLst>
              <a:gd name="adj" fmla="val 592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2" name="Shape 43"/>
          <p:cNvSpPr/>
          <p:nvPr/>
        </p:nvSpPr>
        <p:spPr>
          <a:xfrm>
            <a:off x="4434840" y="3703320"/>
            <a:ext cx="54000" cy="123372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63" name="Text 44"/>
          <p:cNvSpPr/>
          <p:nvPr/>
        </p:nvSpPr>
        <p:spPr>
          <a:xfrm>
            <a:off x="4599360" y="3849480"/>
            <a:ext cx="2962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Transform</a:t>
            </a:r>
            <a:endParaRPr lang="fr-FR" sz="1800" b="0" u="none" strike="noStrike">
              <a:solidFill>
                <a:srgbClr val="FFFFFF"/>
              </a:solidFill>
              <a:effectLst/>
              <a:uFillTx/>
              <a:latin typeface="Arial"/>
            </a:endParaRPr>
          </a:p>
        </p:txBody>
      </p:sp>
      <p:sp>
        <p:nvSpPr>
          <p:cNvPr id="164" name="Text 45"/>
          <p:cNvSpPr/>
          <p:nvPr/>
        </p:nvSpPr>
        <p:spPr>
          <a:xfrm>
            <a:off x="4599360" y="4178880"/>
            <a:ext cx="2962080" cy="6667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600" b="0" u="none" strike="noStrike">
                <a:solidFill>
                  <a:srgbClr val="0F172A"/>
                </a:solidFill>
                <a:effectLst/>
                <a:uFillTx/>
                <a:latin typeface="Aptos"/>
              </a:rPr>
              <a:t>Nettoyage, scoring, parsing, fusion</a:t>
            </a:r>
            <a:endParaRPr lang="fr-FR" sz="1600" b="0" u="none" strike="noStrike">
              <a:solidFill>
                <a:srgbClr val="FFFFFF"/>
              </a:solidFill>
              <a:effectLst/>
              <a:uFillTx/>
              <a:latin typeface="Arial"/>
            </a:endParaRPr>
          </a:p>
        </p:txBody>
      </p:sp>
      <p:sp>
        <p:nvSpPr>
          <p:cNvPr id="165" name="Shape 46"/>
          <p:cNvSpPr/>
          <p:nvPr/>
        </p:nvSpPr>
        <p:spPr>
          <a:xfrm>
            <a:off x="8001000" y="3703320"/>
            <a:ext cx="3291120" cy="1233720"/>
          </a:xfrm>
          <a:prstGeom prst="roundRect">
            <a:avLst>
              <a:gd name="adj" fmla="val 592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6" name="Shape 47"/>
          <p:cNvSpPr/>
          <p:nvPr/>
        </p:nvSpPr>
        <p:spPr>
          <a:xfrm>
            <a:off x="8001000" y="3703320"/>
            <a:ext cx="54000" cy="123372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67" name="Text 48"/>
          <p:cNvSpPr/>
          <p:nvPr/>
        </p:nvSpPr>
        <p:spPr>
          <a:xfrm>
            <a:off x="8165520" y="3849480"/>
            <a:ext cx="2962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Load &amp; restituer</a:t>
            </a:r>
            <a:endParaRPr lang="fr-FR" sz="1800" b="0" u="none" strike="noStrike">
              <a:solidFill>
                <a:srgbClr val="FFFFFF"/>
              </a:solidFill>
              <a:effectLst/>
              <a:uFillTx/>
              <a:latin typeface="Arial"/>
            </a:endParaRPr>
          </a:p>
        </p:txBody>
      </p:sp>
      <p:sp>
        <p:nvSpPr>
          <p:cNvPr id="168" name="Text 49"/>
          <p:cNvSpPr/>
          <p:nvPr/>
        </p:nvSpPr>
        <p:spPr>
          <a:xfrm>
            <a:off x="8165520" y="4178880"/>
            <a:ext cx="2962080" cy="6667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600" b="0" u="none" strike="noStrike">
                <a:solidFill>
                  <a:srgbClr val="0F172A"/>
                </a:solidFill>
                <a:effectLst/>
                <a:uFillTx/>
                <a:latin typeface="Aptos"/>
              </a:rPr>
              <a:t>S3, PostgreSQL, CSV final, cartes</a:t>
            </a:r>
            <a:endParaRPr lang="fr-FR" sz="1600" b="0" u="none" strike="noStrike">
              <a:solidFill>
                <a:srgbClr val="FFFFFF"/>
              </a:solidFill>
              <a:effectLst/>
              <a:uFillTx/>
              <a:latin typeface="Arial"/>
            </a:endParaRPr>
          </a:p>
        </p:txBody>
      </p:sp>
      <p:sp>
        <p:nvSpPr>
          <p:cNvPr id="169" name="Text 50"/>
          <p:cNvSpPr/>
          <p:nvPr/>
        </p:nvSpPr>
        <p:spPr>
          <a:xfrm>
            <a:off x="868680" y="5394960"/>
            <a:ext cx="1033200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accent3">
                    <a:lumMod val="40000"/>
                    <a:lumOff val="60000"/>
                  </a:schemeClr>
                </a:solidFill>
                <a:effectLst/>
                <a:uFillTx/>
                <a:latin typeface="Aptos"/>
              </a:rPr>
              <a:t>Le scraping intervient seulement après le top 5 météo : cela limite le périmètre et évite de traiter inutilement toutes les villes.</a:t>
            </a:r>
            <a:endParaRPr lang="fr-FR" sz="1400" b="0" u="none" strike="noStrike">
              <a:solidFill>
                <a:srgbClr val="FFFFFF"/>
              </a:solidFill>
              <a:effectLst/>
              <a:uFillTx/>
              <a:latin typeface="Arial"/>
            </a:endParaRPr>
          </a:p>
        </p:txBody>
      </p:sp>
      <p:sp>
        <p:nvSpPr>
          <p:cNvPr id="170" name="Text 51"/>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171" name="PlaceHolder 1"/>
          <p:cNvSpPr>
            <a:spLocks noGrp="1"/>
          </p:cNvSpPr>
          <p:nvPr>
            <p:ph type="sldNum" idx="8"/>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47F0DBBF-29D1-4661-8292-FDDC4F10281A}" type="slidenum">
              <a:rPr lang="en-US" sz="650" b="0" u="none" strike="noStrike">
                <a:solidFill>
                  <a:srgbClr val="CBD5E1"/>
                </a:solidFill>
                <a:effectLst/>
                <a:uFillTx/>
                <a:latin typeface="Aptos"/>
              </a:rPr>
              <a:t>4</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172"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173" name="Text 1"/>
          <p:cNvSpPr/>
          <p:nvPr/>
        </p:nvSpPr>
        <p:spPr>
          <a:xfrm>
            <a:off x="567000" y="384120"/>
            <a:ext cx="8046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Score météo et top 5</a:t>
            </a:r>
            <a:endParaRPr lang="fr-FR" sz="2200" b="0" u="none" strike="noStrike">
              <a:solidFill>
                <a:srgbClr val="FFFFFF"/>
              </a:solidFill>
              <a:effectLst/>
              <a:uFillTx/>
              <a:latin typeface="Arial"/>
            </a:endParaRPr>
          </a:p>
        </p:txBody>
      </p:sp>
      <p:sp>
        <p:nvSpPr>
          <p:cNvPr id="174" name="Text 2"/>
          <p:cNvSpPr/>
          <p:nvPr/>
        </p:nvSpPr>
        <p:spPr>
          <a:xfrm>
            <a:off x="576000" y="768240"/>
            <a:ext cx="96919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CBD5E1"/>
                </a:solidFill>
                <a:effectLst/>
                <a:uFillTx/>
                <a:latin typeface="Aptos"/>
              </a:rPr>
              <a:t>Sélectionner les destinations les plus favorables avec un score simple et lisible</a:t>
            </a:r>
            <a:endParaRPr lang="fr-FR" sz="1050" b="0" u="none" strike="noStrike">
              <a:solidFill>
                <a:srgbClr val="FFFFFF"/>
              </a:solidFill>
              <a:effectLst/>
              <a:uFillTx/>
              <a:latin typeface="Arial"/>
            </a:endParaRPr>
          </a:p>
        </p:txBody>
      </p:sp>
      <p:sp>
        <p:nvSpPr>
          <p:cNvPr id="175" name="Shape 3"/>
          <p:cNvSpPr/>
          <p:nvPr/>
        </p:nvSpPr>
        <p:spPr>
          <a:xfrm>
            <a:off x="658440" y="1207080"/>
            <a:ext cx="6445800" cy="4525560"/>
          </a:xfrm>
          <a:prstGeom prst="roundRect">
            <a:avLst>
              <a:gd name="adj" fmla="val 1616"/>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6" name="Text 4"/>
          <p:cNvSpPr/>
          <p:nvPr/>
        </p:nvSpPr>
        <p:spPr>
          <a:xfrm>
            <a:off x="932760" y="1463040"/>
            <a:ext cx="566856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F172A"/>
                </a:solidFill>
                <a:effectLst/>
                <a:uFillTx/>
                <a:latin typeface="Aptos"/>
              </a:rPr>
              <a:t>Top 5 destinations selon le score météo</a:t>
            </a:r>
            <a:endParaRPr lang="fr-FR" sz="1600" b="0" u="none" strike="noStrike">
              <a:solidFill>
                <a:srgbClr val="FFFFFF"/>
              </a:solidFill>
              <a:effectLst/>
              <a:uFillTx/>
              <a:latin typeface="Arial"/>
            </a:endParaRPr>
          </a:p>
        </p:txBody>
      </p:sp>
      <p:sp>
        <p:nvSpPr>
          <p:cNvPr id="177" name="Text 5"/>
          <p:cNvSpPr/>
          <p:nvPr/>
        </p:nvSpPr>
        <p:spPr>
          <a:xfrm>
            <a:off x="941760" y="1920240"/>
            <a:ext cx="1169640" cy="118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80" b="0" u="none" strike="noStrike">
                <a:solidFill>
                  <a:srgbClr val="0F172A"/>
                </a:solidFill>
                <a:effectLst/>
                <a:uFillTx/>
                <a:latin typeface="Aptos"/>
              </a:rPr>
              <a:t>Avignon</a:t>
            </a:r>
            <a:endParaRPr lang="fr-FR" sz="780" b="0" u="none" strike="noStrike">
              <a:solidFill>
                <a:srgbClr val="FFFFFF"/>
              </a:solidFill>
              <a:effectLst/>
              <a:uFillTx/>
              <a:latin typeface="Arial"/>
            </a:endParaRPr>
          </a:p>
        </p:txBody>
      </p:sp>
      <p:sp>
        <p:nvSpPr>
          <p:cNvPr id="178" name="Shape 6"/>
          <p:cNvSpPr/>
          <p:nvPr/>
        </p:nvSpPr>
        <p:spPr>
          <a:xfrm>
            <a:off x="2331720" y="1874520"/>
            <a:ext cx="3912120" cy="300960"/>
          </a:xfrm>
          <a:prstGeom prst="rect">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9" name="Text 7"/>
          <p:cNvSpPr/>
          <p:nvPr/>
        </p:nvSpPr>
        <p:spPr>
          <a:xfrm>
            <a:off x="6317640" y="1933920"/>
            <a:ext cx="38340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80" b="1" u="none" strike="noStrike">
                <a:solidFill>
                  <a:srgbClr val="0F172A"/>
                </a:solidFill>
                <a:effectLst/>
                <a:uFillTx/>
                <a:latin typeface="Aptos"/>
              </a:rPr>
              <a:t>90.5</a:t>
            </a:r>
            <a:endParaRPr lang="fr-FR" sz="780" b="0" u="none" strike="noStrike">
              <a:solidFill>
                <a:srgbClr val="FFFFFF"/>
              </a:solidFill>
              <a:effectLst/>
              <a:uFillTx/>
              <a:latin typeface="Arial"/>
            </a:endParaRPr>
          </a:p>
        </p:txBody>
      </p:sp>
      <p:sp>
        <p:nvSpPr>
          <p:cNvPr id="180" name="Text 8"/>
          <p:cNvSpPr/>
          <p:nvPr/>
        </p:nvSpPr>
        <p:spPr>
          <a:xfrm>
            <a:off x="941760" y="2414160"/>
            <a:ext cx="1169640" cy="118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80" b="0" u="none" strike="noStrike">
                <a:solidFill>
                  <a:srgbClr val="0F172A"/>
                </a:solidFill>
                <a:effectLst/>
                <a:uFillTx/>
                <a:latin typeface="Aptos"/>
              </a:rPr>
              <a:t>Aix-en-Provence</a:t>
            </a:r>
            <a:endParaRPr lang="fr-FR" sz="780" b="0" u="none" strike="noStrike">
              <a:solidFill>
                <a:srgbClr val="FFFFFF"/>
              </a:solidFill>
              <a:effectLst/>
              <a:uFillTx/>
              <a:latin typeface="Arial"/>
            </a:endParaRPr>
          </a:p>
        </p:txBody>
      </p:sp>
      <p:sp>
        <p:nvSpPr>
          <p:cNvPr id="181" name="Shape 9"/>
          <p:cNvSpPr/>
          <p:nvPr/>
        </p:nvSpPr>
        <p:spPr>
          <a:xfrm>
            <a:off x="2331720" y="2368440"/>
            <a:ext cx="3873240" cy="300960"/>
          </a:xfrm>
          <a:prstGeom prst="rect">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2" name="Text 10"/>
          <p:cNvSpPr/>
          <p:nvPr/>
        </p:nvSpPr>
        <p:spPr>
          <a:xfrm>
            <a:off x="6278760" y="2427840"/>
            <a:ext cx="38340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80" b="1" u="none" strike="noStrike">
                <a:solidFill>
                  <a:srgbClr val="0F172A"/>
                </a:solidFill>
                <a:effectLst/>
                <a:uFillTx/>
                <a:latin typeface="Aptos"/>
              </a:rPr>
              <a:t>89.6</a:t>
            </a:r>
            <a:endParaRPr lang="fr-FR" sz="780" b="0" u="none" strike="noStrike">
              <a:solidFill>
                <a:srgbClr val="FFFFFF"/>
              </a:solidFill>
              <a:effectLst/>
              <a:uFillTx/>
              <a:latin typeface="Arial"/>
            </a:endParaRPr>
          </a:p>
        </p:txBody>
      </p:sp>
      <p:sp>
        <p:nvSpPr>
          <p:cNvPr id="183" name="Text 11"/>
          <p:cNvSpPr/>
          <p:nvPr/>
        </p:nvSpPr>
        <p:spPr>
          <a:xfrm>
            <a:off x="941760" y="2907720"/>
            <a:ext cx="1169640" cy="118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80" b="0" u="none" strike="noStrike">
                <a:solidFill>
                  <a:srgbClr val="0F172A"/>
                </a:solidFill>
                <a:effectLst/>
                <a:uFillTx/>
                <a:latin typeface="Aptos"/>
              </a:rPr>
              <a:t>Nîmes</a:t>
            </a:r>
            <a:endParaRPr lang="fr-FR" sz="780" b="0" u="none" strike="noStrike">
              <a:solidFill>
                <a:srgbClr val="FFFFFF"/>
              </a:solidFill>
              <a:effectLst/>
              <a:uFillTx/>
              <a:latin typeface="Arial"/>
            </a:endParaRPr>
          </a:p>
        </p:txBody>
      </p:sp>
      <p:sp>
        <p:nvSpPr>
          <p:cNvPr id="184" name="Shape 12"/>
          <p:cNvSpPr/>
          <p:nvPr/>
        </p:nvSpPr>
        <p:spPr>
          <a:xfrm>
            <a:off x="2331720" y="2862000"/>
            <a:ext cx="3786840" cy="300960"/>
          </a:xfrm>
          <a:prstGeom prst="rect">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5" name="Text 13"/>
          <p:cNvSpPr/>
          <p:nvPr/>
        </p:nvSpPr>
        <p:spPr>
          <a:xfrm>
            <a:off x="6192360" y="2921400"/>
            <a:ext cx="38340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80" b="1" u="none" strike="noStrike">
                <a:solidFill>
                  <a:srgbClr val="0F172A"/>
                </a:solidFill>
                <a:effectLst/>
                <a:uFillTx/>
                <a:latin typeface="Aptos"/>
              </a:rPr>
              <a:t>87.6</a:t>
            </a:r>
            <a:endParaRPr lang="fr-FR" sz="780" b="0" u="none" strike="noStrike">
              <a:solidFill>
                <a:srgbClr val="FFFFFF"/>
              </a:solidFill>
              <a:effectLst/>
              <a:uFillTx/>
              <a:latin typeface="Arial"/>
            </a:endParaRPr>
          </a:p>
        </p:txBody>
      </p:sp>
      <p:sp>
        <p:nvSpPr>
          <p:cNvPr id="186" name="Text 14"/>
          <p:cNvSpPr/>
          <p:nvPr/>
        </p:nvSpPr>
        <p:spPr>
          <a:xfrm>
            <a:off x="941760" y="3401640"/>
            <a:ext cx="1169640" cy="118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80" b="0" u="none" strike="noStrike">
                <a:solidFill>
                  <a:srgbClr val="0F172A"/>
                </a:solidFill>
                <a:effectLst/>
                <a:uFillTx/>
                <a:latin typeface="Aptos"/>
              </a:rPr>
              <a:t>Bormes-les-Mimosas</a:t>
            </a:r>
            <a:endParaRPr lang="fr-FR" sz="780" b="0" u="none" strike="noStrike">
              <a:solidFill>
                <a:srgbClr val="FFFFFF"/>
              </a:solidFill>
              <a:effectLst/>
              <a:uFillTx/>
              <a:latin typeface="Arial"/>
            </a:endParaRPr>
          </a:p>
        </p:txBody>
      </p:sp>
      <p:sp>
        <p:nvSpPr>
          <p:cNvPr id="187" name="Shape 15"/>
          <p:cNvSpPr/>
          <p:nvPr/>
        </p:nvSpPr>
        <p:spPr>
          <a:xfrm>
            <a:off x="2331720" y="3355920"/>
            <a:ext cx="3682800" cy="300960"/>
          </a:xfrm>
          <a:prstGeom prst="rect">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8" name="Text 16"/>
          <p:cNvSpPr/>
          <p:nvPr/>
        </p:nvSpPr>
        <p:spPr>
          <a:xfrm>
            <a:off x="6088680" y="3415320"/>
            <a:ext cx="38340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80" b="1" u="none" strike="noStrike">
                <a:solidFill>
                  <a:srgbClr val="0F172A"/>
                </a:solidFill>
                <a:effectLst/>
                <a:uFillTx/>
                <a:latin typeface="Aptos"/>
              </a:rPr>
              <a:t>85.2</a:t>
            </a:r>
            <a:endParaRPr lang="fr-FR" sz="780" b="0" u="none" strike="noStrike">
              <a:solidFill>
                <a:srgbClr val="FFFFFF"/>
              </a:solidFill>
              <a:effectLst/>
              <a:uFillTx/>
              <a:latin typeface="Arial"/>
            </a:endParaRPr>
          </a:p>
        </p:txBody>
      </p:sp>
      <p:sp>
        <p:nvSpPr>
          <p:cNvPr id="189" name="Text 17"/>
          <p:cNvSpPr/>
          <p:nvPr/>
        </p:nvSpPr>
        <p:spPr>
          <a:xfrm>
            <a:off x="941760" y="3895200"/>
            <a:ext cx="1169640" cy="118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80" b="0" u="none" strike="noStrike">
                <a:solidFill>
                  <a:srgbClr val="0F172A"/>
                </a:solidFill>
                <a:effectLst/>
                <a:uFillTx/>
                <a:latin typeface="Aptos"/>
              </a:rPr>
              <a:t>Strasbourg</a:t>
            </a:r>
            <a:endParaRPr lang="fr-FR" sz="780" b="0" u="none" strike="noStrike">
              <a:solidFill>
                <a:srgbClr val="FFFFFF"/>
              </a:solidFill>
              <a:effectLst/>
              <a:uFillTx/>
              <a:latin typeface="Arial"/>
            </a:endParaRPr>
          </a:p>
        </p:txBody>
      </p:sp>
      <p:sp>
        <p:nvSpPr>
          <p:cNvPr id="190" name="Shape 18"/>
          <p:cNvSpPr/>
          <p:nvPr/>
        </p:nvSpPr>
        <p:spPr>
          <a:xfrm>
            <a:off x="2331720" y="3849480"/>
            <a:ext cx="3656880" cy="300960"/>
          </a:xfrm>
          <a:prstGeom prst="rect">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1" name="Text 19"/>
          <p:cNvSpPr/>
          <p:nvPr/>
        </p:nvSpPr>
        <p:spPr>
          <a:xfrm>
            <a:off x="6062400" y="3909240"/>
            <a:ext cx="38340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80" b="1" u="none" strike="noStrike">
                <a:solidFill>
                  <a:srgbClr val="0F172A"/>
                </a:solidFill>
                <a:effectLst/>
                <a:uFillTx/>
                <a:latin typeface="Aptos"/>
              </a:rPr>
              <a:t>84.6</a:t>
            </a:r>
            <a:endParaRPr lang="fr-FR" sz="780" b="0" u="none" strike="noStrike">
              <a:solidFill>
                <a:srgbClr val="FFFFFF"/>
              </a:solidFill>
              <a:effectLst/>
              <a:uFillTx/>
              <a:latin typeface="Arial"/>
            </a:endParaRPr>
          </a:p>
        </p:txBody>
      </p:sp>
      <p:sp>
        <p:nvSpPr>
          <p:cNvPr id="192" name="Text 20"/>
          <p:cNvSpPr/>
          <p:nvPr/>
        </p:nvSpPr>
        <p:spPr>
          <a:xfrm>
            <a:off x="2331720" y="4681800"/>
            <a:ext cx="3976920" cy="163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64748B"/>
                </a:solidFill>
                <a:effectLst/>
                <a:uFillTx/>
                <a:latin typeface="Aptos"/>
              </a:rPr>
              <a:t>Score météo calculé sur 7 jours</a:t>
            </a:r>
            <a:endParaRPr lang="fr-FR" sz="1050" b="0" u="none" strike="noStrike">
              <a:solidFill>
                <a:srgbClr val="FFFFFF"/>
              </a:solidFill>
              <a:effectLst/>
              <a:uFillTx/>
              <a:latin typeface="Arial"/>
            </a:endParaRPr>
          </a:p>
        </p:txBody>
      </p:sp>
      <p:sp>
        <p:nvSpPr>
          <p:cNvPr id="193" name="Shape 21"/>
          <p:cNvSpPr/>
          <p:nvPr/>
        </p:nvSpPr>
        <p:spPr>
          <a:xfrm>
            <a:off x="7479720" y="1207080"/>
            <a:ext cx="4068360" cy="1050840"/>
          </a:xfrm>
          <a:prstGeom prst="roundRect">
            <a:avLst>
              <a:gd name="adj" fmla="val 6957"/>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4" name="Shape 22"/>
          <p:cNvSpPr/>
          <p:nvPr/>
        </p:nvSpPr>
        <p:spPr>
          <a:xfrm>
            <a:off x="7479720" y="1207080"/>
            <a:ext cx="54000" cy="105084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195" name="Text 23"/>
          <p:cNvSpPr/>
          <p:nvPr/>
        </p:nvSpPr>
        <p:spPr>
          <a:xfrm>
            <a:off x="7644240" y="1353240"/>
            <a:ext cx="373932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72A"/>
                </a:solidFill>
                <a:effectLst/>
                <a:uFillTx/>
                <a:latin typeface="Aptos"/>
              </a:rPr>
              <a:t>Principe du score</a:t>
            </a:r>
            <a:endParaRPr lang="fr-FR" sz="1600" b="0" u="none" strike="noStrike">
              <a:solidFill>
                <a:srgbClr val="FFFFFF"/>
              </a:solidFill>
              <a:effectLst/>
              <a:uFillTx/>
              <a:latin typeface="Arial"/>
            </a:endParaRPr>
          </a:p>
        </p:txBody>
      </p:sp>
      <p:sp>
        <p:nvSpPr>
          <p:cNvPr id="196" name="Text 24"/>
          <p:cNvSpPr/>
          <p:nvPr/>
        </p:nvSpPr>
        <p:spPr>
          <a:xfrm>
            <a:off x="7644240" y="1682640"/>
            <a:ext cx="3739320" cy="48384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Température agréable, pluie faible, probabilité de pluie faible et vent modéré.</a:t>
            </a:r>
            <a:endParaRPr lang="fr-FR" sz="1200" b="0" u="none" strike="noStrike">
              <a:solidFill>
                <a:srgbClr val="FFFFFF"/>
              </a:solidFill>
              <a:effectLst/>
              <a:uFillTx/>
              <a:latin typeface="Arial"/>
            </a:endParaRPr>
          </a:p>
        </p:txBody>
      </p:sp>
      <p:sp>
        <p:nvSpPr>
          <p:cNvPr id="197" name="Shape 25"/>
          <p:cNvSpPr/>
          <p:nvPr/>
        </p:nvSpPr>
        <p:spPr>
          <a:xfrm>
            <a:off x="7479720" y="2523600"/>
            <a:ext cx="4068360" cy="2422440"/>
          </a:xfrm>
          <a:prstGeom prst="roundRect">
            <a:avLst>
              <a:gd name="adj" fmla="val 3019"/>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8" name="Text 26"/>
          <p:cNvSpPr/>
          <p:nvPr/>
        </p:nvSpPr>
        <p:spPr>
          <a:xfrm>
            <a:off x="7699320" y="2724840"/>
            <a:ext cx="1645200" cy="182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72A"/>
                </a:solidFill>
                <a:effectLst/>
                <a:uFillTx/>
                <a:latin typeface="Aptos"/>
              </a:rPr>
              <a:t>Top 5 retenu</a:t>
            </a:r>
            <a:endParaRPr lang="fr-FR" sz="1400" b="0" u="none" strike="noStrike">
              <a:solidFill>
                <a:srgbClr val="FFFFFF"/>
              </a:solidFill>
              <a:effectLst/>
              <a:uFillTx/>
              <a:latin typeface="Arial"/>
            </a:endParaRPr>
          </a:p>
        </p:txBody>
      </p:sp>
      <p:sp>
        <p:nvSpPr>
          <p:cNvPr id="199" name="Shape 27"/>
          <p:cNvSpPr/>
          <p:nvPr/>
        </p:nvSpPr>
        <p:spPr>
          <a:xfrm>
            <a:off x="7699320" y="3044880"/>
            <a:ext cx="3492360" cy="264600"/>
          </a:xfrm>
          <a:prstGeom prst="roundRect">
            <a:avLst>
              <a:gd name="adj" fmla="val 13793"/>
            </a:avLst>
          </a:prstGeom>
          <a:solidFill>
            <a:srgbClr val="F8FAFC"/>
          </a:solidFill>
          <a:ln w="6350">
            <a:solidFill>
              <a:srgbClr val="E2E8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0" name="Shape 28"/>
          <p:cNvSpPr/>
          <p:nvPr/>
        </p:nvSpPr>
        <p:spPr>
          <a:xfrm>
            <a:off x="7818120" y="3081600"/>
            <a:ext cx="255240" cy="191160"/>
          </a:xfrm>
          <a:prstGeom prst="roundRect">
            <a:avLst>
              <a:gd name="adj" fmla="val 19048"/>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1" name="Text 29"/>
          <p:cNvSpPr/>
          <p:nvPr/>
        </p:nvSpPr>
        <p:spPr>
          <a:xfrm>
            <a:off x="7818120" y="3108960"/>
            <a:ext cx="255240" cy="81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FFFF"/>
                </a:solidFill>
                <a:effectLst/>
                <a:uFillTx/>
                <a:latin typeface="Aptos"/>
              </a:rPr>
              <a:t>1</a:t>
            </a:r>
            <a:endParaRPr lang="fr-FR" sz="700" b="0" u="none" strike="noStrike">
              <a:solidFill>
                <a:srgbClr val="FFFFFF"/>
              </a:solidFill>
              <a:effectLst/>
              <a:uFillTx/>
              <a:latin typeface="Arial"/>
            </a:endParaRPr>
          </a:p>
        </p:txBody>
      </p:sp>
      <p:sp>
        <p:nvSpPr>
          <p:cNvPr id="202" name="Text 30"/>
          <p:cNvSpPr/>
          <p:nvPr/>
        </p:nvSpPr>
        <p:spPr>
          <a:xfrm>
            <a:off x="8183880" y="3090600"/>
            <a:ext cx="214812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39" b="1" u="none" strike="noStrike">
                <a:solidFill>
                  <a:srgbClr val="0F172A"/>
                </a:solidFill>
                <a:effectLst/>
                <a:uFillTx/>
                <a:latin typeface="Aptos"/>
              </a:rPr>
              <a:t>Avignon</a:t>
            </a:r>
            <a:endParaRPr lang="fr-FR" sz="839" b="0" u="none" strike="noStrike">
              <a:solidFill>
                <a:srgbClr val="FFFFFF"/>
              </a:solidFill>
              <a:effectLst/>
              <a:uFillTx/>
              <a:latin typeface="Arial"/>
            </a:endParaRPr>
          </a:p>
        </p:txBody>
      </p:sp>
      <p:sp>
        <p:nvSpPr>
          <p:cNvPr id="203" name="Text 31"/>
          <p:cNvSpPr/>
          <p:nvPr/>
        </p:nvSpPr>
        <p:spPr>
          <a:xfrm>
            <a:off x="10570320" y="3090600"/>
            <a:ext cx="383400" cy="109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39" b="1" u="none" strike="noStrike">
                <a:solidFill>
                  <a:srgbClr val="0F172A"/>
                </a:solidFill>
                <a:effectLst/>
                <a:uFillTx/>
                <a:latin typeface="Aptos"/>
              </a:rPr>
              <a:t>90.5</a:t>
            </a:r>
            <a:endParaRPr lang="fr-FR" sz="839" b="0" u="none" strike="noStrike">
              <a:solidFill>
                <a:srgbClr val="FFFFFF"/>
              </a:solidFill>
              <a:effectLst/>
              <a:uFillTx/>
              <a:latin typeface="Arial"/>
            </a:endParaRPr>
          </a:p>
        </p:txBody>
      </p:sp>
      <p:sp>
        <p:nvSpPr>
          <p:cNvPr id="204" name="Shape 32"/>
          <p:cNvSpPr/>
          <p:nvPr/>
        </p:nvSpPr>
        <p:spPr>
          <a:xfrm>
            <a:off x="7699320" y="3401640"/>
            <a:ext cx="3492360" cy="264600"/>
          </a:xfrm>
          <a:prstGeom prst="roundRect">
            <a:avLst>
              <a:gd name="adj" fmla="val 13793"/>
            </a:avLst>
          </a:prstGeom>
          <a:solidFill>
            <a:srgbClr val="F8FAFC"/>
          </a:solidFill>
          <a:ln w="6350">
            <a:solidFill>
              <a:srgbClr val="E2E8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5" name="Shape 33"/>
          <p:cNvSpPr/>
          <p:nvPr/>
        </p:nvSpPr>
        <p:spPr>
          <a:xfrm>
            <a:off x="7818120" y="3438000"/>
            <a:ext cx="255240" cy="191160"/>
          </a:xfrm>
          <a:prstGeom prst="roundRect">
            <a:avLst>
              <a:gd name="adj" fmla="val 19048"/>
            </a:avLst>
          </a:prstGeom>
          <a:solidFill>
            <a:srgbClr val="F59E0B"/>
          </a:solidFill>
          <a:ln w="12700">
            <a:solidFill>
              <a:srgbClr val="F59E0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6" name="Text 34"/>
          <p:cNvSpPr/>
          <p:nvPr/>
        </p:nvSpPr>
        <p:spPr>
          <a:xfrm>
            <a:off x="7818120" y="3465720"/>
            <a:ext cx="255240" cy="81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FFFF"/>
                </a:solidFill>
                <a:effectLst/>
                <a:uFillTx/>
                <a:latin typeface="Aptos"/>
              </a:rPr>
              <a:t>2</a:t>
            </a:r>
            <a:endParaRPr lang="fr-FR" sz="700" b="0" u="none" strike="noStrike">
              <a:solidFill>
                <a:srgbClr val="FFFFFF"/>
              </a:solidFill>
              <a:effectLst/>
              <a:uFillTx/>
              <a:latin typeface="Arial"/>
            </a:endParaRPr>
          </a:p>
        </p:txBody>
      </p:sp>
      <p:sp>
        <p:nvSpPr>
          <p:cNvPr id="207" name="Text 35"/>
          <p:cNvSpPr/>
          <p:nvPr/>
        </p:nvSpPr>
        <p:spPr>
          <a:xfrm>
            <a:off x="8183880" y="3447360"/>
            <a:ext cx="214812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39" b="1" u="none" strike="noStrike">
                <a:solidFill>
                  <a:srgbClr val="0F172A"/>
                </a:solidFill>
                <a:effectLst/>
                <a:uFillTx/>
                <a:latin typeface="Aptos"/>
              </a:rPr>
              <a:t>Aix-en-Provence</a:t>
            </a:r>
            <a:endParaRPr lang="fr-FR" sz="839" b="0" u="none" strike="noStrike">
              <a:solidFill>
                <a:srgbClr val="FFFFFF"/>
              </a:solidFill>
              <a:effectLst/>
              <a:uFillTx/>
              <a:latin typeface="Arial"/>
            </a:endParaRPr>
          </a:p>
        </p:txBody>
      </p:sp>
      <p:sp>
        <p:nvSpPr>
          <p:cNvPr id="208" name="Text 36"/>
          <p:cNvSpPr/>
          <p:nvPr/>
        </p:nvSpPr>
        <p:spPr>
          <a:xfrm>
            <a:off x="10570320" y="3447360"/>
            <a:ext cx="383400" cy="109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39" b="1" u="none" strike="noStrike">
                <a:solidFill>
                  <a:srgbClr val="0F172A"/>
                </a:solidFill>
                <a:effectLst/>
                <a:uFillTx/>
                <a:latin typeface="Aptos"/>
              </a:rPr>
              <a:t>89.6</a:t>
            </a:r>
            <a:endParaRPr lang="fr-FR" sz="839" b="0" u="none" strike="noStrike">
              <a:solidFill>
                <a:srgbClr val="FFFFFF"/>
              </a:solidFill>
              <a:effectLst/>
              <a:uFillTx/>
              <a:latin typeface="Arial"/>
            </a:endParaRPr>
          </a:p>
        </p:txBody>
      </p:sp>
      <p:sp>
        <p:nvSpPr>
          <p:cNvPr id="209" name="Shape 37"/>
          <p:cNvSpPr/>
          <p:nvPr/>
        </p:nvSpPr>
        <p:spPr>
          <a:xfrm>
            <a:off x="7699320" y="3758040"/>
            <a:ext cx="3492360" cy="264600"/>
          </a:xfrm>
          <a:prstGeom prst="roundRect">
            <a:avLst>
              <a:gd name="adj" fmla="val 13793"/>
            </a:avLst>
          </a:prstGeom>
          <a:solidFill>
            <a:srgbClr val="F8FAFC"/>
          </a:solidFill>
          <a:ln w="6350">
            <a:solidFill>
              <a:srgbClr val="E2E8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0" name="Shape 38"/>
          <p:cNvSpPr/>
          <p:nvPr/>
        </p:nvSpPr>
        <p:spPr>
          <a:xfrm>
            <a:off x="7818120" y="3794760"/>
            <a:ext cx="255240" cy="191160"/>
          </a:xfrm>
          <a:prstGeom prst="roundRect">
            <a:avLst>
              <a:gd name="adj" fmla="val 19048"/>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1" name="Text 39"/>
          <p:cNvSpPr/>
          <p:nvPr/>
        </p:nvSpPr>
        <p:spPr>
          <a:xfrm>
            <a:off x="7818120" y="3822120"/>
            <a:ext cx="255240" cy="81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FFFF"/>
                </a:solidFill>
                <a:effectLst/>
                <a:uFillTx/>
                <a:latin typeface="Aptos"/>
              </a:rPr>
              <a:t>3</a:t>
            </a:r>
            <a:endParaRPr lang="fr-FR" sz="700" b="0" u="none" strike="noStrike">
              <a:solidFill>
                <a:srgbClr val="FFFFFF"/>
              </a:solidFill>
              <a:effectLst/>
              <a:uFillTx/>
              <a:latin typeface="Arial"/>
            </a:endParaRPr>
          </a:p>
        </p:txBody>
      </p:sp>
      <p:sp>
        <p:nvSpPr>
          <p:cNvPr id="212" name="Text 40"/>
          <p:cNvSpPr/>
          <p:nvPr/>
        </p:nvSpPr>
        <p:spPr>
          <a:xfrm>
            <a:off x="8183880" y="3803760"/>
            <a:ext cx="214812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39" b="1" u="none" strike="noStrike">
                <a:solidFill>
                  <a:srgbClr val="0F172A"/>
                </a:solidFill>
                <a:effectLst/>
                <a:uFillTx/>
                <a:latin typeface="Aptos"/>
              </a:rPr>
              <a:t>Nîmes</a:t>
            </a:r>
            <a:endParaRPr lang="fr-FR" sz="839" b="0" u="none" strike="noStrike">
              <a:solidFill>
                <a:srgbClr val="FFFFFF"/>
              </a:solidFill>
              <a:effectLst/>
              <a:uFillTx/>
              <a:latin typeface="Arial"/>
            </a:endParaRPr>
          </a:p>
        </p:txBody>
      </p:sp>
      <p:sp>
        <p:nvSpPr>
          <p:cNvPr id="213" name="Text 41"/>
          <p:cNvSpPr/>
          <p:nvPr/>
        </p:nvSpPr>
        <p:spPr>
          <a:xfrm>
            <a:off x="10570320" y="3803760"/>
            <a:ext cx="383400" cy="109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39" b="1" u="none" strike="noStrike">
                <a:solidFill>
                  <a:srgbClr val="0F172A"/>
                </a:solidFill>
                <a:effectLst/>
                <a:uFillTx/>
                <a:latin typeface="Aptos"/>
              </a:rPr>
              <a:t>87.6</a:t>
            </a:r>
            <a:endParaRPr lang="fr-FR" sz="839" b="0" u="none" strike="noStrike">
              <a:solidFill>
                <a:srgbClr val="FFFFFF"/>
              </a:solidFill>
              <a:effectLst/>
              <a:uFillTx/>
              <a:latin typeface="Arial"/>
            </a:endParaRPr>
          </a:p>
        </p:txBody>
      </p:sp>
      <p:sp>
        <p:nvSpPr>
          <p:cNvPr id="214" name="Shape 42"/>
          <p:cNvSpPr/>
          <p:nvPr/>
        </p:nvSpPr>
        <p:spPr>
          <a:xfrm>
            <a:off x="7699320" y="4114800"/>
            <a:ext cx="3492360" cy="264600"/>
          </a:xfrm>
          <a:prstGeom prst="roundRect">
            <a:avLst>
              <a:gd name="adj" fmla="val 13793"/>
            </a:avLst>
          </a:prstGeom>
          <a:solidFill>
            <a:srgbClr val="F8FAFC"/>
          </a:solidFill>
          <a:ln w="6350">
            <a:solidFill>
              <a:srgbClr val="E2E8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5" name="Shape 43"/>
          <p:cNvSpPr/>
          <p:nvPr/>
        </p:nvSpPr>
        <p:spPr>
          <a:xfrm>
            <a:off x="7818120" y="4151520"/>
            <a:ext cx="255240" cy="191160"/>
          </a:xfrm>
          <a:prstGeom prst="roundRect">
            <a:avLst>
              <a:gd name="adj" fmla="val 19048"/>
            </a:avLst>
          </a:prstGeom>
          <a:solidFill>
            <a:srgbClr val="0E7490"/>
          </a:solidFill>
          <a:ln w="12700">
            <a:solidFill>
              <a:srgbClr val="0E749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6" name="Text 44"/>
          <p:cNvSpPr/>
          <p:nvPr/>
        </p:nvSpPr>
        <p:spPr>
          <a:xfrm>
            <a:off x="7818120" y="4178880"/>
            <a:ext cx="255240" cy="81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FFFF"/>
                </a:solidFill>
                <a:effectLst/>
                <a:uFillTx/>
                <a:latin typeface="Aptos"/>
              </a:rPr>
              <a:t>4</a:t>
            </a:r>
            <a:endParaRPr lang="fr-FR" sz="700" b="0" u="none" strike="noStrike">
              <a:solidFill>
                <a:srgbClr val="FFFFFF"/>
              </a:solidFill>
              <a:effectLst/>
              <a:uFillTx/>
              <a:latin typeface="Arial"/>
            </a:endParaRPr>
          </a:p>
        </p:txBody>
      </p:sp>
      <p:sp>
        <p:nvSpPr>
          <p:cNvPr id="217" name="Text 45"/>
          <p:cNvSpPr/>
          <p:nvPr/>
        </p:nvSpPr>
        <p:spPr>
          <a:xfrm>
            <a:off x="8183880" y="4160520"/>
            <a:ext cx="214812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39" b="1" u="none" strike="noStrike">
                <a:solidFill>
                  <a:srgbClr val="0F172A"/>
                </a:solidFill>
                <a:effectLst/>
                <a:uFillTx/>
                <a:latin typeface="Aptos"/>
              </a:rPr>
              <a:t>Bormes-les-Mimosas</a:t>
            </a:r>
            <a:endParaRPr lang="fr-FR" sz="839" b="0" u="none" strike="noStrike">
              <a:solidFill>
                <a:srgbClr val="FFFFFF"/>
              </a:solidFill>
              <a:effectLst/>
              <a:uFillTx/>
              <a:latin typeface="Arial"/>
            </a:endParaRPr>
          </a:p>
        </p:txBody>
      </p:sp>
      <p:sp>
        <p:nvSpPr>
          <p:cNvPr id="218" name="Text 46"/>
          <p:cNvSpPr/>
          <p:nvPr/>
        </p:nvSpPr>
        <p:spPr>
          <a:xfrm>
            <a:off x="10570320" y="4160520"/>
            <a:ext cx="383400" cy="109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39" b="1" u="none" strike="noStrike">
                <a:solidFill>
                  <a:srgbClr val="0F172A"/>
                </a:solidFill>
                <a:effectLst/>
                <a:uFillTx/>
                <a:latin typeface="Aptos"/>
              </a:rPr>
              <a:t>85.2</a:t>
            </a:r>
            <a:endParaRPr lang="fr-FR" sz="839" b="0" u="none" strike="noStrike">
              <a:solidFill>
                <a:srgbClr val="FFFFFF"/>
              </a:solidFill>
              <a:effectLst/>
              <a:uFillTx/>
              <a:latin typeface="Arial"/>
            </a:endParaRPr>
          </a:p>
        </p:txBody>
      </p:sp>
      <p:sp>
        <p:nvSpPr>
          <p:cNvPr id="219" name="Shape 47"/>
          <p:cNvSpPr/>
          <p:nvPr/>
        </p:nvSpPr>
        <p:spPr>
          <a:xfrm>
            <a:off x="7699320" y="4471560"/>
            <a:ext cx="3492360" cy="264600"/>
          </a:xfrm>
          <a:prstGeom prst="roundRect">
            <a:avLst>
              <a:gd name="adj" fmla="val 13793"/>
            </a:avLst>
          </a:prstGeom>
          <a:solidFill>
            <a:srgbClr val="F8FAFC"/>
          </a:solidFill>
          <a:ln w="6350">
            <a:solidFill>
              <a:srgbClr val="E2E8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0" name="Shape 48"/>
          <p:cNvSpPr/>
          <p:nvPr/>
        </p:nvSpPr>
        <p:spPr>
          <a:xfrm>
            <a:off x="7818120" y="4507920"/>
            <a:ext cx="255240" cy="191160"/>
          </a:xfrm>
          <a:prstGeom prst="roundRect">
            <a:avLst>
              <a:gd name="adj" fmla="val 19048"/>
            </a:avLst>
          </a:prstGeom>
          <a:solidFill>
            <a:srgbClr val="7C3AED"/>
          </a:solidFill>
          <a:ln w="12700">
            <a:solidFill>
              <a:srgbClr val="7C3AED"/>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1" name="Text 49"/>
          <p:cNvSpPr/>
          <p:nvPr/>
        </p:nvSpPr>
        <p:spPr>
          <a:xfrm>
            <a:off x="7818120" y="4535280"/>
            <a:ext cx="255240" cy="81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00" b="1" u="none" strike="noStrike">
                <a:solidFill>
                  <a:srgbClr val="FFFFFF"/>
                </a:solidFill>
                <a:effectLst/>
                <a:uFillTx/>
                <a:latin typeface="Aptos"/>
              </a:rPr>
              <a:t>5</a:t>
            </a:r>
            <a:endParaRPr lang="fr-FR" sz="700" b="0" u="none" strike="noStrike">
              <a:solidFill>
                <a:srgbClr val="FFFFFF"/>
              </a:solidFill>
              <a:effectLst/>
              <a:uFillTx/>
              <a:latin typeface="Arial"/>
            </a:endParaRPr>
          </a:p>
        </p:txBody>
      </p:sp>
      <p:sp>
        <p:nvSpPr>
          <p:cNvPr id="222" name="Text 50"/>
          <p:cNvSpPr/>
          <p:nvPr/>
        </p:nvSpPr>
        <p:spPr>
          <a:xfrm>
            <a:off x="8183880" y="4517280"/>
            <a:ext cx="2148120" cy="109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39" b="1" u="none" strike="noStrike">
                <a:solidFill>
                  <a:srgbClr val="0F172A"/>
                </a:solidFill>
                <a:effectLst/>
                <a:uFillTx/>
                <a:latin typeface="Aptos"/>
              </a:rPr>
              <a:t>Strasbourg</a:t>
            </a:r>
            <a:endParaRPr lang="fr-FR" sz="839" b="0" u="none" strike="noStrike">
              <a:solidFill>
                <a:srgbClr val="FFFFFF"/>
              </a:solidFill>
              <a:effectLst/>
              <a:uFillTx/>
              <a:latin typeface="Arial"/>
            </a:endParaRPr>
          </a:p>
        </p:txBody>
      </p:sp>
      <p:sp>
        <p:nvSpPr>
          <p:cNvPr id="223" name="Text 51"/>
          <p:cNvSpPr/>
          <p:nvPr/>
        </p:nvSpPr>
        <p:spPr>
          <a:xfrm>
            <a:off x="10570320" y="4517280"/>
            <a:ext cx="383400" cy="1090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39" b="1" u="none" strike="noStrike">
                <a:solidFill>
                  <a:srgbClr val="0F172A"/>
                </a:solidFill>
                <a:effectLst/>
                <a:uFillTx/>
                <a:latin typeface="Aptos"/>
              </a:rPr>
              <a:t>84.6</a:t>
            </a:r>
            <a:endParaRPr lang="fr-FR" sz="839" b="0" u="none" strike="noStrike">
              <a:solidFill>
                <a:srgbClr val="FFFFFF"/>
              </a:solidFill>
              <a:effectLst/>
              <a:uFillTx/>
              <a:latin typeface="Arial"/>
            </a:endParaRPr>
          </a:p>
        </p:txBody>
      </p:sp>
      <p:sp>
        <p:nvSpPr>
          <p:cNvPr id="224" name="Shape 52"/>
          <p:cNvSpPr/>
          <p:nvPr/>
        </p:nvSpPr>
        <p:spPr>
          <a:xfrm>
            <a:off x="7479720" y="5102280"/>
            <a:ext cx="4068360" cy="803880"/>
          </a:xfrm>
          <a:prstGeom prst="roundRect">
            <a:avLst>
              <a:gd name="adj" fmla="val 9091"/>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5" name="Shape 53"/>
          <p:cNvSpPr/>
          <p:nvPr/>
        </p:nvSpPr>
        <p:spPr>
          <a:xfrm>
            <a:off x="7479720" y="5102280"/>
            <a:ext cx="54000" cy="8038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26" name="Text 54"/>
          <p:cNvSpPr/>
          <p:nvPr/>
        </p:nvSpPr>
        <p:spPr>
          <a:xfrm>
            <a:off x="7644240" y="5248800"/>
            <a:ext cx="373932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72A"/>
                </a:solidFill>
                <a:effectLst/>
                <a:uFillTx/>
                <a:latin typeface="Aptos"/>
              </a:rPr>
              <a:t>Lecture</a:t>
            </a:r>
            <a:endParaRPr lang="fr-FR" sz="1600" b="0" u="none" strike="noStrike">
              <a:solidFill>
                <a:srgbClr val="FFFFFF"/>
              </a:solidFill>
              <a:effectLst/>
              <a:uFillTx/>
              <a:latin typeface="Arial"/>
            </a:endParaRPr>
          </a:p>
        </p:txBody>
      </p:sp>
      <p:sp>
        <p:nvSpPr>
          <p:cNvPr id="227" name="Text 55"/>
          <p:cNvSpPr/>
          <p:nvPr/>
        </p:nvSpPr>
        <p:spPr>
          <a:xfrm>
            <a:off x="7644240" y="5486400"/>
            <a:ext cx="3803040" cy="282600"/>
          </a:xfrm>
          <a:prstGeom prst="rect">
            <a:avLst/>
          </a:prstGeom>
          <a:noFill/>
          <a:ln w="0">
            <a:noFill/>
          </a:ln>
        </p:spPr>
        <p:style>
          <a:lnRef idx="0"/>
          <a:fillRef idx="0"/>
          <a:effectRef idx="0"/>
          <a:fontRef idx="minor"/>
        </p:style>
        <p:txBody>
          <a:bodyPr lIns="360" tIns="360" rIns="360" bIns="360" anchor="t">
            <a:noAutofit/>
          </a:bodyPr>
          <a:p>
            <a:pPr defTabSz="914400">
              <a:lnSpc>
                <a:spcPct val="100000"/>
              </a:lnSpc>
            </a:pPr>
            <a:r>
              <a:rPr lang="fr-FR" sz="1200" b="0" u="none" strike="noStrike">
                <a:solidFill>
                  <a:schemeClr val="dk1"/>
                </a:solidFill>
                <a:effectLst/>
                <a:uFillTx/>
                <a:latin typeface="Aptos"/>
              </a:rPr>
              <a:t>Le top 5 est obtenu à partir du score météo calculé sur 7 jours.</a:t>
            </a:r>
            <a:r>
              <a:rPr lang="en-US" sz="1200" b="0" u="none" strike="noStrike">
                <a:solidFill>
                  <a:srgbClr val="0F172A"/>
                </a:solidFill>
                <a:effectLst/>
                <a:uFillTx/>
                <a:latin typeface="Aptos"/>
              </a:rPr>
              <a:t>.</a:t>
            </a:r>
            <a:endParaRPr lang="fr-FR" sz="1200" b="0" u="none" strike="noStrike">
              <a:solidFill>
                <a:srgbClr val="FFFFFF"/>
              </a:solidFill>
              <a:effectLst/>
              <a:uFillTx/>
              <a:latin typeface="Arial"/>
            </a:endParaRPr>
          </a:p>
        </p:txBody>
      </p:sp>
      <p:sp>
        <p:nvSpPr>
          <p:cNvPr id="228" name="Text 56"/>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229" name="PlaceHolder 1"/>
          <p:cNvSpPr>
            <a:spLocks noGrp="1"/>
          </p:cNvSpPr>
          <p:nvPr>
            <p:ph type="sldNum" idx="9"/>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CA0DD286-06CC-445E-B93D-074D4B668710}" type="slidenum">
              <a:rPr lang="en-US" sz="650" b="0" u="none" strike="noStrike">
                <a:solidFill>
                  <a:srgbClr val="CBD5E1"/>
                </a:solidFill>
                <a:effectLst/>
                <a:uFillTx/>
                <a:latin typeface="Aptos"/>
              </a:rPr>
              <a:t>5</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230"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231" name="Text 1"/>
          <p:cNvSpPr/>
          <p:nvPr/>
        </p:nvSpPr>
        <p:spPr>
          <a:xfrm>
            <a:off x="567000" y="384120"/>
            <a:ext cx="8046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Couche hôtelière</a:t>
            </a:r>
            <a:endParaRPr lang="fr-FR" sz="2200" b="0" u="none" strike="noStrike">
              <a:solidFill>
                <a:srgbClr val="FFFFFF"/>
              </a:solidFill>
              <a:effectLst/>
              <a:uFillTx/>
              <a:latin typeface="Arial"/>
            </a:endParaRPr>
          </a:p>
        </p:txBody>
      </p:sp>
      <p:sp>
        <p:nvSpPr>
          <p:cNvPr id="232" name="Text 2"/>
          <p:cNvSpPr/>
          <p:nvPr/>
        </p:nvSpPr>
        <p:spPr>
          <a:xfrm>
            <a:off x="576000" y="768240"/>
            <a:ext cx="96919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CBD5E1"/>
                </a:solidFill>
                <a:effectLst/>
                <a:uFillTx/>
                <a:latin typeface="Aptos"/>
              </a:rPr>
              <a:t>Ajouter une dimension voyage après la sélection météo</a:t>
            </a:r>
            <a:endParaRPr lang="fr-FR" sz="850" b="0" u="none" strike="noStrike">
              <a:solidFill>
                <a:srgbClr val="FFFFFF"/>
              </a:solidFill>
              <a:effectLst/>
              <a:uFillTx/>
              <a:latin typeface="Arial"/>
            </a:endParaRPr>
          </a:p>
        </p:txBody>
      </p:sp>
      <p:sp>
        <p:nvSpPr>
          <p:cNvPr id="233" name="Shape 3"/>
          <p:cNvSpPr/>
          <p:nvPr/>
        </p:nvSpPr>
        <p:spPr>
          <a:xfrm>
            <a:off x="658440" y="1234440"/>
            <a:ext cx="3519720" cy="1480680"/>
          </a:xfrm>
          <a:prstGeom prst="roundRect">
            <a:avLst>
              <a:gd name="adj" fmla="val 493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34" name="Shape 4"/>
          <p:cNvSpPr/>
          <p:nvPr/>
        </p:nvSpPr>
        <p:spPr>
          <a:xfrm>
            <a:off x="658440" y="1234440"/>
            <a:ext cx="54000" cy="14806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35" name="Text 5"/>
          <p:cNvSpPr/>
          <p:nvPr/>
        </p:nvSpPr>
        <p:spPr>
          <a:xfrm>
            <a:off x="822960" y="1380600"/>
            <a:ext cx="31906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72A"/>
                </a:solidFill>
                <a:effectLst/>
                <a:uFillTx/>
                <a:latin typeface="Aptos"/>
              </a:rPr>
              <a:t>Pourquoi limiter le scraping au top 5 ?</a:t>
            </a:r>
            <a:endParaRPr lang="fr-FR" sz="1400" b="0" u="none" strike="noStrike">
              <a:solidFill>
                <a:srgbClr val="FFFFFF"/>
              </a:solidFill>
              <a:effectLst/>
              <a:uFillTx/>
              <a:latin typeface="Arial"/>
            </a:endParaRPr>
          </a:p>
        </p:txBody>
      </p:sp>
      <p:sp>
        <p:nvSpPr>
          <p:cNvPr id="236" name="Text 6"/>
          <p:cNvSpPr/>
          <p:nvPr/>
        </p:nvSpPr>
        <p:spPr>
          <a:xfrm>
            <a:off x="822960" y="1710000"/>
            <a:ext cx="3190680" cy="9136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Le scraping est coûteux et sensible aux variations du site. Le projet réduit donc le périmètre après le scoring météo.</a:t>
            </a:r>
            <a:endParaRPr lang="fr-FR" sz="1200" b="0" u="none" strike="noStrike">
              <a:solidFill>
                <a:srgbClr val="FFFFFF"/>
              </a:solidFill>
              <a:effectLst/>
              <a:uFillTx/>
              <a:latin typeface="Arial"/>
            </a:endParaRPr>
          </a:p>
        </p:txBody>
      </p:sp>
      <p:sp>
        <p:nvSpPr>
          <p:cNvPr id="237" name="Shape 7"/>
          <p:cNvSpPr/>
          <p:nvPr/>
        </p:nvSpPr>
        <p:spPr>
          <a:xfrm>
            <a:off x="4498920" y="1234440"/>
            <a:ext cx="3153960" cy="1480680"/>
          </a:xfrm>
          <a:prstGeom prst="roundRect">
            <a:avLst>
              <a:gd name="adj" fmla="val 493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38" name="Shape 8"/>
          <p:cNvSpPr/>
          <p:nvPr/>
        </p:nvSpPr>
        <p:spPr>
          <a:xfrm>
            <a:off x="4498920" y="1234440"/>
            <a:ext cx="54000" cy="148068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39" name="Text 9"/>
          <p:cNvSpPr/>
          <p:nvPr/>
        </p:nvSpPr>
        <p:spPr>
          <a:xfrm>
            <a:off x="4663440" y="1380600"/>
            <a:ext cx="282492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72A"/>
                </a:solidFill>
                <a:effectLst/>
                <a:uFillTx/>
                <a:latin typeface="Aptos"/>
              </a:rPr>
              <a:t>Champs extraits</a:t>
            </a:r>
            <a:endParaRPr lang="fr-FR" sz="1400" b="0" u="none" strike="noStrike">
              <a:solidFill>
                <a:srgbClr val="FFFFFF"/>
              </a:solidFill>
              <a:effectLst/>
              <a:uFillTx/>
              <a:latin typeface="Arial"/>
            </a:endParaRPr>
          </a:p>
        </p:txBody>
      </p:sp>
      <p:sp>
        <p:nvSpPr>
          <p:cNvPr id="240" name="Text 10"/>
          <p:cNvSpPr/>
          <p:nvPr/>
        </p:nvSpPr>
        <p:spPr>
          <a:xfrm>
            <a:off x="4663440" y="1710000"/>
            <a:ext cx="2824920" cy="9136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city</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hotel_name</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hotel_score</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url</a:t>
            </a:r>
            <a:endParaRPr lang="fr-FR" sz="1200" b="0" u="none" strike="noStrike">
              <a:solidFill>
                <a:srgbClr val="FFFFFF"/>
              </a:solidFill>
              <a:effectLst/>
              <a:uFillTx/>
              <a:latin typeface="Arial"/>
            </a:endParaRPr>
          </a:p>
        </p:txBody>
      </p:sp>
      <p:sp>
        <p:nvSpPr>
          <p:cNvPr id="241" name="Shape 11"/>
          <p:cNvSpPr/>
          <p:nvPr/>
        </p:nvSpPr>
        <p:spPr>
          <a:xfrm>
            <a:off x="7973640" y="1234440"/>
            <a:ext cx="3153960" cy="1480680"/>
          </a:xfrm>
          <a:prstGeom prst="roundRect">
            <a:avLst>
              <a:gd name="adj" fmla="val 493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42" name="Shape 12"/>
          <p:cNvSpPr/>
          <p:nvPr/>
        </p:nvSpPr>
        <p:spPr>
          <a:xfrm>
            <a:off x="7973640" y="1234440"/>
            <a:ext cx="54000" cy="148068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43" name="Text 13"/>
          <p:cNvSpPr/>
          <p:nvPr/>
        </p:nvSpPr>
        <p:spPr>
          <a:xfrm>
            <a:off x="8138160" y="1380600"/>
            <a:ext cx="282492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F172A"/>
                </a:solidFill>
                <a:effectLst/>
                <a:uFillTx/>
                <a:latin typeface="Aptos"/>
              </a:rPr>
              <a:t>Contrôle qualité</a:t>
            </a:r>
            <a:endParaRPr lang="fr-FR" sz="1400" b="0" u="none" strike="noStrike">
              <a:solidFill>
                <a:srgbClr val="FFFFFF"/>
              </a:solidFill>
              <a:effectLst/>
              <a:uFillTx/>
              <a:latin typeface="Arial"/>
            </a:endParaRPr>
          </a:p>
        </p:txBody>
      </p:sp>
      <p:sp>
        <p:nvSpPr>
          <p:cNvPr id="244" name="Text 14"/>
          <p:cNvSpPr/>
          <p:nvPr/>
        </p:nvSpPr>
        <p:spPr>
          <a:xfrm>
            <a:off x="8138160" y="1710000"/>
            <a:ext cx="2824920" cy="9136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10 hôtels par ville</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50 hôtels au total</a:t>
            </a:r>
            <a:endParaRPr lang="fr-FR" sz="1200" b="0" u="none" strike="noStrike">
              <a:solidFill>
                <a:srgbClr val="FFFFFF"/>
              </a:solidFill>
              <a:effectLst/>
              <a:uFillTx/>
              <a:latin typeface="Arial"/>
            </a:endParaRPr>
          </a:p>
          <a:p>
            <a:pPr defTabSz="914400">
              <a:lnSpc>
                <a:spcPct val="100000"/>
              </a:lnSpc>
              <a:tabLst>
                <a:tab pos="0" algn="l"/>
              </a:tabLst>
            </a:pPr>
            <a:r>
              <a:rPr lang="fr-FR" sz="1200" b="0" u="none" strike="noStrike">
                <a:solidFill>
                  <a:schemeClr val="dk1"/>
                </a:solidFill>
                <a:effectLst/>
                <a:uFillTx/>
                <a:latin typeface="Aptos"/>
              </a:rPr>
              <a:t>hôtels réels extraits et vérifiés</a:t>
            </a:r>
            <a:endParaRPr lang="fr-FR" sz="1200" b="0" u="none" strike="noStrike">
              <a:solidFill>
                <a:srgbClr val="FFFFFF"/>
              </a:solidFill>
              <a:effectLst/>
              <a:uFillTx/>
              <a:latin typeface="Arial"/>
            </a:endParaRPr>
          </a:p>
        </p:txBody>
      </p:sp>
      <p:pic>
        <p:nvPicPr>
          <p:cNvPr id="245" name="Image 0" descr="/mnt/data/kayak_fusion_assets/hotel_examples_cards.png"/>
          <p:cNvPicPr/>
          <p:nvPr/>
        </p:nvPicPr>
        <p:blipFill>
          <a:blip r:embed="rId1"/>
          <a:stretch/>
        </p:blipFill>
        <p:spPr>
          <a:xfrm>
            <a:off x="772560" y="3063240"/>
            <a:ext cx="10355040" cy="2486520"/>
          </a:xfrm>
          <a:prstGeom prst="rect">
            <a:avLst/>
          </a:prstGeom>
          <a:noFill/>
          <a:ln w="0">
            <a:noFill/>
          </a:ln>
        </p:spPr>
      </p:pic>
      <p:sp>
        <p:nvSpPr>
          <p:cNvPr id="246" name="Text 15"/>
          <p:cNvSpPr/>
          <p:nvPr/>
        </p:nvSpPr>
        <p:spPr>
          <a:xfrm>
            <a:off x="822960" y="5815440"/>
            <a:ext cx="1024056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chemeClr val="lt2"/>
                </a:solidFill>
                <a:effectLst/>
                <a:uFillTx/>
                <a:latin typeface="Aptos"/>
              </a:rPr>
              <a:t>Le scraping n’est pas le résultat final : la valeur vient du parsing, du nettoyage et de la fusion avec la météo.</a:t>
            </a:r>
            <a:endParaRPr lang="fr-FR" sz="1200" b="0" u="none" strike="noStrike">
              <a:solidFill>
                <a:srgbClr val="FFFFFF"/>
              </a:solidFill>
              <a:effectLst/>
              <a:uFillTx/>
              <a:latin typeface="Arial"/>
            </a:endParaRPr>
          </a:p>
        </p:txBody>
      </p:sp>
      <p:sp>
        <p:nvSpPr>
          <p:cNvPr id="247" name="Text 16"/>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248" name="PlaceHolder 1"/>
          <p:cNvSpPr>
            <a:spLocks noGrp="1"/>
          </p:cNvSpPr>
          <p:nvPr>
            <p:ph type="sldNum" idx="10"/>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F4480512-C5F3-429D-8F0D-D65F660E587A}" type="slidenum">
              <a:rPr lang="en-US" sz="650" b="0" u="none" strike="noStrike">
                <a:solidFill>
                  <a:srgbClr val="CBD5E1"/>
                </a:solidFill>
                <a:effectLst/>
                <a:uFillTx/>
                <a:latin typeface="Aptos"/>
              </a:rPr>
              <a:t>6</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249"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250" name="Text 1"/>
          <p:cNvSpPr/>
          <p:nvPr/>
        </p:nvSpPr>
        <p:spPr>
          <a:xfrm>
            <a:off x="567000" y="384120"/>
            <a:ext cx="8046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Aptos Display"/>
                <a:ea typeface="Aptos Display"/>
              </a:rPr>
              <a:t>Stockage et résultat final</a:t>
            </a:r>
            <a:endParaRPr lang="fr-FR" sz="2800" b="0" u="none" strike="noStrike">
              <a:solidFill>
                <a:srgbClr val="FFFFFF"/>
              </a:solidFill>
              <a:effectLst/>
              <a:uFillTx/>
              <a:latin typeface="Arial"/>
            </a:endParaRPr>
          </a:p>
        </p:txBody>
      </p:sp>
      <p:sp>
        <p:nvSpPr>
          <p:cNvPr id="251" name="Text 2"/>
          <p:cNvSpPr/>
          <p:nvPr/>
        </p:nvSpPr>
        <p:spPr>
          <a:xfrm>
            <a:off x="576000" y="768240"/>
            <a:ext cx="96919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CBD5E1"/>
                </a:solidFill>
                <a:effectLst/>
                <a:uFillTx/>
                <a:latin typeface="Aptos"/>
              </a:rPr>
              <a:t>Organiser les données pour garder la traçabilité</a:t>
            </a:r>
            <a:endParaRPr lang="fr-FR" sz="1600" b="0" u="none" strike="noStrike">
              <a:solidFill>
                <a:srgbClr val="FFFFFF"/>
              </a:solidFill>
              <a:effectLst/>
              <a:uFillTx/>
              <a:latin typeface="Arial"/>
            </a:endParaRPr>
          </a:p>
        </p:txBody>
      </p:sp>
      <p:sp>
        <p:nvSpPr>
          <p:cNvPr id="252" name="Shape 3"/>
          <p:cNvSpPr/>
          <p:nvPr/>
        </p:nvSpPr>
        <p:spPr>
          <a:xfrm>
            <a:off x="685800" y="1188720"/>
            <a:ext cx="2513880" cy="1142280"/>
          </a:xfrm>
          <a:prstGeom prst="roundRect">
            <a:avLst>
              <a:gd name="adj" fmla="val 6400"/>
            </a:avLst>
          </a:prstGeom>
          <a:solidFill>
            <a:srgbClr val="ECFE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53" name="Shape 4"/>
          <p:cNvSpPr/>
          <p:nvPr/>
        </p:nvSpPr>
        <p:spPr>
          <a:xfrm>
            <a:off x="685800" y="1188720"/>
            <a:ext cx="54000" cy="114228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54" name="Text 5"/>
          <p:cNvSpPr/>
          <p:nvPr/>
        </p:nvSpPr>
        <p:spPr>
          <a:xfrm>
            <a:off x="850320" y="1334880"/>
            <a:ext cx="21848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RAW</a:t>
            </a:r>
            <a:endParaRPr lang="fr-FR" sz="1800" b="0" u="none" strike="noStrike">
              <a:solidFill>
                <a:srgbClr val="FFFFFF"/>
              </a:solidFill>
              <a:effectLst/>
              <a:uFillTx/>
              <a:latin typeface="Arial"/>
            </a:endParaRPr>
          </a:p>
        </p:txBody>
      </p:sp>
      <p:sp>
        <p:nvSpPr>
          <p:cNvPr id="255" name="Text 6"/>
          <p:cNvSpPr/>
          <p:nvPr/>
        </p:nvSpPr>
        <p:spPr>
          <a:xfrm>
            <a:off x="850320" y="1664280"/>
            <a:ext cx="2184840" cy="57528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400" b="0" u="none" strike="noStrike">
                <a:solidFill>
                  <a:srgbClr val="0F172A"/>
                </a:solidFill>
                <a:effectLst/>
                <a:uFillTx/>
                <a:latin typeface="Aptos"/>
              </a:rPr>
              <a:t>HTML Booking brut</a:t>
            </a:r>
            <a:endParaRPr lang="fr-FR" sz="14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0F172A"/>
                </a:solidFill>
                <a:effectLst/>
                <a:uFillTx/>
                <a:latin typeface="Aptos"/>
              </a:rPr>
              <a:t>Source initiale conservée</a:t>
            </a:r>
            <a:endParaRPr lang="fr-FR" sz="1400" b="0" u="none" strike="noStrike">
              <a:solidFill>
                <a:srgbClr val="FFFFFF"/>
              </a:solidFill>
              <a:effectLst/>
              <a:uFillTx/>
              <a:latin typeface="Arial"/>
            </a:endParaRPr>
          </a:p>
        </p:txBody>
      </p:sp>
      <p:sp>
        <p:nvSpPr>
          <p:cNvPr id="256" name="Shape 7"/>
          <p:cNvSpPr/>
          <p:nvPr/>
        </p:nvSpPr>
        <p:spPr>
          <a:xfrm>
            <a:off x="3520440" y="1188720"/>
            <a:ext cx="2513880" cy="1142280"/>
          </a:xfrm>
          <a:prstGeom prst="roundRect">
            <a:avLst>
              <a:gd name="adj" fmla="val 6400"/>
            </a:avLst>
          </a:prstGeom>
          <a:solidFill>
            <a:srgbClr val="FEF3C7"/>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57" name="Shape 8"/>
          <p:cNvSpPr/>
          <p:nvPr/>
        </p:nvSpPr>
        <p:spPr>
          <a:xfrm>
            <a:off x="3520440" y="1188720"/>
            <a:ext cx="54000" cy="11422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58" name="Text 9"/>
          <p:cNvSpPr/>
          <p:nvPr/>
        </p:nvSpPr>
        <p:spPr>
          <a:xfrm>
            <a:off x="3684960" y="1334880"/>
            <a:ext cx="21848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PROCESSED</a:t>
            </a:r>
            <a:endParaRPr lang="fr-FR" sz="1800" b="0" u="none" strike="noStrike">
              <a:solidFill>
                <a:srgbClr val="FFFFFF"/>
              </a:solidFill>
              <a:effectLst/>
              <a:uFillTx/>
              <a:latin typeface="Arial"/>
            </a:endParaRPr>
          </a:p>
        </p:txBody>
      </p:sp>
      <p:sp>
        <p:nvSpPr>
          <p:cNvPr id="259" name="Text 10"/>
          <p:cNvSpPr/>
          <p:nvPr/>
        </p:nvSpPr>
        <p:spPr>
          <a:xfrm>
            <a:off x="3684960" y="1664280"/>
            <a:ext cx="2184840" cy="5752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CSV intermédiaires</a:t>
            </a:r>
            <a:endParaRPr lang="fr-FR" sz="14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0F172A"/>
                </a:solidFill>
                <a:effectLst/>
                <a:uFillTx/>
                <a:latin typeface="Aptos"/>
              </a:rPr>
              <a:t>Données nettoyées</a:t>
            </a:r>
            <a:endParaRPr lang="fr-FR" sz="1400" b="0" u="none" strike="noStrike">
              <a:solidFill>
                <a:srgbClr val="FFFFFF"/>
              </a:solidFill>
              <a:effectLst/>
              <a:uFillTx/>
              <a:latin typeface="Arial"/>
            </a:endParaRPr>
          </a:p>
        </p:txBody>
      </p:sp>
      <p:sp>
        <p:nvSpPr>
          <p:cNvPr id="260" name="Shape 11"/>
          <p:cNvSpPr/>
          <p:nvPr/>
        </p:nvSpPr>
        <p:spPr>
          <a:xfrm>
            <a:off x="6355080" y="1188720"/>
            <a:ext cx="2513880" cy="1142280"/>
          </a:xfrm>
          <a:prstGeom prst="roundRect">
            <a:avLst>
              <a:gd name="adj" fmla="val 6400"/>
            </a:avLst>
          </a:prstGeom>
          <a:solidFill>
            <a:srgbClr val="F0FDF4"/>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61" name="Shape 12"/>
          <p:cNvSpPr/>
          <p:nvPr/>
        </p:nvSpPr>
        <p:spPr>
          <a:xfrm>
            <a:off x="6355080" y="1188720"/>
            <a:ext cx="54000" cy="114228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62" name="Text 13"/>
          <p:cNvSpPr/>
          <p:nvPr/>
        </p:nvSpPr>
        <p:spPr>
          <a:xfrm>
            <a:off x="6519600" y="1334880"/>
            <a:ext cx="218484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FINAL</a:t>
            </a:r>
            <a:endParaRPr lang="fr-FR" sz="1800" b="0" u="none" strike="noStrike">
              <a:solidFill>
                <a:srgbClr val="FFFFFF"/>
              </a:solidFill>
              <a:effectLst/>
              <a:uFillTx/>
              <a:latin typeface="Arial"/>
            </a:endParaRPr>
          </a:p>
        </p:txBody>
      </p:sp>
      <p:sp>
        <p:nvSpPr>
          <p:cNvPr id="263" name="Text 14"/>
          <p:cNvSpPr/>
          <p:nvPr/>
        </p:nvSpPr>
        <p:spPr>
          <a:xfrm>
            <a:off x="6519600" y="1664280"/>
            <a:ext cx="2184840" cy="5752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CSV consolidé</a:t>
            </a:r>
            <a:endParaRPr lang="fr-FR" sz="14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0F172A"/>
                </a:solidFill>
                <a:effectLst/>
                <a:uFillTx/>
                <a:latin typeface="Aptos"/>
              </a:rPr>
              <a:t>Cartes finales</a:t>
            </a:r>
            <a:endParaRPr lang="fr-FR" sz="1400" b="0" u="none" strike="noStrike">
              <a:solidFill>
                <a:srgbClr val="FFFFFF"/>
              </a:solidFill>
              <a:effectLst/>
              <a:uFillTx/>
              <a:latin typeface="Arial"/>
            </a:endParaRPr>
          </a:p>
        </p:txBody>
      </p:sp>
      <p:sp>
        <p:nvSpPr>
          <p:cNvPr id="264" name="Shape 15"/>
          <p:cNvSpPr/>
          <p:nvPr/>
        </p:nvSpPr>
        <p:spPr>
          <a:xfrm>
            <a:off x="9189720" y="1188720"/>
            <a:ext cx="2331000" cy="1142280"/>
          </a:xfrm>
          <a:prstGeom prst="roundRect">
            <a:avLst>
              <a:gd name="adj" fmla="val 6400"/>
            </a:avLst>
          </a:prstGeom>
          <a:solidFill>
            <a:srgbClr val="E0F2FE"/>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65" name="Shape 16"/>
          <p:cNvSpPr/>
          <p:nvPr/>
        </p:nvSpPr>
        <p:spPr>
          <a:xfrm>
            <a:off x="9189720" y="1188720"/>
            <a:ext cx="54000" cy="1142280"/>
          </a:xfrm>
          <a:prstGeom prst="rect">
            <a:avLst/>
          </a:prstGeom>
          <a:solidFill>
            <a:srgbClr val="0E7490"/>
          </a:solidFill>
          <a:ln w="12700">
            <a:solidFill>
              <a:srgbClr val="0E7490"/>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66" name="Text 17"/>
          <p:cNvSpPr/>
          <p:nvPr/>
        </p:nvSpPr>
        <p:spPr>
          <a:xfrm>
            <a:off x="9354240" y="1334880"/>
            <a:ext cx="200196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F172A"/>
                </a:solidFill>
                <a:effectLst/>
                <a:uFillTx/>
                <a:latin typeface="Aptos"/>
              </a:rPr>
              <a:t>SQL</a:t>
            </a:r>
            <a:endParaRPr lang="fr-FR" sz="1800" b="0" u="none" strike="noStrike">
              <a:solidFill>
                <a:srgbClr val="FFFFFF"/>
              </a:solidFill>
              <a:effectLst/>
              <a:uFillTx/>
              <a:latin typeface="Arial"/>
            </a:endParaRPr>
          </a:p>
        </p:txBody>
      </p:sp>
      <p:sp>
        <p:nvSpPr>
          <p:cNvPr id="267" name="Text 18"/>
          <p:cNvSpPr/>
          <p:nvPr/>
        </p:nvSpPr>
        <p:spPr>
          <a:xfrm>
            <a:off x="9354240" y="1664280"/>
            <a:ext cx="2001960" cy="5752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400" b="0" u="none" strike="noStrike">
                <a:solidFill>
                  <a:srgbClr val="0F172A"/>
                </a:solidFill>
                <a:effectLst/>
                <a:uFillTx/>
                <a:latin typeface="Aptos"/>
              </a:rPr>
              <a:t>Table PostgreSQL</a:t>
            </a:r>
            <a:endParaRPr lang="fr-FR" sz="14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0F172A"/>
                </a:solidFill>
                <a:effectLst/>
                <a:uFillTx/>
                <a:latin typeface="Aptos"/>
              </a:rPr>
              <a:t>50 lignes chargées</a:t>
            </a:r>
            <a:endParaRPr lang="fr-FR" sz="1400" b="0" u="none" strike="noStrike">
              <a:solidFill>
                <a:srgbClr val="FFFFFF"/>
              </a:solidFill>
              <a:effectLst/>
              <a:uFillTx/>
              <a:latin typeface="Arial"/>
            </a:endParaRPr>
          </a:p>
        </p:txBody>
      </p:sp>
      <p:pic>
        <p:nvPicPr>
          <p:cNvPr id="268" name="Image 0" descr="/mnt/data/kayak_fusion_assets/final_dataset_schema.png"/>
          <p:cNvPicPr/>
          <p:nvPr/>
        </p:nvPicPr>
        <p:blipFill>
          <a:blip r:embed="rId1"/>
          <a:stretch/>
        </p:blipFill>
        <p:spPr>
          <a:xfrm>
            <a:off x="0" y="2711880"/>
            <a:ext cx="6720120" cy="3079800"/>
          </a:xfrm>
          <a:prstGeom prst="rect">
            <a:avLst/>
          </a:prstGeom>
          <a:noFill/>
          <a:ln w="0">
            <a:noFill/>
          </a:ln>
        </p:spPr>
      </p:pic>
      <p:sp>
        <p:nvSpPr>
          <p:cNvPr id="269" name="Shape 19"/>
          <p:cNvSpPr/>
          <p:nvPr/>
        </p:nvSpPr>
        <p:spPr>
          <a:xfrm>
            <a:off x="6720840" y="2964600"/>
            <a:ext cx="4880880" cy="2025360"/>
          </a:xfrm>
          <a:prstGeom prst="roundRect">
            <a:avLst>
              <a:gd name="adj" fmla="val 347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70" name="Shape 20"/>
          <p:cNvSpPr/>
          <p:nvPr/>
        </p:nvSpPr>
        <p:spPr>
          <a:xfrm>
            <a:off x="6720840" y="2926080"/>
            <a:ext cx="54000" cy="210240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271" name="Text 21"/>
          <p:cNvSpPr/>
          <p:nvPr/>
        </p:nvSpPr>
        <p:spPr>
          <a:xfrm>
            <a:off x="6885360" y="3072240"/>
            <a:ext cx="41050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F172A"/>
                </a:solidFill>
                <a:effectLst/>
                <a:uFillTx/>
                <a:latin typeface="Aptos"/>
              </a:rPr>
              <a:t>Résultat obtenu</a:t>
            </a:r>
            <a:endParaRPr lang="fr-FR" sz="2000" b="0" u="none" strike="noStrike">
              <a:solidFill>
                <a:srgbClr val="FFFFFF"/>
              </a:solidFill>
              <a:effectLst/>
              <a:uFillTx/>
              <a:latin typeface="Arial"/>
            </a:endParaRPr>
          </a:p>
        </p:txBody>
      </p:sp>
      <p:sp>
        <p:nvSpPr>
          <p:cNvPr id="272" name="Text 22"/>
          <p:cNvSpPr/>
          <p:nvPr/>
        </p:nvSpPr>
        <p:spPr>
          <a:xfrm>
            <a:off x="6885360" y="3401640"/>
            <a:ext cx="4105080" cy="153540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0F172A"/>
                </a:solidFill>
                <a:effectLst/>
                <a:uFillTx/>
                <a:latin typeface="Aptos"/>
              </a:rPr>
              <a:t>final_kayak_results.csv relie chaque hôtel à sa destination et aux indicateurs météo de la ville.</a:t>
            </a:r>
            <a:endParaRPr lang="fr-FR" sz="1200" b="0" u="none" strike="noStrike">
              <a:solidFill>
                <a:srgbClr val="FFFFFF"/>
              </a:solidFill>
              <a:effectLst/>
              <a:uFillTx/>
              <a:latin typeface="Arial"/>
            </a:endParaRPr>
          </a:p>
          <a:p>
            <a:pPr defTabSz="914400">
              <a:lnSpc>
                <a:spcPct val="100000"/>
              </a:lnSpc>
              <a:tabLst>
                <a:tab pos="0" algn="l"/>
              </a:tabLst>
            </a:pP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50 lignes finales</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12 colonnes utiles</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5 destinations</a:t>
            </a:r>
            <a:endParaRPr lang="fr-FR" sz="1200" b="0" u="none" strike="noStrike">
              <a:solidFill>
                <a:srgbClr val="FFFFFF"/>
              </a:solidFill>
              <a:effectLst/>
              <a:uFillTx/>
              <a:latin typeface="Arial"/>
            </a:endParaRPr>
          </a:p>
          <a:p>
            <a:pPr defTabSz="914400">
              <a:lnSpc>
                <a:spcPct val="100000"/>
              </a:lnSpc>
              <a:tabLst>
                <a:tab pos="0" algn="l"/>
              </a:tabLst>
            </a:pPr>
            <a:r>
              <a:rPr lang="en-US" sz="1200" b="0" u="none" strike="noStrike">
                <a:solidFill>
                  <a:srgbClr val="0F172A"/>
                </a:solidFill>
                <a:effectLst/>
                <a:uFillTx/>
                <a:latin typeface="Aptos"/>
              </a:rPr>
              <a:t>10 hôtels par destination</a:t>
            </a:r>
            <a:endParaRPr lang="fr-FR" sz="1200" b="0" u="none" strike="noStrike">
              <a:solidFill>
                <a:srgbClr val="FFFFFF"/>
              </a:solidFill>
              <a:effectLst/>
              <a:uFillTx/>
              <a:latin typeface="Arial"/>
            </a:endParaRPr>
          </a:p>
        </p:txBody>
      </p:sp>
      <p:sp>
        <p:nvSpPr>
          <p:cNvPr id="273" name="Text 23"/>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274" name="PlaceHolder 1"/>
          <p:cNvSpPr>
            <a:spLocks noGrp="1"/>
          </p:cNvSpPr>
          <p:nvPr>
            <p:ph type="sldNum" idx="11"/>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77AFEE0B-4CA2-4A32-99C1-38047EC80608}" type="slidenum">
              <a:rPr lang="en-US" sz="650" b="0" u="none" strike="noStrike">
                <a:solidFill>
                  <a:srgbClr val="CBD5E1"/>
                </a:solidFill>
                <a:effectLst/>
                <a:uFillTx/>
                <a:latin typeface="Aptos"/>
              </a:rPr>
              <a:t>7</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275" name="Rectangle 1"/>
          <p:cNvSpPr/>
          <p:nvPr/>
        </p:nvSpPr>
        <p:spPr>
          <a:xfrm>
            <a:off x="0" y="9720"/>
            <a:ext cx="12191040" cy="6857280"/>
          </a:xfrm>
          <a:prstGeom prst="rect">
            <a:avLst/>
          </a:prstGeom>
          <a:solidFill>
            <a:srgbClr val="06233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76" name="Rectangle 2"/>
          <p:cNvSpPr/>
          <p:nvPr/>
        </p:nvSpPr>
        <p:spPr>
          <a:xfrm>
            <a:off x="0" y="0"/>
            <a:ext cx="12191040" cy="72360"/>
          </a:xfrm>
          <a:prstGeom prst="rect">
            <a:avLst/>
          </a:prstGeom>
          <a:solidFill>
            <a:srgbClr val="00A6A6"/>
          </a:solidFill>
          <a:ln>
            <a:noFill/>
          </a:ln>
        </p:spPr>
        <p:style>
          <a:lnRef idx="1">
            <a:schemeClr val="accent1"/>
          </a:lnRef>
          <a:fillRef idx="3">
            <a:schemeClr val="accent1"/>
          </a:fillRef>
          <a:effectRef idx="2">
            <a:schemeClr val="accent1"/>
          </a:effectRef>
          <a:fontRef idx="minor"/>
        </p:style>
        <p:txBody>
          <a:bodyPr lIns="90000" tIns="28080" rIns="90000" bIns="28080" anchor="ctr">
            <a:noAutofit/>
          </a:bodyPr>
          <a:p>
            <a:endParaRPr lang="fr-FR" sz="1800" b="0" u="none" strike="noStrike">
              <a:solidFill>
                <a:schemeClr val="lt1"/>
              </a:solidFill>
              <a:effectLst/>
              <a:uFillTx/>
              <a:latin typeface="Aptos"/>
            </a:endParaRPr>
          </a:p>
        </p:txBody>
      </p:sp>
      <p:sp>
        <p:nvSpPr>
          <p:cNvPr id="277" name="TextBox 3"/>
          <p:cNvSpPr/>
          <p:nvPr/>
        </p:nvSpPr>
        <p:spPr>
          <a:xfrm>
            <a:off x="567000" y="173880"/>
            <a:ext cx="7405920" cy="5223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fr-FR" sz="2800" b="1" u="none" strike="noStrike">
                <a:solidFill>
                  <a:srgbClr val="FFFFFF"/>
                </a:solidFill>
                <a:effectLst/>
                <a:uFillTx/>
                <a:latin typeface="Aptos"/>
              </a:rPr>
              <a:t>Résultats visuels</a:t>
            </a:r>
            <a:endParaRPr lang="fr-FR" sz="2800" b="0" u="none" strike="noStrike">
              <a:solidFill>
                <a:srgbClr val="FFFFFF"/>
              </a:solidFill>
              <a:effectLst/>
              <a:uFillTx/>
              <a:latin typeface="Arial"/>
            </a:endParaRPr>
          </a:p>
        </p:txBody>
      </p:sp>
      <p:sp>
        <p:nvSpPr>
          <p:cNvPr id="278" name="TextBox 4"/>
          <p:cNvSpPr/>
          <p:nvPr/>
        </p:nvSpPr>
        <p:spPr>
          <a:xfrm>
            <a:off x="576000" y="749880"/>
            <a:ext cx="4263480" cy="27612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1200" b="0" u="none" strike="noStrike">
                <a:solidFill>
                  <a:srgbClr val="CBD5E1"/>
                </a:solidFill>
                <a:effectLst/>
                <a:uFillTx/>
                <a:latin typeface="Aptos"/>
              </a:rPr>
              <a:t>Une carte de France lisible et une synthèse de l’offre hôtelière</a:t>
            </a:r>
            <a:endParaRPr lang="fr-FR" sz="1200" b="0" u="none" strike="noStrike">
              <a:solidFill>
                <a:srgbClr val="FFFFFF"/>
              </a:solidFill>
              <a:effectLst/>
              <a:uFillTx/>
              <a:latin typeface="Arial"/>
            </a:endParaRPr>
          </a:p>
        </p:txBody>
      </p:sp>
      <p:sp>
        <p:nvSpPr>
          <p:cNvPr id="279" name="Rounded Rectangle 5"/>
          <p:cNvSpPr/>
          <p:nvPr/>
        </p:nvSpPr>
        <p:spPr>
          <a:xfrm>
            <a:off x="567000" y="1143000"/>
            <a:ext cx="6537240" cy="4891320"/>
          </a:xfrm>
          <a:prstGeom prst="roundRect">
            <a:avLst>
              <a:gd name="adj" fmla="val 6000"/>
            </a:avLst>
          </a:prstGeom>
          <a:solidFill>
            <a:srgbClr val="FFFFFF"/>
          </a:solidFill>
          <a:ln>
            <a:solidFill>
              <a:srgbClr val="CBD5E1"/>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pic>
        <p:nvPicPr>
          <p:cNvPr id="280" name="Picture 6" descr="map_top5_static.png"/>
          <p:cNvPicPr/>
          <p:nvPr/>
        </p:nvPicPr>
        <p:blipFill>
          <a:blip r:embed="rId1"/>
          <a:stretch/>
        </p:blipFill>
        <p:spPr>
          <a:xfrm>
            <a:off x="841320" y="1344240"/>
            <a:ext cx="5988600" cy="4406760"/>
          </a:xfrm>
          <a:prstGeom prst="rect">
            <a:avLst/>
          </a:prstGeom>
          <a:noFill/>
          <a:ln w="0">
            <a:noFill/>
          </a:ln>
        </p:spPr>
      </p:pic>
      <p:sp>
        <p:nvSpPr>
          <p:cNvPr id="281" name="TextBox 7"/>
          <p:cNvSpPr/>
          <p:nvPr/>
        </p:nvSpPr>
        <p:spPr>
          <a:xfrm>
            <a:off x="914400" y="5733360"/>
            <a:ext cx="5760000" cy="14544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700" b="0" u="none" strike="noStrike">
                <a:solidFill>
                  <a:srgbClr val="64748B"/>
                </a:solidFill>
                <a:effectLst/>
                <a:uFillTx/>
                <a:latin typeface="Aptos"/>
              </a:rPr>
              <a:t>Carte de France : localisation des 5 destinations retenues selon le score météo.</a:t>
            </a:r>
            <a:endParaRPr lang="fr-FR" sz="700" b="0" u="none" strike="noStrike">
              <a:solidFill>
                <a:srgbClr val="FFFFFF"/>
              </a:solidFill>
              <a:effectLst/>
              <a:uFillTx/>
              <a:latin typeface="Arial"/>
            </a:endParaRPr>
          </a:p>
        </p:txBody>
      </p:sp>
      <p:sp>
        <p:nvSpPr>
          <p:cNvPr id="282" name="Rounded Rectangle 8"/>
          <p:cNvSpPr/>
          <p:nvPr/>
        </p:nvSpPr>
        <p:spPr>
          <a:xfrm>
            <a:off x="7360920" y="1143000"/>
            <a:ext cx="4223880" cy="5157000"/>
          </a:xfrm>
          <a:prstGeom prst="roundRect">
            <a:avLst>
              <a:gd name="adj" fmla="val 6000"/>
            </a:avLst>
          </a:prstGeom>
          <a:solidFill>
            <a:srgbClr val="FFFFFF"/>
          </a:solidFill>
          <a:ln>
            <a:solidFill>
              <a:srgbClr val="CBD5E1"/>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83" name="TextBox 9"/>
          <p:cNvSpPr/>
          <p:nvPr/>
        </p:nvSpPr>
        <p:spPr>
          <a:xfrm>
            <a:off x="7607880" y="1389960"/>
            <a:ext cx="2699280" cy="3686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1800" b="1" u="none" strike="noStrike">
                <a:solidFill>
                  <a:srgbClr val="0F172A"/>
                </a:solidFill>
                <a:effectLst/>
                <a:uFillTx/>
                <a:latin typeface="Aptos"/>
              </a:rPr>
              <a:t>Offre hôtelière associée</a:t>
            </a:r>
            <a:endParaRPr lang="fr-FR" sz="1800" b="0" u="none" strike="noStrike">
              <a:solidFill>
                <a:srgbClr val="FFFFFF"/>
              </a:solidFill>
              <a:effectLst/>
              <a:uFillTx/>
              <a:latin typeface="Arial"/>
            </a:endParaRPr>
          </a:p>
        </p:txBody>
      </p:sp>
      <p:sp>
        <p:nvSpPr>
          <p:cNvPr id="284" name="TextBox 10"/>
          <p:cNvSpPr/>
          <p:nvPr/>
        </p:nvSpPr>
        <p:spPr>
          <a:xfrm>
            <a:off x="7607880" y="1906920"/>
            <a:ext cx="3632040" cy="253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1050" b="0" u="none" strike="noStrike">
                <a:solidFill>
                  <a:srgbClr val="64748B"/>
                </a:solidFill>
                <a:effectLst/>
                <a:uFillTx/>
                <a:latin typeface="Aptos"/>
              </a:rPr>
              <a:t>Après la sélection météo, le projet ajoute 10 hôtels par ville.</a:t>
            </a:r>
            <a:endParaRPr lang="fr-FR" sz="1050" b="0" u="none" strike="noStrike">
              <a:solidFill>
                <a:srgbClr val="FFFFFF"/>
              </a:solidFill>
              <a:effectLst/>
              <a:uFillTx/>
              <a:latin typeface="Arial"/>
            </a:endParaRPr>
          </a:p>
        </p:txBody>
      </p:sp>
      <p:sp>
        <p:nvSpPr>
          <p:cNvPr id="285" name="Rounded Rectangle 11"/>
          <p:cNvSpPr/>
          <p:nvPr/>
        </p:nvSpPr>
        <p:spPr>
          <a:xfrm>
            <a:off x="7607880" y="2331720"/>
            <a:ext cx="1005120" cy="685080"/>
          </a:xfrm>
          <a:prstGeom prst="roundRect">
            <a:avLst>
              <a:gd name="adj" fmla="val 8000"/>
            </a:avLst>
          </a:prstGeom>
          <a:solidFill>
            <a:srgbClr val="F8FAFC"/>
          </a:solidFill>
          <a:ln>
            <a:solidFill>
              <a:srgbClr val="CBD5E1"/>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86" name="TextBox 12"/>
          <p:cNvSpPr/>
          <p:nvPr/>
        </p:nvSpPr>
        <p:spPr>
          <a:xfrm>
            <a:off x="7680960" y="2432160"/>
            <a:ext cx="858960" cy="2188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700" b="1" u="none" strike="noStrike">
                <a:solidFill>
                  <a:srgbClr val="00A6A6"/>
                </a:solidFill>
                <a:effectLst/>
                <a:uFillTx/>
                <a:latin typeface="Aptos"/>
              </a:rPr>
              <a:t>5</a:t>
            </a:r>
            <a:endParaRPr lang="fr-FR" sz="1700" b="0" u="none" strike="noStrike">
              <a:solidFill>
                <a:srgbClr val="FFFFFF"/>
              </a:solidFill>
              <a:effectLst/>
              <a:uFillTx/>
              <a:latin typeface="Arial"/>
            </a:endParaRPr>
          </a:p>
        </p:txBody>
      </p:sp>
      <p:sp>
        <p:nvSpPr>
          <p:cNvPr id="287" name="TextBox 13"/>
          <p:cNvSpPr/>
          <p:nvPr/>
        </p:nvSpPr>
        <p:spPr>
          <a:xfrm>
            <a:off x="7680960" y="2724840"/>
            <a:ext cx="858960" cy="1090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700" b="0" u="none" strike="noStrike">
                <a:solidFill>
                  <a:srgbClr val="64748B"/>
                </a:solidFill>
                <a:effectLst/>
                <a:uFillTx/>
                <a:latin typeface="Aptos"/>
              </a:rPr>
              <a:t>destinations</a:t>
            </a:r>
            <a:endParaRPr lang="fr-FR" sz="700" b="0" u="none" strike="noStrike">
              <a:solidFill>
                <a:srgbClr val="FFFFFF"/>
              </a:solidFill>
              <a:effectLst/>
              <a:uFillTx/>
              <a:latin typeface="Arial"/>
            </a:endParaRPr>
          </a:p>
        </p:txBody>
      </p:sp>
      <p:sp>
        <p:nvSpPr>
          <p:cNvPr id="288" name="Rounded Rectangle 14"/>
          <p:cNvSpPr/>
          <p:nvPr/>
        </p:nvSpPr>
        <p:spPr>
          <a:xfrm>
            <a:off x="8778240" y="2331720"/>
            <a:ext cx="1005120" cy="685080"/>
          </a:xfrm>
          <a:prstGeom prst="roundRect">
            <a:avLst>
              <a:gd name="adj" fmla="val 8000"/>
            </a:avLst>
          </a:prstGeom>
          <a:solidFill>
            <a:srgbClr val="F8FAFC"/>
          </a:solidFill>
          <a:ln>
            <a:solidFill>
              <a:srgbClr val="CBD5E1"/>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89" name="TextBox 15"/>
          <p:cNvSpPr/>
          <p:nvPr/>
        </p:nvSpPr>
        <p:spPr>
          <a:xfrm>
            <a:off x="8851320" y="2432160"/>
            <a:ext cx="858960" cy="2188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700" b="1" u="none" strike="noStrike">
                <a:solidFill>
                  <a:srgbClr val="F59E0B"/>
                </a:solidFill>
                <a:effectLst/>
                <a:uFillTx/>
                <a:latin typeface="Aptos"/>
              </a:rPr>
              <a:t>50</a:t>
            </a:r>
            <a:endParaRPr lang="fr-FR" sz="1700" b="0" u="none" strike="noStrike">
              <a:solidFill>
                <a:srgbClr val="FFFFFF"/>
              </a:solidFill>
              <a:effectLst/>
              <a:uFillTx/>
              <a:latin typeface="Arial"/>
            </a:endParaRPr>
          </a:p>
        </p:txBody>
      </p:sp>
      <p:sp>
        <p:nvSpPr>
          <p:cNvPr id="290" name="TextBox 16"/>
          <p:cNvSpPr/>
          <p:nvPr/>
        </p:nvSpPr>
        <p:spPr>
          <a:xfrm>
            <a:off x="8851320" y="2724840"/>
            <a:ext cx="858960" cy="1090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700" b="0" u="none" strike="noStrike">
                <a:solidFill>
                  <a:srgbClr val="64748B"/>
                </a:solidFill>
                <a:effectLst/>
                <a:uFillTx/>
                <a:latin typeface="Aptos"/>
              </a:rPr>
              <a:t>hôtels</a:t>
            </a:r>
            <a:endParaRPr lang="fr-FR" sz="700" b="0" u="none" strike="noStrike">
              <a:solidFill>
                <a:srgbClr val="FFFFFF"/>
              </a:solidFill>
              <a:effectLst/>
              <a:uFillTx/>
              <a:latin typeface="Arial"/>
            </a:endParaRPr>
          </a:p>
        </p:txBody>
      </p:sp>
      <p:sp>
        <p:nvSpPr>
          <p:cNvPr id="291" name="Rounded Rectangle 17"/>
          <p:cNvSpPr/>
          <p:nvPr/>
        </p:nvSpPr>
        <p:spPr>
          <a:xfrm>
            <a:off x="9948600" y="2331720"/>
            <a:ext cx="1005120" cy="685080"/>
          </a:xfrm>
          <a:prstGeom prst="roundRect">
            <a:avLst>
              <a:gd name="adj" fmla="val 8000"/>
            </a:avLst>
          </a:prstGeom>
          <a:solidFill>
            <a:srgbClr val="F8FAFC"/>
          </a:solidFill>
          <a:ln>
            <a:solidFill>
              <a:srgbClr val="CBD5E1"/>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92" name="TextBox 18"/>
          <p:cNvSpPr/>
          <p:nvPr/>
        </p:nvSpPr>
        <p:spPr>
          <a:xfrm>
            <a:off x="10021680" y="2432160"/>
            <a:ext cx="858960" cy="2188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700" b="1" u="none" strike="noStrike">
                <a:solidFill>
                  <a:srgbClr val="10B981"/>
                </a:solidFill>
                <a:effectLst/>
                <a:uFillTx/>
                <a:latin typeface="Aptos"/>
              </a:rPr>
              <a:t>10</a:t>
            </a:r>
            <a:endParaRPr lang="fr-FR" sz="1700" b="0" u="none" strike="noStrike">
              <a:solidFill>
                <a:srgbClr val="FFFFFF"/>
              </a:solidFill>
              <a:effectLst/>
              <a:uFillTx/>
              <a:latin typeface="Arial"/>
            </a:endParaRPr>
          </a:p>
        </p:txBody>
      </p:sp>
      <p:sp>
        <p:nvSpPr>
          <p:cNvPr id="293" name="TextBox 19"/>
          <p:cNvSpPr/>
          <p:nvPr/>
        </p:nvSpPr>
        <p:spPr>
          <a:xfrm>
            <a:off x="10021680" y="2724840"/>
            <a:ext cx="858960" cy="10908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700" b="0" u="none" strike="noStrike">
                <a:solidFill>
                  <a:srgbClr val="64748B"/>
                </a:solidFill>
                <a:effectLst/>
                <a:uFillTx/>
                <a:latin typeface="Aptos"/>
              </a:rPr>
              <a:t>par ville</a:t>
            </a:r>
            <a:endParaRPr lang="fr-FR" sz="700" b="0" u="none" strike="noStrike">
              <a:solidFill>
                <a:srgbClr val="FFFFFF"/>
              </a:solidFill>
              <a:effectLst/>
              <a:uFillTx/>
              <a:latin typeface="Arial"/>
            </a:endParaRPr>
          </a:p>
        </p:txBody>
      </p:sp>
      <p:sp>
        <p:nvSpPr>
          <p:cNvPr id="294" name="Rounded Rectangle 20"/>
          <p:cNvSpPr/>
          <p:nvPr/>
        </p:nvSpPr>
        <p:spPr>
          <a:xfrm>
            <a:off x="7616880" y="3246120"/>
            <a:ext cx="3611160" cy="300960"/>
          </a:xfrm>
          <a:prstGeom prst="roundRect">
            <a:avLst>
              <a:gd name="adj" fmla="val 6000"/>
            </a:avLst>
          </a:prstGeom>
          <a:solidFill>
            <a:srgbClr val="F8FAFC"/>
          </a:solidFill>
          <a:ln>
            <a:solidFill>
              <a:srgbClr val="E2E8F0"/>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295" name="Oval 21"/>
          <p:cNvSpPr/>
          <p:nvPr/>
        </p:nvSpPr>
        <p:spPr>
          <a:xfrm>
            <a:off x="7754040" y="3328560"/>
            <a:ext cx="127440" cy="127440"/>
          </a:xfrm>
          <a:prstGeom prst="ellipse">
            <a:avLst/>
          </a:prstGeom>
          <a:solidFill>
            <a:srgbClr val="00A6A6"/>
          </a:solidFill>
          <a:ln>
            <a:solidFill>
              <a:srgbClr val="00A6A6"/>
            </a:solidFill>
          </a:ln>
        </p:spPr>
        <p:style>
          <a:lnRef idx="1">
            <a:schemeClr val="accent1"/>
          </a:lnRef>
          <a:fillRef idx="3">
            <a:schemeClr val="accent1"/>
          </a:fillRef>
          <a:effectRef idx="2">
            <a:schemeClr val="accent1"/>
          </a:effectRef>
          <a:fontRef idx="minor"/>
        </p:style>
        <p:txBody>
          <a:bodyPr lIns="63720" tIns="45000" rIns="63720" bIns="45000" anchor="ctr">
            <a:noAutofit/>
          </a:bodyPr>
          <a:p>
            <a:endParaRPr lang="fr-FR" sz="1800" b="0" u="none" strike="noStrike">
              <a:solidFill>
                <a:schemeClr val="lt1"/>
              </a:solidFill>
              <a:effectLst/>
              <a:uFillTx/>
              <a:latin typeface="Aptos"/>
            </a:endParaRPr>
          </a:p>
        </p:txBody>
      </p:sp>
      <p:sp>
        <p:nvSpPr>
          <p:cNvPr id="296" name="TextBox 22"/>
          <p:cNvSpPr/>
          <p:nvPr/>
        </p:nvSpPr>
        <p:spPr>
          <a:xfrm>
            <a:off x="7973640" y="3319200"/>
            <a:ext cx="1645200" cy="109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750" b="1" u="none" strike="noStrike">
                <a:solidFill>
                  <a:srgbClr val="0F172A"/>
                </a:solidFill>
                <a:effectLst/>
                <a:uFillTx/>
                <a:latin typeface="Aptos"/>
              </a:rPr>
              <a:t>Avignon</a:t>
            </a:r>
            <a:endParaRPr lang="fr-FR" sz="750" b="0" u="none" strike="noStrike">
              <a:solidFill>
                <a:srgbClr val="FFFFFF"/>
              </a:solidFill>
              <a:effectLst/>
              <a:uFillTx/>
              <a:latin typeface="Arial"/>
            </a:endParaRPr>
          </a:p>
        </p:txBody>
      </p:sp>
      <p:sp>
        <p:nvSpPr>
          <p:cNvPr id="297" name="TextBox 23"/>
          <p:cNvSpPr/>
          <p:nvPr/>
        </p:nvSpPr>
        <p:spPr>
          <a:xfrm>
            <a:off x="9747360" y="3319200"/>
            <a:ext cx="41076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90.5</a:t>
            </a:r>
            <a:endParaRPr lang="fr-FR" sz="700" b="0" u="none" strike="noStrike">
              <a:solidFill>
                <a:srgbClr val="FFFFFF"/>
              </a:solidFill>
              <a:effectLst/>
              <a:uFillTx/>
              <a:latin typeface="Arial"/>
            </a:endParaRPr>
          </a:p>
        </p:txBody>
      </p:sp>
      <p:sp>
        <p:nvSpPr>
          <p:cNvPr id="298" name="TextBox 24"/>
          <p:cNvSpPr/>
          <p:nvPr/>
        </p:nvSpPr>
        <p:spPr>
          <a:xfrm>
            <a:off x="10314360" y="3319200"/>
            <a:ext cx="68508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10 hôtels</a:t>
            </a:r>
            <a:endParaRPr lang="fr-FR" sz="700" b="0" u="none" strike="noStrike">
              <a:solidFill>
                <a:srgbClr val="FFFFFF"/>
              </a:solidFill>
              <a:effectLst/>
              <a:uFillTx/>
              <a:latin typeface="Arial"/>
            </a:endParaRPr>
          </a:p>
        </p:txBody>
      </p:sp>
      <p:sp>
        <p:nvSpPr>
          <p:cNvPr id="299" name="Rounded Rectangle 25"/>
          <p:cNvSpPr/>
          <p:nvPr/>
        </p:nvSpPr>
        <p:spPr>
          <a:xfrm>
            <a:off x="7616880" y="3657600"/>
            <a:ext cx="3611160" cy="300960"/>
          </a:xfrm>
          <a:prstGeom prst="roundRect">
            <a:avLst>
              <a:gd name="adj" fmla="val 6000"/>
            </a:avLst>
          </a:prstGeom>
          <a:solidFill>
            <a:srgbClr val="F8FAFC"/>
          </a:solidFill>
          <a:ln>
            <a:solidFill>
              <a:srgbClr val="E2E8F0"/>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300" name="Oval 26"/>
          <p:cNvSpPr/>
          <p:nvPr/>
        </p:nvSpPr>
        <p:spPr>
          <a:xfrm>
            <a:off x="7754040" y="3740040"/>
            <a:ext cx="127440" cy="127440"/>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p:style>
        <p:txBody>
          <a:bodyPr lIns="63720" tIns="45000" rIns="63720" bIns="45000" anchor="ctr">
            <a:noAutofit/>
          </a:bodyPr>
          <a:p>
            <a:endParaRPr lang="fr-FR" sz="1800" b="0" u="none" strike="noStrike">
              <a:solidFill>
                <a:schemeClr val="lt1"/>
              </a:solidFill>
              <a:effectLst/>
              <a:uFillTx/>
              <a:latin typeface="Aptos"/>
            </a:endParaRPr>
          </a:p>
        </p:txBody>
      </p:sp>
      <p:sp>
        <p:nvSpPr>
          <p:cNvPr id="301" name="TextBox 27"/>
          <p:cNvSpPr/>
          <p:nvPr/>
        </p:nvSpPr>
        <p:spPr>
          <a:xfrm>
            <a:off x="7973640" y="3730680"/>
            <a:ext cx="1645200" cy="109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750" b="1" u="none" strike="noStrike">
                <a:solidFill>
                  <a:srgbClr val="0F172A"/>
                </a:solidFill>
                <a:effectLst/>
                <a:uFillTx/>
                <a:latin typeface="Aptos"/>
              </a:rPr>
              <a:t>Aix-en-Provence</a:t>
            </a:r>
            <a:endParaRPr lang="fr-FR" sz="750" b="0" u="none" strike="noStrike">
              <a:solidFill>
                <a:srgbClr val="FFFFFF"/>
              </a:solidFill>
              <a:effectLst/>
              <a:uFillTx/>
              <a:latin typeface="Arial"/>
            </a:endParaRPr>
          </a:p>
        </p:txBody>
      </p:sp>
      <p:sp>
        <p:nvSpPr>
          <p:cNvPr id="302" name="TextBox 28"/>
          <p:cNvSpPr/>
          <p:nvPr/>
        </p:nvSpPr>
        <p:spPr>
          <a:xfrm>
            <a:off x="9747360" y="3730680"/>
            <a:ext cx="41076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89.6</a:t>
            </a:r>
            <a:endParaRPr lang="fr-FR" sz="700" b="0" u="none" strike="noStrike">
              <a:solidFill>
                <a:srgbClr val="FFFFFF"/>
              </a:solidFill>
              <a:effectLst/>
              <a:uFillTx/>
              <a:latin typeface="Arial"/>
            </a:endParaRPr>
          </a:p>
        </p:txBody>
      </p:sp>
      <p:sp>
        <p:nvSpPr>
          <p:cNvPr id="303" name="TextBox 29"/>
          <p:cNvSpPr/>
          <p:nvPr/>
        </p:nvSpPr>
        <p:spPr>
          <a:xfrm>
            <a:off x="10314360" y="3730680"/>
            <a:ext cx="68508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10 hôtels</a:t>
            </a:r>
            <a:endParaRPr lang="fr-FR" sz="700" b="0" u="none" strike="noStrike">
              <a:solidFill>
                <a:srgbClr val="FFFFFF"/>
              </a:solidFill>
              <a:effectLst/>
              <a:uFillTx/>
              <a:latin typeface="Arial"/>
            </a:endParaRPr>
          </a:p>
        </p:txBody>
      </p:sp>
      <p:sp>
        <p:nvSpPr>
          <p:cNvPr id="304" name="Rounded Rectangle 30"/>
          <p:cNvSpPr/>
          <p:nvPr/>
        </p:nvSpPr>
        <p:spPr>
          <a:xfrm>
            <a:off x="7616880" y="4069080"/>
            <a:ext cx="3611160" cy="300960"/>
          </a:xfrm>
          <a:prstGeom prst="roundRect">
            <a:avLst>
              <a:gd name="adj" fmla="val 6000"/>
            </a:avLst>
          </a:prstGeom>
          <a:solidFill>
            <a:srgbClr val="F8FAFC"/>
          </a:solidFill>
          <a:ln>
            <a:solidFill>
              <a:srgbClr val="E2E8F0"/>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305" name="Oval 31"/>
          <p:cNvSpPr/>
          <p:nvPr/>
        </p:nvSpPr>
        <p:spPr>
          <a:xfrm>
            <a:off x="7754040" y="4151520"/>
            <a:ext cx="127440" cy="127440"/>
          </a:xfrm>
          <a:prstGeom prst="ellipse">
            <a:avLst/>
          </a:prstGeom>
          <a:solidFill>
            <a:srgbClr val="10B981"/>
          </a:solidFill>
          <a:ln>
            <a:solidFill>
              <a:srgbClr val="10B981"/>
            </a:solidFill>
          </a:ln>
        </p:spPr>
        <p:style>
          <a:lnRef idx="1">
            <a:schemeClr val="accent1"/>
          </a:lnRef>
          <a:fillRef idx="3">
            <a:schemeClr val="accent1"/>
          </a:fillRef>
          <a:effectRef idx="2">
            <a:schemeClr val="accent1"/>
          </a:effectRef>
          <a:fontRef idx="minor"/>
        </p:style>
        <p:txBody>
          <a:bodyPr lIns="63720" tIns="45000" rIns="63720" bIns="45000" anchor="ctr">
            <a:noAutofit/>
          </a:bodyPr>
          <a:p>
            <a:endParaRPr lang="fr-FR" sz="1800" b="0" u="none" strike="noStrike">
              <a:solidFill>
                <a:schemeClr val="lt1"/>
              </a:solidFill>
              <a:effectLst/>
              <a:uFillTx/>
              <a:latin typeface="Aptos"/>
            </a:endParaRPr>
          </a:p>
        </p:txBody>
      </p:sp>
      <p:sp>
        <p:nvSpPr>
          <p:cNvPr id="306" name="TextBox 32"/>
          <p:cNvSpPr/>
          <p:nvPr/>
        </p:nvSpPr>
        <p:spPr>
          <a:xfrm>
            <a:off x="7973640" y="4142160"/>
            <a:ext cx="1645200" cy="109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750" b="1" u="none" strike="noStrike">
                <a:solidFill>
                  <a:srgbClr val="0F172A"/>
                </a:solidFill>
                <a:effectLst/>
                <a:uFillTx/>
                <a:latin typeface="Aptos"/>
              </a:rPr>
              <a:t>Nîmes</a:t>
            </a:r>
            <a:endParaRPr lang="fr-FR" sz="750" b="0" u="none" strike="noStrike">
              <a:solidFill>
                <a:srgbClr val="FFFFFF"/>
              </a:solidFill>
              <a:effectLst/>
              <a:uFillTx/>
              <a:latin typeface="Arial"/>
            </a:endParaRPr>
          </a:p>
        </p:txBody>
      </p:sp>
      <p:sp>
        <p:nvSpPr>
          <p:cNvPr id="307" name="TextBox 33"/>
          <p:cNvSpPr/>
          <p:nvPr/>
        </p:nvSpPr>
        <p:spPr>
          <a:xfrm>
            <a:off x="9747360" y="4142160"/>
            <a:ext cx="41076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87.6</a:t>
            </a:r>
            <a:endParaRPr lang="fr-FR" sz="700" b="0" u="none" strike="noStrike">
              <a:solidFill>
                <a:srgbClr val="FFFFFF"/>
              </a:solidFill>
              <a:effectLst/>
              <a:uFillTx/>
              <a:latin typeface="Arial"/>
            </a:endParaRPr>
          </a:p>
        </p:txBody>
      </p:sp>
      <p:sp>
        <p:nvSpPr>
          <p:cNvPr id="308" name="TextBox 34"/>
          <p:cNvSpPr/>
          <p:nvPr/>
        </p:nvSpPr>
        <p:spPr>
          <a:xfrm>
            <a:off x="10314360" y="4142160"/>
            <a:ext cx="68508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10 hôtels</a:t>
            </a:r>
            <a:endParaRPr lang="fr-FR" sz="700" b="0" u="none" strike="noStrike">
              <a:solidFill>
                <a:srgbClr val="FFFFFF"/>
              </a:solidFill>
              <a:effectLst/>
              <a:uFillTx/>
              <a:latin typeface="Arial"/>
            </a:endParaRPr>
          </a:p>
        </p:txBody>
      </p:sp>
      <p:sp>
        <p:nvSpPr>
          <p:cNvPr id="309" name="Rounded Rectangle 35"/>
          <p:cNvSpPr/>
          <p:nvPr/>
        </p:nvSpPr>
        <p:spPr>
          <a:xfrm>
            <a:off x="7616880" y="4480560"/>
            <a:ext cx="3611160" cy="300960"/>
          </a:xfrm>
          <a:prstGeom prst="roundRect">
            <a:avLst>
              <a:gd name="adj" fmla="val 6000"/>
            </a:avLst>
          </a:prstGeom>
          <a:solidFill>
            <a:srgbClr val="F8FAFC"/>
          </a:solidFill>
          <a:ln>
            <a:solidFill>
              <a:srgbClr val="E2E8F0"/>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310" name="Oval 36"/>
          <p:cNvSpPr/>
          <p:nvPr/>
        </p:nvSpPr>
        <p:spPr>
          <a:xfrm>
            <a:off x="7754040" y="4563000"/>
            <a:ext cx="127440" cy="127440"/>
          </a:xfrm>
          <a:prstGeom prst="ellipse">
            <a:avLst/>
          </a:prstGeom>
          <a:solidFill>
            <a:srgbClr val="0E7490"/>
          </a:solidFill>
          <a:ln>
            <a:solidFill>
              <a:srgbClr val="0E7490"/>
            </a:solidFill>
          </a:ln>
        </p:spPr>
        <p:style>
          <a:lnRef idx="1">
            <a:schemeClr val="accent1"/>
          </a:lnRef>
          <a:fillRef idx="3">
            <a:schemeClr val="accent1"/>
          </a:fillRef>
          <a:effectRef idx="2">
            <a:schemeClr val="accent1"/>
          </a:effectRef>
          <a:fontRef idx="minor"/>
        </p:style>
        <p:txBody>
          <a:bodyPr lIns="63720" tIns="45000" rIns="63720" bIns="45000" anchor="ctr">
            <a:noAutofit/>
          </a:bodyPr>
          <a:p>
            <a:endParaRPr lang="fr-FR" sz="1800" b="0" u="none" strike="noStrike">
              <a:solidFill>
                <a:schemeClr val="lt1"/>
              </a:solidFill>
              <a:effectLst/>
              <a:uFillTx/>
              <a:latin typeface="Aptos"/>
            </a:endParaRPr>
          </a:p>
        </p:txBody>
      </p:sp>
      <p:sp>
        <p:nvSpPr>
          <p:cNvPr id="311" name="TextBox 37"/>
          <p:cNvSpPr/>
          <p:nvPr/>
        </p:nvSpPr>
        <p:spPr>
          <a:xfrm>
            <a:off x="7973640" y="4553640"/>
            <a:ext cx="1645200" cy="109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660" b="1" u="none" strike="noStrike">
                <a:solidFill>
                  <a:srgbClr val="0F172A"/>
                </a:solidFill>
                <a:effectLst/>
                <a:uFillTx/>
                <a:latin typeface="Aptos"/>
              </a:rPr>
              <a:t>Bormes-les-Mimosas</a:t>
            </a:r>
            <a:endParaRPr lang="fr-FR" sz="660" b="0" u="none" strike="noStrike">
              <a:solidFill>
                <a:srgbClr val="FFFFFF"/>
              </a:solidFill>
              <a:effectLst/>
              <a:uFillTx/>
              <a:latin typeface="Arial"/>
            </a:endParaRPr>
          </a:p>
        </p:txBody>
      </p:sp>
      <p:sp>
        <p:nvSpPr>
          <p:cNvPr id="312" name="TextBox 38"/>
          <p:cNvSpPr/>
          <p:nvPr/>
        </p:nvSpPr>
        <p:spPr>
          <a:xfrm>
            <a:off x="9747360" y="4553640"/>
            <a:ext cx="41076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85.2</a:t>
            </a:r>
            <a:endParaRPr lang="fr-FR" sz="700" b="0" u="none" strike="noStrike">
              <a:solidFill>
                <a:srgbClr val="FFFFFF"/>
              </a:solidFill>
              <a:effectLst/>
              <a:uFillTx/>
              <a:latin typeface="Arial"/>
            </a:endParaRPr>
          </a:p>
        </p:txBody>
      </p:sp>
      <p:sp>
        <p:nvSpPr>
          <p:cNvPr id="313" name="TextBox 39"/>
          <p:cNvSpPr/>
          <p:nvPr/>
        </p:nvSpPr>
        <p:spPr>
          <a:xfrm>
            <a:off x="10314360" y="4553640"/>
            <a:ext cx="68508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10 hôtels</a:t>
            </a:r>
            <a:endParaRPr lang="fr-FR" sz="700" b="0" u="none" strike="noStrike">
              <a:solidFill>
                <a:srgbClr val="FFFFFF"/>
              </a:solidFill>
              <a:effectLst/>
              <a:uFillTx/>
              <a:latin typeface="Arial"/>
            </a:endParaRPr>
          </a:p>
        </p:txBody>
      </p:sp>
      <p:sp>
        <p:nvSpPr>
          <p:cNvPr id="314" name="Rounded Rectangle 40"/>
          <p:cNvSpPr/>
          <p:nvPr/>
        </p:nvSpPr>
        <p:spPr>
          <a:xfrm>
            <a:off x="7616880" y="4892040"/>
            <a:ext cx="3611160" cy="300960"/>
          </a:xfrm>
          <a:prstGeom prst="roundRect">
            <a:avLst>
              <a:gd name="adj" fmla="val 6000"/>
            </a:avLst>
          </a:prstGeom>
          <a:solidFill>
            <a:srgbClr val="F8FAFC"/>
          </a:solidFill>
          <a:ln>
            <a:solidFill>
              <a:srgbClr val="E2E8F0"/>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315" name="Oval 41"/>
          <p:cNvSpPr/>
          <p:nvPr/>
        </p:nvSpPr>
        <p:spPr>
          <a:xfrm>
            <a:off x="7754040" y="4974480"/>
            <a:ext cx="127440" cy="127440"/>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p:style>
        <p:txBody>
          <a:bodyPr lIns="63720" tIns="45000" rIns="63720" bIns="45000" anchor="ctr">
            <a:noAutofit/>
          </a:bodyPr>
          <a:p>
            <a:endParaRPr lang="fr-FR" sz="1800" b="0" u="none" strike="noStrike">
              <a:solidFill>
                <a:schemeClr val="lt1"/>
              </a:solidFill>
              <a:effectLst/>
              <a:uFillTx/>
              <a:latin typeface="Aptos"/>
            </a:endParaRPr>
          </a:p>
        </p:txBody>
      </p:sp>
      <p:sp>
        <p:nvSpPr>
          <p:cNvPr id="316" name="TextBox 42"/>
          <p:cNvSpPr/>
          <p:nvPr/>
        </p:nvSpPr>
        <p:spPr>
          <a:xfrm>
            <a:off x="7973640" y="4965120"/>
            <a:ext cx="1645200" cy="109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750" b="1" u="none" strike="noStrike">
                <a:solidFill>
                  <a:srgbClr val="0F172A"/>
                </a:solidFill>
                <a:effectLst/>
                <a:uFillTx/>
                <a:latin typeface="Aptos"/>
              </a:rPr>
              <a:t>Strasbourg</a:t>
            </a:r>
            <a:endParaRPr lang="fr-FR" sz="750" b="0" u="none" strike="noStrike">
              <a:solidFill>
                <a:srgbClr val="FFFFFF"/>
              </a:solidFill>
              <a:effectLst/>
              <a:uFillTx/>
              <a:latin typeface="Arial"/>
            </a:endParaRPr>
          </a:p>
        </p:txBody>
      </p:sp>
      <p:sp>
        <p:nvSpPr>
          <p:cNvPr id="317" name="TextBox 43"/>
          <p:cNvSpPr/>
          <p:nvPr/>
        </p:nvSpPr>
        <p:spPr>
          <a:xfrm>
            <a:off x="9747360" y="4965120"/>
            <a:ext cx="41076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84.6</a:t>
            </a:r>
            <a:endParaRPr lang="fr-FR" sz="700" b="0" u="none" strike="noStrike">
              <a:solidFill>
                <a:srgbClr val="FFFFFF"/>
              </a:solidFill>
              <a:effectLst/>
              <a:uFillTx/>
              <a:latin typeface="Arial"/>
            </a:endParaRPr>
          </a:p>
        </p:txBody>
      </p:sp>
      <p:sp>
        <p:nvSpPr>
          <p:cNvPr id="318" name="TextBox 44"/>
          <p:cNvSpPr/>
          <p:nvPr/>
        </p:nvSpPr>
        <p:spPr>
          <a:xfrm>
            <a:off x="10314360" y="4965120"/>
            <a:ext cx="685080" cy="10908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700" b="0" u="none" strike="noStrike">
                <a:solidFill>
                  <a:srgbClr val="64748B"/>
                </a:solidFill>
                <a:effectLst/>
                <a:uFillTx/>
                <a:latin typeface="Aptos"/>
              </a:rPr>
              <a:t>10 hôtels</a:t>
            </a:r>
            <a:endParaRPr lang="fr-FR" sz="700" b="0" u="none" strike="noStrike">
              <a:solidFill>
                <a:srgbClr val="FFFFFF"/>
              </a:solidFill>
              <a:effectLst/>
              <a:uFillTx/>
              <a:latin typeface="Arial"/>
            </a:endParaRPr>
          </a:p>
        </p:txBody>
      </p:sp>
      <p:sp>
        <p:nvSpPr>
          <p:cNvPr id="319" name="Rounded Rectangle 45"/>
          <p:cNvSpPr/>
          <p:nvPr/>
        </p:nvSpPr>
        <p:spPr>
          <a:xfrm>
            <a:off x="7616880" y="5468040"/>
            <a:ext cx="3611160" cy="651960"/>
          </a:xfrm>
          <a:prstGeom prst="roundRect">
            <a:avLst>
              <a:gd name="adj" fmla="val 6000"/>
            </a:avLst>
          </a:prstGeom>
          <a:solidFill>
            <a:srgbClr val="ECFEFF"/>
          </a:solidFill>
          <a:ln>
            <a:solidFill>
              <a:srgbClr val="00A6A6"/>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fr-FR" sz="1800" b="0" u="none" strike="noStrike">
              <a:solidFill>
                <a:schemeClr val="lt1"/>
              </a:solidFill>
              <a:effectLst/>
              <a:uFillTx/>
              <a:latin typeface="Aptos"/>
            </a:endParaRPr>
          </a:p>
        </p:txBody>
      </p:sp>
      <p:sp>
        <p:nvSpPr>
          <p:cNvPr id="320" name="TextBox 46"/>
          <p:cNvSpPr/>
          <p:nvPr/>
        </p:nvSpPr>
        <p:spPr>
          <a:xfrm>
            <a:off x="7932960" y="5586840"/>
            <a:ext cx="2970000" cy="261000"/>
          </a:xfrm>
          <a:prstGeom prst="rect">
            <a:avLst/>
          </a:prstGeom>
          <a:noFill/>
          <a:ln w="0">
            <a:noFill/>
          </a:ln>
        </p:spPr>
        <p:style>
          <a:lnRef idx="0"/>
          <a:fillRef idx="0"/>
          <a:effectRef idx="0"/>
          <a:fontRef idx="minor"/>
        </p:style>
        <p:txBody>
          <a:bodyPr wrap="none" lIns="90000" tIns="45000" rIns="90000" bIns="45000" anchor="t">
            <a:spAutoFit/>
          </a:bodyPr>
          <a:p>
            <a:pPr algn="ctr" defTabSz="914400">
              <a:lnSpc>
                <a:spcPct val="100000"/>
              </a:lnSpc>
            </a:pPr>
            <a:r>
              <a:rPr lang="fr-FR" sz="1100" b="1" u="none" strike="noStrike">
                <a:solidFill>
                  <a:srgbClr val="0F172A"/>
                </a:solidFill>
                <a:effectLst/>
                <a:uFillTx/>
                <a:latin typeface="Aptos"/>
              </a:rPr>
              <a:t>Les hôtels sont synthétisés par destination.</a:t>
            </a:r>
            <a:endParaRPr lang="fr-FR" sz="1100" b="0" u="none" strike="noStrike">
              <a:solidFill>
                <a:srgbClr val="FFFFFF"/>
              </a:solidFill>
              <a:effectLst/>
              <a:uFillTx/>
              <a:latin typeface="Arial"/>
            </a:endParaRPr>
          </a:p>
        </p:txBody>
      </p:sp>
      <p:sp>
        <p:nvSpPr>
          <p:cNvPr id="321" name="TextBox 47"/>
          <p:cNvSpPr/>
          <p:nvPr/>
        </p:nvSpPr>
        <p:spPr>
          <a:xfrm>
            <a:off x="567000" y="6510600"/>
            <a:ext cx="3016800" cy="16380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fr-FR" sz="650" b="0" u="none" strike="noStrike">
                <a:solidFill>
                  <a:srgbClr val="94A3B8"/>
                </a:solidFill>
                <a:effectLst/>
                <a:uFillTx/>
                <a:latin typeface="Aptos"/>
              </a:rPr>
              <a:t>Projet Kayak — Bloc 1</a:t>
            </a:r>
            <a:endParaRPr lang="fr-FR" sz="650" b="0" u="none" strike="noStrike">
              <a:solidFill>
                <a:srgbClr val="FFFFFF"/>
              </a:solidFill>
              <a:effectLst/>
              <a:uFillTx/>
              <a:latin typeface="Arial"/>
            </a:endParaRPr>
          </a:p>
        </p:txBody>
      </p:sp>
      <p:sp>
        <p:nvSpPr>
          <p:cNvPr id="322" name="TextBox 48"/>
          <p:cNvSpPr/>
          <p:nvPr/>
        </p:nvSpPr>
        <p:spPr>
          <a:xfrm>
            <a:off x="11448360" y="6446520"/>
            <a:ext cx="456480" cy="182160"/>
          </a:xfrm>
          <a:prstGeom prst="rect">
            <a:avLst/>
          </a:prstGeom>
          <a:noFill/>
          <a:ln w="0">
            <a:noFill/>
          </a:ln>
        </p:spPr>
        <p:style>
          <a:lnRef idx="0"/>
          <a:fillRef idx="0"/>
          <a:effectRef idx="0"/>
          <a:fontRef idx="minor"/>
        </p:style>
        <p:txBody>
          <a:bodyPr wrap="none" lIns="90000" tIns="45000" rIns="90000" bIns="45000" anchor="t" anchorCtr="1">
            <a:spAutoFit/>
          </a:bodyPr>
          <a:p>
            <a:pPr algn="r" defTabSz="914400">
              <a:lnSpc>
                <a:spcPct val="100000"/>
              </a:lnSpc>
            </a:pPr>
            <a:r>
              <a:rPr lang="fr-FR" sz="650" b="0" u="none" strike="noStrike">
                <a:solidFill>
                  <a:srgbClr val="94A3B8"/>
                </a:solidFill>
                <a:effectLst/>
                <a:uFillTx/>
                <a:latin typeface="Aptos"/>
              </a:rPr>
              <a:t>8</a:t>
            </a:r>
            <a:endParaRPr lang="fr-FR" sz="6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323" name="Shape 0"/>
          <p:cNvSpPr/>
          <p:nvPr/>
        </p:nvSpPr>
        <p:spPr>
          <a:xfrm>
            <a:off x="0" y="0"/>
            <a:ext cx="12191040" cy="72360"/>
          </a:xfrm>
          <a:prstGeom prst="rect">
            <a:avLst/>
          </a:prstGeom>
          <a:solidFill>
            <a:srgbClr val="00A6A6"/>
          </a:solidFill>
          <a:ln w="12700">
            <a:solidFill>
              <a:srgbClr val="00A6A6"/>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324" name="Text 1"/>
          <p:cNvSpPr/>
          <p:nvPr/>
        </p:nvSpPr>
        <p:spPr>
          <a:xfrm>
            <a:off x="567000" y="384120"/>
            <a:ext cx="804600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Aptos Display"/>
                <a:ea typeface="Aptos Display"/>
              </a:rPr>
              <a:t>Limites et améliorations</a:t>
            </a:r>
            <a:endParaRPr lang="fr-FR" sz="2800" b="0" u="none" strike="noStrike">
              <a:solidFill>
                <a:srgbClr val="FFFFFF"/>
              </a:solidFill>
              <a:effectLst/>
              <a:uFillTx/>
              <a:latin typeface="Arial"/>
            </a:endParaRPr>
          </a:p>
        </p:txBody>
      </p:sp>
      <p:sp>
        <p:nvSpPr>
          <p:cNvPr id="325" name="Text 2"/>
          <p:cNvSpPr/>
          <p:nvPr/>
        </p:nvSpPr>
        <p:spPr>
          <a:xfrm>
            <a:off x="576000" y="768240"/>
            <a:ext cx="969192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CBD5E1"/>
                </a:solidFill>
                <a:effectLst/>
                <a:uFillTx/>
                <a:latin typeface="Aptos"/>
              </a:rPr>
              <a:t>Un pipeline fonctionnel, mais perfectible</a:t>
            </a:r>
            <a:endParaRPr lang="fr-FR" sz="1400" b="0" u="none" strike="noStrike">
              <a:solidFill>
                <a:srgbClr val="FFFFFF"/>
              </a:solidFill>
              <a:effectLst/>
              <a:uFillTx/>
              <a:latin typeface="Arial"/>
            </a:endParaRPr>
          </a:p>
        </p:txBody>
      </p:sp>
      <p:sp>
        <p:nvSpPr>
          <p:cNvPr id="326" name="Shape 3"/>
          <p:cNvSpPr/>
          <p:nvPr/>
        </p:nvSpPr>
        <p:spPr>
          <a:xfrm>
            <a:off x="713160" y="1234440"/>
            <a:ext cx="5165640" cy="4114080"/>
          </a:xfrm>
          <a:prstGeom prst="roundRect">
            <a:avLst>
              <a:gd name="adj" fmla="val 177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7" name="Shape 4"/>
          <p:cNvSpPr/>
          <p:nvPr/>
        </p:nvSpPr>
        <p:spPr>
          <a:xfrm>
            <a:off x="713160" y="1234440"/>
            <a:ext cx="54000" cy="411408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28" name="Text 5"/>
          <p:cNvSpPr/>
          <p:nvPr/>
        </p:nvSpPr>
        <p:spPr>
          <a:xfrm>
            <a:off x="877680" y="1380600"/>
            <a:ext cx="4836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F172A"/>
                </a:solidFill>
                <a:effectLst/>
                <a:uFillTx/>
                <a:latin typeface="Aptos"/>
              </a:rPr>
              <a:t>Limites principales</a:t>
            </a:r>
            <a:endParaRPr lang="fr-FR" sz="2000" b="0" u="none" strike="noStrike">
              <a:solidFill>
                <a:srgbClr val="FFFFFF"/>
              </a:solidFill>
              <a:effectLst/>
              <a:uFillTx/>
              <a:latin typeface="Arial"/>
            </a:endParaRPr>
          </a:p>
        </p:txBody>
      </p:sp>
      <p:sp>
        <p:nvSpPr>
          <p:cNvPr id="329" name="Text 6"/>
          <p:cNvSpPr/>
          <p:nvPr/>
        </p:nvSpPr>
        <p:spPr>
          <a:xfrm>
            <a:off x="877680" y="1710000"/>
            <a:ext cx="4836600" cy="35470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600" b="0" u="none" strike="noStrike">
                <a:solidFill>
                  <a:srgbClr val="0F172A"/>
                </a:solidFill>
                <a:effectLst/>
                <a:uFillTx/>
                <a:latin typeface="Aptos"/>
              </a:rPr>
              <a:t>• Les données hôtelières dépendent de la structure HTML du site.</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Les prix et disponibilités ne sont pas modélisés.</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a:t>
            </a:r>
            <a:r>
              <a:rPr lang="fr-FR" sz="1600" b="0" u="none" strike="noStrike">
                <a:solidFill>
                  <a:schemeClr val="dk1"/>
                </a:solidFill>
                <a:effectLst/>
                <a:uFillTx/>
                <a:latin typeface="Aptos"/>
              </a:rPr>
              <a:t>Le score météo repose sur une règle métier simple, qui pourrait être affinée.</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Les résultats dépendent de la date d’exécution.</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Les hôtels sont rattachés aux coordonnées de leur ville dans cette version.</a:t>
            </a:r>
            <a:endParaRPr lang="fr-FR" sz="1600" b="0" u="none" strike="noStrike">
              <a:solidFill>
                <a:srgbClr val="FFFFFF"/>
              </a:solidFill>
              <a:effectLst/>
              <a:uFillTx/>
              <a:latin typeface="Arial"/>
            </a:endParaRPr>
          </a:p>
        </p:txBody>
      </p:sp>
      <p:sp>
        <p:nvSpPr>
          <p:cNvPr id="330" name="Shape 7"/>
          <p:cNvSpPr/>
          <p:nvPr/>
        </p:nvSpPr>
        <p:spPr>
          <a:xfrm>
            <a:off x="6309360" y="1244160"/>
            <a:ext cx="5165640" cy="4114080"/>
          </a:xfrm>
          <a:prstGeom prst="roundRect">
            <a:avLst>
              <a:gd name="adj" fmla="val 1778"/>
            </a:avLst>
          </a:prstGeom>
          <a:solidFill>
            <a:srgbClr val="FFFFFF"/>
          </a:solidFill>
          <a:ln w="1016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1" name="Shape 8"/>
          <p:cNvSpPr/>
          <p:nvPr/>
        </p:nvSpPr>
        <p:spPr>
          <a:xfrm>
            <a:off x="6309360" y="1234440"/>
            <a:ext cx="54000" cy="411408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32" name="Text 9"/>
          <p:cNvSpPr/>
          <p:nvPr/>
        </p:nvSpPr>
        <p:spPr>
          <a:xfrm>
            <a:off x="6473880" y="1380600"/>
            <a:ext cx="4836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F172A"/>
                </a:solidFill>
                <a:effectLst/>
                <a:uFillTx/>
                <a:latin typeface="Aptos"/>
              </a:rPr>
              <a:t>Améliorations possibles</a:t>
            </a:r>
            <a:endParaRPr lang="fr-FR" sz="2000" b="0" u="none" strike="noStrike">
              <a:solidFill>
                <a:srgbClr val="FFFFFF"/>
              </a:solidFill>
              <a:effectLst/>
              <a:uFillTx/>
              <a:latin typeface="Arial"/>
            </a:endParaRPr>
          </a:p>
        </p:txBody>
      </p:sp>
      <p:sp>
        <p:nvSpPr>
          <p:cNvPr id="333" name="Text 10"/>
          <p:cNvSpPr/>
          <p:nvPr/>
        </p:nvSpPr>
        <p:spPr>
          <a:xfrm>
            <a:off x="6473880" y="1710000"/>
            <a:ext cx="4836600" cy="354708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600" b="0" u="none" strike="noStrike">
                <a:solidFill>
                  <a:srgbClr val="0F172A"/>
                </a:solidFill>
                <a:effectLst/>
                <a:uFillTx/>
                <a:latin typeface="Aptos"/>
              </a:rPr>
              <a:t>• Ajouter prix, disponibilités et avis détaillés.</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Pondérer le score selon les préférences utilisateur.</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Géocoder les hôtels individuellement pour une carte plus précise.</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Automatiser l’exécution régulière du pipeline.</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0F172A"/>
                </a:solidFill>
                <a:effectLst/>
                <a:uFillTx/>
                <a:latin typeface="Aptos"/>
              </a:rPr>
              <a:t>• Ajouter des tests et une interface de consultation.</a:t>
            </a:r>
            <a:endParaRPr lang="fr-FR" sz="1600" b="0" u="none" strike="noStrike">
              <a:solidFill>
                <a:srgbClr val="FFFFFF"/>
              </a:solidFill>
              <a:effectLst/>
              <a:uFillTx/>
              <a:latin typeface="Arial"/>
            </a:endParaRPr>
          </a:p>
        </p:txBody>
      </p:sp>
      <p:sp>
        <p:nvSpPr>
          <p:cNvPr id="334" name="Shape 11"/>
          <p:cNvSpPr/>
          <p:nvPr/>
        </p:nvSpPr>
        <p:spPr>
          <a:xfrm>
            <a:off x="1417320" y="5669280"/>
            <a:ext cx="9326160" cy="502200"/>
          </a:xfrm>
          <a:prstGeom prst="roundRect">
            <a:avLst>
              <a:gd name="adj" fmla="val 14545"/>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5" name="Text 12"/>
          <p:cNvSpPr/>
          <p:nvPr/>
        </p:nvSpPr>
        <p:spPr>
          <a:xfrm>
            <a:off x="1664280" y="5687640"/>
            <a:ext cx="8868960" cy="346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chemeClr val="dk1"/>
                </a:solidFill>
                <a:effectLst/>
                <a:uFillTx/>
                <a:latin typeface="Aptos"/>
              </a:rPr>
              <a:t>le projet démontre une chaîne data complète et constitue une première version de pipeline de recommandation, perfectible et enrichissable.</a:t>
            </a:r>
            <a:endParaRPr lang="fr-FR" sz="1400" b="0" u="none" strike="noStrike">
              <a:solidFill>
                <a:srgbClr val="FFFFFF"/>
              </a:solidFill>
              <a:effectLst/>
              <a:uFillTx/>
              <a:latin typeface="Arial"/>
            </a:endParaRPr>
          </a:p>
        </p:txBody>
      </p:sp>
      <p:sp>
        <p:nvSpPr>
          <p:cNvPr id="336" name="Text 13"/>
          <p:cNvSpPr/>
          <p:nvPr/>
        </p:nvSpPr>
        <p:spPr>
          <a:xfrm>
            <a:off x="567000" y="6510600"/>
            <a:ext cx="3199680" cy="163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50" b="0" u="none" strike="noStrike">
                <a:solidFill>
                  <a:srgbClr val="CBD5E1"/>
                </a:solidFill>
                <a:effectLst/>
                <a:uFillTx/>
                <a:latin typeface="Aptos"/>
              </a:rPr>
              <a:t>Projet Kayak — Bloc 1</a:t>
            </a:r>
            <a:endParaRPr lang="fr-FR" sz="650" b="0" u="none" strike="noStrike">
              <a:solidFill>
                <a:srgbClr val="FFFFFF"/>
              </a:solidFill>
              <a:effectLst/>
              <a:uFillTx/>
              <a:latin typeface="Arial"/>
            </a:endParaRPr>
          </a:p>
        </p:txBody>
      </p:sp>
      <p:sp>
        <p:nvSpPr>
          <p:cNvPr id="337" name="PlaceHolder 1"/>
          <p:cNvSpPr>
            <a:spLocks noGrp="1"/>
          </p:cNvSpPr>
          <p:nvPr>
            <p:ph type="sldNum" idx="12"/>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57C13B5C-3ECF-4A85-AD3B-2BFDE6CE91A0}" type="slidenum">
              <a:rPr lang="en-US" sz="650" b="0" u="none" strike="noStrike">
                <a:solidFill>
                  <a:srgbClr val="CBD5E1"/>
                </a:solidFill>
                <a:effectLst/>
                <a:uFillTx/>
                <a:latin typeface="Aptos"/>
              </a:rPr>
              <a:t>9</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2333"/>
        </a:solidFill>
      </p:bgPr>
    </p:bg>
    <p:spTree>
      <p:nvGrpSpPr>
        <p:cNvPr id="1" name=""/>
        <p:cNvGrpSpPr/>
        <p:nvPr/>
      </p:nvGrpSpPr>
      <p:grpSpPr>
        <a:xfrm>
          <a:off x="0" y="0"/>
          <a:ext cx="0" cy="0"/>
          <a:chOff x="0" y="0"/>
          <a:chExt cx="0" cy="0"/>
        </a:xfrm>
      </p:grpSpPr>
      <p:sp>
        <p:nvSpPr>
          <p:cNvPr id="338" name="Shape 0"/>
          <p:cNvSpPr/>
          <p:nvPr/>
        </p:nvSpPr>
        <p:spPr>
          <a:xfrm>
            <a:off x="0" y="0"/>
            <a:ext cx="12191040" cy="6857280"/>
          </a:xfrm>
          <a:prstGeom prst="rect">
            <a:avLst/>
          </a:prstGeom>
          <a:solidFill>
            <a:srgbClr val="062333"/>
          </a:solidFill>
          <a:ln w="12700">
            <a:solidFill>
              <a:srgbClr val="062333"/>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9" name="Text 1"/>
          <p:cNvSpPr/>
          <p:nvPr/>
        </p:nvSpPr>
        <p:spPr>
          <a:xfrm>
            <a:off x="685800" y="804600"/>
            <a:ext cx="475416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100" b="1" u="none" strike="noStrike">
                <a:solidFill>
                  <a:srgbClr val="FFFFFF"/>
                </a:solidFill>
                <a:effectLst/>
                <a:uFillTx/>
                <a:latin typeface="Aptos Display"/>
                <a:ea typeface="Aptos Display"/>
              </a:rPr>
              <a:t>Conclusion</a:t>
            </a:r>
            <a:endParaRPr lang="fr-FR" sz="3100" b="0" u="none" strike="noStrike">
              <a:solidFill>
                <a:srgbClr val="FFFFFF"/>
              </a:solidFill>
              <a:effectLst/>
              <a:uFillTx/>
              <a:latin typeface="Arial"/>
            </a:endParaRPr>
          </a:p>
        </p:txBody>
      </p:sp>
      <p:sp>
        <p:nvSpPr>
          <p:cNvPr id="340" name="Shape 2"/>
          <p:cNvSpPr/>
          <p:nvPr/>
        </p:nvSpPr>
        <p:spPr>
          <a:xfrm>
            <a:off x="749880" y="1691640"/>
            <a:ext cx="3519720" cy="1325160"/>
          </a:xfrm>
          <a:prstGeom prst="roundRect">
            <a:avLst>
              <a:gd name="adj" fmla="val 5517"/>
            </a:avLst>
          </a:prstGeom>
          <a:solidFill>
            <a:srgbClr val="0B3144"/>
          </a:solidFill>
          <a:ln w="10160">
            <a:solidFill>
              <a:srgbClr val="164E63"/>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1" name="Shape 3"/>
          <p:cNvSpPr/>
          <p:nvPr/>
        </p:nvSpPr>
        <p:spPr>
          <a:xfrm>
            <a:off x="749880" y="1691640"/>
            <a:ext cx="54000" cy="1325160"/>
          </a:xfrm>
          <a:prstGeom prst="rect">
            <a:avLst/>
          </a:prstGeom>
          <a:solidFill>
            <a:srgbClr val="00A6A6"/>
          </a:solidFill>
          <a:ln w="12700">
            <a:solidFill>
              <a:srgbClr val="00A6A6"/>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42" name="Text 4"/>
          <p:cNvSpPr/>
          <p:nvPr/>
        </p:nvSpPr>
        <p:spPr>
          <a:xfrm>
            <a:off x="914400" y="1837800"/>
            <a:ext cx="31906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Ce que le projet montre</a:t>
            </a:r>
            <a:endParaRPr lang="fr-FR" sz="1400" b="0" u="none" strike="noStrike">
              <a:solidFill>
                <a:srgbClr val="FFFFFF"/>
              </a:solidFill>
              <a:effectLst/>
              <a:uFillTx/>
              <a:latin typeface="Arial"/>
            </a:endParaRPr>
          </a:p>
        </p:txBody>
      </p:sp>
      <p:sp>
        <p:nvSpPr>
          <p:cNvPr id="343" name="Text 5"/>
          <p:cNvSpPr/>
          <p:nvPr/>
        </p:nvSpPr>
        <p:spPr>
          <a:xfrm>
            <a:off x="914400" y="2167200"/>
            <a:ext cx="3190680" cy="7581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E2E8F0"/>
                </a:solidFill>
                <a:effectLst/>
                <a:uFillTx/>
                <a:latin typeface="Aptos"/>
              </a:rPr>
              <a:t>Une chaîne complète : géocodage, météo, score, scraping hôtelier, fusion, stockage et visualisation.</a:t>
            </a:r>
            <a:endParaRPr lang="fr-FR" sz="1200" b="0" u="none" strike="noStrike">
              <a:solidFill>
                <a:srgbClr val="FFFFFF"/>
              </a:solidFill>
              <a:effectLst/>
              <a:uFillTx/>
              <a:latin typeface="Arial"/>
            </a:endParaRPr>
          </a:p>
        </p:txBody>
      </p:sp>
      <p:sp>
        <p:nvSpPr>
          <p:cNvPr id="344" name="Shape 6"/>
          <p:cNvSpPr/>
          <p:nvPr/>
        </p:nvSpPr>
        <p:spPr>
          <a:xfrm>
            <a:off x="4480560" y="1691640"/>
            <a:ext cx="3519720" cy="1325160"/>
          </a:xfrm>
          <a:prstGeom prst="roundRect">
            <a:avLst>
              <a:gd name="adj" fmla="val 5517"/>
            </a:avLst>
          </a:prstGeom>
          <a:solidFill>
            <a:srgbClr val="0B3144"/>
          </a:solidFill>
          <a:ln w="10160">
            <a:solidFill>
              <a:srgbClr val="164E63"/>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5" name="Shape 7"/>
          <p:cNvSpPr/>
          <p:nvPr/>
        </p:nvSpPr>
        <p:spPr>
          <a:xfrm>
            <a:off x="4480560" y="1691640"/>
            <a:ext cx="54000" cy="1325160"/>
          </a:xfrm>
          <a:prstGeom prst="rect">
            <a:avLst/>
          </a:prstGeom>
          <a:solidFill>
            <a:srgbClr val="F59E0B"/>
          </a:solidFill>
          <a:ln w="12700">
            <a:solidFill>
              <a:srgbClr val="F59E0B"/>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46" name="Text 8"/>
          <p:cNvSpPr/>
          <p:nvPr/>
        </p:nvSpPr>
        <p:spPr>
          <a:xfrm>
            <a:off x="4645080" y="1837800"/>
            <a:ext cx="319068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Aptos"/>
              </a:rPr>
              <a:t>Valeur </a:t>
            </a:r>
            <a:r>
              <a:rPr lang="en-US" sz="1400" b="1" u="none" strike="noStrike">
                <a:solidFill>
                  <a:srgbClr val="FFFFFF"/>
                </a:solidFill>
                <a:effectLst/>
                <a:uFillTx/>
                <a:latin typeface="Aptos"/>
              </a:rPr>
              <a:t>métier</a:t>
            </a:r>
            <a:endParaRPr lang="fr-FR" sz="1400" b="0" u="none" strike="noStrike">
              <a:solidFill>
                <a:srgbClr val="FFFFFF"/>
              </a:solidFill>
              <a:effectLst/>
              <a:uFillTx/>
              <a:latin typeface="Arial"/>
            </a:endParaRPr>
          </a:p>
        </p:txBody>
      </p:sp>
      <p:sp>
        <p:nvSpPr>
          <p:cNvPr id="347" name="Text 9"/>
          <p:cNvSpPr/>
          <p:nvPr/>
        </p:nvSpPr>
        <p:spPr>
          <a:xfrm>
            <a:off x="4645080" y="2167200"/>
            <a:ext cx="3190680" cy="7581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E2E8F0"/>
                </a:solidFill>
                <a:effectLst/>
                <a:uFillTx/>
                <a:latin typeface="Aptos"/>
              </a:rPr>
              <a:t>La recommandation devient plus utile en combinant destination favorable et offre d’hébergement.</a:t>
            </a:r>
            <a:endParaRPr lang="fr-FR" sz="1200" b="0" u="none" strike="noStrike">
              <a:solidFill>
                <a:srgbClr val="FFFFFF"/>
              </a:solidFill>
              <a:effectLst/>
              <a:uFillTx/>
              <a:latin typeface="Arial"/>
            </a:endParaRPr>
          </a:p>
        </p:txBody>
      </p:sp>
      <p:sp>
        <p:nvSpPr>
          <p:cNvPr id="348" name="Shape 10"/>
          <p:cNvSpPr/>
          <p:nvPr/>
        </p:nvSpPr>
        <p:spPr>
          <a:xfrm>
            <a:off x="8211240" y="1691640"/>
            <a:ext cx="3153960" cy="1325160"/>
          </a:xfrm>
          <a:prstGeom prst="roundRect">
            <a:avLst>
              <a:gd name="adj" fmla="val 5517"/>
            </a:avLst>
          </a:prstGeom>
          <a:solidFill>
            <a:srgbClr val="0B3144"/>
          </a:solidFill>
          <a:ln w="10160">
            <a:solidFill>
              <a:srgbClr val="164E63"/>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9" name="Shape 11"/>
          <p:cNvSpPr/>
          <p:nvPr/>
        </p:nvSpPr>
        <p:spPr>
          <a:xfrm>
            <a:off x="8211240" y="1691640"/>
            <a:ext cx="54000" cy="1325160"/>
          </a:xfrm>
          <a:prstGeom prst="rect">
            <a:avLst/>
          </a:prstGeom>
          <a:solidFill>
            <a:srgbClr val="10B981"/>
          </a:solidFill>
          <a:ln w="12700">
            <a:solidFill>
              <a:srgbClr val="10B981"/>
            </a:solidFill>
            <a:round/>
          </a:ln>
        </p:spPr>
        <p:style>
          <a:lnRef idx="0"/>
          <a:fillRef idx="0"/>
          <a:effectRef idx="0"/>
          <a:fontRef idx="minor"/>
        </p:style>
        <p:txBody>
          <a:bodyPr lIns="27000" tIns="45000" rIns="27000" bIns="45000" anchor="t">
            <a:noAutofit/>
          </a:bodyPr>
          <a:p>
            <a:endParaRPr lang="fr-FR" sz="1800" b="0" u="none" strike="noStrike">
              <a:solidFill>
                <a:schemeClr val="dk1"/>
              </a:solidFill>
              <a:effectLst/>
              <a:uFillTx/>
              <a:latin typeface="Aptos"/>
            </a:endParaRPr>
          </a:p>
        </p:txBody>
      </p:sp>
      <p:sp>
        <p:nvSpPr>
          <p:cNvPr id="350" name="Text 12"/>
          <p:cNvSpPr/>
          <p:nvPr/>
        </p:nvSpPr>
        <p:spPr>
          <a:xfrm>
            <a:off x="8375760" y="1837800"/>
            <a:ext cx="282492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Compétences</a:t>
            </a:r>
            <a:endParaRPr lang="fr-FR" sz="1400" b="0" u="none" strike="noStrike">
              <a:solidFill>
                <a:srgbClr val="FFFFFF"/>
              </a:solidFill>
              <a:effectLst/>
              <a:uFillTx/>
              <a:latin typeface="Arial"/>
            </a:endParaRPr>
          </a:p>
        </p:txBody>
      </p:sp>
      <p:sp>
        <p:nvSpPr>
          <p:cNvPr id="351" name="Text 13"/>
          <p:cNvSpPr/>
          <p:nvPr/>
        </p:nvSpPr>
        <p:spPr>
          <a:xfrm>
            <a:off x="8375760" y="2167200"/>
            <a:ext cx="2824920" cy="75816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200" b="0" u="none" strike="noStrike">
                <a:solidFill>
                  <a:srgbClr val="E2E8F0"/>
                </a:solidFill>
                <a:effectLst/>
                <a:uFillTx/>
                <a:latin typeface="Aptos"/>
              </a:rPr>
              <a:t>API, scraping, parsing HTML, ETL, stockage S3, SQL et cartographie.</a:t>
            </a:r>
            <a:endParaRPr lang="fr-FR" sz="1200" b="0" u="none" strike="noStrike">
              <a:solidFill>
                <a:srgbClr val="FFFFFF"/>
              </a:solidFill>
              <a:effectLst/>
              <a:uFillTx/>
              <a:latin typeface="Arial"/>
            </a:endParaRPr>
          </a:p>
        </p:txBody>
      </p:sp>
      <p:sp>
        <p:nvSpPr>
          <p:cNvPr id="352" name="Shape 14"/>
          <p:cNvSpPr/>
          <p:nvPr/>
        </p:nvSpPr>
        <p:spPr>
          <a:xfrm>
            <a:off x="3246120" y="4251960"/>
            <a:ext cx="5714280" cy="822240"/>
          </a:xfrm>
          <a:prstGeom prst="roundRect">
            <a:avLst>
              <a:gd name="adj" fmla="val 15556"/>
            </a:avLst>
          </a:prstGeom>
          <a:solidFill>
            <a:srgbClr val="00A6A6"/>
          </a:solidFill>
          <a:ln w="12700">
            <a:solidFill>
              <a:srgbClr val="00A6A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3" name="Text 15"/>
          <p:cNvSpPr/>
          <p:nvPr/>
        </p:nvSpPr>
        <p:spPr>
          <a:xfrm>
            <a:off x="3429000" y="4517280"/>
            <a:ext cx="534852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Aptos"/>
              </a:rPr>
              <a:t>Merci pour votre attention</a:t>
            </a:r>
            <a:endParaRPr lang="fr-FR" sz="1400" b="0" u="none" strike="noStrike">
              <a:solidFill>
                <a:srgbClr val="FFFFFF"/>
              </a:solidFill>
              <a:effectLst/>
              <a:uFillTx/>
              <a:latin typeface="Arial"/>
            </a:endParaRPr>
          </a:p>
        </p:txBody>
      </p:sp>
      <p:sp>
        <p:nvSpPr>
          <p:cNvPr id="354" name="Text 16"/>
          <p:cNvSpPr/>
          <p:nvPr/>
        </p:nvSpPr>
        <p:spPr>
          <a:xfrm>
            <a:off x="4160520" y="5468040"/>
            <a:ext cx="388548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CBD5E1"/>
                </a:solidFill>
                <a:effectLst/>
                <a:uFillTx/>
                <a:latin typeface="Aptos"/>
              </a:rPr>
              <a:t>Questions / réponses</a:t>
            </a:r>
            <a:endParaRPr lang="fr-FR" sz="1400" b="0" u="none" strike="noStrike">
              <a:solidFill>
                <a:srgbClr val="FFFFFF"/>
              </a:solidFill>
              <a:effectLst/>
              <a:uFillTx/>
              <a:latin typeface="Arial"/>
            </a:endParaRPr>
          </a:p>
        </p:txBody>
      </p:sp>
      <p:sp>
        <p:nvSpPr>
          <p:cNvPr id="355" name="PlaceHolder 1"/>
          <p:cNvSpPr>
            <a:spLocks noGrp="1"/>
          </p:cNvSpPr>
          <p:nvPr>
            <p:ph type="sldNum" idx="13"/>
          </p:nvPr>
        </p:nvSpPr>
        <p:spPr>
          <a:xfrm>
            <a:off x="11448360" y="6446520"/>
            <a:ext cx="799200" cy="299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650" b="0" u="none" strike="noStrike">
                <a:solidFill>
                  <a:srgbClr val="CBD5E1"/>
                </a:solidFill>
                <a:effectLst/>
                <a:uFillTx/>
                <a:latin typeface="Aptos"/>
              </a:defRPr>
            </a:lvl1pPr>
          </a:lstStyle>
          <a:p>
            <a:pPr indent="0" algn="l" defTabSz="914400">
              <a:lnSpc>
                <a:spcPct val="100000"/>
              </a:lnSpc>
              <a:buNone/>
              <a:tabLst>
                <a:tab pos="0" algn="l"/>
              </a:tabLst>
            </a:pPr>
            <a:fld id="{41922568-9EE4-4D78-ABC1-6245CF3C2D7D}" type="slidenum">
              <a:rPr lang="en-US" sz="650" b="0" u="none" strike="noStrike">
                <a:solidFill>
                  <a:srgbClr val="CBD5E1"/>
                </a:solidFill>
                <a:effectLst/>
                <a:uFillTx/>
                <a:latin typeface="Aptos"/>
              </a:rPr>
              <a:t>10</a:t>
            </a:fld>
            <a:endParaRPr lang="fr-FR" sz="65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84</TotalTime>
  <Application>LibreOffice/26.2.3.2$Windows_X86_64 LibreOffice_project/70e089b17412e4cb7773e41413306b17a2328c34</Application>
  <AppVersion>15.0000</AppVersion>
  <Words>1481</Words>
  <Paragraphs>242</Paragraphs>
  <Company>Jedha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2026-05-03T01:36:22Z</dcterms:created>
  <dc:creator>Etudiant JEDHA</dc:creator>
  <dc:description/>
  <dc:language>fr-FR</dc:language>
  <cp:lastModifiedBy/>
  <dcterms:modified xsi:type="dcterms:W3CDTF">2026-05-28T17:54:27Z</dcterms:modified>
  <cp:revision>8</cp:revision>
  <dc:subject>Projet Kayak - Bloc 1</dc:subject>
  <dc:title>Projet Kayak — Pipeline data de recommandation de destinations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Grand écran</vt:lpwstr>
  </property>
  <property fmtid="{D5CDD505-2E9C-101B-9397-08002B2CF9AE}" pid="4" name="Slides">
    <vt:i4>10</vt:i4>
  </property>
</Properties>
</file>