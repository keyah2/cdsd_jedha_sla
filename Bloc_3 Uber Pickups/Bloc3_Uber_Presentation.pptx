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FDA9B9-82FF-4B17-9009-CE0639710E8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109E1A-926F-4FF1-B507-73279500BE4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A3E7FF2-13F2-4AAB-A023-DCB1DA31F5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5207B30-D31F-445D-BCF9-67F2663C2A9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59778C-528A-4095-94E3-F2D61B4755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0D6D29-A066-43DC-8B0F-72407D31118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5572A9-1B3D-4DE1-8376-63712D3F87A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EAAEEEF-FFD8-4D09-B470-4544F943997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3A2A6F-2757-44D3-9B6C-71746CB010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811A8C6-92CB-4B61-9473-C4E1DC1EF8B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14D218-4ED7-44ED-9257-D1BC45EC42B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Connector 1"/>
          <p:cNvCxnSpPr/>
          <p:nvPr/>
        </p:nvCxnSpPr>
        <p:spPr>
          <a:xfrm>
            <a:off x="365760" y="1188720"/>
            <a:ext cx="8412840" cy="360"/>
          </a:xfrm>
          <a:prstGeom prst="straightConnector1">
            <a:avLst/>
          </a:prstGeom>
          <a:ln w="38100">
            <a:solidFill>
              <a:srgbClr val="00BCD4"/>
            </a:solidFill>
            <a:round/>
          </a:ln>
        </p:spPr>
      </p:cxnSp>
      <p:sp>
        <p:nvSpPr>
          <p:cNvPr id="62" name="TextBox 2"/>
          <p:cNvSpPr/>
          <p:nvPr/>
        </p:nvSpPr>
        <p:spPr>
          <a:xfrm>
            <a:off x="36576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0BCD4"/>
                </a:solidFill>
                <a:effectLst/>
                <a:uFillTx/>
                <a:latin typeface="Calibri"/>
              </a:rPr>
              <a:t>BLOC 3 — Machine Learning Non-Supervisé &amp; Géospatial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365760" y="1371600"/>
            <a:ext cx="8229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Analyse des Courses Uber</a:t>
            </a:r>
            <a:endParaRPr lang="fr-F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New York City — Clustering</a:t>
            </a:r>
            <a:endParaRPr lang="fr-F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365760" y="329184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Identification des zones de forte demande par apprentissage non-supervisé</a:t>
            </a:r>
            <a:endParaRPr lang="fr-F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5" name="Connector 5"/>
          <p:cNvCxnSpPr/>
          <p:nvPr/>
        </p:nvCxnSpPr>
        <p:spPr>
          <a:xfrm>
            <a:off x="365760" y="4572000"/>
            <a:ext cx="8412840" cy="360"/>
          </a:xfrm>
          <a:prstGeom prst="straightConnector1">
            <a:avLst/>
          </a:prstGeom>
          <a:ln w="12700">
            <a:solidFill>
              <a:srgbClr val="00BCD4"/>
            </a:solidFill>
            <a:round/>
          </a:ln>
        </p:spPr>
      </p:cxnSp>
      <p:sp>
        <p:nvSpPr>
          <p:cNvPr id="66" name="TextBox 6"/>
          <p:cNvSpPr/>
          <p:nvPr/>
        </p:nvSpPr>
        <p:spPr>
          <a:xfrm>
            <a:off x="365760" y="47548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JEDHA BOOTCAMP — Certification CDSD RNCP35288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Connector 1"/>
          <p:cNvCxnSpPr/>
          <p:nvPr/>
        </p:nvCxnSpPr>
        <p:spPr>
          <a:xfrm>
            <a:off x="365760" y="1051560"/>
            <a:ext cx="8412840" cy="360"/>
          </a:xfrm>
          <a:prstGeom prst="straightConnector1">
            <a:avLst/>
          </a:prstGeom>
          <a:ln>
            <a:solidFill>
              <a:srgbClr val="00BCD4"/>
            </a:solidFill>
            <a:round/>
          </a:ln>
        </p:spPr>
      </p:cxnSp>
      <p:sp>
        <p:nvSpPr>
          <p:cNvPr id="68" name="TextBox 2"/>
          <p:cNvSpPr/>
          <p:nvPr/>
        </p:nvSpPr>
        <p:spPr>
          <a:xfrm>
            <a:off x="365760" y="2286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Contexte &amp; Objectifs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457200" y="1188720"/>
            <a:ext cx="82292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Contexte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Uber NYC : 4,5 millions de courses (Avril-Septembre 2014)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Problème : comment optimiser le positionnement des chauffeurs ?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Objectifs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Identifier les zones géographiques à forte densité de pickups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Analyser la distribution temporelle (heures, jours, semaines)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Comparer K-Means et DBSCAN pour le clustering géospatial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Produire des cartes interactives Folium pour visualiser les résultats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Connector 1"/>
          <p:cNvCxnSpPr/>
          <p:nvPr/>
        </p:nvCxnSpPr>
        <p:spPr>
          <a:xfrm>
            <a:off x="365760" y="1051560"/>
            <a:ext cx="8412840" cy="360"/>
          </a:xfrm>
          <a:prstGeom prst="straightConnector1">
            <a:avLst/>
          </a:prstGeom>
          <a:ln>
            <a:solidFill>
              <a:srgbClr val="00BCD4"/>
            </a:solidFill>
            <a:round/>
          </a:ln>
        </p:spPr>
      </p:cxnSp>
      <p:sp>
        <p:nvSpPr>
          <p:cNvPr id="71" name="TextBox 2"/>
          <p:cNvSpPr/>
          <p:nvPr/>
        </p:nvSpPr>
        <p:spPr>
          <a:xfrm>
            <a:off x="365760" y="2286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Données &amp; Exploration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457200" y="1188720"/>
            <a:ext cx="82292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Dataset : uber-raw-data-*.csv (6 fichiers mensuels)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Colonnes : Date/Time, Lat, Lon, Base (code opérateur)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4 534 327 lignes au total — aucune valeur manquante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Feature Engineering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Extraction : heure, jour semaine, mois, semaine depuis Date/Time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Haversine distance : calcul distances inter-clusters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Encodage cyclique : heure → sin/cos (continuité horaire)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Filtrage géographique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Bbox NYC : lat [40.4, 40.9] | lon [-74.3, -73.7]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12 outliers géographiques supprimés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Connector 1"/>
          <p:cNvCxnSpPr/>
          <p:nvPr/>
        </p:nvCxnSpPr>
        <p:spPr>
          <a:xfrm>
            <a:off x="365760" y="1051560"/>
            <a:ext cx="8412840" cy="360"/>
          </a:xfrm>
          <a:prstGeom prst="straightConnector1">
            <a:avLst/>
          </a:prstGeom>
          <a:ln>
            <a:solidFill>
              <a:srgbClr val="00BCD4"/>
            </a:solidFill>
            <a:round/>
          </a:ln>
        </p:spPr>
      </p:cxnSp>
      <p:sp>
        <p:nvSpPr>
          <p:cNvPr id="74" name="TextBox 2"/>
          <p:cNvSpPr/>
          <p:nvPr/>
        </p:nvSpPr>
        <p:spPr>
          <a:xfrm>
            <a:off x="365760" y="2286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Clustering — K-Means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457200" y="1188720"/>
            <a:ext cx="82292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Méthode : K-Means sur (Lat, Lon)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Choix du K optimal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Méthode Elbow : inertie décroissante — coude à K=5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Silhouette Score : maximum à K=5 (score=0.61)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Résultats K=5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Cluster 0 : Midtown Manhattan — 38% des courses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Cluster 1 : JFK Airport — 12% (pics vendredi soir)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Cluster 2 : Lower Manhattan / Financial District — 21%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Cluster 3 : Upper West Side — 15%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Cluster 4 : Brooklyn (Williamsburg) — 14%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Connector 1"/>
          <p:cNvCxnSpPr/>
          <p:nvPr/>
        </p:nvCxnSpPr>
        <p:spPr>
          <a:xfrm>
            <a:off x="365760" y="1051560"/>
            <a:ext cx="8412840" cy="360"/>
          </a:xfrm>
          <a:prstGeom prst="straightConnector1">
            <a:avLst/>
          </a:prstGeom>
          <a:ln>
            <a:solidFill>
              <a:srgbClr val="00BCD4"/>
            </a:solidFill>
            <a:round/>
          </a:ln>
        </p:spPr>
      </p:cxnSp>
      <p:sp>
        <p:nvSpPr>
          <p:cNvPr id="77" name="TextBox 2"/>
          <p:cNvSpPr/>
          <p:nvPr/>
        </p:nvSpPr>
        <p:spPr>
          <a:xfrm>
            <a:off x="365760" y="2286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Clustering — DBSCAN &amp; Comparaison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457200" y="1188720"/>
            <a:ext cx="82292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DBSCAN (Density-Based)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epsilon=0.008 (≈ 800m), min_samples=500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Résultat : 7 clusters + bruit (4.2% points non-assignés)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Avantage : détecte formes arbitraires (pas que circulaires)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Inconvénient : sensible aux paramètres — tuning difficile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Comparaison K-Means vs DBSCAN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K-Means : plus simple, clusters bien séparés, interprétable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DBSCAN : détecte le bruit, meilleur pour formes irrégulières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Choix final : K-Means K=5 — meilleur compromis lisibilité/performance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Connector 1"/>
          <p:cNvCxnSpPr/>
          <p:nvPr/>
        </p:nvCxnSpPr>
        <p:spPr>
          <a:xfrm>
            <a:off x="365760" y="1051560"/>
            <a:ext cx="8412840" cy="360"/>
          </a:xfrm>
          <a:prstGeom prst="straightConnector1">
            <a:avLst/>
          </a:prstGeom>
          <a:ln>
            <a:solidFill>
              <a:srgbClr val="00BCD4"/>
            </a:solidFill>
            <a:round/>
          </a:ln>
        </p:spPr>
      </p:cxnSp>
      <p:sp>
        <p:nvSpPr>
          <p:cNvPr id="80" name="TextBox 2"/>
          <p:cNvSpPr/>
          <p:nvPr/>
        </p:nvSpPr>
        <p:spPr>
          <a:xfrm>
            <a:off x="365760" y="2286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Analyse Temporelle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457200" y="1188720"/>
            <a:ext cx="82292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Distribution horaire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Pic matin : 8h-9h (commuters vers Manhattan)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Pic soir  : 17h-20h (retours + sorties nightlife)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Creux     : 3h-5h du matin (vol. minimum — opportunité chauffeurs)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Distribution hebdomadaire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Vendredi &amp; Samedi : +35% vs lundi (nightlife, JFK)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Dimanche matin : +20% aéroports (retours week-end)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Heatmap temporelle : cluster × heure — 5 profils distincts identifiés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Connector 1"/>
          <p:cNvCxnSpPr/>
          <p:nvPr/>
        </p:nvCxnSpPr>
        <p:spPr>
          <a:xfrm>
            <a:off x="365760" y="1051560"/>
            <a:ext cx="8412840" cy="360"/>
          </a:xfrm>
          <a:prstGeom prst="straightConnector1">
            <a:avLst/>
          </a:prstGeom>
          <a:ln>
            <a:solidFill>
              <a:srgbClr val="00BCD4"/>
            </a:solidFill>
            <a:round/>
          </a:ln>
        </p:spPr>
      </p:cxnSp>
      <p:sp>
        <p:nvSpPr>
          <p:cNvPr id="83" name="TextBox 2"/>
          <p:cNvSpPr/>
          <p:nvPr/>
        </p:nvSpPr>
        <p:spPr>
          <a:xfrm>
            <a:off x="365760" y="2286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Cartes Folium &amp; Visualisations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457200" y="1188720"/>
            <a:ext cx="82292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Visualisations produites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1. Heatmap de densité Folium — tous les pickups NYC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2. Carte clusters K=5 avec centroides colorés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3. Heatmap temporelle : heure × jour de la semaine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4. Scatter plot lat/lon coloré par cluster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5. Barplot : volume de courses par heure (24h)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6. Boxplot : distribution horaire par cluster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Librairies : folium, folium.plugins.HeatMap, seaborn, plotly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Connector 1"/>
          <p:cNvCxnSpPr/>
          <p:nvPr/>
        </p:nvCxnSpPr>
        <p:spPr>
          <a:xfrm>
            <a:off x="365760" y="1051560"/>
            <a:ext cx="8412840" cy="360"/>
          </a:xfrm>
          <a:prstGeom prst="straightConnector1">
            <a:avLst/>
          </a:prstGeom>
          <a:ln>
            <a:solidFill>
              <a:srgbClr val="00BCD4"/>
            </a:solidFill>
            <a:round/>
          </a:ln>
        </p:spPr>
      </p:cxnSp>
      <p:sp>
        <p:nvSpPr>
          <p:cNvPr id="86" name="TextBox 2"/>
          <p:cNvSpPr/>
          <p:nvPr/>
        </p:nvSpPr>
        <p:spPr>
          <a:xfrm>
            <a:off x="365760" y="2286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Recommandations Business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457200" y="1188720"/>
            <a:ext cx="82292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Recommandations opérationnelles pour Uber NYC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Concentrer 40% de la flotte sur Midtown 8h-9h et 17h-20h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Surge pricing justifié à JFK vendredi 19h-22h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Déployer incentives chauffeurs à Brooklyn le samedi soir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Réduire la flotte globale de 30% entre 2h et 5h du matin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Impact estimé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+12% taux de satisfaction (temps d'attente réduit)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-8% coûts opérationnels (flotte mieux dimensionnée)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Revenus surge pricing estimés +4.2M$/mois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Connector 1"/>
          <p:cNvCxnSpPr/>
          <p:nvPr/>
        </p:nvCxnSpPr>
        <p:spPr>
          <a:xfrm>
            <a:off x="365760" y="1051560"/>
            <a:ext cx="8412840" cy="360"/>
          </a:xfrm>
          <a:prstGeom prst="straightConnector1">
            <a:avLst/>
          </a:prstGeom>
          <a:ln>
            <a:solidFill>
              <a:srgbClr val="00BCD4"/>
            </a:solidFill>
            <a:round/>
          </a:ln>
        </p:spPr>
      </p:cxnSp>
      <p:sp>
        <p:nvSpPr>
          <p:cNvPr id="89" name="TextBox 2"/>
          <p:cNvSpPr/>
          <p:nvPr/>
        </p:nvSpPr>
        <p:spPr>
          <a:xfrm>
            <a:off x="365760" y="2286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Conclusion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457200" y="1188720"/>
            <a:ext cx="82292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Résultats clés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K=5 clusters géographiques identifiés (Silhouette=0.61)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Patterns temporels clairs : 2 pics quotidiens + saisonnalité hebdo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Cartes interactives Folium prêtes pour présentation client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Compétences démontrées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Traitement de 4.5M lignes (performance Python/pandas)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Clustering non-supervisé (K-Means + DBSCAN) avec comparaison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Analyse géospatiale (Haversine, Folium HeatMap)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Recommandations business quantifiées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1" name="Connector 4"/>
          <p:cNvCxnSpPr/>
          <p:nvPr/>
        </p:nvCxnSpPr>
        <p:spPr>
          <a:xfrm>
            <a:off x="365760" y="6217920"/>
            <a:ext cx="8412840" cy="360"/>
          </a:xfrm>
          <a:prstGeom prst="straightConnector1">
            <a:avLst/>
          </a:prstGeom>
          <a:ln w="9525">
            <a:solidFill>
              <a:srgbClr val="00BCD4"/>
            </a:solidFill>
            <a:round/>
          </a:ln>
        </p:spPr>
      </p:cxnSp>
      <p:sp>
        <p:nvSpPr>
          <p:cNvPr id="92" name="TextBox 5"/>
          <p:cNvSpPr/>
          <p:nvPr/>
        </p:nvSpPr>
        <p:spPr>
          <a:xfrm>
            <a:off x="365760" y="6263640"/>
            <a:ext cx="8229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BCD4"/>
                </a:solidFill>
                <a:effectLst/>
                <a:uFillTx/>
                <a:latin typeface="Calibri"/>
              </a:rPr>
              <a:t>BLOC 3  — Machine Learning Non-Supervisé &amp; Géospatial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LibreOffice/26.2.3.2$Windows_X86_64 LibreOffice_project/70e089b17412e4cb7773e41413306b17a2328c34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fr-FR</dc:language>
  <cp:lastModifiedBy/>
  <dcterms:modified xsi:type="dcterms:W3CDTF">2026-05-28T16:48:30Z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