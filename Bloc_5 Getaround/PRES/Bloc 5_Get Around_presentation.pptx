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fr-FR" sz="1800" b="0" u="none" strike="noStrike">
                <a:solidFill>
                  <a:schemeClr val="dk1"/>
                </a:solidFill>
                <a:effectLst/>
                <a:uFillTx/>
                <a:latin typeface="Aptos"/>
              </a:rPr>
              <a:t>Cliquez pour déplacer la diapo</a:t>
            </a:r>
            <a:endParaRPr lang="fr-FR" sz="1800" b="0" u="none" strike="noStrike">
              <a:solidFill>
                <a:schemeClr val="dk1"/>
              </a:solidFill>
              <a:effectLst/>
              <a:uFillTx/>
              <a:latin typeface="Apto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&lt;en-tête&gt;</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3FE53D72-691C-4D92-AB6F-7AF65F40B4BF}" type="slidenum">
              <a:rPr lang="fr-FR" sz="1400" b="0" u="none" strike="noStrike">
                <a:solidFill>
                  <a:srgbClr val="000000"/>
                </a:solidFill>
                <a:effectLst/>
                <a:uFillTx/>
                <a:latin typeface="Times New Roman"/>
              </a:rPr>
              <a:t>&lt;numéro&gt;</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0" y="0"/>
            <a:ext cx="0" cy="0"/>
          </a:xfrm>
          <a:prstGeom prst="rect">
            <a:avLst/>
          </a:prstGeom>
          <a:ln w="0">
            <a:noFill/>
          </a:ln>
        </p:spPr>
      </p:sp>
      <p:sp>
        <p:nvSpPr>
          <p:cNvPr id="48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Je présente le projet GetAround, qui combine deux livrables : une analyse produit sur les retards de restitution et une API de prédiction de prix. Le but est de transformer les données en décision opérationnelle : choisir un délai minimal entre deux locations, puis montrer comment un modèle peut être exposé comme service avec FastAPI.</a:t>
            </a:r>
            <a:endParaRPr lang="fr-FR" sz="2000" b="0" u="none" strike="noStrike">
              <a:solidFill>
                <a:srgbClr val="000000"/>
              </a:solidFill>
              <a:effectLst/>
              <a:uFillTx/>
              <a:latin typeface="Arial"/>
            </a:endParaRPr>
          </a:p>
        </p:txBody>
      </p:sp>
      <p:sp>
        <p:nvSpPr>
          <p:cNvPr id="482"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BCC7DE7-891C-448D-BCDE-4D31C9D9610A}"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0" y="0"/>
            <a:ext cx="0" cy="0"/>
          </a:xfrm>
          <a:prstGeom prst="rect">
            <a:avLst/>
          </a:prstGeom>
          <a:ln w="0">
            <a:noFill/>
          </a:ln>
        </p:spPr>
      </p:sp>
      <p:sp>
        <p:nvSpPr>
          <p:cNvPr id="48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problème métier est un arbitrage. Si GetAround met trop peu de délai, les retards continuent à perturber les conducteurs suivants. Si le délai est trop long, certaines locations disparaissent des résultats de recherche. La question est donc de choisir un seuil et un périmètre qui protègent réellement l’expérience client sans pénaliser excessivement l’activité.</a:t>
            </a:r>
            <a:endParaRPr lang="fr-FR" sz="2000" b="0" u="none" strike="noStrike">
              <a:solidFill>
                <a:srgbClr val="000000"/>
              </a:solidFill>
              <a:effectLst/>
              <a:uFillTx/>
              <a:latin typeface="Arial"/>
            </a:endParaRPr>
          </a:p>
        </p:txBody>
      </p:sp>
      <p:sp>
        <p:nvSpPr>
          <p:cNvPr id="485"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C851D00-2AEC-4194-89B5-027247768F54}"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0" y="0"/>
            <a:ext cx="0" cy="0"/>
          </a:xfrm>
          <a:prstGeom prst="rect">
            <a:avLst/>
          </a:prstGeom>
          <a:ln w="0">
            <a:noFill/>
          </a:ln>
        </p:spPr>
      </p:sp>
      <p:sp>
        <p:nvSpPr>
          <p:cNvPr id="48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projet repose sur deux fichiers principaux. Le premier décrit les locations et permet d’étudier les retards entre deux locations successives. Le second contient les caractéristiques de véhicules pour entraîner un modèle de prix. Un point important est l’absence d’une variable de chiffre d’affaires dans les retards : l’impact commercial est donc mesuré par le nombre de locations affectées.</a:t>
            </a:r>
            <a:endParaRPr lang="fr-FR" sz="2000" b="0" u="none" strike="noStrike">
              <a:solidFill>
                <a:srgbClr val="000000"/>
              </a:solidFill>
              <a:effectLst/>
              <a:uFillTx/>
              <a:latin typeface="Arial"/>
            </a:endParaRPr>
          </a:p>
        </p:txBody>
      </p:sp>
      <p:sp>
        <p:nvSpPr>
          <p:cNvPr id="488"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C4CF602-3BD8-4244-9BD5-0DCCADD5C6F7}"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0" y="0"/>
            <a:ext cx="0" cy="0"/>
          </a:xfrm>
          <a:prstGeom prst="rect">
            <a:avLst/>
          </a:prstGeom>
          <a:ln w="0">
            <a:noFill/>
          </a:ln>
        </p:spPr>
      </p:sp>
      <p:sp>
        <p:nvSpPr>
          <p:cNvPr id="49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méthode est volontairement simple et défendable. Je pars des locations qui dépendent d’une location précédente, puis je simule plusieurs seuils : 30, 60, 90, 120 minutes et au-delà. À chaque fois, je mesure deux choses : combien de locations seraient affectées, et combien de cas problématiques seraient évités.</a:t>
            </a:r>
            <a:endParaRPr lang="fr-FR" sz="2000" b="0" u="none" strike="noStrike">
              <a:solidFill>
                <a:srgbClr val="000000"/>
              </a:solidFill>
              <a:effectLst/>
              <a:uFillTx/>
              <a:latin typeface="Arial"/>
            </a:endParaRPr>
          </a:p>
        </p:txBody>
      </p:sp>
      <p:sp>
        <p:nvSpPr>
          <p:cNvPr id="491"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789E531-5C6B-4939-9AFB-B76133702AB9}"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0" y="0"/>
            <a:ext cx="0" cy="0"/>
          </a:xfrm>
          <a:prstGeom prst="rect">
            <a:avLst/>
          </a:prstGeom>
          <a:ln w="0">
            <a:noFill/>
          </a:ln>
        </p:spPr>
      </p:sp>
      <p:sp>
        <p:nvSpPr>
          <p:cNvPr id="49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recommandation centrale est un délai de 120 minutes appliqué à l’ensemble du parc. Cette règle résout 180 cas problématiques, soit 82,6 % du total, tout en affectant seulement 3,1 % des locations. L’option Connect uniquement est plus prudente, mais elle ne résout que 27,1 % des cas problématiques.</a:t>
            </a:r>
            <a:endParaRPr lang="fr-FR" sz="2000" b="0" u="none" strike="noStrike">
              <a:solidFill>
                <a:srgbClr val="000000"/>
              </a:solidFill>
              <a:effectLst/>
              <a:uFillTx/>
              <a:latin typeface="Arial"/>
            </a:endParaRPr>
          </a:p>
        </p:txBody>
      </p:sp>
      <p:sp>
        <p:nvSpPr>
          <p:cNvPr id="494"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0B8EC27-C629-4F17-852E-49A5A1106E4D}"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0" y="0"/>
            <a:ext cx="0" cy="0"/>
          </a:xfrm>
          <a:prstGeom prst="rect">
            <a:avLst/>
          </a:prstGeom>
          <a:ln w="0">
            <a:noFill/>
          </a:ln>
        </p:spPr>
      </p:sp>
      <p:sp>
        <p:nvSpPr>
          <p:cNvPr id="49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Les données montrent une différence nette entre les modes de check-in. Les locations Connect semblent plus maîtrisées : moins de retards longs et une part plus faible de cas problématiques. Les locations mobile sont plus exposées. Mais comme le problème n’est pas limité à Connect, une règle appliquée à tout le parc protège mieux l’expérience globale.</a:t>
            </a:r>
            <a:endParaRPr lang="fr-FR" sz="2000" b="0" u="none" strike="noStrike">
              <a:solidFill>
                <a:srgbClr val="000000"/>
              </a:solidFill>
              <a:effectLst/>
              <a:uFillTx/>
              <a:latin typeface="Arial"/>
            </a:endParaRPr>
          </a:p>
        </p:txBody>
      </p:sp>
      <p:sp>
        <p:nvSpPr>
          <p:cNvPr id="497"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A9BDDD4-7513-466A-ABCE-E73E254588A5}"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0" y="0"/>
            <a:ext cx="0" cy="0"/>
          </a:xfrm>
          <a:prstGeom prst="rect">
            <a:avLst/>
          </a:prstGeom>
          <a:ln w="0">
            <a:noFill/>
          </a:ln>
        </p:spPr>
      </p:sp>
      <p:sp>
        <p:nvSpPr>
          <p:cNvPr id="49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Sur le volet pricing, j’ai comparé plusieurs modèles. Le RandomForest est retenu, avec une MAE d’environ 10,75 euros par jour et un R² de 0,727. Les variables les plus importantes sont cohérentes avec le métier : puissance moteur, kilométrage, modèle du véhicule et certains équipements.</a:t>
            </a:r>
            <a:endParaRPr lang="fr-FR" sz="2000" b="0" u="none" strike="noStrike">
              <a:solidFill>
                <a:srgbClr val="000000"/>
              </a:solidFill>
              <a:effectLst/>
              <a:uFillTx/>
              <a:latin typeface="Arial"/>
            </a:endParaRPr>
          </a:p>
        </p:txBody>
      </p:sp>
      <p:sp>
        <p:nvSpPr>
          <p:cNvPr id="500"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852F231D-8E2C-4ECE-92AB-A2B69B13CD89}" type="slidenum">
              <a:rPr lang="en-US" sz="1800" b="0" u="none" strike="noStrike">
                <a:solidFill>
                  <a:schemeClr val="dk1"/>
                </a:solidFill>
                <a:effectLst/>
                <a:uFillTx/>
                <a:latin typeface="+mn-lt"/>
                <a:ea typeface="+mn-ea"/>
              </a:rPr>
              <a:t>10</a:t>
            </a:fld>
            <a:endParaRPr lang="fr-FR"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0" y="0"/>
            <a:ext cx="0" cy="0"/>
          </a:xfrm>
          <a:prstGeom prst="rect">
            <a:avLst/>
          </a:prstGeom>
          <a:ln w="0">
            <a:noFill/>
          </a:ln>
        </p:spPr>
      </p:sp>
      <p:sp>
        <p:nvSpPr>
          <p:cNvPr id="50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Le projet est structuré comme un petit produit data. Le dashboard Streamlit permet de lire la décision métier. L’API FastAPI expose le modèle avec un endpoint /predict et une documentation automatique dans /docs. Les Dockerfiles, le Makefile, les tests et le dépôt GitHub rendent l’ensemble plus reproductible et plus proche d’un usage professionnel.</a:t>
            </a:r>
            <a:endParaRPr lang="fr-FR" sz="2000" b="0" u="none" strike="noStrike">
              <a:solidFill>
                <a:srgbClr val="000000"/>
              </a:solidFill>
              <a:effectLst/>
              <a:uFillTx/>
              <a:latin typeface="Arial"/>
            </a:endParaRPr>
          </a:p>
        </p:txBody>
      </p:sp>
      <p:sp>
        <p:nvSpPr>
          <p:cNvPr id="503"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0D3E9B0B-AAA9-454B-B797-FBC8DC4AE859}"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0" y="0"/>
            <a:ext cx="0" cy="0"/>
          </a:xfrm>
          <a:prstGeom prst="rect">
            <a:avLst/>
          </a:prstGeom>
          <a:ln w="0">
            <a:noFill/>
          </a:ln>
        </p:spPr>
      </p:sp>
      <p:sp>
        <p:nvSpPr>
          <p:cNvPr id="50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La recommandation est utile parce qu’elle donne un arbitrage clair et chiffré. Mais il faut rester honnête sur les limites : on n’a pas de revenu direct dans le fichier, donc l’impact commercial reste un proxy. La règle devrait être testée en production, par exemple sur une partie du parc, avant généralisation.</a:t>
            </a:r>
            <a:endParaRPr lang="fr-FR" sz="2000" b="0" u="none" strike="noStrike">
              <a:solidFill>
                <a:srgbClr val="000000"/>
              </a:solidFill>
              <a:effectLst/>
              <a:uFillTx/>
              <a:latin typeface="Arial"/>
            </a:endParaRPr>
          </a:p>
        </p:txBody>
      </p:sp>
      <p:sp>
        <p:nvSpPr>
          <p:cNvPr id="506"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57A46C9-CD2C-4F84-A6C2-21590583A91C}"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0" y="0"/>
            <a:ext cx="0" cy="0"/>
          </a:xfrm>
          <a:prstGeom prst="rect">
            <a:avLst/>
          </a:prstGeom>
          <a:ln w="0">
            <a:noFill/>
          </a:ln>
        </p:spPr>
      </p:sp>
      <p:sp>
        <p:nvSpPr>
          <p:cNvPr id="50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Pour conclure, le projet répond aux deux dimensions du brief. D’un côté, il propose une recommandation produit claire : 120 minutes de délai minimal sur l’ensemble du parc. De l’autre, il montre une chaîne technique complète avec modèle, API, documentation et dépôt GitHub. Je peux maintenant détailler le choix du seuil, les métriques du modèle ou l’architecture de déploiement.</a:t>
            </a:r>
            <a:endParaRPr lang="fr-FR" sz="2000" b="0" u="none" strike="noStrike">
              <a:solidFill>
                <a:srgbClr val="000000"/>
              </a:solidFill>
              <a:effectLst/>
              <a:uFillTx/>
              <a:latin typeface="Arial"/>
            </a:endParaRPr>
          </a:p>
        </p:txBody>
      </p:sp>
      <p:sp>
        <p:nvSpPr>
          <p:cNvPr id="509"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E9E844B-DA6C-4393-B558-53810C85AF3C}" type="slidenum">
              <a:rPr lang="en-US" sz="1800" b="0" u="none" strike="noStrike">
                <a:solidFill>
                  <a:schemeClr val="dk1"/>
                </a:solidFill>
                <a:effectLst/>
                <a:uFillTx/>
                <a:latin typeface="+mn-lt"/>
                <a:ea typeface="+mn-ea"/>
              </a:rPr>
              <a:t>&lt;numéro&gt;</a:t>
            </a:fld>
            <a:endParaRPr lang="fr-FR"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
    <p:bg>
      <p:bgPr>
        <a:solidFill>
          <a:srgbClr val="F4F8F8"/>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Aptos"/>
              </a:defRPr>
            </a:lvl1pPr>
          </a:lstStyle>
          <a:p>
            <a:pPr indent="0" algn="l">
              <a:buNone/>
            </a:pPr>
            <a:r>
              <a:rPr lang="fr-FR" sz="1800" b="0" u="none" strike="noStrike">
                <a:solidFill>
                  <a:schemeClr val="dk1"/>
                </a:solidFill>
                <a:effectLst/>
                <a:uFillTx/>
                <a:latin typeface="Aptos"/>
              </a:rPr>
              <a:t>Cliquez pour éditer le format du texte-titre</a:t>
            </a:r>
            <a:endParaRPr lang="fr-FR"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fr-FR"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fr-FR"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fr-FR"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fr-FR"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fr-FR"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fr-FR"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fr-FR"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fr-FR" sz="3200" b="0" u="none" strike="noStrike">
                <a:solidFill>
                  <a:schemeClr val="dk1"/>
                </a:solidFill>
                <a:effectLst/>
                <a:uFillTx/>
                <a:latin typeface="Aptos"/>
              </a:rPr>
              <a:t>Cliquez pour éditer le format du plan de texte</a:t>
            </a:r>
            <a:endParaRPr lang="fr-FR"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fr-FR" sz="2400" b="0" u="none" strike="noStrike">
                <a:solidFill>
                  <a:schemeClr val="dk1"/>
                </a:solidFill>
                <a:effectLst/>
                <a:uFillTx/>
                <a:latin typeface="Aptos"/>
              </a:rPr>
              <a:t>Second niveau de plan</a:t>
            </a:r>
            <a:endParaRPr lang="fr-FR"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fr-FR" sz="2000" b="0" u="none" strike="noStrike">
                <a:solidFill>
                  <a:schemeClr val="dk1"/>
                </a:solidFill>
                <a:effectLst/>
                <a:uFillTx/>
                <a:latin typeface="Aptos"/>
              </a:rPr>
              <a:t>Troisième niveau de plan</a:t>
            </a:r>
            <a:endParaRPr lang="fr-FR"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fr-FR" sz="2000" b="0" u="none" strike="noStrike">
                <a:solidFill>
                  <a:schemeClr val="dk1"/>
                </a:solidFill>
                <a:effectLst/>
                <a:uFillTx/>
                <a:latin typeface="Aptos"/>
              </a:rPr>
              <a:t>Quatrième niveau de plan</a:t>
            </a:r>
            <a:endParaRPr lang="fr-FR"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fr-FR" sz="2000" b="0" u="none" strike="noStrike">
                <a:solidFill>
                  <a:schemeClr val="dk1"/>
                </a:solidFill>
                <a:effectLst/>
                <a:uFillTx/>
                <a:latin typeface="Aptos"/>
              </a:rPr>
              <a:t>Cinquième niveau de plan</a:t>
            </a:r>
            <a:endParaRPr lang="fr-FR"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fr-FR" sz="2000" b="0" u="none" strike="noStrike">
                <a:solidFill>
                  <a:schemeClr val="dk1"/>
                </a:solidFill>
                <a:effectLst/>
                <a:uFillTx/>
                <a:latin typeface="Aptos"/>
              </a:rPr>
              <a:t>Sixième niveau de plan</a:t>
            </a:r>
            <a:endParaRPr lang="fr-FR"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fr-FR" sz="2000" b="0" u="none" strike="noStrike">
                <a:solidFill>
                  <a:schemeClr val="dk1"/>
                </a:solidFill>
                <a:effectLst/>
                <a:uFillTx/>
                <a:latin typeface="Aptos"/>
              </a:rPr>
              <a:t>Septième niveau de plan</a:t>
            </a:r>
            <a:endParaRPr lang="fr-FR"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2E3E"/>
        </a:solidFill>
      </p:bgPr>
    </p:bg>
    <p:spTree>
      <p:nvGrpSpPr>
        <p:cNvPr id="1" name=""/>
        <p:cNvGrpSpPr/>
        <p:nvPr/>
      </p:nvGrpSpPr>
      <p:grpSpPr>
        <a:xfrm>
          <a:off x="0" y="0"/>
          <a:ext cx="0" cy="0"/>
          <a:chOff x="0" y="0"/>
          <a:chExt cx="0" cy="0"/>
        </a:xfrm>
      </p:grpSpPr>
      <p:sp>
        <p:nvSpPr>
          <p:cNvPr id="10" name="Text 0"/>
          <p:cNvSpPr/>
          <p:nvPr/>
        </p:nvSpPr>
        <p:spPr>
          <a:xfrm>
            <a:off x="502920" y="1051560"/>
            <a:ext cx="393156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4000" b="1" u="none" strike="noStrike">
                <a:solidFill>
                  <a:srgbClr val="FFFFFF"/>
                </a:solidFill>
                <a:effectLst/>
                <a:uFillTx/>
                <a:latin typeface="Aptos"/>
              </a:rPr>
              <a:t>GetAround</a:t>
            </a:r>
            <a:endParaRPr lang="fr-FR" sz="4000" b="0" u="none" strike="noStrike">
              <a:solidFill>
                <a:srgbClr val="FFFFFF"/>
              </a:solidFill>
              <a:effectLst/>
              <a:uFillTx/>
              <a:latin typeface="Arial"/>
            </a:endParaRPr>
          </a:p>
        </p:txBody>
      </p:sp>
      <p:sp>
        <p:nvSpPr>
          <p:cNvPr id="11" name="Text 1"/>
          <p:cNvSpPr/>
          <p:nvPr/>
        </p:nvSpPr>
        <p:spPr>
          <a:xfrm>
            <a:off x="502920" y="1554480"/>
            <a:ext cx="612612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0" u="none" strike="noStrike">
                <a:solidFill>
                  <a:srgbClr val="DDEEEF"/>
                </a:solidFill>
                <a:effectLst/>
                <a:uFillTx/>
                <a:latin typeface="Aptos"/>
              </a:rPr>
              <a:t>Analyse des retards et API de prédiction de prix</a:t>
            </a:r>
            <a:endParaRPr lang="fr-FR" sz="2000" b="0" u="none" strike="noStrike">
              <a:solidFill>
                <a:srgbClr val="FFFFFF"/>
              </a:solidFill>
              <a:effectLst/>
              <a:uFillTx/>
              <a:latin typeface="Arial"/>
            </a:endParaRPr>
          </a:p>
        </p:txBody>
      </p:sp>
      <p:sp>
        <p:nvSpPr>
          <p:cNvPr id="12" name="Text 2"/>
          <p:cNvSpPr/>
          <p:nvPr/>
        </p:nvSpPr>
        <p:spPr>
          <a:xfrm>
            <a:off x="502920" y="1984320"/>
            <a:ext cx="621756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2000" b="0" u="none" strike="noStrike">
                <a:solidFill>
                  <a:srgbClr val="C0F5F8"/>
                </a:solidFill>
                <a:effectLst/>
                <a:uFillTx/>
                <a:latin typeface="Aptos"/>
              </a:rPr>
              <a:t>Décision produit · Dashboard Streamlit · API FastAPI</a:t>
            </a:r>
            <a:endParaRPr lang="fr-FR" sz="2000" b="0" u="none" strike="noStrike">
              <a:solidFill>
                <a:srgbClr val="FFFFFF"/>
              </a:solidFill>
              <a:effectLst/>
              <a:uFillTx/>
              <a:latin typeface="Arial"/>
            </a:endParaRPr>
          </a:p>
        </p:txBody>
      </p:sp>
      <p:sp>
        <p:nvSpPr>
          <p:cNvPr id="13" name="Shape 3"/>
          <p:cNvSpPr/>
          <p:nvPr/>
        </p:nvSpPr>
        <p:spPr>
          <a:xfrm>
            <a:off x="502920" y="3968280"/>
            <a:ext cx="5276520" cy="1334880"/>
          </a:xfrm>
          <a:prstGeom prst="rect">
            <a:avLst/>
          </a:prstGeom>
          <a:solidFill>
            <a:srgbClr val="083E50"/>
          </a:solidFill>
          <a:ln w="12700">
            <a:noFill/>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 name="Text 4"/>
          <p:cNvSpPr/>
          <p:nvPr/>
        </p:nvSpPr>
        <p:spPr>
          <a:xfrm>
            <a:off x="752760" y="4359960"/>
            <a:ext cx="4699800" cy="57960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1800" b="0" u="none" strike="noStrike">
                <a:solidFill>
                  <a:srgbClr val="FFFFFF"/>
                </a:solidFill>
                <a:effectLst/>
                <a:uFillTx/>
                <a:latin typeface="Aptos"/>
              </a:rPr>
              <a:t>Objectif : Recommander un délai minimal entre deux locations successives et exposer un modèle de pricing via une API documentée.</a:t>
            </a:r>
            <a:endParaRPr lang="fr-FR" sz="1800" b="0" u="none" strike="noStrike">
              <a:solidFill>
                <a:srgbClr val="FFFFFF"/>
              </a:solidFill>
              <a:effectLst/>
              <a:uFillTx/>
              <a:latin typeface="Arial"/>
            </a:endParaRPr>
          </a:p>
        </p:txBody>
      </p:sp>
      <p:sp>
        <p:nvSpPr>
          <p:cNvPr id="15" name="Shape 5"/>
          <p:cNvSpPr/>
          <p:nvPr/>
        </p:nvSpPr>
        <p:spPr>
          <a:xfrm>
            <a:off x="7315200" y="960120"/>
            <a:ext cx="360" cy="4526280"/>
          </a:xfrm>
          <a:prstGeom prst="line">
            <a:avLst/>
          </a:prstGeom>
          <a:ln w="25400">
            <a:solidFill>
              <a:srgbClr val="10B8B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 name="Text 6"/>
          <p:cNvSpPr/>
          <p:nvPr/>
        </p:nvSpPr>
        <p:spPr>
          <a:xfrm>
            <a:off x="7543800" y="1078920"/>
            <a:ext cx="2011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10B8B6"/>
                </a:solidFill>
                <a:effectLst/>
                <a:uFillTx/>
                <a:latin typeface="Aptos"/>
              </a:rPr>
              <a:t>21 310</a:t>
            </a:r>
            <a:endParaRPr lang="fr-FR" sz="2800" b="0" u="none" strike="noStrike">
              <a:solidFill>
                <a:srgbClr val="FFFFFF"/>
              </a:solidFill>
              <a:effectLst/>
              <a:uFillTx/>
              <a:latin typeface="Arial"/>
            </a:endParaRPr>
          </a:p>
        </p:txBody>
      </p:sp>
      <p:sp>
        <p:nvSpPr>
          <p:cNvPr id="17" name="Text 7"/>
          <p:cNvSpPr/>
          <p:nvPr/>
        </p:nvSpPr>
        <p:spPr>
          <a:xfrm>
            <a:off x="7539840" y="1480320"/>
            <a:ext cx="3361320" cy="25776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2000" b="0" u="none" strike="noStrike">
                <a:solidFill>
                  <a:srgbClr val="E6F5F8"/>
                </a:solidFill>
                <a:effectLst/>
                <a:uFillTx/>
                <a:latin typeface="Aptos"/>
              </a:rPr>
              <a:t>réservations de voitures</a:t>
            </a:r>
            <a:endParaRPr lang="fr-FR" sz="2000" b="0" u="none" strike="noStrike">
              <a:solidFill>
                <a:srgbClr val="FFFFFF"/>
              </a:solidFill>
              <a:effectLst/>
              <a:uFillTx/>
              <a:latin typeface="Arial"/>
            </a:endParaRPr>
          </a:p>
        </p:txBody>
      </p:sp>
      <p:sp>
        <p:nvSpPr>
          <p:cNvPr id="18" name="Text 8"/>
          <p:cNvSpPr/>
          <p:nvPr/>
        </p:nvSpPr>
        <p:spPr>
          <a:xfrm>
            <a:off x="7543800" y="2020680"/>
            <a:ext cx="2011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10B8B6"/>
                </a:solidFill>
                <a:effectLst/>
                <a:uFillTx/>
                <a:latin typeface="Aptos"/>
              </a:rPr>
              <a:t>218</a:t>
            </a:r>
            <a:endParaRPr lang="fr-FR" sz="2800" b="0" u="none" strike="noStrike">
              <a:solidFill>
                <a:srgbClr val="FFFFFF"/>
              </a:solidFill>
              <a:effectLst/>
              <a:uFillTx/>
              <a:latin typeface="Arial"/>
            </a:endParaRPr>
          </a:p>
        </p:txBody>
      </p:sp>
      <p:sp>
        <p:nvSpPr>
          <p:cNvPr id="19" name="Text 9"/>
          <p:cNvSpPr/>
          <p:nvPr/>
        </p:nvSpPr>
        <p:spPr>
          <a:xfrm>
            <a:off x="7560000" y="2517480"/>
            <a:ext cx="22399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0" u="none" strike="noStrike">
                <a:solidFill>
                  <a:srgbClr val="D8ECEE"/>
                </a:solidFill>
                <a:effectLst/>
                <a:uFillTx/>
                <a:latin typeface="Aptos"/>
              </a:rPr>
              <a:t>cas problématiques</a:t>
            </a:r>
            <a:endParaRPr lang="fr-FR" sz="2000" b="0" u="none" strike="noStrike">
              <a:solidFill>
                <a:srgbClr val="FFFFFF"/>
              </a:solidFill>
              <a:effectLst/>
              <a:uFillTx/>
              <a:latin typeface="Arial"/>
            </a:endParaRPr>
          </a:p>
        </p:txBody>
      </p:sp>
      <p:sp>
        <p:nvSpPr>
          <p:cNvPr id="20" name="Text 10"/>
          <p:cNvSpPr/>
          <p:nvPr/>
        </p:nvSpPr>
        <p:spPr>
          <a:xfrm>
            <a:off x="7543800" y="2962800"/>
            <a:ext cx="2011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F2A93B"/>
                </a:solidFill>
                <a:effectLst/>
                <a:uFillTx/>
                <a:latin typeface="Aptos"/>
              </a:rPr>
              <a:t>120 min</a:t>
            </a:r>
            <a:endParaRPr lang="fr-FR" sz="2800" b="0" u="none" strike="noStrike">
              <a:solidFill>
                <a:srgbClr val="FFFFFF"/>
              </a:solidFill>
              <a:effectLst/>
              <a:uFillTx/>
              <a:latin typeface="Arial"/>
            </a:endParaRPr>
          </a:p>
        </p:txBody>
      </p:sp>
      <p:sp>
        <p:nvSpPr>
          <p:cNvPr id="21" name="Text 11"/>
          <p:cNvSpPr/>
          <p:nvPr/>
        </p:nvSpPr>
        <p:spPr>
          <a:xfrm>
            <a:off x="7560000" y="3417480"/>
            <a:ext cx="22399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2000" b="0" u="none" strike="noStrike">
                <a:solidFill>
                  <a:srgbClr val="E6F5F8"/>
                </a:solidFill>
                <a:effectLst/>
                <a:uFillTx/>
                <a:latin typeface="Aptos"/>
              </a:rPr>
              <a:t>seuil recommandé</a:t>
            </a:r>
            <a:endParaRPr lang="fr-FR" sz="2000" b="0" u="none" strike="noStrike">
              <a:solidFill>
                <a:srgbClr val="FFFFFF"/>
              </a:solidFill>
              <a:effectLst/>
              <a:uFillTx/>
              <a:latin typeface="Arial"/>
            </a:endParaRPr>
          </a:p>
        </p:txBody>
      </p:sp>
      <p:sp>
        <p:nvSpPr>
          <p:cNvPr id="22" name="Text 12"/>
          <p:cNvSpPr/>
          <p:nvPr/>
        </p:nvSpPr>
        <p:spPr>
          <a:xfrm>
            <a:off x="7543800" y="3904560"/>
            <a:ext cx="20113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10B8B6"/>
                </a:solidFill>
                <a:effectLst/>
                <a:uFillTx/>
                <a:latin typeface="Aptos"/>
              </a:rPr>
              <a:t>0,727</a:t>
            </a:r>
            <a:endParaRPr lang="fr-FR" sz="2800" b="0" u="none" strike="noStrike">
              <a:solidFill>
                <a:srgbClr val="FFFFFF"/>
              </a:solidFill>
              <a:effectLst/>
              <a:uFillTx/>
              <a:latin typeface="Arial"/>
            </a:endParaRPr>
          </a:p>
        </p:txBody>
      </p:sp>
      <p:sp>
        <p:nvSpPr>
          <p:cNvPr id="23" name="Text 13"/>
          <p:cNvSpPr/>
          <p:nvPr/>
        </p:nvSpPr>
        <p:spPr>
          <a:xfrm>
            <a:off x="7539840" y="4347360"/>
            <a:ext cx="22399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2000" b="0" u="none" strike="noStrike">
                <a:solidFill>
                  <a:srgbClr val="E6F5F8"/>
                </a:solidFill>
                <a:effectLst/>
                <a:uFillTx/>
                <a:latin typeface="Aptos"/>
              </a:rPr>
              <a:t>R² modèle prix</a:t>
            </a:r>
            <a:endParaRPr lang="fr-FR" sz="2000" b="0" u="none" strike="noStrike">
              <a:solidFill>
                <a:srgbClr val="FFFFFF"/>
              </a:solidFill>
              <a:effectLst/>
              <a:uFillTx/>
              <a:latin typeface="Arial"/>
            </a:endParaRPr>
          </a:p>
        </p:txBody>
      </p:sp>
      <p:sp>
        <p:nvSpPr>
          <p:cNvPr id="24" name="Shape 14"/>
          <p:cNvSpPr/>
          <p:nvPr/>
        </p:nvSpPr>
        <p:spPr>
          <a:xfrm>
            <a:off x="8001000" y="658080"/>
            <a:ext cx="1143000" cy="360"/>
          </a:xfrm>
          <a:prstGeom prst="line">
            <a:avLst/>
          </a:prstGeom>
          <a:ln w="25400">
            <a:solidFill>
              <a:srgbClr val="10B8B6"/>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5" name="Shape 15"/>
          <p:cNvSpPr/>
          <p:nvPr/>
        </p:nvSpPr>
        <p:spPr>
          <a:xfrm>
            <a:off x="7818120" y="822960"/>
            <a:ext cx="1005840" cy="360"/>
          </a:xfrm>
          <a:prstGeom prst="line">
            <a:avLst/>
          </a:prstGeom>
          <a:ln w="25400">
            <a:solidFill>
              <a:srgbClr val="F5D66C"/>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6" name="Shape 16"/>
          <p:cNvSpPr/>
          <p:nvPr/>
        </p:nvSpPr>
        <p:spPr>
          <a:xfrm>
            <a:off x="7635240" y="987480"/>
            <a:ext cx="822960" cy="360"/>
          </a:xfrm>
          <a:prstGeom prst="line">
            <a:avLst/>
          </a:prstGeom>
          <a:ln w="25400">
            <a:solidFill>
              <a:srgbClr val="FFFFFF"/>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7" name="Text 17"/>
          <p:cNvSpPr/>
          <p:nvPr/>
        </p:nvSpPr>
        <p:spPr>
          <a:xfrm>
            <a:off x="502920" y="6355080"/>
            <a:ext cx="228564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B9D4D7"/>
                </a:solidFill>
                <a:effectLst/>
                <a:uFillTx/>
                <a:latin typeface="Aptos"/>
              </a:rPr>
              <a:t>Groupe 3 JEDHA — Bloc 5</a:t>
            </a:r>
            <a:endParaRPr lang="fr-FR" sz="1600" b="0" u="none" strike="noStrike">
              <a:solidFill>
                <a:srgbClr val="FFFFFF"/>
              </a:solidFill>
              <a:effectLst/>
              <a:uFillTx/>
              <a:latin typeface="Arial"/>
            </a:endParaRPr>
          </a:p>
        </p:txBody>
      </p:sp>
      <p:sp>
        <p:nvSpPr>
          <p:cNvPr id="28" name="Text 18"/>
          <p:cNvSpPr/>
          <p:nvPr/>
        </p:nvSpPr>
        <p:spPr>
          <a:xfrm>
            <a:off x="8458200" y="6355080"/>
            <a:ext cx="265140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200" b="0" u="none" strike="noStrike">
                <a:solidFill>
                  <a:srgbClr val="B9D4D7"/>
                </a:solidFill>
                <a:effectLst/>
                <a:uFillTx/>
                <a:latin typeface="Aptos"/>
              </a:rPr>
              <a:t>Présentation 5 min + questions</a:t>
            </a:r>
            <a:endParaRPr lang="fr-FR" sz="1200" b="0" u="none" strike="noStrike">
              <a:solidFill>
                <a:srgbClr val="FFFFFF"/>
              </a:solidFill>
              <a:effectLst/>
              <a:uFillTx/>
              <a:latin typeface="Arial"/>
            </a:endParaRPr>
          </a:p>
        </p:txBody>
      </p:sp>
      <p:sp>
        <p:nvSpPr>
          <p:cNvPr id="29" name="Text 19"/>
          <p:cNvSpPr/>
          <p:nvPr/>
        </p:nvSpPr>
        <p:spPr>
          <a:xfrm>
            <a:off x="11704320" y="6537960"/>
            <a:ext cx="18252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50" b="0" u="none" strike="noStrike">
                <a:solidFill>
                  <a:srgbClr val="B9D4D7"/>
                </a:solidFill>
                <a:effectLst/>
                <a:uFillTx/>
                <a:latin typeface="Aptos"/>
              </a:rPr>
              <a:t>1</a:t>
            </a:r>
            <a:endParaRPr lang="fr-FR" sz="5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32"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800" b="1" u="none" strike="noStrike">
                <a:solidFill>
                  <a:srgbClr val="FFFFFF"/>
                </a:solidFill>
                <a:effectLst/>
                <a:uFillTx/>
                <a:latin typeface="Aptos Display"/>
                <a:ea typeface="Aptos Display"/>
              </a:rPr>
              <a:t>Problème métier</a:t>
            </a:r>
            <a:endParaRPr lang="fr-FR" sz="2800" b="0" u="none" strike="noStrike">
              <a:solidFill>
                <a:srgbClr val="000000"/>
              </a:solidFill>
              <a:effectLst/>
              <a:uFillTx/>
              <a:latin typeface="Arial"/>
            </a:endParaRPr>
          </a:p>
        </p:txBody>
      </p:sp>
      <p:sp>
        <p:nvSpPr>
          <p:cNvPr id="33" name="Text 3"/>
          <p:cNvSpPr/>
          <p:nvPr/>
        </p:nvSpPr>
        <p:spPr>
          <a:xfrm>
            <a:off x="8229600" y="118800"/>
            <a:ext cx="370296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300" b="0" u="none" strike="noStrike">
                <a:solidFill>
                  <a:srgbClr val="D9F6F6"/>
                </a:solidFill>
                <a:effectLst/>
                <a:uFillTx/>
                <a:latin typeface="Aptos"/>
                <a:ea typeface="Aptos"/>
              </a:rPr>
              <a:t>Choisir un seuil sans dégrader inutilement l’activité</a:t>
            </a:r>
            <a:endParaRPr lang="fr-FR" sz="1300" b="0" u="none" strike="noStrike">
              <a:solidFill>
                <a:srgbClr val="000000"/>
              </a:solidFill>
              <a:effectLst/>
              <a:uFillTx/>
              <a:latin typeface="Arial"/>
            </a:endParaRPr>
          </a:p>
        </p:txBody>
      </p:sp>
      <p:sp>
        <p:nvSpPr>
          <p:cNvPr id="34"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35"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560" b="0" u="none" strike="noStrike">
                <a:solidFill>
                  <a:srgbClr val="8AA0A8"/>
                </a:solidFill>
                <a:effectLst/>
                <a:uFillTx/>
                <a:latin typeface="Aptos"/>
              </a:rPr>
              <a:t>2</a:t>
            </a:r>
            <a:endParaRPr lang="fr-FR" sz="560" b="0" u="none" strike="noStrike">
              <a:solidFill>
                <a:srgbClr val="000000"/>
              </a:solidFill>
              <a:effectLst/>
              <a:uFillTx/>
              <a:latin typeface="Arial"/>
            </a:endParaRPr>
          </a:p>
        </p:txBody>
      </p:sp>
      <p:sp>
        <p:nvSpPr>
          <p:cNvPr id="36" name="Text 6"/>
          <p:cNvSpPr/>
          <p:nvPr/>
        </p:nvSpPr>
        <p:spPr>
          <a:xfrm>
            <a:off x="713160" y="914400"/>
            <a:ext cx="164556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08E8C"/>
                </a:solidFill>
                <a:effectLst/>
                <a:uFillTx/>
                <a:latin typeface="Aptos"/>
              </a:rPr>
              <a:t>QUESTION CENTRALE</a:t>
            </a:r>
            <a:endParaRPr lang="fr-FR" sz="1200" b="0" u="none" strike="noStrike">
              <a:solidFill>
                <a:srgbClr val="000000"/>
              </a:solidFill>
              <a:effectLst/>
              <a:uFillTx/>
              <a:latin typeface="Arial"/>
            </a:endParaRPr>
          </a:p>
        </p:txBody>
      </p:sp>
      <p:sp>
        <p:nvSpPr>
          <p:cNvPr id="37" name="Text 7"/>
          <p:cNvSpPr/>
          <p:nvPr/>
        </p:nvSpPr>
        <p:spPr>
          <a:xfrm>
            <a:off x="713160" y="1321200"/>
            <a:ext cx="51660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0" u="none" strike="noStrike">
                <a:solidFill>
                  <a:schemeClr val="dk1"/>
                </a:solidFill>
                <a:effectLst/>
                <a:uFillTx/>
                <a:latin typeface="Aptos"/>
              </a:rPr>
              <a:t>Quel délai minimal faut-il laisser entre deux locations successives pour limiter les conflits sans trop dégrader l’activité ?</a:t>
            </a:r>
            <a:endParaRPr lang="fr-FR" sz="1600" b="0" u="none" strike="noStrike">
              <a:solidFill>
                <a:srgbClr val="000000"/>
              </a:solidFill>
              <a:effectLst/>
              <a:uFillTx/>
              <a:latin typeface="Arial"/>
            </a:endParaRPr>
          </a:p>
        </p:txBody>
      </p:sp>
      <p:sp>
        <p:nvSpPr>
          <p:cNvPr id="38" name="Text 8"/>
          <p:cNvSpPr/>
          <p:nvPr/>
        </p:nvSpPr>
        <p:spPr>
          <a:xfrm>
            <a:off x="713160" y="2157840"/>
            <a:ext cx="50288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08E8C"/>
                </a:solidFill>
                <a:effectLst/>
                <a:uFillTx/>
                <a:latin typeface="Aptos"/>
              </a:rPr>
              <a:t>Valeur métier</a:t>
            </a:r>
            <a:endParaRPr lang="fr-FR" sz="1600" b="0" u="none" strike="noStrike">
              <a:solidFill>
                <a:srgbClr val="000000"/>
              </a:solidFill>
              <a:effectLst/>
              <a:uFillTx/>
              <a:latin typeface="Arial"/>
            </a:endParaRPr>
          </a:p>
        </p:txBody>
      </p:sp>
      <p:sp>
        <p:nvSpPr>
          <p:cNvPr id="39" name="Shape 9"/>
          <p:cNvSpPr/>
          <p:nvPr/>
        </p:nvSpPr>
        <p:spPr>
          <a:xfrm>
            <a:off x="713160" y="2368440"/>
            <a:ext cx="50288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0" name="Text 10"/>
          <p:cNvSpPr/>
          <p:nvPr/>
        </p:nvSpPr>
        <p:spPr>
          <a:xfrm>
            <a:off x="804600" y="2578680"/>
            <a:ext cx="45716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400" b="0" u="none" strike="noStrike">
                <a:solidFill>
                  <a:srgbClr val="102A36"/>
                </a:solidFill>
                <a:effectLst/>
                <a:uFillTx/>
                <a:latin typeface="Aptos"/>
              </a:rPr>
              <a:t>réduire les attentes du conducteur suivant ;</a:t>
            </a:r>
            <a:endParaRPr lang="fr-FR" sz="1400" b="0" u="none" strike="noStrike">
              <a:solidFill>
                <a:srgbClr val="000000"/>
              </a:solidFill>
              <a:effectLst/>
              <a:uFillTx/>
              <a:latin typeface="Arial"/>
            </a:endParaRPr>
          </a:p>
        </p:txBody>
      </p:sp>
      <p:sp>
        <p:nvSpPr>
          <p:cNvPr id="41" name="Text 11"/>
          <p:cNvSpPr/>
          <p:nvPr/>
        </p:nvSpPr>
        <p:spPr>
          <a:xfrm>
            <a:off x="804600" y="2834640"/>
            <a:ext cx="45716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400" b="0" u="none" strike="noStrike">
                <a:solidFill>
                  <a:srgbClr val="102A36"/>
                </a:solidFill>
                <a:effectLst/>
                <a:uFillTx/>
                <a:latin typeface="Aptos"/>
              </a:rPr>
              <a:t>limiter les annulations liées aux retours tardifs ;</a:t>
            </a:r>
            <a:endParaRPr lang="fr-FR" sz="1400" b="0" u="none" strike="noStrike">
              <a:solidFill>
                <a:srgbClr val="000000"/>
              </a:solidFill>
              <a:effectLst/>
              <a:uFillTx/>
              <a:latin typeface="Arial"/>
            </a:endParaRPr>
          </a:p>
        </p:txBody>
      </p:sp>
      <p:sp>
        <p:nvSpPr>
          <p:cNvPr id="42" name="Text 12"/>
          <p:cNvSpPr/>
          <p:nvPr/>
        </p:nvSpPr>
        <p:spPr>
          <a:xfrm>
            <a:off x="804600" y="3090600"/>
            <a:ext cx="45716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400" b="0" u="none" strike="noStrike">
                <a:solidFill>
                  <a:srgbClr val="102A36"/>
                </a:solidFill>
                <a:effectLst/>
                <a:uFillTx/>
                <a:latin typeface="Aptos"/>
              </a:rPr>
              <a:t>préserver le volume de locations affichées ;</a:t>
            </a:r>
            <a:endParaRPr lang="fr-FR" sz="1400" b="0" u="none" strike="noStrike">
              <a:solidFill>
                <a:srgbClr val="000000"/>
              </a:solidFill>
              <a:effectLst/>
              <a:uFillTx/>
              <a:latin typeface="Arial"/>
            </a:endParaRPr>
          </a:p>
        </p:txBody>
      </p:sp>
      <p:sp>
        <p:nvSpPr>
          <p:cNvPr id="43" name="Text 13"/>
          <p:cNvSpPr/>
          <p:nvPr/>
        </p:nvSpPr>
        <p:spPr>
          <a:xfrm>
            <a:off x="804600" y="3346560"/>
            <a:ext cx="45716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400" b="0" u="none" strike="noStrike">
                <a:solidFill>
                  <a:srgbClr val="102A36"/>
                </a:solidFill>
                <a:effectLst/>
                <a:uFillTx/>
                <a:latin typeface="Aptos"/>
              </a:rPr>
              <a:t>donner au Product Manager une règle chiffrée.</a:t>
            </a:r>
            <a:endParaRPr lang="fr-FR" sz="1400" b="0" u="none" strike="noStrike">
              <a:solidFill>
                <a:srgbClr val="000000"/>
              </a:solidFill>
              <a:effectLst/>
              <a:uFillTx/>
              <a:latin typeface="Arial"/>
            </a:endParaRPr>
          </a:p>
        </p:txBody>
      </p:sp>
      <p:sp>
        <p:nvSpPr>
          <p:cNvPr id="44" name="Shape 14"/>
          <p:cNvSpPr/>
          <p:nvPr/>
        </p:nvSpPr>
        <p:spPr>
          <a:xfrm>
            <a:off x="713160" y="5042880"/>
            <a:ext cx="5382360" cy="726120"/>
          </a:xfrm>
          <a:prstGeom prst="rect">
            <a:avLst/>
          </a:prstGeom>
          <a:solidFill>
            <a:srgbClr val="FFF2D6"/>
          </a:solidFill>
          <a:ln w="12700">
            <a:solidFill>
              <a:srgbClr val="FFF2D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5" name="Text 15"/>
          <p:cNvSpPr/>
          <p:nvPr/>
        </p:nvSpPr>
        <p:spPr>
          <a:xfrm>
            <a:off x="713160" y="5266800"/>
            <a:ext cx="523908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chemeClr val="dk1"/>
                </a:solidFill>
                <a:effectLst/>
                <a:uFillTx/>
                <a:latin typeface="Aptos"/>
              </a:rPr>
              <a:t>Idée directrice : le bon seuil n’est pas le délai le plus long, mais celui qui protège suffisamment les locations suivantes sans bloquer excessivement les réservations.</a:t>
            </a:r>
            <a:endParaRPr lang="fr-FR" sz="1400" b="0" u="none" strike="noStrike">
              <a:solidFill>
                <a:srgbClr val="000000"/>
              </a:solidFill>
              <a:effectLst/>
              <a:uFillTx/>
              <a:latin typeface="Arial"/>
            </a:endParaRPr>
          </a:p>
        </p:txBody>
      </p:sp>
      <p:sp>
        <p:nvSpPr>
          <p:cNvPr id="46" name="Shape 16"/>
          <p:cNvSpPr/>
          <p:nvPr/>
        </p:nvSpPr>
        <p:spPr>
          <a:xfrm>
            <a:off x="6300000" y="1051560"/>
            <a:ext cx="1243440" cy="5666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7" name="Text 17"/>
          <p:cNvSpPr/>
          <p:nvPr/>
        </p:nvSpPr>
        <p:spPr>
          <a:xfrm>
            <a:off x="6300000" y="1161360"/>
            <a:ext cx="117036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102A36"/>
                </a:solidFill>
                <a:effectLst/>
                <a:uFillTx/>
                <a:latin typeface="Aptos"/>
              </a:rPr>
              <a:t>Retard restitution</a:t>
            </a:r>
            <a:endParaRPr lang="fr-FR" sz="1400" b="0" u="none" strike="noStrike">
              <a:solidFill>
                <a:srgbClr val="000000"/>
              </a:solidFill>
              <a:effectLst/>
              <a:uFillTx/>
              <a:latin typeface="Arial"/>
            </a:endParaRPr>
          </a:p>
        </p:txBody>
      </p:sp>
      <p:sp>
        <p:nvSpPr>
          <p:cNvPr id="48" name="Shape 18"/>
          <p:cNvSpPr/>
          <p:nvPr/>
        </p:nvSpPr>
        <p:spPr>
          <a:xfrm>
            <a:off x="7662600" y="1216080"/>
            <a:ext cx="338400" cy="22860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9" name="Shape 19"/>
          <p:cNvSpPr/>
          <p:nvPr/>
        </p:nvSpPr>
        <p:spPr>
          <a:xfrm>
            <a:off x="8138160" y="1051560"/>
            <a:ext cx="1051200" cy="5666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0" name="Text 20"/>
          <p:cNvSpPr/>
          <p:nvPr/>
        </p:nvSpPr>
        <p:spPr>
          <a:xfrm>
            <a:off x="8211240" y="1161360"/>
            <a:ext cx="90504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102A36"/>
                </a:solidFill>
                <a:effectLst/>
                <a:uFillTx/>
                <a:latin typeface="Aptos"/>
              </a:rPr>
              <a:t>Location</a:t>
            </a:r>
            <a:endParaRPr lang="fr-FR" sz="1400" b="0" u="none" strike="noStrike">
              <a:solidFill>
                <a:srgbClr val="000000"/>
              </a:solidFill>
              <a:effectLst/>
              <a:uFillTx/>
              <a:latin typeface="Arial"/>
            </a:endParaRPr>
          </a:p>
          <a:p>
            <a:pPr algn="ctr" defTabSz="914400">
              <a:lnSpc>
                <a:spcPct val="100000"/>
              </a:lnSpc>
              <a:tabLst>
                <a:tab pos="0" algn="l"/>
              </a:tabLst>
            </a:pPr>
            <a:r>
              <a:rPr lang="fr-FR" sz="1400" b="1" u="none" strike="noStrike">
                <a:solidFill>
                  <a:srgbClr val="102A36"/>
                </a:solidFill>
                <a:effectLst/>
                <a:uFillTx/>
                <a:latin typeface="Aptos"/>
              </a:rPr>
              <a:t>suivante</a:t>
            </a:r>
            <a:endParaRPr lang="fr-FR" sz="1400" b="0" u="none" strike="noStrike">
              <a:solidFill>
                <a:srgbClr val="000000"/>
              </a:solidFill>
              <a:effectLst/>
              <a:uFillTx/>
              <a:latin typeface="Arial"/>
            </a:endParaRPr>
          </a:p>
        </p:txBody>
      </p:sp>
      <p:sp>
        <p:nvSpPr>
          <p:cNvPr id="51" name="Shape 21"/>
          <p:cNvSpPr/>
          <p:nvPr/>
        </p:nvSpPr>
        <p:spPr>
          <a:xfrm>
            <a:off x="9308520" y="1216080"/>
            <a:ext cx="338400" cy="22860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2" name="Shape 22"/>
          <p:cNvSpPr/>
          <p:nvPr/>
        </p:nvSpPr>
        <p:spPr>
          <a:xfrm>
            <a:off x="9784080" y="1051560"/>
            <a:ext cx="1051200" cy="5666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3" name="Text 23"/>
          <p:cNvSpPr/>
          <p:nvPr/>
        </p:nvSpPr>
        <p:spPr>
          <a:xfrm>
            <a:off x="9857160" y="1161360"/>
            <a:ext cx="905040" cy="420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400" b="1" u="none" strike="noStrike">
                <a:solidFill>
                  <a:srgbClr val="102A36"/>
                </a:solidFill>
                <a:effectLst/>
                <a:uFillTx/>
                <a:latin typeface="Aptos"/>
              </a:rPr>
              <a:t>Friction</a:t>
            </a:r>
            <a:endParaRPr lang="fr-FR" sz="1400" b="0" u="none" strike="noStrike">
              <a:solidFill>
                <a:srgbClr val="000000"/>
              </a:solidFill>
              <a:effectLst/>
              <a:uFillTx/>
              <a:latin typeface="Arial"/>
            </a:endParaRPr>
          </a:p>
          <a:p>
            <a:pPr algn="ctr" defTabSz="914400">
              <a:lnSpc>
                <a:spcPct val="100000"/>
              </a:lnSpc>
              <a:tabLst>
                <a:tab pos="0" algn="l"/>
              </a:tabLst>
            </a:pPr>
            <a:r>
              <a:rPr lang="fr-FR" sz="1400" b="1" u="none" strike="noStrike">
                <a:solidFill>
                  <a:srgbClr val="102A36"/>
                </a:solidFill>
                <a:effectLst/>
                <a:uFillTx/>
                <a:latin typeface="Aptos"/>
              </a:rPr>
              <a:t>client</a:t>
            </a:r>
            <a:endParaRPr lang="fr-FR" sz="1400" b="0" u="none" strike="noStrike">
              <a:solidFill>
                <a:srgbClr val="000000"/>
              </a:solidFill>
              <a:effectLst/>
              <a:uFillTx/>
              <a:latin typeface="Arial"/>
            </a:endParaRPr>
          </a:p>
        </p:txBody>
      </p:sp>
      <p:sp>
        <p:nvSpPr>
          <p:cNvPr id="54" name="Text 24"/>
          <p:cNvSpPr/>
          <p:nvPr/>
        </p:nvSpPr>
        <p:spPr>
          <a:xfrm>
            <a:off x="6492240" y="2030040"/>
            <a:ext cx="43430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008E8C"/>
                </a:solidFill>
                <a:effectLst/>
                <a:uFillTx/>
                <a:latin typeface="Aptos"/>
              </a:rPr>
              <a:t>Deux décisions produit</a:t>
            </a:r>
            <a:endParaRPr lang="fr-FR" sz="1800" b="0" u="none" strike="noStrike">
              <a:solidFill>
                <a:srgbClr val="000000"/>
              </a:solidFill>
              <a:effectLst/>
              <a:uFillTx/>
              <a:latin typeface="Arial"/>
            </a:endParaRPr>
          </a:p>
        </p:txBody>
      </p:sp>
      <p:sp>
        <p:nvSpPr>
          <p:cNvPr id="55" name="Shape 25"/>
          <p:cNvSpPr/>
          <p:nvPr/>
        </p:nvSpPr>
        <p:spPr>
          <a:xfrm>
            <a:off x="6492240" y="2240280"/>
            <a:ext cx="43430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56" name="Shape 26"/>
          <p:cNvSpPr/>
          <p:nvPr/>
        </p:nvSpPr>
        <p:spPr>
          <a:xfrm>
            <a:off x="6482160" y="2503080"/>
            <a:ext cx="1874160" cy="74952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57" name="Text 27"/>
          <p:cNvSpPr/>
          <p:nvPr/>
        </p:nvSpPr>
        <p:spPr>
          <a:xfrm>
            <a:off x="6629400" y="2651760"/>
            <a:ext cx="159984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FFFFFF"/>
                </a:solidFill>
                <a:effectLst/>
                <a:uFillTx/>
                <a:latin typeface="Aptos"/>
              </a:rPr>
              <a:t>Seuil</a:t>
            </a:r>
            <a:endParaRPr lang="fr-FR" sz="1600" b="0" u="none" strike="noStrike">
              <a:solidFill>
                <a:srgbClr val="000000"/>
              </a:solidFill>
              <a:effectLst/>
              <a:uFillTx/>
              <a:latin typeface="Arial"/>
            </a:endParaRPr>
          </a:p>
        </p:txBody>
      </p:sp>
      <p:sp>
        <p:nvSpPr>
          <p:cNvPr id="58" name="Text 28"/>
          <p:cNvSpPr/>
          <p:nvPr/>
        </p:nvSpPr>
        <p:spPr>
          <a:xfrm>
            <a:off x="6629400" y="2880360"/>
            <a:ext cx="159984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D9F6F6"/>
                </a:solidFill>
                <a:effectLst/>
                <a:uFillTx/>
                <a:latin typeface="Aptos"/>
              </a:rPr>
              <a:t>durée du délai minimal</a:t>
            </a:r>
            <a:endParaRPr lang="fr-FR" sz="1200" b="0" u="none" strike="noStrike">
              <a:solidFill>
                <a:srgbClr val="000000"/>
              </a:solidFill>
              <a:effectLst/>
              <a:uFillTx/>
              <a:latin typeface="Arial"/>
            </a:endParaRPr>
          </a:p>
        </p:txBody>
      </p:sp>
      <p:sp>
        <p:nvSpPr>
          <p:cNvPr id="59" name="Shape 29"/>
          <p:cNvSpPr/>
          <p:nvPr/>
        </p:nvSpPr>
        <p:spPr>
          <a:xfrm>
            <a:off x="8732520" y="2505600"/>
            <a:ext cx="2250000" cy="71244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0" name="Text 30"/>
          <p:cNvSpPr/>
          <p:nvPr/>
        </p:nvSpPr>
        <p:spPr>
          <a:xfrm>
            <a:off x="8869680" y="2571840"/>
            <a:ext cx="159984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600" b="1" u="none" strike="noStrike">
                <a:solidFill>
                  <a:srgbClr val="FFFFFF"/>
                </a:solidFill>
                <a:effectLst/>
                <a:uFillTx/>
                <a:latin typeface="Aptos"/>
              </a:rPr>
              <a:t>Périmètre</a:t>
            </a:r>
            <a:endParaRPr lang="fr-FR" sz="1600" b="0" u="none" strike="noStrike">
              <a:solidFill>
                <a:srgbClr val="000000"/>
              </a:solidFill>
              <a:effectLst/>
              <a:uFillTx/>
              <a:latin typeface="Arial"/>
            </a:endParaRPr>
          </a:p>
        </p:txBody>
      </p:sp>
      <p:sp>
        <p:nvSpPr>
          <p:cNvPr id="61" name="Text 31"/>
          <p:cNvSpPr/>
          <p:nvPr/>
        </p:nvSpPr>
        <p:spPr>
          <a:xfrm>
            <a:off x="8869680" y="2880360"/>
            <a:ext cx="159984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fr-FR" sz="1200" b="0" u="none" strike="noStrike">
                <a:solidFill>
                  <a:srgbClr val="D9F6F6"/>
                </a:solidFill>
                <a:effectLst/>
                <a:uFillTx/>
                <a:latin typeface="Aptos"/>
              </a:rPr>
              <a:t>tout le parc ou Connect uniquement</a:t>
            </a:r>
            <a:endParaRPr lang="fr-FR" sz="1200" b="0" u="none" strike="noStrike">
              <a:solidFill>
                <a:srgbClr val="000000"/>
              </a:solidFill>
              <a:effectLst/>
              <a:uFillTx/>
              <a:latin typeface="Arial"/>
            </a:endParaRPr>
          </a:p>
        </p:txBody>
      </p:sp>
      <p:sp>
        <p:nvSpPr>
          <p:cNvPr id="62" name="Text 32"/>
          <p:cNvSpPr/>
          <p:nvPr/>
        </p:nvSpPr>
        <p:spPr>
          <a:xfrm>
            <a:off x="6492240" y="3721680"/>
            <a:ext cx="43430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800" b="1" u="none" strike="noStrike">
                <a:solidFill>
                  <a:srgbClr val="008E8C"/>
                </a:solidFill>
                <a:effectLst/>
                <a:uFillTx/>
                <a:latin typeface="Aptos"/>
              </a:rPr>
              <a:t>Deux livrables attendus</a:t>
            </a:r>
            <a:endParaRPr lang="fr-FR" sz="1800" b="0" u="none" strike="noStrike">
              <a:solidFill>
                <a:srgbClr val="000000"/>
              </a:solidFill>
              <a:effectLst/>
              <a:uFillTx/>
              <a:latin typeface="Arial"/>
            </a:endParaRPr>
          </a:p>
        </p:txBody>
      </p:sp>
      <p:sp>
        <p:nvSpPr>
          <p:cNvPr id="63" name="Shape 33"/>
          <p:cNvSpPr/>
          <p:nvPr/>
        </p:nvSpPr>
        <p:spPr>
          <a:xfrm>
            <a:off x="6492240" y="3931920"/>
            <a:ext cx="43430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64" name="Shape 34"/>
          <p:cNvSpPr/>
          <p:nvPr/>
        </p:nvSpPr>
        <p:spPr>
          <a:xfrm>
            <a:off x="6492240" y="4142160"/>
            <a:ext cx="4343040" cy="43848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5" name="Text 35"/>
          <p:cNvSpPr/>
          <p:nvPr/>
        </p:nvSpPr>
        <p:spPr>
          <a:xfrm>
            <a:off x="6602040" y="4242960"/>
            <a:ext cx="4123440" cy="273960"/>
          </a:xfrm>
          <a:prstGeom prst="rect">
            <a:avLst/>
          </a:prstGeom>
          <a:noFill/>
          <a:ln w="0">
            <a:noFill/>
          </a:ln>
        </p:spPr>
        <p:style>
          <a:lnRef idx="0"/>
          <a:fillRef idx="0"/>
          <a:effectRef idx="0"/>
          <a:fontRef idx="minor"/>
        </p:style>
        <p:txBody>
          <a:bodyPr lIns="0" tIns="0" rIns="0" bIns="0" anchor="ctr">
            <a:normAutofit fontScale="85000" lnSpcReduction="19999"/>
          </a:bodyPr>
          <a:p>
            <a:pPr defTabSz="914400">
              <a:lnSpc>
                <a:spcPct val="100000"/>
              </a:lnSpc>
              <a:tabLst>
                <a:tab pos="0" algn="l"/>
              </a:tabLst>
            </a:pPr>
            <a:r>
              <a:rPr lang="fr-FR" sz="1200" b="1" u="none" strike="noStrike">
                <a:solidFill>
                  <a:srgbClr val="FFFFFF"/>
                </a:solidFill>
                <a:effectLst/>
                <a:uFillTx/>
                <a:latin typeface="Aptos"/>
              </a:rPr>
              <a:t>1. Dashboard Streamlit pour appuyer la décision sur le seuil</a:t>
            </a:r>
            <a:endParaRPr lang="fr-FR" sz="1200" b="0" u="none" strike="noStrike">
              <a:solidFill>
                <a:srgbClr val="000000"/>
              </a:solidFill>
              <a:effectLst/>
              <a:uFillTx/>
              <a:latin typeface="Arial"/>
            </a:endParaRPr>
          </a:p>
        </p:txBody>
      </p:sp>
      <p:sp>
        <p:nvSpPr>
          <p:cNvPr id="66" name="Shape 36"/>
          <p:cNvSpPr/>
          <p:nvPr/>
        </p:nvSpPr>
        <p:spPr>
          <a:xfrm>
            <a:off x="6492240" y="4736520"/>
            <a:ext cx="4343040" cy="43848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7" name="Text 37"/>
          <p:cNvSpPr/>
          <p:nvPr/>
        </p:nvSpPr>
        <p:spPr>
          <a:xfrm>
            <a:off x="6602040" y="4837320"/>
            <a:ext cx="4123440" cy="27396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fr-FR" sz="1200" b="1" u="none" strike="noStrike">
                <a:solidFill>
                  <a:srgbClr val="FFFFFF"/>
                </a:solidFill>
                <a:effectLst/>
                <a:uFillTx/>
                <a:latin typeface="Aptos"/>
              </a:rPr>
              <a:t>2. API FastAPI pour prédire le prix journalier d’un véhicule</a:t>
            </a:r>
            <a:endParaRPr lang="fr-F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69"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70"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FFFF"/>
                </a:solidFill>
                <a:effectLst/>
                <a:uFillTx/>
                <a:latin typeface="Aptos Display"/>
                <a:ea typeface="Aptos Display"/>
              </a:rPr>
              <a:t>Données et premiers contrôles</a:t>
            </a:r>
            <a:endParaRPr lang="fr-FR" sz="2400" b="0" u="none" strike="noStrike">
              <a:solidFill>
                <a:srgbClr val="000000"/>
              </a:solidFill>
              <a:effectLst/>
              <a:uFillTx/>
              <a:latin typeface="Arial"/>
            </a:endParaRPr>
          </a:p>
        </p:txBody>
      </p:sp>
      <p:sp>
        <p:nvSpPr>
          <p:cNvPr id="71" name="Text 3"/>
          <p:cNvSpPr/>
          <p:nvPr/>
        </p:nvSpPr>
        <p:spPr>
          <a:xfrm>
            <a:off x="6969600" y="160200"/>
            <a:ext cx="496296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400" b="0" u="none" strike="noStrike">
                <a:solidFill>
                  <a:srgbClr val="D9F6F6"/>
                </a:solidFill>
                <a:effectLst/>
                <a:uFillTx/>
                <a:latin typeface="Aptos"/>
                <a:ea typeface="Aptos"/>
              </a:rPr>
              <a:t>Deux jeux de données : retards opérationnels et pricing véhicule</a:t>
            </a:r>
            <a:endParaRPr lang="fr-FR" sz="1400" b="0" u="none" strike="noStrike">
              <a:solidFill>
                <a:srgbClr val="000000"/>
              </a:solidFill>
              <a:effectLst/>
              <a:uFillTx/>
              <a:latin typeface="Arial"/>
            </a:endParaRPr>
          </a:p>
        </p:txBody>
      </p:sp>
      <p:sp>
        <p:nvSpPr>
          <p:cNvPr id="72"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73"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60" b="0" u="none" strike="noStrike">
                <a:solidFill>
                  <a:srgbClr val="8AA0A8"/>
                </a:solidFill>
                <a:effectLst/>
                <a:uFillTx/>
                <a:latin typeface="Aptos"/>
              </a:rPr>
              <a:t>3</a:t>
            </a:r>
            <a:endParaRPr lang="fr-FR" sz="560" b="0" u="none" strike="noStrike">
              <a:solidFill>
                <a:srgbClr val="000000"/>
              </a:solidFill>
              <a:effectLst/>
              <a:uFillTx/>
              <a:latin typeface="Arial"/>
            </a:endParaRPr>
          </a:p>
        </p:txBody>
      </p:sp>
      <p:sp>
        <p:nvSpPr>
          <p:cNvPr id="74" name="Shape 6"/>
          <p:cNvSpPr/>
          <p:nvPr/>
        </p:nvSpPr>
        <p:spPr>
          <a:xfrm>
            <a:off x="457200" y="868680"/>
            <a:ext cx="123408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5" name="Text 7"/>
          <p:cNvSpPr/>
          <p:nvPr/>
        </p:nvSpPr>
        <p:spPr>
          <a:xfrm>
            <a:off x="557640" y="951120"/>
            <a:ext cx="103284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82E3E"/>
                </a:solidFill>
                <a:effectLst/>
                <a:uFillTx/>
                <a:latin typeface="Aptos"/>
              </a:rPr>
              <a:t>21 310</a:t>
            </a:r>
            <a:endParaRPr lang="fr-FR" sz="1800" b="0" u="none" strike="noStrike">
              <a:solidFill>
                <a:srgbClr val="000000"/>
              </a:solidFill>
              <a:effectLst/>
              <a:uFillTx/>
              <a:latin typeface="Arial"/>
            </a:endParaRPr>
          </a:p>
        </p:txBody>
      </p:sp>
      <p:sp>
        <p:nvSpPr>
          <p:cNvPr id="76" name="Text 8"/>
          <p:cNvSpPr/>
          <p:nvPr/>
        </p:nvSpPr>
        <p:spPr>
          <a:xfrm>
            <a:off x="557640" y="1197720"/>
            <a:ext cx="103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locations</a:t>
            </a:r>
            <a:endParaRPr lang="fr-FR" sz="1200" b="0" u="none" strike="noStrike">
              <a:solidFill>
                <a:srgbClr val="000000"/>
              </a:solidFill>
              <a:effectLst/>
              <a:uFillTx/>
              <a:latin typeface="Arial"/>
            </a:endParaRPr>
          </a:p>
        </p:txBody>
      </p:sp>
      <p:sp>
        <p:nvSpPr>
          <p:cNvPr id="77" name="Shape 9"/>
          <p:cNvSpPr/>
          <p:nvPr/>
        </p:nvSpPr>
        <p:spPr>
          <a:xfrm>
            <a:off x="1874520" y="868680"/>
            <a:ext cx="123408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78" name="Text 10"/>
          <p:cNvSpPr/>
          <p:nvPr/>
        </p:nvSpPr>
        <p:spPr>
          <a:xfrm>
            <a:off x="1974960" y="951120"/>
            <a:ext cx="103284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0B8B6"/>
                </a:solidFill>
                <a:effectLst/>
                <a:uFillTx/>
                <a:latin typeface="Aptos"/>
              </a:rPr>
              <a:t>1 841</a:t>
            </a:r>
            <a:endParaRPr lang="fr-FR" sz="1800" b="0" u="none" strike="noStrike">
              <a:solidFill>
                <a:srgbClr val="000000"/>
              </a:solidFill>
              <a:effectLst/>
              <a:uFillTx/>
              <a:latin typeface="Arial"/>
            </a:endParaRPr>
          </a:p>
        </p:txBody>
      </p:sp>
      <p:sp>
        <p:nvSpPr>
          <p:cNvPr id="79" name="Text 11"/>
          <p:cNvSpPr/>
          <p:nvPr/>
        </p:nvSpPr>
        <p:spPr>
          <a:xfrm>
            <a:off x="1974960" y="1197720"/>
            <a:ext cx="103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locations liées</a:t>
            </a:r>
            <a:endParaRPr lang="fr-FR" sz="1200" b="0" u="none" strike="noStrike">
              <a:solidFill>
                <a:srgbClr val="000000"/>
              </a:solidFill>
              <a:effectLst/>
              <a:uFillTx/>
              <a:latin typeface="Arial"/>
            </a:endParaRPr>
          </a:p>
        </p:txBody>
      </p:sp>
      <p:sp>
        <p:nvSpPr>
          <p:cNvPr id="80" name="Shape 12"/>
          <p:cNvSpPr/>
          <p:nvPr/>
        </p:nvSpPr>
        <p:spPr>
          <a:xfrm>
            <a:off x="3291840" y="786240"/>
            <a:ext cx="1316520" cy="70380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1" name="Text 13"/>
          <p:cNvSpPr/>
          <p:nvPr/>
        </p:nvSpPr>
        <p:spPr>
          <a:xfrm>
            <a:off x="3392280" y="951120"/>
            <a:ext cx="103284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2A93B"/>
                </a:solidFill>
                <a:effectLst/>
                <a:uFillTx/>
                <a:latin typeface="Aptos"/>
              </a:rPr>
              <a:t>218</a:t>
            </a:r>
            <a:endParaRPr lang="fr-FR" sz="1800" b="0" u="none" strike="noStrike">
              <a:solidFill>
                <a:srgbClr val="000000"/>
              </a:solidFill>
              <a:effectLst/>
              <a:uFillTx/>
              <a:latin typeface="Arial"/>
            </a:endParaRPr>
          </a:p>
        </p:txBody>
      </p:sp>
      <p:sp>
        <p:nvSpPr>
          <p:cNvPr id="82" name="Text 14"/>
          <p:cNvSpPr/>
          <p:nvPr/>
        </p:nvSpPr>
        <p:spPr>
          <a:xfrm>
            <a:off x="3383280" y="1239120"/>
            <a:ext cx="103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02A36"/>
                </a:solidFill>
                <a:effectLst/>
                <a:uFillTx/>
                <a:latin typeface="Aptos"/>
              </a:rPr>
              <a:t>cas problématique</a:t>
            </a:r>
            <a:endParaRPr lang="fr-FR" sz="1100" b="0" u="none" strike="noStrike">
              <a:solidFill>
                <a:srgbClr val="000000"/>
              </a:solidFill>
              <a:effectLst/>
              <a:uFillTx/>
              <a:latin typeface="Arial"/>
            </a:endParaRPr>
          </a:p>
        </p:txBody>
      </p:sp>
      <p:sp>
        <p:nvSpPr>
          <p:cNvPr id="83" name="Shape 15"/>
          <p:cNvSpPr/>
          <p:nvPr/>
        </p:nvSpPr>
        <p:spPr>
          <a:xfrm>
            <a:off x="4709160" y="868680"/>
            <a:ext cx="123408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84" name="Text 16"/>
          <p:cNvSpPr/>
          <p:nvPr/>
        </p:nvSpPr>
        <p:spPr>
          <a:xfrm>
            <a:off x="4809600" y="951120"/>
            <a:ext cx="103284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008E8C"/>
                </a:solidFill>
                <a:effectLst/>
                <a:uFillTx/>
                <a:latin typeface="Aptos"/>
              </a:rPr>
              <a:t>13</a:t>
            </a:r>
            <a:endParaRPr lang="fr-FR" sz="1800" b="0" u="none" strike="noStrike">
              <a:solidFill>
                <a:srgbClr val="000000"/>
              </a:solidFill>
              <a:effectLst/>
              <a:uFillTx/>
              <a:latin typeface="Arial"/>
            </a:endParaRPr>
          </a:p>
        </p:txBody>
      </p:sp>
      <p:sp>
        <p:nvSpPr>
          <p:cNvPr id="85" name="Text 17"/>
          <p:cNvSpPr/>
          <p:nvPr/>
        </p:nvSpPr>
        <p:spPr>
          <a:xfrm>
            <a:off x="4809600" y="1197720"/>
            <a:ext cx="103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02A36"/>
                </a:solidFill>
                <a:effectLst/>
                <a:uFillTx/>
                <a:latin typeface="Aptos"/>
              </a:rPr>
              <a:t>variables pricing</a:t>
            </a:r>
            <a:endParaRPr lang="fr-FR" sz="1100" b="0" u="none" strike="noStrike">
              <a:solidFill>
                <a:srgbClr val="000000"/>
              </a:solidFill>
              <a:effectLst/>
              <a:uFillTx/>
              <a:latin typeface="Arial"/>
            </a:endParaRPr>
          </a:p>
        </p:txBody>
      </p:sp>
      <p:sp>
        <p:nvSpPr>
          <p:cNvPr id="86" name="Text 18"/>
          <p:cNvSpPr/>
          <p:nvPr/>
        </p:nvSpPr>
        <p:spPr>
          <a:xfrm>
            <a:off x="612720" y="1883520"/>
            <a:ext cx="52574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08E8C"/>
                </a:solidFill>
                <a:effectLst/>
                <a:uFillTx/>
                <a:latin typeface="Aptos"/>
              </a:rPr>
              <a:t>Lecture des données </a:t>
            </a: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a:p>
            <a:pPr defTabSz="914400">
              <a:lnSpc>
                <a:spcPct val="100000"/>
              </a:lnSpc>
              <a:tabLst>
                <a:tab pos="0" algn="l"/>
              </a:tabLst>
            </a:pPr>
            <a:endParaRPr lang="fr-FR" sz="1600" b="0" u="none" strike="noStrike">
              <a:solidFill>
                <a:srgbClr val="000000"/>
              </a:solidFill>
              <a:effectLst/>
              <a:uFillTx/>
              <a:latin typeface="Arial"/>
            </a:endParaRPr>
          </a:p>
        </p:txBody>
      </p:sp>
      <p:sp>
        <p:nvSpPr>
          <p:cNvPr id="87" name="Shape 19"/>
          <p:cNvSpPr/>
          <p:nvPr/>
        </p:nvSpPr>
        <p:spPr>
          <a:xfrm>
            <a:off x="502920" y="2148840"/>
            <a:ext cx="52574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88" name="Text 20"/>
          <p:cNvSpPr/>
          <p:nvPr/>
        </p:nvSpPr>
        <p:spPr>
          <a:xfrm>
            <a:off x="658440" y="2250000"/>
            <a:ext cx="4800240" cy="20088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en-US" sz="1300" b="0" u="none" strike="noStrike">
                <a:solidFill>
                  <a:srgbClr val="102A36"/>
                </a:solidFill>
                <a:effectLst/>
                <a:uFillTx/>
                <a:latin typeface="Aptos"/>
              </a:rPr>
              <a:t>les retards sont analysés uniquement lorsqu’une location suit une autre location ;</a:t>
            </a:r>
            <a:endParaRPr lang="fr-FR" sz="1300" b="0" u="none" strike="noStrike">
              <a:solidFill>
                <a:srgbClr val="000000"/>
              </a:solidFill>
              <a:effectLst/>
              <a:uFillTx/>
              <a:latin typeface="Arial"/>
            </a:endParaRPr>
          </a:p>
          <a:p>
            <a:pPr defTabSz="914400">
              <a:lnSpc>
                <a:spcPct val="100000"/>
              </a:lnSpc>
            </a:pPr>
            <a:endParaRPr lang="fr-FR" sz="1300" b="0" u="none" strike="noStrike">
              <a:solidFill>
                <a:srgbClr val="000000"/>
              </a:solidFill>
              <a:effectLst/>
              <a:uFillTx/>
              <a:latin typeface="Arial"/>
            </a:endParaRPr>
          </a:p>
          <a:p>
            <a:pPr defTabSz="914400">
              <a:lnSpc>
                <a:spcPct val="100000"/>
              </a:lnSpc>
            </a:pPr>
            <a:endParaRPr lang="fr-FR" sz="1300" b="0" u="none" strike="noStrike">
              <a:solidFill>
                <a:srgbClr val="000000"/>
              </a:solidFill>
              <a:effectLst/>
              <a:uFillTx/>
              <a:latin typeface="Arial"/>
            </a:endParaRPr>
          </a:p>
          <a:p>
            <a:pPr defTabSz="914400">
              <a:lnSpc>
                <a:spcPct val="100000"/>
              </a:lnSpc>
            </a:pPr>
            <a:endParaRPr lang="fr-FR" sz="1300" b="0" u="none" strike="noStrike">
              <a:solidFill>
                <a:srgbClr val="000000"/>
              </a:solidFill>
              <a:effectLst/>
              <a:uFillTx/>
              <a:latin typeface="Arial"/>
            </a:endParaRPr>
          </a:p>
        </p:txBody>
      </p:sp>
      <p:sp>
        <p:nvSpPr>
          <p:cNvPr id="89" name="Text 21"/>
          <p:cNvSpPr/>
          <p:nvPr/>
        </p:nvSpPr>
        <p:spPr>
          <a:xfrm>
            <a:off x="658440" y="2651760"/>
            <a:ext cx="4800240" cy="20088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300" b="0" u="none" strike="noStrike">
                <a:solidFill>
                  <a:srgbClr val="102A36"/>
                </a:solidFill>
                <a:effectLst/>
                <a:uFillTx/>
                <a:latin typeface="Aptos"/>
              </a:rPr>
              <a:t>faute de revenu direct dans les données, l’impact commercial est estimé à partir du nombre de réservations affectées </a:t>
            </a:r>
            <a:r>
              <a:rPr lang="en-US" sz="1300" b="0" u="none" strike="noStrike">
                <a:solidFill>
                  <a:srgbClr val="102A36"/>
                </a:solidFill>
                <a:effectLst/>
                <a:uFillTx/>
                <a:latin typeface="Aptos"/>
              </a:rPr>
              <a:t>;</a:t>
            </a:r>
            <a:endParaRPr lang="fr-FR" sz="1300" b="0" u="none" strike="noStrike">
              <a:solidFill>
                <a:srgbClr val="000000"/>
              </a:solidFill>
              <a:effectLst/>
              <a:uFillTx/>
              <a:latin typeface="Arial"/>
            </a:endParaRPr>
          </a:p>
          <a:p>
            <a:pPr defTabSz="914400">
              <a:lnSpc>
                <a:spcPct val="100000"/>
              </a:lnSpc>
            </a:pPr>
            <a:endParaRPr lang="fr-FR" sz="1300" b="0" u="none" strike="noStrike">
              <a:solidFill>
                <a:srgbClr val="000000"/>
              </a:solidFill>
              <a:effectLst/>
              <a:uFillTx/>
              <a:latin typeface="Arial"/>
            </a:endParaRPr>
          </a:p>
          <a:p>
            <a:pPr defTabSz="914400">
              <a:lnSpc>
                <a:spcPct val="100000"/>
              </a:lnSpc>
            </a:pPr>
            <a:endParaRPr lang="fr-FR" sz="1300" b="0" u="none" strike="noStrike">
              <a:solidFill>
                <a:srgbClr val="000000"/>
              </a:solidFill>
              <a:effectLst/>
              <a:uFillTx/>
              <a:latin typeface="Arial"/>
            </a:endParaRPr>
          </a:p>
        </p:txBody>
      </p:sp>
      <p:sp>
        <p:nvSpPr>
          <p:cNvPr id="90" name="Text 22"/>
          <p:cNvSpPr/>
          <p:nvPr/>
        </p:nvSpPr>
        <p:spPr>
          <a:xfrm>
            <a:off x="658440" y="2962800"/>
            <a:ext cx="4800240" cy="20088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300" b="0" u="none" strike="noStrike">
                <a:solidFill>
                  <a:srgbClr val="102A36"/>
                </a:solidFill>
                <a:effectLst/>
                <a:uFillTx/>
                <a:latin typeface="Aptos"/>
              </a:rPr>
              <a:t>le modèle de prix utilise les caractéristiques du véhicule : modèle, kilométrage, puissance et options.</a:t>
            </a:r>
            <a:endParaRPr lang="fr-FR" sz="1300" b="0" u="none" strike="noStrike">
              <a:solidFill>
                <a:srgbClr val="000000"/>
              </a:solidFill>
              <a:effectLst/>
              <a:uFillTx/>
              <a:latin typeface="Arial"/>
            </a:endParaRPr>
          </a:p>
        </p:txBody>
      </p:sp>
      <p:sp>
        <p:nvSpPr>
          <p:cNvPr id="91" name="Shape 23"/>
          <p:cNvSpPr/>
          <p:nvPr/>
        </p:nvSpPr>
        <p:spPr>
          <a:xfrm>
            <a:off x="237600" y="5074920"/>
            <a:ext cx="5990040" cy="502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2" name="Text 24"/>
          <p:cNvSpPr/>
          <p:nvPr/>
        </p:nvSpPr>
        <p:spPr>
          <a:xfrm>
            <a:off x="612720" y="5175360"/>
            <a:ext cx="5037840" cy="338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La difficulté principale : isoler les vrais retards qui perturbent la location suivante.</a:t>
            </a:r>
            <a:endParaRPr lang="fr-FR" sz="1400" b="0" u="none" strike="noStrike">
              <a:solidFill>
                <a:srgbClr val="000000"/>
              </a:solidFill>
              <a:effectLst/>
              <a:uFillTx/>
              <a:latin typeface="Arial"/>
            </a:endParaRPr>
          </a:p>
        </p:txBody>
      </p:sp>
      <p:sp>
        <p:nvSpPr>
          <p:cNvPr id="93" name="Text 25"/>
          <p:cNvSpPr/>
          <p:nvPr/>
        </p:nvSpPr>
        <p:spPr>
          <a:xfrm>
            <a:off x="6400800" y="914400"/>
            <a:ext cx="429732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008E8C"/>
                </a:solidFill>
                <a:effectLst/>
                <a:uFillTx/>
                <a:latin typeface="Aptos"/>
              </a:rPr>
              <a:t>Données disponibles</a:t>
            </a:r>
            <a:endParaRPr lang="fr-FR" sz="1500" b="0" u="none" strike="noStrike">
              <a:solidFill>
                <a:srgbClr val="000000"/>
              </a:solidFill>
              <a:effectLst/>
              <a:uFillTx/>
              <a:latin typeface="Arial"/>
            </a:endParaRPr>
          </a:p>
        </p:txBody>
      </p:sp>
      <p:sp>
        <p:nvSpPr>
          <p:cNvPr id="94" name="Shape 26"/>
          <p:cNvSpPr/>
          <p:nvPr/>
        </p:nvSpPr>
        <p:spPr>
          <a:xfrm>
            <a:off x="6400800" y="1124640"/>
            <a:ext cx="429732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95" name="Shape 27"/>
          <p:cNvSpPr/>
          <p:nvPr/>
        </p:nvSpPr>
        <p:spPr>
          <a:xfrm>
            <a:off x="6400800" y="1417320"/>
            <a:ext cx="1508400" cy="37440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6" name="Text 28"/>
          <p:cNvSpPr/>
          <p:nvPr/>
        </p:nvSpPr>
        <p:spPr>
          <a:xfrm>
            <a:off x="6455520" y="1472040"/>
            <a:ext cx="1398600" cy="301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Fichier</a:t>
            </a:r>
            <a:endParaRPr lang="fr-FR" sz="1200" b="0" u="none" strike="noStrike">
              <a:solidFill>
                <a:srgbClr val="000000"/>
              </a:solidFill>
              <a:effectLst/>
              <a:uFillTx/>
              <a:latin typeface="Arial"/>
            </a:endParaRPr>
          </a:p>
        </p:txBody>
      </p:sp>
      <p:sp>
        <p:nvSpPr>
          <p:cNvPr id="97" name="Shape 29"/>
          <p:cNvSpPr/>
          <p:nvPr/>
        </p:nvSpPr>
        <p:spPr>
          <a:xfrm>
            <a:off x="7909560" y="1417320"/>
            <a:ext cx="2788560" cy="37440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98" name="Text 30"/>
          <p:cNvSpPr/>
          <p:nvPr/>
        </p:nvSpPr>
        <p:spPr>
          <a:xfrm>
            <a:off x="7964280" y="1472040"/>
            <a:ext cx="2678760" cy="301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Usage</a:t>
            </a:r>
            <a:endParaRPr lang="fr-FR" sz="1200" b="0" u="none" strike="noStrike">
              <a:solidFill>
                <a:srgbClr val="000000"/>
              </a:solidFill>
              <a:effectLst/>
              <a:uFillTx/>
              <a:latin typeface="Arial"/>
            </a:endParaRPr>
          </a:p>
        </p:txBody>
      </p:sp>
      <p:sp>
        <p:nvSpPr>
          <p:cNvPr id="99" name="Shape 31"/>
          <p:cNvSpPr/>
          <p:nvPr/>
        </p:nvSpPr>
        <p:spPr>
          <a:xfrm>
            <a:off x="6400800" y="1792080"/>
            <a:ext cx="150840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0" name="Text 32"/>
          <p:cNvSpPr/>
          <p:nvPr/>
        </p:nvSpPr>
        <p:spPr>
          <a:xfrm>
            <a:off x="6455520" y="1847160"/>
            <a:ext cx="1398600" cy="30132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200" b="0" u="none" strike="noStrike">
                <a:solidFill>
                  <a:srgbClr val="102A36"/>
                </a:solidFill>
                <a:effectLst/>
                <a:uFillTx/>
                <a:latin typeface="Aptos"/>
              </a:rPr>
              <a:t>delay_analysis.xlsx</a:t>
            </a:r>
            <a:endParaRPr lang="fr-FR" sz="1200" b="0" u="none" strike="noStrike">
              <a:solidFill>
                <a:srgbClr val="000000"/>
              </a:solidFill>
              <a:effectLst/>
              <a:uFillTx/>
              <a:latin typeface="Arial"/>
            </a:endParaRPr>
          </a:p>
        </p:txBody>
      </p:sp>
      <p:sp>
        <p:nvSpPr>
          <p:cNvPr id="101" name="Shape 33"/>
          <p:cNvSpPr/>
          <p:nvPr/>
        </p:nvSpPr>
        <p:spPr>
          <a:xfrm>
            <a:off x="7909560" y="1792080"/>
            <a:ext cx="278856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2" name="Text 34"/>
          <p:cNvSpPr/>
          <p:nvPr/>
        </p:nvSpPr>
        <p:spPr>
          <a:xfrm>
            <a:off x="7964280" y="1847160"/>
            <a:ext cx="2678760" cy="301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retards et locations successives</a:t>
            </a:r>
            <a:endParaRPr lang="fr-FR" sz="1200" b="0" u="none" strike="noStrike">
              <a:solidFill>
                <a:srgbClr val="000000"/>
              </a:solidFill>
              <a:effectLst/>
              <a:uFillTx/>
              <a:latin typeface="Arial"/>
            </a:endParaRPr>
          </a:p>
        </p:txBody>
      </p:sp>
      <p:sp>
        <p:nvSpPr>
          <p:cNvPr id="103" name="Shape 35"/>
          <p:cNvSpPr/>
          <p:nvPr/>
        </p:nvSpPr>
        <p:spPr>
          <a:xfrm>
            <a:off x="6400800" y="2167200"/>
            <a:ext cx="150840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4" name="Text 36"/>
          <p:cNvSpPr/>
          <p:nvPr/>
        </p:nvSpPr>
        <p:spPr>
          <a:xfrm>
            <a:off x="6455520" y="2221920"/>
            <a:ext cx="1398600" cy="30132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200" b="0" u="none" strike="noStrike">
                <a:solidFill>
                  <a:srgbClr val="102A36"/>
                </a:solidFill>
                <a:effectLst/>
                <a:uFillTx/>
                <a:latin typeface="Aptos"/>
              </a:rPr>
              <a:t>pricing_project.csv</a:t>
            </a:r>
            <a:endParaRPr lang="fr-FR" sz="1200" b="0" u="none" strike="noStrike">
              <a:solidFill>
                <a:srgbClr val="000000"/>
              </a:solidFill>
              <a:effectLst/>
              <a:uFillTx/>
              <a:latin typeface="Arial"/>
            </a:endParaRPr>
          </a:p>
        </p:txBody>
      </p:sp>
      <p:sp>
        <p:nvSpPr>
          <p:cNvPr id="105" name="Shape 37"/>
          <p:cNvSpPr/>
          <p:nvPr/>
        </p:nvSpPr>
        <p:spPr>
          <a:xfrm>
            <a:off x="7909560" y="2167200"/>
            <a:ext cx="278856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6" name="Text 38"/>
          <p:cNvSpPr/>
          <p:nvPr/>
        </p:nvSpPr>
        <p:spPr>
          <a:xfrm>
            <a:off x="7964280" y="2221920"/>
            <a:ext cx="2678760" cy="301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modèle de prix journalier</a:t>
            </a:r>
            <a:endParaRPr lang="fr-FR" sz="1200" b="0" u="none" strike="noStrike">
              <a:solidFill>
                <a:srgbClr val="000000"/>
              </a:solidFill>
              <a:effectLst/>
              <a:uFillTx/>
              <a:latin typeface="Arial"/>
            </a:endParaRPr>
          </a:p>
        </p:txBody>
      </p:sp>
      <p:sp>
        <p:nvSpPr>
          <p:cNvPr id="107" name="Shape 39"/>
          <p:cNvSpPr/>
          <p:nvPr/>
        </p:nvSpPr>
        <p:spPr>
          <a:xfrm>
            <a:off x="6400800" y="2541960"/>
            <a:ext cx="150840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08" name="Text 40"/>
          <p:cNvSpPr/>
          <p:nvPr/>
        </p:nvSpPr>
        <p:spPr>
          <a:xfrm>
            <a:off x="6455520" y="2597040"/>
            <a:ext cx="1398600" cy="301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business_summary.json</a:t>
            </a:r>
            <a:endParaRPr lang="fr-FR" sz="1200" b="0" u="none" strike="noStrike">
              <a:solidFill>
                <a:srgbClr val="000000"/>
              </a:solidFill>
              <a:effectLst/>
              <a:uFillTx/>
              <a:latin typeface="Arial"/>
            </a:endParaRPr>
          </a:p>
        </p:txBody>
      </p:sp>
      <p:sp>
        <p:nvSpPr>
          <p:cNvPr id="109" name="Shape 41"/>
          <p:cNvSpPr/>
          <p:nvPr/>
        </p:nvSpPr>
        <p:spPr>
          <a:xfrm>
            <a:off x="7909560" y="2541960"/>
            <a:ext cx="278856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0" name="Text 42"/>
          <p:cNvSpPr/>
          <p:nvPr/>
        </p:nvSpPr>
        <p:spPr>
          <a:xfrm>
            <a:off x="7964280" y="2597040"/>
            <a:ext cx="2678760" cy="301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synthèse métier</a:t>
            </a:r>
            <a:endParaRPr lang="fr-FR" sz="1200" b="0" u="none" strike="noStrike">
              <a:solidFill>
                <a:srgbClr val="000000"/>
              </a:solidFill>
              <a:effectLst/>
              <a:uFillTx/>
              <a:latin typeface="Arial"/>
            </a:endParaRPr>
          </a:p>
        </p:txBody>
      </p:sp>
      <p:sp>
        <p:nvSpPr>
          <p:cNvPr id="111" name="Shape 43"/>
          <p:cNvSpPr/>
          <p:nvPr/>
        </p:nvSpPr>
        <p:spPr>
          <a:xfrm>
            <a:off x="6400800" y="2917080"/>
            <a:ext cx="150840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2" name="Text 44"/>
          <p:cNvSpPr/>
          <p:nvPr/>
        </p:nvSpPr>
        <p:spPr>
          <a:xfrm>
            <a:off x="6455520" y="2971800"/>
            <a:ext cx="1398600" cy="30132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200" b="0" u="none" strike="noStrike">
                <a:solidFill>
                  <a:srgbClr val="102A36"/>
                </a:solidFill>
                <a:effectLst/>
                <a:uFillTx/>
                <a:latin typeface="Aptos"/>
              </a:rPr>
              <a:t>pricing_metrics.json</a:t>
            </a:r>
            <a:endParaRPr lang="fr-FR" sz="1200" b="0" u="none" strike="noStrike">
              <a:solidFill>
                <a:srgbClr val="000000"/>
              </a:solidFill>
              <a:effectLst/>
              <a:uFillTx/>
              <a:latin typeface="Arial"/>
            </a:endParaRPr>
          </a:p>
        </p:txBody>
      </p:sp>
      <p:sp>
        <p:nvSpPr>
          <p:cNvPr id="113" name="Shape 45"/>
          <p:cNvSpPr/>
          <p:nvPr/>
        </p:nvSpPr>
        <p:spPr>
          <a:xfrm>
            <a:off x="7909560" y="2917080"/>
            <a:ext cx="2788560" cy="37440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14" name="Text 46"/>
          <p:cNvSpPr/>
          <p:nvPr/>
        </p:nvSpPr>
        <p:spPr>
          <a:xfrm>
            <a:off x="7964280" y="2971800"/>
            <a:ext cx="2678760" cy="301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comparaison modèles</a:t>
            </a:r>
            <a:endParaRPr lang="fr-FR" sz="1200" b="0" u="none" strike="noStrike">
              <a:solidFill>
                <a:srgbClr val="000000"/>
              </a:solidFill>
              <a:effectLst/>
              <a:uFillTx/>
              <a:latin typeface="Arial"/>
            </a:endParaRPr>
          </a:p>
        </p:txBody>
      </p:sp>
      <p:sp>
        <p:nvSpPr>
          <p:cNvPr id="115" name="Text 47"/>
          <p:cNvSpPr/>
          <p:nvPr/>
        </p:nvSpPr>
        <p:spPr>
          <a:xfrm>
            <a:off x="6400800" y="3703320"/>
            <a:ext cx="429732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   Premier diagnostic</a:t>
            </a:r>
            <a:endParaRPr lang="fr-FR" sz="1400" b="0" u="none" strike="noStrike">
              <a:solidFill>
                <a:srgbClr val="000000"/>
              </a:solidFill>
              <a:effectLst/>
              <a:uFillTx/>
              <a:latin typeface="Arial"/>
            </a:endParaRPr>
          </a:p>
        </p:txBody>
      </p:sp>
      <p:sp>
        <p:nvSpPr>
          <p:cNvPr id="116" name="Shape 48"/>
          <p:cNvSpPr/>
          <p:nvPr/>
        </p:nvSpPr>
        <p:spPr>
          <a:xfrm>
            <a:off x="6400800" y="3913560"/>
            <a:ext cx="429732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117" name="Text 49"/>
          <p:cNvSpPr/>
          <p:nvPr/>
        </p:nvSpPr>
        <p:spPr>
          <a:xfrm>
            <a:off x="6537960" y="3960000"/>
            <a:ext cx="4023000" cy="18252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en-US" sz="1400" b="0" u="none" strike="noStrike">
                <a:solidFill>
                  <a:srgbClr val="102A36"/>
                </a:solidFill>
                <a:effectLst/>
                <a:uFillTx/>
                <a:latin typeface="Aptos"/>
              </a:rPr>
              <a:t>données suffisantes pour une décision de seuil ;</a:t>
            </a:r>
            <a:endParaRPr lang="fr-FR" sz="1400" b="0" u="none" strike="noStrike">
              <a:solidFill>
                <a:srgbClr val="000000"/>
              </a:solidFill>
              <a:effectLst/>
              <a:uFillTx/>
              <a:latin typeface="Arial"/>
            </a:endParaRPr>
          </a:p>
        </p:txBody>
      </p:sp>
      <p:sp>
        <p:nvSpPr>
          <p:cNvPr id="118" name="Text 50"/>
          <p:cNvSpPr/>
          <p:nvPr/>
        </p:nvSpPr>
        <p:spPr>
          <a:xfrm>
            <a:off x="6537960" y="4425840"/>
            <a:ext cx="4023000" cy="18252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en-US" sz="1400" b="0" u="none" strike="noStrike">
                <a:solidFill>
                  <a:srgbClr val="102A36"/>
                </a:solidFill>
                <a:effectLst/>
                <a:uFillTx/>
                <a:latin typeface="Aptos"/>
              </a:rPr>
              <a:t>absence de revenu direct : proxy nécessaire ;</a:t>
            </a:r>
            <a:endParaRPr lang="fr-FR" sz="1400" b="0" u="none" strike="noStrike">
              <a:solidFill>
                <a:srgbClr val="000000"/>
              </a:solidFill>
              <a:effectLst/>
              <a:uFillTx/>
              <a:latin typeface="Arial"/>
            </a:endParaRPr>
          </a:p>
        </p:txBody>
      </p:sp>
      <p:sp>
        <p:nvSpPr>
          <p:cNvPr id="119" name="Text 51"/>
          <p:cNvSpPr/>
          <p:nvPr/>
        </p:nvSpPr>
        <p:spPr>
          <a:xfrm>
            <a:off x="6537960" y="4900680"/>
            <a:ext cx="4023000" cy="18252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en-US" sz="1400" b="0" u="none" strike="noStrike">
                <a:solidFill>
                  <a:srgbClr val="102A36"/>
                </a:solidFill>
                <a:effectLst/>
                <a:uFillTx/>
                <a:latin typeface="Aptos"/>
              </a:rPr>
              <a:t>deuxième volet : service ML exposable en API.</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1"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122"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Aptos Display"/>
                <a:ea typeface="Aptos Display"/>
              </a:rPr>
              <a:t>Méthode d’analyse des retards</a:t>
            </a:r>
            <a:endParaRPr lang="fr-FR" sz="2000" b="0" u="none" strike="noStrike">
              <a:solidFill>
                <a:srgbClr val="000000"/>
              </a:solidFill>
              <a:effectLst/>
              <a:uFillTx/>
              <a:latin typeface="Arial"/>
            </a:endParaRPr>
          </a:p>
        </p:txBody>
      </p:sp>
      <p:sp>
        <p:nvSpPr>
          <p:cNvPr id="123" name="Text 3"/>
          <p:cNvSpPr/>
          <p:nvPr/>
        </p:nvSpPr>
        <p:spPr>
          <a:xfrm>
            <a:off x="8229600" y="118800"/>
            <a:ext cx="370296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0" u="none" strike="noStrike">
                <a:solidFill>
                  <a:srgbClr val="D9F6F6"/>
                </a:solidFill>
                <a:effectLst/>
                <a:uFillTx/>
                <a:latin typeface="Aptos"/>
                <a:ea typeface="Aptos"/>
              </a:rPr>
              <a:t>Mesurer à la fois la protection et l’impact</a:t>
            </a:r>
            <a:endParaRPr lang="fr-FR" sz="1300" b="0" u="none" strike="noStrike">
              <a:solidFill>
                <a:srgbClr val="000000"/>
              </a:solidFill>
              <a:effectLst/>
              <a:uFillTx/>
              <a:latin typeface="Arial"/>
            </a:endParaRPr>
          </a:p>
        </p:txBody>
      </p:sp>
      <p:sp>
        <p:nvSpPr>
          <p:cNvPr id="124"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125"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60" b="0" u="none" strike="noStrike">
                <a:solidFill>
                  <a:srgbClr val="8AA0A8"/>
                </a:solidFill>
                <a:effectLst/>
                <a:uFillTx/>
                <a:latin typeface="Aptos"/>
              </a:rPr>
              <a:t>4</a:t>
            </a:r>
            <a:endParaRPr lang="fr-FR" sz="560" b="0" u="none" strike="noStrike">
              <a:solidFill>
                <a:srgbClr val="000000"/>
              </a:solidFill>
              <a:effectLst/>
              <a:uFillTx/>
              <a:latin typeface="Arial"/>
            </a:endParaRPr>
          </a:p>
        </p:txBody>
      </p:sp>
      <p:sp>
        <p:nvSpPr>
          <p:cNvPr id="126" name="Shape 6"/>
          <p:cNvSpPr/>
          <p:nvPr/>
        </p:nvSpPr>
        <p:spPr>
          <a:xfrm>
            <a:off x="502920" y="720000"/>
            <a:ext cx="10881000" cy="72000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7" name="Text 7"/>
          <p:cNvSpPr/>
          <p:nvPr/>
        </p:nvSpPr>
        <p:spPr>
          <a:xfrm>
            <a:off x="713160" y="987480"/>
            <a:ext cx="104238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Aptos"/>
              </a:rPr>
              <a:t>Données → locations liées → seuils simulés → comparaison périmètre / impact → recommandation</a:t>
            </a:r>
            <a:endParaRPr lang="fr-FR" sz="1600" b="0" u="none" strike="noStrike">
              <a:solidFill>
                <a:srgbClr val="000000"/>
              </a:solidFill>
              <a:effectLst/>
              <a:uFillTx/>
              <a:latin typeface="Arial"/>
            </a:endParaRPr>
          </a:p>
        </p:txBody>
      </p:sp>
      <p:sp>
        <p:nvSpPr>
          <p:cNvPr id="128" name="Shape 8"/>
          <p:cNvSpPr/>
          <p:nvPr/>
        </p:nvSpPr>
        <p:spPr>
          <a:xfrm>
            <a:off x="731520" y="1828800"/>
            <a:ext cx="1645560" cy="77688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29" name="Text 9"/>
          <p:cNvSpPr/>
          <p:nvPr/>
        </p:nvSpPr>
        <p:spPr>
          <a:xfrm>
            <a:off x="804600" y="1938600"/>
            <a:ext cx="1499400" cy="63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2A36"/>
                </a:solidFill>
                <a:effectLst/>
                <a:uFillTx/>
                <a:latin typeface="Aptos"/>
              </a:rPr>
              <a:t>1</a:t>
            </a:r>
            <a:endParaRPr lang="fr-FR"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102A36"/>
                </a:solidFill>
                <a:effectLst/>
                <a:uFillTx/>
                <a:latin typeface="Aptos"/>
              </a:rPr>
              <a:t>Repérer les locations liées</a:t>
            </a:r>
            <a:endParaRPr lang="fr-FR" sz="1400" b="0" u="none" strike="noStrike">
              <a:solidFill>
                <a:srgbClr val="000000"/>
              </a:solidFill>
              <a:effectLst/>
              <a:uFillTx/>
              <a:latin typeface="Arial"/>
            </a:endParaRPr>
          </a:p>
        </p:txBody>
      </p:sp>
      <p:sp>
        <p:nvSpPr>
          <p:cNvPr id="130" name="Shape 10"/>
          <p:cNvSpPr/>
          <p:nvPr/>
        </p:nvSpPr>
        <p:spPr>
          <a:xfrm>
            <a:off x="2541960" y="2039040"/>
            <a:ext cx="365760" cy="29268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1" name="Shape 11"/>
          <p:cNvSpPr/>
          <p:nvPr/>
        </p:nvSpPr>
        <p:spPr>
          <a:xfrm>
            <a:off x="3035880" y="1828800"/>
            <a:ext cx="1645560" cy="77688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2" name="Text 12"/>
          <p:cNvSpPr/>
          <p:nvPr/>
        </p:nvSpPr>
        <p:spPr>
          <a:xfrm>
            <a:off x="3108960" y="1938600"/>
            <a:ext cx="1499400" cy="63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2A36"/>
                </a:solidFill>
                <a:effectLst/>
                <a:uFillTx/>
                <a:latin typeface="Aptos"/>
              </a:rPr>
              <a:t>2</a:t>
            </a:r>
            <a:endParaRPr lang="fr-FR"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102A36"/>
                </a:solidFill>
                <a:effectLst/>
                <a:uFillTx/>
                <a:latin typeface="Aptos"/>
              </a:rPr>
              <a:t>Calculer les cas problématiques</a:t>
            </a:r>
            <a:endParaRPr lang="fr-FR" sz="1400" b="0" u="none" strike="noStrike">
              <a:solidFill>
                <a:srgbClr val="000000"/>
              </a:solidFill>
              <a:effectLst/>
              <a:uFillTx/>
              <a:latin typeface="Arial"/>
            </a:endParaRPr>
          </a:p>
        </p:txBody>
      </p:sp>
      <p:sp>
        <p:nvSpPr>
          <p:cNvPr id="133" name="Shape 13"/>
          <p:cNvSpPr/>
          <p:nvPr/>
        </p:nvSpPr>
        <p:spPr>
          <a:xfrm>
            <a:off x="4846320" y="2039040"/>
            <a:ext cx="365760" cy="29268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4" name="Shape 14"/>
          <p:cNvSpPr/>
          <p:nvPr/>
        </p:nvSpPr>
        <p:spPr>
          <a:xfrm>
            <a:off x="5349240" y="1828800"/>
            <a:ext cx="1645560" cy="77688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5" name="Text 15"/>
          <p:cNvSpPr/>
          <p:nvPr/>
        </p:nvSpPr>
        <p:spPr>
          <a:xfrm>
            <a:off x="5422320" y="1938600"/>
            <a:ext cx="1499400" cy="63072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1400" b="1" u="none" strike="noStrike">
                <a:solidFill>
                  <a:srgbClr val="102A36"/>
                </a:solidFill>
                <a:effectLst/>
                <a:uFillTx/>
                <a:latin typeface="Aptos"/>
              </a:rPr>
              <a:t>3</a:t>
            </a:r>
            <a:endParaRPr lang="fr-FR"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102A36"/>
                </a:solidFill>
                <a:effectLst/>
                <a:uFillTx/>
                <a:latin typeface="Aptos"/>
              </a:rPr>
              <a:t>Tester des seuils</a:t>
            </a:r>
            <a:endParaRPr lang="fr-FR" sz="1400" b="0" u="none" strike="noStrike">
              <a:solidFill>
                <a:srgbClr val="000000"/>
              </a:solidFill>
              <a:effectLst/>
              <a:uFillTx/>
              <a:latin typeface="Arial"/>
            </a:endParaRPr>
          </a:p>
        </p:txBody>
      </p:sp>
      <p:sp>
        <p:nvSpPr>
          <p:cNvPr id="136" name="Shape 16"/>
          <p:cNvSpPr/>
          <p:nvPr/>
        </p:nvSpPr>
        <p:spPr>
          <a:xfrm>
            <a:off x="7150320" y="2039040"/>
            <a:ext cx="365760" cy="29268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7" name="Shape 17"/>
          <p:cNvSpPr/>
          <p:nvPr/>
        </p:nvSpPr>
        <p:spPr>
          <a:xfrm>
            <a:off x="7662600" y="1828800"/>
            <a:ext cx="1645560" cy="77688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38" name="Text 18"/>
          <p:cNvSpPr/>
          <p:nvPr/>
        </p:nvSpPr>
        <p:spPr>
          <a:xfrm>
            <a:off x="7735680" y="1938600"/>
            <a:ext cx="1499400" cy="630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02A36"/>
                </a:solidFill>
                <a:effectLst/>
                <a:uFillTx/>
                <a:latin typeface="Aptos"/>
              </a:rPr>
              <a:t>4</a:t>
            </a:r>
            <a:endParaRPr lang="fr-FR"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102A36"/>
                </a:solidFill>
                <a:effectLst/>
                <a:uFillTx/>
                <a:latin typeface="Aptos"/>
              </a:rPr>
              <a:t>Comparer les périmètres</a:t>
            </a:r>
            <a:endParaRPr lang="fr-FR" sz="1400" b="0" u="none" strike="noStrike">
              <a:solidFill>
                <a:srgbClr val="000000"/>
              </a:solidFill>
              <a:effectLst/>
              <a:uFillTx/>
              <a:latin typeface="Arial"/>
            </a:endParaRPr>
          </a:p>
        </p:txBody>
      </p:sp>
      <p:sp>
        <p:nvSpPr>
          <p:cNvPr id="139" name="Shape 19"/>
          <p:cNvSpPr/>
          <p:nvPr/>
        </p:nvSpPr>
        <p:spPr>
          <a:xfrm>
            <a:off x="9464040" y="2039040"/>
            <a:ext cx="365760" cy="29268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0" name="Shape 20"/>
          <p:cNvSpPr/>
          <p:nvPr/>
        </p:nvSpPr>
        <p:spPr>
          <a:xfrm>
            <a:off x="9985320" y="1828800"/>
            <a:ext cx="1142640" cy="776880"/>
          </a:xfrm>
          <a:prstGeom prst="rect">
            <a:avLst/>
          </a:prstGeom>
          <a:solidFill>
            <a:srgbClr val="082E3E"/>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1" name="Text 21"/>
          <p:cNvSpPr/>
          <p:nvPr/>
        </p:nvSpPr>
        <p:spPr>
          <a:xfrm>
            <a:off x="10058400" y="1938600"/>
            <a:ext cx="996480" cy="6307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400" b="1" u="none" strike="noStrike">
                <a:solidFill>
                  <a:srgbClr val="FFFFFF"/>
                </a:solidFill>
                <a:effectLst/>
                <a:uFillTx/>
                <a:latin typeface="Aptos"/>
              </a:rPr>
              <a:t>5</a:t>
            </a:r>
            <a:endParaRPr lang="fr-FR"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rgbClr val="FFFFFF"/>
                </a:solidFill>
                <a:effectLst/>
                <a:uFillTx/>
                <a:latin typeface="Aptos"/>
              </a:rPr>
              <a:t>Décider</a:t>
            </a:r>
            <a:endParaRPr lang="fr-FR" sz="1400" b="0" u="none" strike="noStrike">
              <a:solidFill>
                <a:srgbClr val="000000"/>
              </a:solidFill>
              <a:effectLst/>
              <a:uFillTx/>
              <a:latin typeface="Arial"/>
            </a:endParaRPr>
          </a:p>
        </p:txBody>
      </p:sp>
      <p:sp>
        <p:nvSpPr>
          <p:cNvPr id="142" name="Text 22"/>
          <p:cNvSpPr/>
          <p:nvPr/>
        </p:nvSpPr>
        <p:spPr>
          <a:xfrm>
            <a:off x="731520" y="3337560"/>
            <a:ext cx="466308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08E8C"/>
                </a:solidFill>
                <a:effectLst/>
                <a:uFillTx/>
                <a:latin typeface="Aptos"/>
              </a:rPr>
              <a:t>Indicateurs suivis</a:t>
            </a:r>
            <a:endParaRPr lang="fr-FR" sz="2000" b="0" u="none" strike="noStrike">
              <a:solidFill>
                <a:srgbClr val="000000"/>
              </a:solidFill>
              <a:effectLst/>
              <a:uFillTx/>
              <a:latin typeface="Arial"/>
            </a:endParaRPr>
          </a:p>
        </p:txBody>
      </p:sp>
      <p:sp>
        <p:nvSpPr>
          <p:cNvPr id="143" name="Shape 23"/>
          <p:cNvSpPr/>
          <p:nvPr/>
        </p:nvSpPr>
        <p:spPr>
          <a:xfrm>
            <a:off x="731520" y="3547800"/>
            <a:ext cx="466308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144" name="Shape 24"/>
          <p:cNvSpPr/>
          <p:nvPr/>
        </p:nvSpPr>
        <p:spPr>
          <a:xfrm>
            <a:off x="731520" y="3794760"/>
            <a:ext cx="137124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5" name="Text 25"/>
          <p:cNvSpPr/>
          <p:nvPr/>
        </p:nvSpPr>
        <p:spPr>
          <a:xfrm>
            <a:off x="831960" y="3877200"/>
            <a:ext cx="117000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0B8B6"/>
                </a:solidFill>
                <a:effectLst/>
                <a:uFillTx/>
                <a:latin typeface="Aptos"/>
              </a:rPr>
              <a:t>locations</a:t>
            </a:r>
            <a:endParaRPr lang="fr-FR" sz="1400" b="0" u="none" strike="noStrike">
              <a:solidFill>
                <a:srgbClr val="000000"/>
              </a:solidFill>
              <a:effectLst/>
              <a:uFillTx/>
              <a:latin typeface="Arial"/>
            </a:endParaRPr>
          </a:p>
        </p:txBody>
      </p:sp>
      <p:sp>
        <p:nvSpPr>
          <p:cNvPr id="146" name="Text 26"/>
          <p:cNvSpPr/>
          <p:nvPr/>
        </p:nvSpPr>
        <p:spPr>
          <a:xfrm>
            <a:off x="831960" y="4123800"/>
            <a:ext cx="11700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affectées par la règle</a:t>
            </a:r>
            <a:endParaRPr lang="fr-FR" sz="1200" b="0" u="none" strike="noStrike">
              <a:solidFill>
                <a:srgbClr val="000000"/>
              </a:solidFill>
              <a:effectLst/>
              <a:uFillTx/>
              <a:latin typeface="Arial"/>
            </a:endParaRPr>
          </a:p>
        </p:txBody>
      </p:sp>
      <p:sp>
        <p:nvSpPr>
          <p:cNvPr id="147" name="Shape 27"/>
          <p:cNvSpPr/>
          <p:nvPr/>
        </p:nvSpPr>
        <p:spPr>
          <a:xfrm>
            <a:off x="2331720" y="3794760"/>
            <a:ext cx="137124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48" name="Text 28"/>
          <p:cNvSpPr/>
          <p:nvPr/>
        </p:nvSpPr>
        <p:spPr>
          <a:xfrm>
            <a:off x="2432160" y="3877200"/>
            <a:ext cx="117000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F9D7A"/>
                </a:solidFill>
                <a:effectLst/>
                <a:uFillTx/>
                <a:latin typeface="Aptos"/>
              </a:rPr>
              <a:t>cas</a:t>
            </a:r>
            <a:endParaRPr lang="fr-FR" sz="1400" b="0" u="none" strike="noStrike">
              <a:solidFill>
                <a:srgbClr val="000000"/>
              </a:solidFill>
              <a:effectLst/>
              <a:uFillTx/>
              <a:latin typeface="Arial"/>
            </a:endParaRPr>
          </a:p>
        </p:txBody>
      </p:sp>
      <p:sp>
        <p:nvSpPr>
          <p:cNvPr id="149" name="Text 29"/>
          <p:cNvSpPr/>
          <p:nvPr/>
        </p:nvSpPr>
        <p:spPr>
          <a:xfrm>
            <a:off x="2432160" y="4123800"/>
            <a:ext cx="11700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problématiques résolus</a:t>
            </a:r>
            <a:endParaRPr lang="fr-FR" sz="1200" b="0" u="none" strike="noStrike">
              <a:solidFill>
                <a:srgbClr val="000000"/>
              </a:solidFill>
              <a:effectLst/>
              <a:uFillTx/>
              <a:latin typeface="Arial"/>
            </a:endParaRPr>
          </a:p>
        </p:txBody>
      </p:sp>
      <p:sp>
        <p:nvSpPr>
          <p:cNvPr id="150" name="Shape 30"/>
          <p:cNvSpPr/>
          <p:nvPr/>
        </p:nvSpPr>
        <p:spPr>
          <a:xfrm>
            <a:off x="3931920" y="3794760"/>
            <a:ext cx="137124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1" name="Text 31"/>
          <p:cNvSpPr/>
          <p:nvPr/>
        </p:nvSpPr>
        <p:spPr>
          <a:xfrm>
            <a:off x="4032360" y="3877200"/>
            <a:ext cx="117000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2A93B"/>
                </a:solidFill>
                <a:effectLst/>
                <a:uFillTx/>
                <a:latin typeface="Aptos"/>
              </a:rPr>
              <a:t>ratio</a:t>
            </a:r>
            <a:endParaRPr lang="fr-FR" sz="1400" b="0" u="none" strike="noStrike">
              <a:solidFill>
                <a:srgbClr val="000000"/>
              </a:solidFill>
              <a:effectLst/>
              <a:uFillTx/>
              <a:latin typeface="Arial"/>
            </a:endParaRPr>
          </a:p>
        </p:txBody>
      </p:sp>
      <p:sp>
        <p:nvSpPr>
          <p:cNvPr id="152" name="Text 32"/>
          <p:cNvSpPr/>
          <p:nvPr/>
        </p:nvSpPr>
        <p:spPr>
          <a:xfrm>
            <a:off x="4032360" y="4123800"/>
            <a:ext cx="11700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résolution / impact</a:t>
            </a:r>
            <a:endParaRPr lang="fr-FR" sz="1200" b="0" u="none" strike="noStrike">
              <a:solidFill>
                <a:srgbClr val="000000"/>
              </a:solidFill>
              <a:effectLst/>
              <a:uFillTx/>
              <a:latin typeface="Arial"/>
            </a:endParaRPr>
          </a:p>
        </p:txBody>
      </p:sp>
      <p:sp>
        <p:nvSpPr>
          <p:cNvPr id="153" name="Text 33"/>
          <p:cNvSpPr/>
          <p:nvPr/>
        </p:nvSpPr>
        <p:spPr>
          <a:xfrm>
            <a:off x="6400800" y="3337560"/>
            <a:ext cx="43430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08E8C"/>
                </a:solidFill>
                <a:effectLst/>
                <a:uFillTx/>
                <a:latin typeface="Aptos"/>
              </a:rPr>
              <a:t>Hypothèse méthodologique</a:t>
            </a:r>
            <a:endParaRPr lang="fr-FR" sz="1600" b="0" u="none" strike="noStrike">
              <a:solidFill>
                <a:srgbClr val="000000"/>
              </a:solidFill>
              <a:effectLst/>
              <a:uFillTx/>
              <a:latin typeface="Arial"/>
            </a:endParaRPr>
          </a:p>
        </p:txBody>
      </p:sp>
      <p:sp>
        <p:nvSpPr>
          <p:cNvPr id="154" name="Shape 34"/>
          <p:cNvSpPr/>
          <p:nvPr/>
        </p:nvSpPr>
        <p:spPr>
          <a:xfrm>
            <a:off x="6400800" y="3547800"/>
            <a:ext cx="43430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155" name="Shape 35"/>
          <p:cNvSpPr/>
          <p:nvPr/>
        </p:nvSpPr>
        <p:spPr>
          <a:xfrm>
            <a:off x="6400800" y="3794760"/>
            <a:ext cx="4343040" cy="685440"/>
          </a:xfrm>
          <a:prstGeom prst="rect">
            <a:avLst/>
          </a:prstGeom>
          <a:solidFill>
            <a:srgbClr val="FFF2D6"/>
          </a:solidFill>
          <a:ln w="12700">
            <a:solidFill>
              <a:srgbClr val="FFF2D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6" name="Text 36"/>
          <p:cNvSpPr/>
          <p:nvPr/>
        </p:nvSpPr>
        <p:spPr>
          <a:xfrm>
            <a:off x="6510600" y="3895200"/>
            <a:ext cx="4123440" cy="520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02A36"/>
                </a:solidFill>
                <a:effectLst/>
                <a:uFillTx/>
                <a:latin typeface="Aptos"/>
              </a:rPr>
              <a:t>Le revenu n’étant pas disponible, le coût commercial est approché par la part de locations rendues indisponibles par le seuil.</a:t>
            </a:r>
            <a:endParaRPr lang="fr-FR" sz="1400" b="0" u="none" strike="noStrike">
              <a:solidFill>
                <a:srgbClr val="000000"/>
              </a:solidFill>
              <a:effectLst/>
              <a:uFillTx/>
              <a:latin typeface="Arial"/>
            </a:endParaRPr>
          </a:p>
        </p:txBody>
      </p:sp>
      <p:sp>
        <p:nvSpPr>
          <p:cNvPr id="157" name="Shape 37"/>
          <p:cNvSpPr/>
          <p:nvPr/>
        </p:nvSpPr>
        <p:spPr>
          <a:xfrm>
            <a:off x="6400800" y="4690800"/>
            <a:ext cx="4343040" cy="70920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58" name="Text 38"/>
          <p:cNvSpPr/>
          <p:nvPr/>
        </p:nvSpPr>
        <p:spPr>
          <a:xfrm>
            <a:off x="6510600" y="4791600"/>
            <a:ext cx="4123440" cy="338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La recommandation retient le plus petit seuil qui dépasse un niveau élevé de protection.</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0"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161"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Aptos Display"/>
                <a:ea typeface="Aptos Display"/>
              </a:rPr>
              <a:t>Recommandation produit</a:t>
            </a:r>
            <a:endParaRPr lang="fr-FR" sz="2000" b="0" u="none" strike="noStrike">
              <a:solidFill>
                <a:srgbClr val="000000"/>
              </a:solidFill>
              <a:effectLst/>
              <a:uFillTx/>
              <a:latin typeface="Arial"/>
            </a:endParaRPr>
          </a:p>
        </p:txBody>
      </p:sp>
      <p:sp>
        <p:nvSpPr>
          <p:cNvPr id="162" name="Text 3"/>
          <p:cNvSpPr/>
          <p:nvPr/>
        </p:nvSpPr>
        <p:spPr>
          <a:xfrm>
            <a:off x="8229600" y="118800"/>
            <a:ext cx="370296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9F6F6"/>
                </a:solidFill>
                <a:effectLst/>
                <a:uFillTx/>
                <a:latin typeface="Aptos"/>
                <a:ea typeface="Aptos"/>
              </a:rPr>
              <a:t>120 minutes sur l’ensemble du parc</a:t>
            </a:r>
            <a:endParaRPr lang="fr-FR" sz="1200" b="0" u="none" strike="noStrike">
              <a:solidFill>
                <a:srgbClr val="000000"/>
              </a:solidFill>
              <a:effectLst/>
              <a:uFillTx/>
              <a:latin typeface="Arial"/>
            </a:endParaRPr>
          </a:p>
        </p:txBody>
      </p:sp>
      <p:sp>
        <p:nvSpPr>
          <p:cNvPr id="163"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164"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60" b="0" u="none" strike="noStrike">
                <a:solidFill>
                  <a:srgbClr val="8AA0A8"/>
                </a:solidFill>
                <a:effectLst/>
                <a:uFillTx/>
                <a:latin typeface="Aptos"/>
              </a:rPr>
              <a:t>5</a:t>
            </a:r>
            <a:endParaRPr lang="fr-FR" sz="560" b="0" u="none" strike="noStrike">
              <a:solidFill>
                <a:srgbClr val="000000"/>
              </a:solidFill>
              <a:effectLst/>
              <a:uFillTx/>
              <a:latin typeface="Arial"/>
            </a:endParaRPr>
          </a:p>
        </p:txBody>
      </p:sp>
      <p:sp>
        <p:nvSpPr>
          <p:cNvPr id="165" name="Shape 6"/>
          <p:cNvSpPr/>
          <p:nvPr/>
        </p:nvSpPr>
        <p:spPr>
          <a:xfrm>
            <a:off x="50292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6" name="Text 7"/>
          <p:cNvSpPr/>
          <p:nvPr/>
        </p:nvSpPr>
        <p:spPr>
          <a:xfrm>
            <a:off x="60336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F2A93B"/>
                </a:solidFill>
                <a:effectLst/>
                <a:uFillTx/>
                <a:latin typeface="Aptos"/>
              </a:rPr>
              <a:t>120 min</a:t>
            </a:r>
            <a:endParaRPr lang="fr-FR" sz="1800" b="0" u="none" strike="noStrike">
              <a:solidFill>
                <a:srgbClr val="000000"/>
              </a:solidFill>
              <a:effectLst/>
              <a:uFillTx/>
              <a:latin typeface="Arial"/>
            </a:endParaRPr>
          </a:p>
        </p:txBody>
      </p:sp>
      <p:sp>
        <p:nvSpPr>
          <p:cNvPr id="167" name="Text 8"/>
          <p:cNvSpPr/>
          <p:nvPr/>
        </p:nvSpPr>
        <p:spPr>
          <a:xfrm>
            <a:off x="603360" y="1197720"/>
            <a:ext cx="1215720" cy="2008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100" b="0" u="none" strike="noStrike">
                <a:solidFill>
                  <a:srgbClr val="102A36"/>
                </a:solidFill>
                <a:effectLst/>
                <a:uFillTx/>
                <a:latin typeface="Aptos"/>
              </a:rPr>
              <a:t>seuil recommandé</a:t>
            </a:r>
            <a:endParaRPr lang="fr-FR" sz="1100" b="0" u="none" strike="noStrike">
              <a:solidFill>
                <a:srgbClr val="000000"/>
              </a:solidFill>
              <a:effectLst/>
              <a:uFillTx/>
              <a:latin typeface="Arial"/>
            </a:endParaRPr>
          </a:p>
        </p:txBody>
      </p:sp>
      <p:sp>
        <p:nvSpPr>
          <p:cNvPr id="168" name="Shape 9"/>
          <p:cNvSpPr/>
          <p:nvPr/>
        </p:nvSpPr>
        <p:spPr>
          <a:xfrm>
            <a:off x="210312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69" name="Text 10"/>
          <p:cNvSpPr/>
          <p:nvPr/>
        </p:nvSpPr>
        <p:spPr>
          <a:xfrm>
            <a:off x="220356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F9D7A"/>
                </a:solidFill>
                <a:effectLst/>
                <a:uFillTx/>
                <a:latin typeface="Aptos"/>
              </a:rPr>
              <a:t>180</a:t>
            </a:r>
            <a:endParaRPr lang="fr-FR" sz="1800" b="0" u="none" strike="noStrike">
              <a:solidFill>
                <a:srgbClr val="000000"/>
              </a:solidFill>
              <a:effectLst/>
              <a:uFillTx/>
              <a:latin typeface="Arial"/>
            </a:endParaRPr>
          </a:p>
        </p:txBody>
      </p:sp>
      <p:sp>
        <p:nvSpPr>
          <p:cNvPr id="170" name="Text 11"/>
          <p:cNvSpPr/>
          <p:nvPr/>
        </p:nvSpPr>
        <p:spPr>
          <a:xfrm>
            <a:off x="2203560" y="1197720"/>
            <a:ext cx="121572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00" b="0" u="none" strike="noStrike">
                <a:solidFill>
                  <a:srgbClr val="102A36"/>
                </a:solidFill>
                <a:effectLst/>
                <a:uFillTx/>
                <a:latin typeface="Aptos"/>
              </a:rPr>
              <a:t>cas résolus</a:t>
            </a:r>
            <a:endParaRPr lang="fr-FR" sz="1100" b="0" u="none" strike="noStrike">
              <a:solidFill>
                <a:srgbClr val="000000"/>
              </a:solidFill>
              <a:effectLst/>
              <a:uFillTx/>
              <a:latin typeface="Arial"/>
            </a:endParaRPr>
          </a:p>
        </p:txBody>
      </p:sp>
      <p:sp>
        <p:nvSpPr>
          <p:cNvPr id="171" name="Shape 12"/>
          <p:cNvSpPr/>
          <p:nvPr/>
        </p:nvSpPr>
        <p:spPr>
          <a:xfrm>
            <a:off x="370332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2" name="Text 13"/>
          <p:cNvSpPr/>
          <p:nvPr/>
        </p:nvSpPr>
        <p:spPr>
          <a:xfrm>
            <a:off x="380376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F9D7A"/>
                </a:solidFill>
                <a:effectLst/>
                <a:uFillTx/>
                <a:latin typeface="Aptos"/>
              </a:rPr>
              <a:t>82,6 %</a:t>
            </a:r>
            <a:endParaRPr lang="fr-FR" sz="1600" b="0" u="none" strike="noStrike">
              <a:solidFill>
                <a:srgbClr val="000000"/>
              </a:solidFill>
              <a:effectLst/>
              <a:uFillTx/>
              <a:latin typeface="Arial"/>
            </a:endParaRPr>
          </a:p>
        </p:txBody>
      </p:sp>
      <p:sp>
        <p:nvSpPr>
          <p:cNvPr id="173" name="Text 14"/>
          <p:cNvSpPr/>
          <p:nvPr/>
        </p:nvSpPr>
        <p:spPr>
          <a:xfrm>
            <a:off x="3803760" y="1197720"/>
            <a:ext cx="121572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00" b="0" u="none" strike="noStrike">
                <a:solidFill>
                  <a:srgbClr val="102A36"/>
                </a:solidFill>
                <a:effectLst/>
                <a:uFillTx/>
                <a:latin typeface="Aptos"/>
              </a:rPr>
              <a:t>cas couverts</a:t>
            </a:r>
            <a:endParaRPr lang="fr-FR" sz="1100" b="0" u="none" strike="noStrike">
              <a:solidFill>
                <a:srgbClr val="000000"/>
              </a:solidFill>
              <a:effectLst/>
              <a:uFillTx/>
              <a:latin typeface="Arial"/>
            </a:endParaRPr>
          </a:p>
        </p:txBody>
      </p:sp>
      <p:sp>
        <p:nvSpPr>
          <p:cNvPr id="174" name="Shape 15"/>
          <p:cNvSpPr/>
          <p:nvPr/>
        </p:nvSpPr>
        <p:spPr>
          <a:xfrm>
            <a:off x="530352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75" name="Text 16"/>
          <p:cNvSpPr/>
          <p:nvPr/>
        </p:nvSpPr>
        <p:spPr>
          <a:xfrm>
            <a:off x="540396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0B8B6"/>
                </a:solidFill>
                <a:effectLst/>
                <a:uFillTx/>
                <a:latin typeface="Aptos"/>
              </a:rPr>
              <a:t>3,1 %</a:t>
            </a:r>
            <a:endParaRPr lang="fr-FR" sz="1600" b="0" u="none" strike="noStrike">
              <a:solidFill>
                <a:srgbClr val="000000"/>
              </a:solidFill>
              <a:effectLst/>
              <a:uFillTx/>
              <a:latin typeface="Arial"/>
            </a:endParaRPr>
          </a:p>
        </p:txBody>
      </p:sp>
      <p:sp>
        <p:nvSpPr>
          <p:cNvPr id="176" name="Text 17"/>
          <p:cNvSpPr/>
          <p:nvPr/>
        </p:nvSpPr>
        <p:spPr>
          <a:xfrm>
            <a:off x="5403960" y="1197720"/>
            <a:ext cx="1215720" cy="2008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100" b="0" u="none" strike="noStrike">
                <a:solidFill>
                  <a:srgbClr val="102A36"/>
                </a:solidFill>
                <a:effectLst/>
                <a:uFillTx/>
                <a:latin typeface="Aptos"/>
              </a:rPr>
              <a:t>locations affectées</a:t>
            </a:r>
            <a:endParaRPr lang="fr-FR" sz="1100" b="0" u="none" strike="noStrike">
              <a:solidFill>
                <a:srgbClr val="000000"/>
              </a:solidFill>
              <a:effectLst/>
              <a:uFillTx/>
              <a:latin typeface="Arial"/>
            </a:endParaRPr>
          </a:p>
        </p:txBody>
      </p:sp>
      <p:sp>
        <p:nvSpPr>
          <p:cNvPr id="177" name="Text 18"/>
          <p:cNvSpPr/>
          <p:nvPr/>
        </p:nvSpPr>
        <p:spPr>
          <a:xfrm>
            <a:off x="594360" y="1965960"/>
            <a:ext cx="521172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Comparaison des options à 120 minutes</a:t>
            </a:r>
            <a:endParaRPr lang="fr-FR" sz="1400" b="0" u="none" strike="noStrike">
              <a:solidFill>
                <a:srgbClr val="000000"/>
              </a:solidFill>
              <a:effectLst/>
              <a:uFillTx/>
              <a:latin typeface="Arial"/>
            </a:endParaRPr>
          </a:p>
        </p:txBody>
      </p:sp>
      <p:sp>
        <p:nvSpPr>
          <p:cNvPr id="178" name="Shape 19"/>
          <p:cNvSpPr/>
          <p:nvPr/>
        </p:nvSpPr>
        <p:spPr>
          <a:xfrm>
            <a:off x="594360" y="2176200"/>
            <a:ext cx="521172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179" name="Shape 20"/>
          <p:cNvSpPr/>
          <p:nvPr/>
        </p:nvSpPr>
        <p:spPr>
          <a:xfrm>
            <a:off x="594360" y="2404800"/>
            <a:ext cx="1325520" cy="34704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0" name="Text 21"/>
          <p:cNvSpPr/>
          <p:nvPr/>
        </p:nvSpPr>
        <p:spPr>
          <a:xfrm>
            <a:off x="649080" y="2459880"/>
            <a:ext cx="121572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Option</a:t>
            </a:r>
            <a:endParaRPr lang="fr-FR" sz="1200" b="0" u="none" strike="noStrike">
              <a:solidFill>
                <a:srgbClr val="000000"/>
              </a:solidFill>
              <a:effectLst/>
              <a:uFillTx/>
              <a:latin typeface="Arial"/>
            </a:endParaRPr>
          </a:p>
        </p:txBody>
      </p:sp>
      <p:sp>
        <p:nvSpPr>
          <p:cNvPr id="181" name="Shape 22"/>
          <p:cNvSpPr/>
          <p:nvPr/>
        </p:nvSpPr>
        <p:spPr>
          <a:xfrm>
            <a:off x="1920240" y="2404800"/>
            <a:ext cx="1416960" cy="34704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2" name="Text 23"/>
          <p:cNvSpPr/>
          <p:nvPr/>
        </p:nvSpPr>
        <p:spPr>
          <a:xfrm>
            <a:off x="1974960" y="2459880"/>
            <a:ext cx="13071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ptos"/>
              </a:rPr>
              <a:t>Locations affectées</a:t>
            </a:r>
            <a:endParaRPr lang="fr-FR" sz="1200" b="0" u="none" strike="noStrike">
              <a:solidFill>
                <a:srgbClr val="000000"/>
              </a:solidFill>
              <a:effectLst/>
              <a:uFillTx/>
              <a:latin typeface="Arial"/>
            </a:endParaRPr>
          </a:p>
        </p:txBody>
      </p:sp>
      <p:sp>
        <p:nvSpPr>
          <p:cNvPr id="183" name="Shape 24"/>
          <p:cNvSpPr/>
          <p:nvPr/>
        </p:nvSpPr>
        <p:spPr>
          <a:xfrm>
            <a:off x="3337560" y="2404800"/>
            <a:ext cx="1234080" cy="34704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4" name="Text 25"/>
          <p:cNvSpPr/>
          <p:nvPr/>
        </p:nvSpPr>
        <p:spPr>
          <a:xfrm>
            <a:off x="3392280" y="2459880"/>
            <a:ext cx="112428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Cas résolus</a:t>
            </a:r>
            <a:endParaRPr lang="fr-FR" sz="1200" b="0" u="none" strike="noStrike">
              <a:solidFill>
                <a:srgbClr val="000000"/>
              </a:solidFill>
              <a:effectLst/>
              <a:uFillTx/>
              <a:latin typeface="Arial"/>
            </a:endParaRPr>
          </a:p>
        </p:txBody>
      </p:sp>
      <p:sp>
        <p:nvSpPr>
          <p:cNvPr id="185" name="Shape 26"/>
          <p:cNvSpPr/>
          <p:nvPr/>
        </p:nvSpPr>
        <p:spPr>
          <a:xfrm>
            <a:off x="4572000" y="2404800"/>
            <a:ext cx="1234080" cy="34704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6" name="Text 27"/>
          <p:cNvSpPr/>
          <p:nvPr/>
        </p:nvSpPr>
        <p:spPr>
          <a:xfrm>
            <a:off x="4626720" y="2459880"/>
            <a:ext cx="112428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Lecture</a:t>
            </a:r>
            <a:endParaRPr lang="fr-FR" sz="1200" b="0" u="none" strike="noStrike">
              <a:solidFill>
                <a:srgbClr val="000000"/>
              </a:solidFill>
              <a:effectLst/>
              <a:uFillTx/>
              <a:latin typeface="Arial"/>
            </a:endParaRPr>
          </a:p>
        </p:txBody>
      </p:sp>
      <p:sp>
        <p:nvSpPr>
          <p:cNvPr id="187" name="Shape 28"/>
          <p:cNvSpPr/>
          <p:nvPr/>
        </p:nvSpPr>
        <p:spPr>
          <a:xfrm>
            <a:off x="594360" y="2752200"/>
            <a:ext cx="132552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88" name="Text 29"/>
          <p:cNvSpPr/>
          <p:nvPr/>
        </p:nvSpPr>
        <p:spPr>
          <a:xfrm>
            <a:off x="649080" y="2807280"/>
            <a:ext cx="121572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Toutes voitures</a:t>
            </a:r>
            <a:endParaRPr lang="fr-FR" sz="1200" b="0" u="none" strike="noStrike">
              <a:solidFill>
                <a:srgbClr val="000000"/>
              </a:solidFill>
              <a:effectLst/>
              <a:uFillTx/>
              <a:latin typeface="Arial"/>
            </a:endParaRPr>
          </a:p>
        </p:txBody>
      </p:sp>
      <p:sp>
        <p:nvSpPr>
          <p:cNvPr id="189" name="Shape 30"/>
          <p:cNvSpPr/>
          <p:nvPr/>
        </p:nvSpPr>
        <p:spPr>
          <a:xfrm>
            <a:off x="1920240" y="2752200"/>
            <a:ext cx="141696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0" name="Text 31"/>
          <p:cNvSpPr/>
          <p:nvPr/>
        </p:nvSpPr>
        <p:spPr>
          <a:xfrm>
            <a:off x="1974960" y="2807280"/>
            <a:ext cx="130716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666 · 3,1 %</a:t>
            </a:r>
            <a:endParaRPr lang="fr-FR" sz="1200" b="0" u="none" strike="noStrike">
              <a:solidFill>
                <a:srgbClr val="000000"/>
              </a:solidFill>
              <a:effectLst/>
              <a:uFillTx/>
              <a:latin typeface="Arial"/>
            </a:endParaRPr>
          </a:p>
        </p:txBody>
      </p:sp>
      <p:sp>
        <p:nvSpPr>
          <p:cNvPr id="191" name="Shape 32"/>
          <p:cNvSpPr/>
          <p:nvPr/>
        </p:nvSpPr>
        <p:spPr>
          <a:xfrm>
            <a:off x="3337560" y="2752200"/>
            <a:ext cx="123408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2" name="Text 33"/>
          <p:cNvSpPr/>
          <p:nvPr/>
        </p:nvSpPr>
        <p:spPr>
          <a:xfrm>
            <a:off x="3392280" y="2807280"/>
            <a:ext cx="112428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180 · 82,6 %</a:t>
            </a:r>
            <a:endParaRPr lang="fr-FR" sz="1200" b="0" u="none" strike="noStrike">
              <a:solidFill>
                <a:srgbClr val="000000"/>
              </a:solidFill>
              <a:effectLst/>
              <a:uFillTx/>
              <a:latin typeface="Arial"/>
            </a:endParaRPr>
          </a:p>
        </p:txBody>
      </p:sp>
      <p:sp>
        <p:nvSpPr>
          <p:cNvPr id="193" name="Shape 34"/>
          <p:cNvSpPr/>
          <p:nvPr/>
        </p:nvSpPr>
        <p:spPr>
          <a:xfrm>
            <a:off x="4572000" y="2752200"/>
            <a:ext cx="123408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4" name="Text 35"/>
          <p:cNvSpPr/>
          <p:nvPr/>
        </p:nvSpPr>
        <p:spPr>
          <a:xfrm>
            <a:off x="4626720" y="2807280"/>
            <a:ext cx="11242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meilleur compromis</a:t>
            </a:r>
            <a:endParaRPr lang="fr-FR" sz="1200" b="0" u="none" strike="noStrike">
              <a:solidFill>
                <a:srgbClr val="000000"/>
              </a:solidFill>
              <a:effectLst/>
              <a:uFillTx/>
              <a:latin typeface="Arial"/>
            </a:endParaRPr>
          </a:p>
        </p:txBody>
      </p:sp>
      <p:sp>
        <p:nvSpPr>
          <p:cNvPr id="195" name="Shape 36"/>
          <p:cNvSpPr/>
          <p:nvPr/>
        </p:nvSpPr>
        <p:spPr>
          <a:xfrm>
            <a:off x="594360" y="3099960"/>
            <a:ext cx="132552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6" name="Text 37"/>
          <p:cNvSpPr/>
          <p:nvPr/>
        </p:nvSpPr>
        <p:spPr>
          <a:xfrm>
            <a:off x="649080" y="3154680"/>
            <a:ext cx="121572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Connect uniquement</a:t>
            </a:r>
            <a:endParaRPr lang="fr-FR" sz="1200" b="0" u="none" strike="noStrike">
              <a:solidFill>
                <a:srgbClr val="000000"/>
              </a:solidFill>
              <a:effectLst/>
              <a:uFillTx/>
              <a:latin typeface="Arial"/>
            </a:endParaRPr>
          </a:p>
        </p:txBody>
      </p:sp>
      <p:sp>
        <p:nvSpPr>
          <p:cNvPr id="197" name="Shape 38"/>
          <p:cNvSpPr/>
          <p:nvPr/>
        </p:nvSpPr>
        <p:spPr>
          <a:xfrm>
            <a:off x="1920240" y="3099960"/>
            <a:ext cx="141696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198" name="Text 39"/>
          <p:cNvSpPr/>
          <p:nvPr/>
        </p:nvSpPr>
        <p:spPr>
          <a:xfrm>
            <a:off x="1974960" y="3154680"/>
            <a:ext cx="130716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295 · 1,4 %</a:t>
            </a:r>
            <a:endParaRPr lang="fr-FR" sz="1200" b="0" u="none" strike="noStrike">
              <a:solidFill>
                <a:srgbClr val="000000"/>
              </a:solidFill>
              <a:effectLst/>
              <a:uFillTx/>
              <a:latin typeface="Arial"/>
            </a:endParaRPr>
          </a:p>
        </p:txBody>
      </p:sp>
      <p:sp>
        <p:nvSpPr>
          <p:cNvPr id="199" name="Shape 40"/>
          <p:cNvSpPr/>
          <p:nvPr/>
        </p:nvSpPr>
        <p:spPr>
          <a:xfrm>
            <a:off x="3337560" y="3099960"/>
            <a:ext cx="123408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0" name="Text 41"/>
          <p:cNvSpPr/>
          <p:nvPr/>
        </p:nvSpPr>
        <p:spPr>
          <a:xfrm>
            <a:off x="3392280" y="3154680"/>
            <a:ext cx="112428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59 · 27,1 %</a:t>
            </a:r>
            <a:endParaRPr lang="fr-FR" sz="1200" b="0" u="none" strike="noStrike">
              <a:solidFill>
                <a:srgbClr val="000000"/>
              </a:solidFill>
              <a:effectLst/>
              <a:uFillTx/>
              <a:latin typeface="Arial"/>
            </a:endParaRPr>
          </a:p>
        </p:txBody>
      </p:sp>
      <p:sp>
        <p:nvSpPr>
          <p:cNvPr id="201" name="Shape 42"/>
          <p:cNvSpPr/>
          <p:nvPr/>
        </p:nvSpPr>
        <p:spPr>
          <a:xfrm>
            <a:off x="4572000" y="3099960"/>
            <a:ext cx="1234080" cy="34704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2" name="Text 43"/>
          <p:cNvSpPr/>
          <p:nvPr/>
        </p:nvSpPr>
        <p:spPr>
          <a:xfrm>
            <a:off x="4626720" y="3154680"/>
            <a:ext cx="112428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trop partiel</a:t>
            </a:r>
            <a:endParaRPr lang="fr-FR" sz="1200" b="0" u="none" strike="noStrike">
              <a:solidFill>
                <a:srgbClr val="000000"/>
              </a:solidFill>
              <a:effectLst/>
              <a:uFillTx/>
              <a:latin typeface="Arial"/>
            </a:endParaRPr>
          </a:p>
        </p:txBody>
      </p:sp>
      <p:sp>
        <p:nvSpPr>
          <p:cNvPr id="203" name="Shape 44"/>
          <p:cNvSpPr/>
          <p:nvPr/>
        </p:nvSpPr>
        <p:spPr>
          <a:xfrm>
            <a:off x="594360" y="4860000"/>
            <a:ext cx="5211720" cy="108000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4" name="Text 45"/>
          <p:cNvSpPr/>
          <p:nvPr/>
        </p:nvSpPr>
        <p:spPr>
          <a:xfrm>
            <a:off x="704160" y="5148000"/>
            <a:ext cx="4992120" cy="338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Conclusion : Connect only réduit l’impact, mais ne couvre pas assez de cas à l’échelle de la plateforme.</a:t>
            </a:r>
            <a:endParaRPr lang="fr-FR" sz="1400" b="0" u="none" strike="noStrike">
              <a:solidFill>
                <a:srgbClr val="000000"/>
              </a:solidFill>
              <a:effectLst/>
              <a:uFillTx/>
              <a:latin typeface="Arial"/>
            </a:endParaRPr>
          </a:p>
        </p:txBody>
      </p:sp>
      <p:sp>
        <p:nvSpPr>
          <p:cNvPr id="205" name="Text 46"/>
          <p:cNvSpPr/>
          <p:nvPr/>
        </p:nvSpPr>
        <p:spPr>
          <a:xfrm>
            <a:off x="6903720" y="914400"/>
            <a:ext cx="38858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Lecture du compromis</a:t>
            </a:r>
            <a:endParaRPr lang="fr-FR" sz="1400" b="0" u="none" strike="noStrike">
              <a:solidFill>
                <a:srgbClr val="000000"/>
              </a:solidFill>
              <a:effectLst/>
              <a:uFillTx/>
              <a:latin typeface="Arial"/>
            </a:endParaRPr>
          </a:p>
        </p:txBody>
      </p:sp>
      <p:sp>
        <p:nvSpPr>
          <p:cNvPr id="206" name="Shape 47"/>
          <p:cNvSpPr/>
          <p:nvPr/>
        </p:nvSpPr>
        <p:spPr>
          <a:xfrm>
            <a:off x="6903720" y="1124640"/>
            <a:ext cx="38858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207" name="Shape 48"/>
          <p:cNvSpPr/>
          <p:nvPr/>
        </p:nvSpPr>
        <p:spPr>
          <a:xfrm>
            <a:off x="6812280" y="4251960"/>
            <a:ext cx="3794760" cy="360"/>
          </a:xfrm>
          <a:prstGeom prst="line">
            <a:avLst/>
          </a:prstGeom>
          <a:ln w="10160">
            <a:solidFill>
              <a:srgbClr val="A9B8BE"/>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08" name="Shape 49"/>
          <p:cNvSpPr/>
          <p:nvPr/>
        </p:nvSpPr>
        <p:spPr>
          <a:xfrm>
            <a:off x="6812280" y="1828800"/>
            <a:ext cx="360" cy="2423160"/>
          </a:xfrm>
          <a:prstGeom prst="line">
            <a:avLst/>
          </a:prstGeom>
          <a:ln w="10160">
            <a:solidFill>
              <a:srgbClr val="A9B8B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09" name="Shape 50"/>
          <p:cNvSpPr/>
          <p:nvPr/>
        </p:nvSpPr>
        <p:spPr>
          <a:xfrm>
            <a:off x="6812280" y="4251960"/>
            <a:ext cx="3794760" cy="360"/>
          </a:xfrm>
          <a:prstGeom prst="line">
            <a:avLst/>
          </a:prstGeom>
          <a:ln w="6350">
            <a:solidFill>
              <a:srgbClr val="DFE8EA">
                <a:alpha val="75000"/>
              </a:srgbClr>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10" name="Text 51"/>
          <p:cNvSpPr/>
          <p:nvPr/>
        </p:nvSpPr>
        <p:spPr>
          <a:xfrm>
            <a:off x="6464880" y="4178880"/>
            <a:ext cx="2923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0" u="none" strike="noStrike">
                <a:solidFill>
                  <a:srgbClr val="5C6F78"/>
                </a:solidFill>
                <a:effectLst/>
                <a:uFillTx/>
                <a:latin typeface="Aptos"/>
              </a:rPr>
              <a:t>0%</a:t>
            </a:r>
            <a:endParaRPr lang="fr-FR" sz="550" b="0" u="none" strike="noStrike">
              <a:solidFill>
                <a:srgbClr val="000000"/>
              </a:solidFill>
              <a:effectLst/>
              <a:uFillTx/>
              <a:latin typeface="Arial"/>
            </a:endParaRPr>
          </a:p>
        </p:txBody>
      </p:sp>
      <p:sp>
        <p:nvSpPr>
          <p:cNvPr id="211" name="Shape 52"/>
          <p:cNvSpPr/>
          <p:nvPr/>
        </p:nvSpPr>
        <p:spPr>
          <a:xfrm>
            <a:off x="6812280" y="3646080"/>
            <a:ext cx="3794760" cy="360"/>
          </a:xfrm>
          <a:prstGeom prst="line">
            <a:avLst/>
          </a:prstGeom>
          <a:ln w="6350">
            <a:solidFill>
              <a:srgbClr val="DFE8EA">
                <a:alpha val="75000"/>
              </a:srgbClr>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12" name="Text 53"/>
          <p:cNvSpPr/>
          <p:nvPr/>
        </p:nvSpPr>
        <p:spPr>
          <a:xfrm>
            <a:off x="6464880" y="3573000"/>
            <a:ext cx="2923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0" u="none" strike="noStrike">
                <a:solidFill>
                  <a:srgbClr val="5C6F78"/>
                </a:solidFill>
                <a:effectLst/>
                <a:uFillTx/>
                <a:latin typeface="Aptos"/>
              </a:rPr>
              <a:t>25%</a:t>
            </a:r>
            <a:endParaRPr lang="fr-FR" sz="550" b="0" u="none" strike="noStrike">
              <a:solidFill>
                <a:srgbClr val="000000"/>
              </a:solidFill>
              <a:effectLst/>
              <a:uFillTx/>
              <a:latin typeface="Arial"/>
            </a:endParaRPr>
          </a:p>
        </p:txBody>
      </p:sp>
      <p:sp>
        <p:nvSpPr>
          <p:cNvPr id="213" name="Shape 54"/>
          <p:cNvSpPr/>
          <p:nvPr/>
        </p:nvSpPr>
        <p:spPr>
          <a:xfrm>
            <a:off x="6812280" y="3040200"/>
            <a:ext cx="3794760" cy="360"/>
          </a:xfrm>
          <a:prstGeom prst="line">
            <a:avLst/>
          </a:prstGeom>
          <a:ln w="6350">
            <a:solidFill>
              <a:srgbClr val="DFE8EA">
                <a:alpha val="75000"/>
              </a:srgbClr>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14" name="Text 55"/>
          <p:cNvSpPr/>
          <p:nvPr/>
        </p:nvSpPr>
        <p:spPr>
          <a:xfrm>
            <a:off x="6464880" y="2967120"/>
            <a:ext cx="2923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0" u="none" strike="noStrike">
                <a:solidFill>
                  <a:srgbClr val="5C6F78"/>
                </a:solidFill>
                <a:effectLst/>
                <a:uFillTx/>
                <a:latin typeface="Aptos"/>
              </a:rPr>
              <a:t>50%</a:t>
            </a:r>
            <a:endParaRPr lang="fr-FR" sz="550" b="0" u="none" strike="noStrike">
              <a:solidFill>
                <a:srgbClr val="000000"/>
              </a:solidFill>
              <a:effectLst/>
              <a:uFillTx/>
              <a:latin typeface="Arial"/>
            </a:endParaRPr>
          </a:p>
        </p:txBody>
      </p:sp>
      <p:sp>
        <p:nvSpPr>
          <p:cNvPr id="215" name="Shape 56"/>
          <p:cNvSpPr/>
          <p:nvPr/>
        </p:nvSpPr>
        <p:spPr>
          <a:xfrm>
            <a:off x="6812280" y="2434320"/>
            <a:ext cx="3794760" cy="360"/>
          </a:xfrm>
          <a:prstGeom prst="line">
            <a:avLst/>
          </a:prstGeom>
          <a:ln w="6350">
            <a:solidFill>
              <a:srgbClr val="DFE8EA">
                <a:alpha val="75000"/>
              </a:srgbClr>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16" name="Text 57"/>
          <p:cNvSpPr/>
          <p:nvPr/>
        </p:nvSpPr>
        <p:spPr>
          <a:xfrm>
            <a:off x="6464880" y="2361600"/>
            <a:ext cx="2923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0" u="none" strike="noStrike">
                <a:solidFill>
                  <a:srgbClr val="5C6F78"/>
                </a:solidFill>
                <a:effectLst/>
                <a:uFillTx/>
                <a:latin typeface="Aptos"/>
              </a:rPr>
              <a:t>75%</a:t>
            </a:r>
            <a:endParaRPr lang="fr-FR" sz="550" b="0" u="none" strike="noStrike">
              <a:solidFill>
                <a:srgbClr val="000000"/>
              </a:solidFill>
              <a:effectLst/>
              <a:uFillTx/>
              <a:latin typeface="Arial"/>
            </a:endParaRPr>
          </a:p>
        </p:txBody>
      </p:sp>
      <p:sp>
        <p:nvSpPr>
          <p:cNvPr id="217" name="Shape 58"/>
          <p:cNvSpPr/>
          <p:nvPr/>
        </p:nvSpPr>
        <p:spPr>
          <a:xfrm>
            <a:off x="6812280" y="1828800"/>
            <a:ext cx="3794760" cy="360"/>
          </a:xfrm>
          <a:prstGeom prst="line">
            <a:avLst/>
          </a:prstGeom>
          <a:ln w="6350">
            <a:solidFill>
              <a:srgbClr val="DFE8EA">
                <a:alpha val="75000"/>
              </a:srgbClr>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18" name="Text 59"/>
          <p:cNvSpPr/>
          <p:nvPr/>
        </p:nvSpPr>
        <p:spPr>
          <a:xfrm>
            <a:off x="6464880" y="1755720"/>
            <a:ext cx="292320" cy="136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50" b="0" u="none" strike="noStrike">
                <a:solidFill>
                  <a:srgbClr val="5C6F78"/>
                </a:solidFill>
                <a:effectLst/>
                <a:uFillTx/>
                <a:latin typeface="Aptos"/>
              </a:rPr>
              <a:t>100%</a:t>
            </a:r>
            <a:endParaRPr lang="fr-FR" sz="550" b="0" u="none" strike="noStrike">
              <a:solidFill>
                <a:srgbClr val="000000"/>
              </a:solidFill>
              <a:effectLst/>
              <a:uFillTx/>
              <a:latin typeface="Arial"/>
            </a:endParaRPr>
          </a:p>
        </p:txBody>
      </p:sp>
      <p:sp>
        <p:nvSpPr>
          <p:cNvPr id="219" name="Text 60"/>
          <p:cNvSpPr/>
          <p:nvPr/>
        </p:nvSpPr>
        <p:spPr>
          <a:xfrm>
            <a:off x="6647760" y="4325040"/>
            <a:ext cx="32868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50" b="0" u="none" strike="noStrike">
                <a:solidFill>
                  <a:srgbClr val="5C6F78"/>
                </a:solidFill>
                <a:effectLst/>
                <a:uFillTx/>
                <a:latin typeface="Aptos"/>
              </a:rPr>
              <a:t>30</a:t>
            </a:r>
            <a:endParaRPr lang="fr-FR" sz="550" b="0" u="none" strike="noStrike">
              <a:solidFill>
                <a:srgbClr val="000000"/>
              </a:solidFill>
              <a:effectLst/>
              <a:uFillTx/>
              <a:latin typeface="Arial"/>
            </a:endParaRPr>
          </a:p>
        </p:txBody>
      </p:sp>
      <p:sp>
        <p:nvSpPr>
          <p:cNvPr id="220" name="Text 61"/>
          <p:cNvSpPr/>
          <p:nvPr/>
        </p:nvSpPr>
        <p:spPr>
          <a:xfrm>
            <a:off x="7406640" y="4325040"/>
            <a:ext cx="32868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50" b="0" u="none" strike="noStrike">
                <a:solidFill>
                  <a:srgbClr val="5C6F78"/>
                </a:solidFill>
                <a:effectLst/>
                <a:uFillTx/>
                <a:latin typeface="Aptos"/>
              </a:rPr>
              <a:t>60</a:t>
            </a:r>
            <a:endParaRPr lang="fr-FR" sz="550" b="0" u="none" strike="noStrike">
              <a:solidFill>
                <a:srgbClr val="000000"/>
              </a:solidFill>
              <a:effectLst/>
              <a:uFillTx/>
              <a:latin typeface="Arial"/>
            </a:endParaRPr>
          </a:p>
        </p:txBody>
      </p:sp>
      <p:sp>
        <p:nvSpPr>
          <p:cNvPr id="221" name="Text 62"/>
          <p:cNvSpPr/>
          <p:nvPr/>
        </p:nvSpPr>
        <p:spPr>
          <a:xfrm>
            <a:off x="8165520" y="4325040"/>
            <a:ext cx="32868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50" b="0" u="none" strike="noStrike">
                <a:solidFill>
                  <a:srgbClr val="5C6F78"/>
                </a:solidFill>
                <a:effectLst/>
                <a:uFillTx/>
                <a:latin typeface="Aptos"/>
              </a:rPr>
              <a:t>90</a:t>
            </a:r>
            <a:endParaRPr lang="fr-FR" sz="550" b="0" u="none" strike="noStrike">
              <a:solidFill>
                <a:srgbClr val="000000"/>
              </a:solidFill>
              <a:effectLst/>
              <a:uFillTx/>
              <a:latin typeface="Arial"/>
            </a:endParaRPr>
          </a:p>
        </p:txBody>
      </p:sp>
      <p:sp>
        <p:nvSpPr>
          <p:cNvPr id="222" name="Text 63"/>
          <p:cNvSpPr/>
          <p:nvPr/>
        </p:nvSpPr>
        <p:spPr>
          <a:xfrm>
            <a:off x="8924400" y="4325040"/>
            <a:ext cx="32868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50" b="0" u="none" strike="noStrike">
                <a:solidFill>
                  <a:srgbClr val="5C6F78"/>
                </a:solidFill>
                <a:effectLst/>
                <a:uFillTx/>
                <a:latin typeface="Aptos"/>
              </a:rPr>
              <a:t>120</a:t>
            </a:r>
            <a:endParaRPr lang="fr-FR" sz="550" b="0" u="none" strike="noStrike">
              <a:solidFill>
                <a:srgbClr val="000000"/>
              </a:solidFill>
              <a:effectLst/>
              <a:uFillTx/>
              <a:latin typeface="Arial"/>
            </a:endParaRPr>
          </a:p>
        </p:txBody>
      </p:sp>
      <p:sp>
        <p:nvSpPr>
          <p:cNvPr id="223" name="Text 64"/>
          <p:cNvSpPr/>
          <p:nvPr/>
        </p:nvSpPr>
        <p:spPr>
          <a:xfrm>
            <a:off x="9683640" y="4325040"/>
            <a:ext cx="32868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50" b="0" u="none" strike="noStrike">
                <a:solidFill>
                  <a:srgbClr val="5C6F78"/>
                </a:solidFill>
                <a:effectLst/>
                <a:uFillTx/>
                <a:latin typeface="Aptos"/>
              </a:rPr>
              <a:t>150</a:t>
            </a:r>
            <a:endParaRPr lang="fr-FR" sz="550" b="0" u="none" strike="noStrike">
              <a:solidFill>
                <a:srgbClr val="000000"/>
              </a:solidFill>
              <a:effectLst/>
              <a:uFillTx/>
              <a:latin typeface="Arial"/>
            </a:endParaRPr>
          </a:p>
        </p:txBody>
      </p:sp>
      <p:sp>
        <p:nvSpPr>
          <p:cNvPr id="224" name="Text 65"/>
          <p:cNvSpPr/>
          <p:nvPr/>
        </p:nvSpPr>
        <p:spPr>
          <a:xfrm>
            <a:off x="10442520" y="4325040"/>
            <a:ext cx="328680" cy="109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50" b="0" u="none" strike="noStrike">
                <a:solidFill>
                  <a:srgbClr val="5C6F78"/>
                </a:solidFill>
                <a:effectLst/>
                <a:uFillTx/>
                <a:latin typeface="Aptos"/>
              </a:rPr>
              <a:t>180</a:t>
            </a:r>
            <a:endParaRPr lang="fr-FR" sz="550" b="0" u="none" strike="noStrike">
              <a:solidFill>
                <a:srgbClr val="000000"/>
              </a:solidFill>
              <a:effectLst/>
              <a:uFillTx/>
              <a:latin typeface="Arial"/>
            </a:endParaRPr>
          </a:p>
        </p:txBody>
      </p:sp>
      <p:sp>
        <p:nvSpPr>
          <p:cNvPr id="225" name="Shape 66"/>
          <p:cNvSpPr/>
          <p:nvPr/>
        </p:nvSpPr>
        <p:spPr>
          <a:xfrm>
            <a:off x="6812280" y="2984400"/>
            <a:ext cx="758880" cy="360"/>
          </a:xfrm>
          <a:prstGeom prst="line">
            <a:avLst/>
          </a:prstGeom>
          <a:ln w="25400">
            <a:solidFill>
              <a:srgbClr val="1F9D7A"/>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26" name="Shape 67"/>
          <p:cNvSpPr/>
          <p:nvPr/>
        </p:nvSpPr>
        <p:spPr>
          <a:xfrm>
            <a:off x="7571160" y="2640240"/>
            <a:ext cx="758880" cy="360"/>
          </a:xfrm>
          <a:prstGeom prst="line">
            <a:avLst/>
          </a:prstGeom>
          <a:ln w="25400">
            <a:solidFill>
              <a:srgbClr val="1F9D7A"/>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27" name="Shape 68"/>
          <p:cNvSpPr/>
          <p:nvPr/>
        </p:nvSpPr>
        <p:spPr>
          <a:xfrm>
            <a:off x="8330040" y="2340000"/>
            <a:ext cx="758880" cy="360"/>
          </a:xfrm>
          <a:prstGeom prst="line">
            <a:avLst/>
          </a:prstGeom>
          <a:ln w="25400">
            <a:solidFill>
              <a:srgbClr val="1F9D7A"/>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28" name="Shape 69"/>
          <p:cNvSpPr/>
          <p:nvPr/>
        </p:nvSpPr>
        <p:spPr>
          <a:xfrm>
            <a:off x="9088920" y="2250360"/>
            <a:ext cx="758880" cy="360"/>
          </a:xfrm>
          <a:prstGeom prst="line">
            <a:avLst/>
          </a:prstGeom>
          <a:ln w="25400">
            <a:solidFill>
              <a:srgbClr val="1F9D7A"/>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29" name="Shape 70"/>
          <p:cNvSpPr/>
          <p:nvPr/>
        </p:nvSpPr>
        <p:spPr>
          <a:xfrm>
            <a:off x="9847800" y="2116800"/>
            <a:ext cx="759240" cy="360"/>
          </a:xfrm>
          <a:prstGeom prst="line">
            <a:avLst/>
          </a:prstGeom>
          <a:ln w="25400">
            <a:solidFill>
              <a:srgbClr val="1F9D7A"/>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30" name="Shape 71"/>
          <p:cNvSpPr/>
          <p:nvPr/>
        </p:nvSpPr>
        <p:spPr>
          <a:xfrm>
            <a:off x="6771240" y="2943360"/>
            <a:ext cx="82080" cy="82080"/>
          </a:xfrm>
          <a:prstGeom prst="ellipse">
            <a:avLst/>
          </a:prstGeom>
          <a:solidFill>
            <a:srgbClr val="1F9D7A"/>
          </a:solidFill>
          <a:ln w="12700">
            <a:solidFill>
              <a:srgbClr val="1F9D7A"/>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31" name="Shape 72"/>
          <p:cNvSpPr/>
          <p:nvPr/>
        </p:nvSpPr>
        <p:spPr>
          <a:xfrm>
            <a:off x="7530120" y="2599560"/>
            <a:ext cx="82080" cy="82080"/>
          </a:xfrm>
          <a:prstGeom prst="ellipse">
            <a:avLst/>
          </a:prstGeom>
          <a:solidFill>
            <a:srgbClr val="1F9D7A"/>
          </a:solidFill>
          <a:ln w="12700">
            <a:solidFill>
              <a:srgbClr val="1F9D7A"/>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32" name="Shape 73"/>
          <p:cNvSpPr/>
          <p:nvPr/>
        </p:nvSpPr>
        <p:spPr>
          <a:xfrm>
            <a:off x="8289000" y="2298960"/>
            <a:ext cx="82080" cy="82080"/>
          </a:xfrm>
          <a:prstGeom prst="ellipse">
            <a:avLst/>
          </a:prstGeom>
          <a:solidFill>
            <a:srgbClr val="1F9D7A"/>
          </a:solidFill>
          <a:ln w="12700">
            <a:solidFill>
              <a:srgbClr val="1F9D7A"/>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33" name="Shape 74"/>
          <p:cNvSpPr/>
          <p:nvPr/>
        </p:nvSpPr>
        <p:spPr>
          <a:xfrm>
            <a:off x="9047880" y="2209320"/>
            <a:ext cx="82080" cy="82080"/>
          </a:xfrm>
          <a:prstGeom prst="ellipse">
            <a:avLst/>
          </a:prstGeom>
          <a:solidFill>
            <a:srgbClr val="1F9D7A"/>
          </a:solidFill>
          <a:ln w="12700">
            <a:solidFill>
              <a:srgbClr val="1F9D7A"/>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34" name="Shape 75"/>
          <p:cNvSpPr/>
          <p:nvPr/>
        </p:nvSpPr>
        <p:spPr>
          <a:xfrm>
            <a:off x="9807120" y="2076120"/>
            <a:ext cx="82080" cy="82080"/>
          </a:xfrm>
          <a:prstGeom prst="ellipse">
            <a:avLst/>
          </a:prstGeom>
          <a:solidFill>
            <a:srgbClr val="1F9D7A"/>
          </a:solidFill>
          <a:ln w="12700">
            <a:solidFill>
              <a:srgbClr val="1F9D7A"/>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35" name="Shape 76"/>
          <p:cNvSpPr/>
          <p:nvPr/>
        </p:nvSpPr>
        <p:spPr>
          <a:xfrm>
            <a:off x="10566000" y="2022840"/>
            <a:ext cx="82080" cy="82080"/>
          </a:xfrm>
          <a:prstGeom prst="ellipse">
            <a:avLst/>
          </a:prstGeom>
          <a:solidFill>
            <a:srgbClr val="1F9D7A"/>
          </a:solidFill>
          <a:ln w="12700">
            <a:solidFill>
              <a:srgbClr val="1F9D7A"/>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36" name="Shape 77"/>
          <p:cNvSpPr/>
          <p:nvPr/>
        </p:nvSpPr>
        <p:spPr>
          <a:xfrm>
            <a:off x="6812280" y="4220280"/>
            <a:ext cx="758880" cy="360"/>
          </a:xfrm>
          <a:prstGeom prst="line">
            <a:avLst/>
          </a:prstGeom>
          <a:ln w="25400">
            <a:solidFill>
              <a:srgbClr val="F2A93B"/>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37" name="Shape 78"/>
          <p:cNvSpPr/>
          <p:nvPr/>
        </p:nvSpPr>
        <p:spPr>
          <a:xfrm>
            <a:off x="7571160" y="4205880"/>
            <a:ext cx="758880" cy="360"/>
          </a:xfrm>
          <a:prstGeom prst="line">
            <a:avLst/>
          </a:prstGeom>
          <a:ln w="25400">
            <a:solidFill>
              <a:srgbClr val="F2A93B"/>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38" name="Shape 79"/>
          <p:cNvSpPr/>
          <p:nvPr/>
        </p:nvSpPr>
        <p:spPr>
          <a:xfrm>
            <a:off x="8330040" y="4186440"/>
            <a:ext cx="758880" cy="360"/>
          </a:xfrm>
          <a:prstGeom prst="line">
            <a:avLst/>
          </a:prstGeom>
          <a:ln w="25400">
            <a:solidFill>
              <a:srgbClr val="F2A93B"/>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39" name="Shape 80"/>
          <p:cNvSpPr/>
          <p:nvPr/>
        </p:nvSpPr>
        <p:spPr>
          <a:xfrm>
            <a:off x="9088920" y="4176720"/>
            <a:ext cx="758880" cy="360"/>
          </a:xfrm>
          <a:prstGeom prst="line">
            <a:avLst/>
          </a:prstGeom>
          <a:ln w="25400">
            <a:solidFill>
              <a:srgbClr val="F2A93B"/>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40" name="Shape 81"/>
          <p:cNvSpPr/>
          <p:nvPr/>
        </p:nvSpPr>
        <p:spPr>
          <a:xfrm>
            <a:off x="9847800" y="4159800"/>
            <a:ext cx="759240" cy="360"/>
          </a:xfrm>
          <a:prstGeom prst="line">
            <a:avLst/>
          </a:prstGeom>
          <a:ln w="25400">
            <a:solidFill>
              <a:srgbClr val="F2A93B"/>
            </a:solidFill>
            <a:round/>
          </a:ln>
        </p:spPr>
        <p:style>
          <a:lnRef idx="0"/>
          <a:fillRef idx="0"/>
          <a:effectRef idx="0"/>
          <a:fontRef idx="minor"/>
        </p:style>
        <p:txBody>
          <a:bodyPr lIns="90000" tIns="-44640" rIns="90000" bIns="-44640" anchor="t">
            <a:noAutofit/>
          </a:bodyPr>
          <a:p>
            <a:endParaRPr lang="fr-FR" sz="1800" b="0" u="none" strike="noStrike">
              <a:solidFill>
                <a:schemeClr val="dk1"/>
              </a:solidFill>
              <a:effectLst/>
              <a:uFillTx/>
              <a:latin typeface="Aptos"/>
            </a:endParaRPr>
          </a:p>
        </p:txBody>
      </p:sp>
      <p:sp>
        <p:nvSpPr>
          <p:cNvPr id="241" name="Shape 82"/>
          <p:cNvSpPr/>
          <p:nvPr/>
        </p:nvSpPr>
        <p:spPr>
          <a:xfrm>
            <a:off x="6771240" y="4179240"/>
            <a:ext cx="82080" cy="82080"/>
          </a:xfrm>
          <a:prstGeom prst="ellipse">
            <a:avLst/>
          </a:prstGeom>
          <a:solidFill>
            <a:srgbClr val="F2A93B"/>
          </a:solidFill>
          <a:ln w="12700">
            <a:solidFill>
              <a:srgbClr val="F2A93B"/>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42" name="Shape 83"/>
          <p:cNvSpPr/>
          <p:nvPr/>
        </p:nvSpPr>
        <p:spPr>
          <a:xfrm>
            <a:off x="7530120" y="4164840"/>
            <a:ext cx="82080" cy="82080"/>
          </a:xfrm>
          <a:prstGeom prst="ellipse">
            <a:avLst/>
          </a:prstGeom>
          <a:solidFill>
            <a:srgbClr val="F2A93B"/>
          </a:solidFill>
          <a:ln w="12700">
            <a:solidFill>
              <a:srgbClr val="F2A93B"/>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43" name="Shape 84"/>
          <p:cNvSpPr/>
          <p:nvPr/>
        </p:nvSpPr>
        <p:spPr>
          <a:xfrm>
            <a:off x="8289000" y="4145400"/>
            <a:ext cx="82080" cy="82080"/>
          </a:xfrm>
          <a:prstGeom prst="ellipse">
            <a:avLst/>
          </a:prstGeom>
          <a:solidFill>
            <a:srgbClr val="F2A93B"/>
          </a:solidFill>
          <a:ln w="12700">
            <a:solidFill>
              <a:srgbClr val="F2A93B"/>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44" name="Shape 85"/>
          <p:cNvSpPr/>
          <p:nvPr/>
        </p:nvSpPr>
        <p:spPr>
          <a:xfrm>
            <a:off x="9047880" y="4135680"/>
            <a:ext cx="82080" cy="82080"/>
          </a:xfrm>
          <a:prstGeom prst="ellipse">
            <a:avLst/>
          </a:prstGeom>
          <a:solidFill>
            <a:srgbClr val="F2A93B"/>
          </a:solidFill>
          <a:ln w="12700">
            <a:solidFill>
              <a:srgbClr val="F2A93B"/>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45" name="Shape 86"/>
          <p:cNvSpPr/>
          <p:nvPr/>
        </p:nvSpPr>
        <p:spPr>
          <a:xfrm>
            <a:off x="9807120" y="4118760"/>
            <a:ext cx="82080" cy="82080"/>
          </a:xfrm>
          <a:prstGeom prst="ellipse">
            <a:avLst/>
          </a:prstGeom>
          <a:solidFill>
            <a:srgbClr val="F2A93B"/>
          </a:solidFill>
          <a:ln w="12700">
            <a:solidFill>
              <a:srgbClr val="F2A93B"/>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46" name="Shape 87"/>
          <p:cNvSpPr/>
          <p:nvPr/>
        </p:nvSpPr>
        <p:spPr>
          <a:xfrm>
            <a:off x="10566000" y="4111560"/>
            <a:ext cx="82080" cy="82080"/>
          </a:xfrm>
          <a:prstGeom prst="ellipse">
            <a:avLst/>
          </a:prstGeom>
          <a:solidFill>
            <a:srgbClr val="F2A93B"/>
          </a:solidFill>
          <a:ln w="12700">
            <a:solidFill>
              <a:srgbClr val="F2A93B"/>
            </a:solidFill>
            <a:round/>
          </a:ln>
        </p:spPr>
        <p:style>
          <a:lnRef idx="0"/>
          <a:fillRef idx="0"/>
          <a:effectRef idx="0"/>
          <a:fontRef idx="minor"/>
        </p:style>
        <p:txBody>
          <a:bodyPr lIns="90000" tIns="13320" rIns="90000" bIns="13320" anchor="t">
            <a:noAutofit/>
          </a:bodyPr>
          <a:p>
            <a:endParaRPr lang="fr-FR" sz="1800" b="0" u="none" strike="noStrike">
              <a:solidFill>
                <a:schemeClr val="dk1"/>
              </a:solidFill>
              <a:effectLst/>
              <a:uFillTx/>
              <a:latin typeface="Aptos"/>
            </a:endParaRPr>
          </a:p>
        </p:txBody>
      </p:sp>
      <p:sp>
        <p:nvSpPr>
          <p:cNvPr id="247" name="Shape 88"/>
          <p:cNvSpPr/>
          <p:nvPr/>
        </p:nvSpPr>
        <p:spPr>
          <a:xfrm>
            <a:off x="6903720" y="1536120"/>
            <a:ext cx="145800" cy="72720"/>
          </a:xfrm>
          <a:prstGeom prst="rect">
            <a:avLst/>
          </a:prstGeom>
          <a:solidFill>
            <a:srgbClr val="1F9D7A"/>
          </a:solidFill>
          <a:ln w="12700">
            <a:solidFill>
              <a:srgbClr val="1F9D7A"/>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248" name="Text 89"/>
          <p:cNvSpPr/>
          <p:nvPr/>
        </p:nvSpPr>
        <p:spPr>
          <a:xfrm>
            <a:off x="7095600" y="1499760"/>
            <a:ext cx="13712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Cas résolus — toutes voitures</a:t>
            </a:r>
            <a:endParaRPr lang="fr-FR" sz="1200" b="0" u="none" strike="noStrike">
              <a:solidFill>
                <a:srgbClr val="000000"/>
              </a:solidFill>
              <a:effectLst/>
              <a:uFillTx/>
              <a:latin typeface="Arial"/>
            </a:endParaRPr>
          </a:p>
        </p:txBody>
      </p:sp>
      <p:sp>
        <p:nvSpPr>
          <p:cNvPr id="249" name="Shape 90"/>
          <p:cNvSpPr/>
          <p:nvPr/>
        </p:nvSpPr>
        <p:spPr>
          <a:xfrm>
            <a:off x="8503920" y="1536120"/>
            <a:ext cx="145800" cy="72720"/>
          </a:xfrm>
          <a:prstGeom prst="rect">
            <a:avLst/>
          </a:prstGeom>
          <a:solidFill>
            <a:srgbClr val="F2A93B"/>
          </a:solidFill>
          <a:ln w="12700">
            <a:solidFill>
              <a:srgbClr val="F2A93B"/>
            </a:solidFill>
            <a:round/>
          </a:ln>
        </p:spPr>
        <p:style>
          <a:lnRef idx="0"/>
          <a:fillRef idx="0"/>
          <a:effectRef idx="0"/>
          <a:fontRef idx="minor"/>
        </p:style>
        <p:txBody>
          <a:bodyPr lIns="90000" tIns="28080" rIns="90000" bIns="28080" anchor="t">
            <a:noAutofit/>
          </a:bodyPr>
          <a:p>
            <a:endParaRPr lang="fr-FR" sz="1800" b="0" u="none" strike="noStrike">
              <a:solidFill>
                <a:schemeClr val="dk1"/>
              </a:solidFill>
              <a:effectLst/>
              <a:uFillTx/>
              <a:latin typeface="Aptos"/>
            </a:endParaRPr>
          </a:p>
        </p:txBody>
      </p:sp>
      <p:sp>
        <p:nvSpPr>
          <p:cNvPr id="250" name="Text 91"/>
          <p:cNvSpPr/>
          <p:nvPr/>
        </p:nvSpPr>
        <p:spPr>
          <a:xfrm>
            <a:off x="8695800" y="1499760"/>
            <a:ext cx="137124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02A36"/>
                </a:solidFill>
                <a:effectLst/>
                <a:uFillTx/>
                <a:latin typeface="Aptos"/>
              </a:rPr>
              <a:t>Locations affectées — toutes voitures</a:t>
            </a:r>
            <a:endParaRPr lang="fr-FR" sz="1200" b="0" u="none" strike="noStrike">
              <a:solidFill>
                <a:srgbClr val="000000"/>
              </a:solidFill>
              <a:effectLst/>
              <a:uFillTx/>
              <a:latin typeface="Arial"/>
            </a:endParaRPr>
          </a:p>
        </p:txBody>
      </p:sp>
      <p:sp>
        <p:nvSpPr>
          <p:cNvPr id="251" name="Text 92"/>
          <p:cNvSpPr/>
          <p:nvPr/>
        </p:nvSpPr>
        <p:spPr>
          <a:xfrm>
            <a:off x="6812280" y="4617720"/>
            <a:ext cx="39315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02A36"/>
                </a:solidFill>
                <a:effectLst/>
                <a:uFillTx/>
                <a:latin typeface="Aptos"/>
              </a:rPr>
              <a:t>Le seuil de 120 minutes franchit la barre de protection élevée tout en gardant un impact global faible.</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53"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254"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FFFFFF"/>
                </a:solidFill>
                <a:effectLst/>
                <a:uFillTx/>
                <a:latin typeface="Aptos Display"/>
                <a:ea typeface="Aptos Display"/>
              </a:rPr>
              <a:t>Comportements de retard</a:t>
            </a:r>
            <a:endParaRPr lang="fr-FR" sz="2000" b="0" u="none" strike="noStrike">
              <a:solidFill>
                <a:srgbClr val="000000"/>
              </a:solidFill>
              <a:effectLst/>
              <a:uFillTx/>
              <a:latin typeface="Arial"/>
            </a:endParaRPr>
          </a:p>
        </p:txBody>
      </p:sp>
      <p:sp>
        <p:nvSpPr>
          <p:cNvPr id="255" name="Text 3"/>
          <p:cNvSpPr/>
          <p:nvPr/>
        </p:nvSpPr>
        <p:spPr>
          <a:xfrm>
            <a:off x="8229600" y="118800"/>
            <a:ext cx="370296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9F6F6"/>
                </a:solidFill>
                <a:effectLst/>
                <a:uFillTx/>
                <a:latin typeface="Aptos"/>
                <a:ea typeface="Aptos"/>
              </a:rPr>
              <a:t>Les locations mobile concentrent davantage de risque</a:t>
            </a:r>
            <a:endParaRPr lang="fr-FR" sz="1200" b="0" u="none" strike="noStrike">
              <a:solidFill>
                <a:srgbClr val="000000"/>
              </a:solidFill>
              <a:effectLst/>
              <a:uFillTx/>
              <a:latin typeface="Arial"/>
            </a:endParaRPr>
          </a:p>
        </p:txBody>
      </p:sp>
      <p:sp>
        <p:nvSpPr>
          <p:cNvPr id="256"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257"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60" b="0" u="none" strike="noStrike">
                <a:solidFill>
                  <a:srgbClr val="8AA0A8"/>
                </a:solidFill>
                <a:effectLst/>
                <a:uFillTx/>
                <a:latin typeface="Aptos"/>
              </a:rPr>
              <a:t>6</a:t>
            </a:r>
            <a:endParaRPr lang="fr-FR" sz="560" b="0" u="none" strike="noStrike">
              <a:solidFill>
                <a:srgbClr val="000000"/>
              </a:solidFill>
              <a:effectLst/>
              <a:uFillTx/>
              <a:latin typeface="Arial"/>
            </a:endParaRPr>
          </a:p>
        </p:txBody>
      </p:sp>
      <p:sp>
        <p:nvSpPr>
          <p:cNvPr id="258" name="Text 6"/>
          <p:cNvSpPr/>
          <p:nvPr/>
        </p:nvSpPr>
        <p:spPr>
          <a:xfrm>
            <a:off x="594360" y="663120"/>
            <a:ext cx="4919040" cy="424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400" b="1" u="none" strike="noStrike">
                <a:solidFill>
                  <a:srgbClr val="008E8C"/>
                </a:solidFill>
                <a:effectLst/>
                <a:uFillTx/>
                <a:latin typeface="Aptos"/>
              </a:rPr>
              <a:t>Retard au checkout par type de check-in</a:t>
            </a:r>
            <a:endParaRPr lang="fr-FR" sz="1400" b="0" u="none" strike="noStrike">
              <a:solidFill>
                <a:srgbClr val="000000"/>
              </a:solidFill>
              <a:effectLst/>
              <a:uFillTx/>
              <a:latin typeface="Arial"/>
            </a:endParaRPr>
          </a:p>
        </p:txBody>
      </p:sp>
      <p:sp>
        <p:nvSpPr>
          <p:cNvPr id="259" name="Shape 7"/>
          <p:cNvSpPr/>
          <p:nvPr/>
        </p:nvSpPr>
        <p:spPr>
          <a:xfrm>
            <a:off x="594360" y="1078920"/>
            <a:ext cx="512028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260" name="Text 8"/>
          <p:cNvSpPr/>
          <p:nvPr/>
        </p:nvSpPr>
        <p:spPr>
          <a:xfrm>
            <a:off x="685800" y="1463040"/>
            <a:ext cx="1325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36"/>
                </a:solidFill>
                <a:effectLst/>
                <a:uFillTx/>
                <a:latin typeface="Aptos"/>
              </a:rPr>
              <a:t>Connect · retard &gt; 60 min</a:t>
            </a:r>
            <a:endParaRPr lang="fr-FR" sz="1000" b="0" u="none" strike="noStrike">
              <a:solidFill>
                <a:srgbClr val="000000"/>
              </a:solidFill>
              <a:effectLst/>
              <a:uFillTx/>
              <a:latin typeface="Arial"/>
            </a:endParaRPr>
          </a:p>
        </p:txBody>
      </p:sp>
      <p:sp>
        <p:nvSpPr>
          <p:cNvPr id="261" name="Shape 9"/>
          <p:cNvSpPr/>
          <p:nvPr/>
        </p:nvSpPr>
        <p:spPr>
          <a:xfrm>
            <a:off x="2103120" y="1481400"/>
            <a:ext cx="1585800" cy="136800"/>
          </a:xfrm>
          <a:prstGeom prst="rect">
            <a:avLst/>
          </a:prstGeom>
          <a:solidFill>
            <a:srgbClr val="10B8B6"/>
          </a:solidFill>
          <a:ln w="12700">
            <a:solidFill>
              <a:srgbClr val="10B8B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62" name="Text 10"/>
          <p:cNvSpPr/>
          <p:nvPr/>
        </p:nvSpPr>
        <p:spPr>
          <a:xfrm>
            <a:off x="5056560" y="145404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10B8B6"/>
                </a:solidFill>
                <a:effectLst/>
                <a:uFillTx/>
                <a:latin typeface="Aptos"/>
              </a:rPr>
              <a:t>16,3 %</a:t>
            </a:r>
            <a:endParaRPr lang="fr-FR" sz="1000" b="0" u="none" strike="noStrike">
              <a:solidFill>
                <a:srgbClr val="000000"/>
              </a:solidFill>
              <a:effectLst/>
              <a:uFillTx/>
              <a:latin typeface="Arial"/>
            </a:endParaRPr>
          </a:p>
        </p:txBody>
      </p:sp>
      <p:sp>
        <p:nvSpPr>
          <p:cNvPr id="263" name="Text 11"/>
          <p:cNvSpPr/>
          <p:nvPr/>
        </p:nvSpPr>
        <p:spPr>
          <a:xfrm>
            <a:off x="685800" y="1760400"/>
            <a:ext cx="1325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102A36"/>
                </a:solidFill>
                <a:effectLst/>
                <a:uFillTx/>
                <a:latin typeface="Aptos"/>
              </a:rPr>
              <a:t>Mobile · retard &gt; 60 min</a:t>
            </a:r>
            <a:endParaRPr lang="fr-FR" sz="1100" b="0" u="none" strike="noStrike">
              <a:solidFill>
                <a:srgbClr val="000000"/>
              </a:solidFill>
              <a:effectLst/>
              <a:uFillTx/>
              <a:latin typeface="Arial"/>
            </a:endParaRPr>
          </a:p>
        </p:txBody>
      </p:sp>
      <p:sp>
        <p:nvSpPr>
          <p:cNvPr id="264" name="Shape 12"/>
          <p:cNvSpPr/>
          <p:nvPr/>
        </p:nvSpPr>
        <p:spPr>
          <a:xfrm>
            <a:off x="2103120" y="1778400"/>
            <a:ext cx="2880000" cy="136800"/>
          </a:xfrm>
          <a:prstGeom prst="rect">
            <a:avLst/>
          </a:prstGeom>
          <a:solidFill>
            <a:srgbClr val="F2A93B"/>
          </a:solidFill>
          <a:ln w="12700">
            <a:solidFill>
              <a:srgbClr val="F2A93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65" name="Text 13"/>
          <p:cNvSpPr/>
          <p:nvPr/>
        </p:nvSpPr>
        <p:spPr>
          <a:xfrm>
            <a:off x="5056560" y="175104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F2A93B"/>
                </a:solidFill>
                <a:effectLst/>
                <a:uFillTx/>
                <a:latin typeface="Aptos"/>
              </a:rPr>
              <a:t>29,6 %</a:t>
            </a:r>
            <a:endParaRPr lang="fr-FR" sz="1000" b="0" u="none" strike="noStrike">
              <a:solidFill>
                <a:srgbClr val="000000"/>
              </a:solidFill>
              <a:effectLst/>
              <a:uFillTx/>
              <a:latin typeface="Arial"/>
            </a:endParaRPr>
          </a:p>
        </p:txBody>
      </p:sp>
      <p:sp>
        <p:nvSpPr>
          <p:cNvPr id="266" name="Text 14"/>
          <p:cNvSpPr/>
          <p:nvPr/>
        </p:nvSpPr>
        <p:spPr>
          <a:xfrm>
            <a:off x="685800" y="2057400"/>
            <a:ext cx="1325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36"/>
                </a:solidFill>
                <a:effectLst/>
                <a:uFillTx/>
                <a:latin typeface="Aptos"/>
              </a:rPr>
              <a:t>Connect · cas problématiques</a:t>
            </a:r>
            <a:endParaRPr lang="fr-FR" sz="1000" b="0" u="none" strike="noStrike">
              <a:solidFill>
                <a:srgbClr val="000000"/>
              </a:solidFill>
              <a:effectLst/>
              <a:uFillTx/>
              <a:latin typeface="Arial"/>
            </a:endParaRPr>
          </a:p>
        </p:txBody>
      </p:sp>
      <p:sp>
        <p:nvSpPr>
          <p:cNvPr id="267" name="Shape 15"/>
          <p:cNvSpPr/>
          <p:nvPr/>
        </p:nvSpPr>
        <p:spPr>
          <a:xfrm>
            <a:off x="2103120" y="2075760"/>
            <a:ext cx="826920" cy="136800"/>
          </a:xfrm>
          <a:prstGeom prst="rect">
            <a:avLst/>
          </a:prstGeom>
          <a:solidFill>
            <a:srgbClr val="1F9D7A"/>
          </a:solidFill>
          <a:ln w="12700">
            <a:solidFill>
              <a:srgbClr val="1F9D7A"/>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68" name="Text 16"/>
          <p:cNvSpPr/>
          <p:nvPr/>
        </p:nvSpPr>
        <p:spPr>
          <a:xfrm>
            <a:off x="5056560" y="204840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1F9D7A"/>
                </a:solidFill>
                <a:effectLst/>
                <a:uFillTx/>
                <a:latin typeface="Aptos"/>
              </a:rPr>
              <a:t>8,5 %</a:t>
            </a:r>
            <a:endParaRPr lang="fr-FR" sz="1000" b="0" u="none" strike="noStrike">
              <a:solidFill>
                <a:srgbClr val="000000"/>
              </a:solidFill>
              <a:effectLst/>
              <a:uFillTx/>
              <a:latin typeface="Arial"/>
            </a:endParaRPr>
          </a:p>
        </p:txBody>
      </p:sp>
      <p:sp>
        <p:nvSpPr>
          <p:cNvPr id="269" name="Text 17"/>
          <p:cNvSpPr/>
          <p:nvPr/>
        </p:nvSpPr>
        <p:spPr>
          <a:xfrm>
            <a:off x="685800" y="2354760"/>
            <a:ext cx="1325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36"/>
                </a:solidFill>
                <a:effectLst/>
                <a:uFillTx/>
                <a:latin typeface="Aptos"/>
              </a:rPr>
              <a:t>Mobile · cas problématiques</a:t>
            </a:r>
            <a:endParaRPr lang="fr-FR" sz="1000" b="0" u="none" strike="noStrike">
              <a:solidFill>
                <a:srgbClr val="000000"/>
              </a:solidFill>
              <a:effectLst/>
              <a:uFillTx/>
              <a:latin typeface="Arial"/>
            </a:endParaRPr>
          </a:p>
        </p:txBody>
      </p:sp>
      <p:sp>
        <p:nvSpPr>
          <p:cNvPr id="270" name="Shape 18"/>
          <p:cNvSpPr/>
          <p:nvPr/>
        </p:nvSpPr>
        <p:spPr>
          <a:xfrm>
            <a:off x="2103120" y="2372760"/>
            <a:ext cx="1410480" cy="136800"/>
          </a:xfrm>
          <a:prstGeom prst="rect">
            <a:avLst/>
          </a:prstGeom>
          <a:solidFill>
            <a:srgbClr val="E85D75"/>
          </a:solidFill>
          <a:ln w="12700">
            <a:solidFill>
              <a:srgbClr val="E85D75"/>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71" name="Text 19"/>
          <p:cNvSpPr/>
          <p:nvPr/>
        </p:nvSpPr>
        <p:spPr>
          <a:xfrm>
            <a:off x="5056560" y="234540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1" u="none" strike="noStrike">
                <a:solidFill>
                  <a:srgbClr val="E85D75"/>
                </a:solidFill>
                <a:effectLst/>
                <a:uFillTx/>
                <a:latin typeface="Aptos"/>
              </a:rPr>
              <a:t>14,5 %</a:t>
            </a:r>
            <a:endParaRPr lang="fr-FR" sz="1000" b="0" u="none" strike="noStrike">
              <a:solidFill>
                <a:srgbClr val="000000"/>
              </a:solidFill>
              <a:effectLst/>
              <a:uFillTx/>
              <a:latin typeface="Arial"/>
            </a:endParaRPr>
          </a:p>
        </p:txBody>
      </p:sp>
      <p:sp>
        <p:nvSpPr>
          <p:cNvPr id="272" name="Text 20"/>
          <p:cNvSpPr/>
          <p:nvPr/>
        </p:nvSpPr>
        <p:spPr>
          <a:xfrm>
            <a:off x="594360" y="3090600"/>
            <a:ext cx="512028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Lecture opérationnelle</a:t>
            </a:r>
            <a:endParaRPr lang="fr-FR" sz="1400" b="0" u="none" strike="noStrike">
              <a:solidFill>
                <a:srgbClr val="000000"/>
              </a:solidFill>
              <a:effectLst/>
              <a:uFillTx/>
              <a:latin typeface="Arial"/>
            </a:endParaRPr>
          </a:p>
        </p:txBody>
      </p:sp>
      <p:sp>
        <p:nvSpPr>
          <p:cNvPr id="273" name="Shape 21"/>
          <p:cNvSpPr/>
          <p:nvPr/>
        </p:nvSpPr>
        <p:spPr>
          <a:xfrm>
            <a:off x="594360" y="3300840"/>
            <a:ext cx="512028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274" name="Text 22"/>
          <p:cNvSpPr/>
          <p:nvPr/>
        </p:nvSpPr>
        <p:spPr>
          <a:xfrm>
            <a:off x="758880" y="3529440"/>
            <a:ext cx="4754520" cy="20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100" b="0" u="none" strike="noStrike">
                <a:solidFill>
                  <a:srgbClr val="102A36"/>
                </a:solidFill>
                <a:effectLst/>
                <a:uFillTx/>
                <a:latin typeface="Aptos"/>
              </a:rPr>
              <a:t>Connect apparaît plus robuste opérationnellement ;</a:t>
            </a:r>
            <a:endParaRPr lang="fr-FR" sz="1100" b="0" u="none" strike="noStrike">
              <a:solidFill>
                <a:srgbClr val="000000"/>
              </a:solidFill>
              <a:effectLst/>
              <a:uFillTx/>
              <a:latin typeface="Arial"/>
            </a:endParaRPr>
          </a:p>
        </p:txBody>
      </p:sp>
      <p:sp>
        <p:nvSpPr>
          <p:cNvPr id="275" name="Text 23"/>
          <p:cNvSpPr/>
          <p:nvPr/>
        </p:nvSpPr>
        <p:spPr>
          <a:xfrm>
            <a:off x="758880" y="3840480"/>
            <a:ext cx="4754520" cy="20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en-US" sz="1100" b="0" u="none" strike="noStrike">
                <a:solidFill>
                  <a:srgbClr val="102A36"/>
                </a:solidFill>
                <a:effectLst/>
                <a:uFillTx/>
                <a:latin typeface="Aptos"/>
              </a:rPr>
              <a:t>Mobile concentre davantage de retards longs ;</a:t>
            </a:r>
            <a:endParaRPr lang="fr-FR" sz="1100" b="0" u="none" strike="noStrike">
              <a:solidFill>
                <a:srgbClr val="000000"/>
              </a:solidFill>
              <a:effectLst/>
              <a:uFillTx/>
              <a:latin typeface="Arial"/>
            </a:endParaRPr>
          </a:p>
        </p:txBody>
      </p:sp>
      <p:sp>
        <p:nvSpPr>
          <p:cNvPr id="276" name="Text 24"/>
          <p:cNvSpPr/>
          <p:nvPr/>
        </p:nvSpPr>
        <p:spPr>
          <a:xfrm>
            <a:off x="758880" y="4151520"/>
            <a:ext cx="4754520" cy="20088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pPr>
            <a:r>
              <a:rPr lang="en-US" sz="1100" b="0" u="none" strike="noStrike">
                <a:solidFill>
                  <a:srgbClr val="102A36"/>
                </a:solidFill>
                <a:effectLst/>
                <a:uFillTx/>
                <a:latin typeface="Aptos"/>
              </a:rPr>
              <a:t>mais une règle limitée à Connect ne couvre pas assez de cas au global.</a:t>
            </a:r>
            <a:endParaRPr lang="fr-FR" sz="1100" b="0" u="none" strike="noStrike">
              <a:solidFill>
                <a:srgbClr val="000000"/>
              </a:solidFill>
              <a:effectLst/>
              <a:uFillTx/>
              <a:latin typeface="Arial"/>
            </a:endParaRPr>
          </a:p>
        </p:txBody>
      </p:sp>
      <p:sp>
        <p:nvSpPr>
          <p:cNvPr id="277" name="Shape 25"/>
          <p:cNvSpPr/>
          <p:nvPr/>
        </p:nvSpPr>
        <p:spPr>
          <a:xfrm>
            <a:off x="0" y="5216760"/>
            <a:ext cx="6469200" cy="45684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78" name="Text 26"/>
          <p:cNvSpPr/>
          <p:nvPr/>
        </p:nvSpPr>
        <p:spPr>
          <a:xfrm>
            <a:off x="704160" y="5340240"/>
            <a:ext cx="4900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Aptos"/>
              </a:rPr>
              <a:t>Le périmètre “toutes voitures” est plus cohérent avec l’objectif de réduction globale des incidents.</a:t>
            </a:r>
            <a:endParaRPr lang="fr-FR" sz="1100" b="0" u="none" strike="noStrike">
              <a:solidFill>
                <a:srgbClr val="000000"/>
              </a:solidFill>
              <a:effectLst/>
              <a:uFillTx/>
              <a:latin typeface="Arial"/>
            </a:endParaRPr>
          </a:p>
        </p:txBody>
      </p:sp>
      <p:sp>
        <p:nvSpPr>
          <p:cNvPr id="279" name="Text 27"/>
          <p:cNvSpPr/>
          <p:nvPr/>
        </p:nvSpPr>
        <p:spPr>
          <a:xfrm>
            <a:off x="6400800" y="868680"/>
            <a:ext cx="425160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Repères de distribution</a:t>
            </a:r>
            <a:endParaRPr lang="fr-FR" sz="1400" b="0" u="none" strike="noStrike">
              <a:solidFill>
                <a:srgbClr val="000000"/>
              </a:solidFill>
              <a:effectLst/>
              <a:uFillTx/>
              <a:latin typeface="Arial"/>
            </a:endParaRPr>
          </a:p>
        </p:txBody>
      </p:sp>
      <p:sp>
        <p:nvSpPr>
          <p:cNvPr id="280" name="Shape 28"/>
          <p:cNvSpPr/>
          <p:nvPr/>
        </p:nvSpPr>
        <p:spPr>
          <a:xfrm>
            <a:off x="6400800" y="1078920"/>
            <a:ext cx="425160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281" name="Shape 29"/>
          <p:cNvSpPr/>
          <p:nvPr/>
        </p:nvSpPr>
        <p:spPr>
          <a:xfrm>
            <a:off x="6477120" y="2372760"/>
            <a:ext cx="4955760" cy="436608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pic>
        <p:nvPicPr>
          <p:cNvPr id="282" name="Image 0" descr="/mnt/data/getaround_final/getaround_project/assets/delay_distribution.png"/>
          <p:cNvPicPr/>
          <p:nvPr/>
        </p:nvPicPr>
        <p:blipFill>
          <a:blip r:embed="rId1"/>
          <a:stretch/>
        </p:blipFill>
        <p:spPr>
          <a:xfrm>
            <a:off x="6469560" y="1240200"/>
            <a:ext cx="5036400" cy="3009960"/>
          </a:xfrm>
          <a:prstGeom prst="rect">
            <a:avLst/>
          </a:prstGeom>
          <a:noFill/>
          <a:ln w="0">
            <a:noFill/>
          </a:ln>
        </p:spPr>
      </p:pic>
      <p:sp>
        <p:nvSpPr>
          <p:cNvPr id="283" name="Text 30"/>
          <p:cNvSpPr/>
          <p:nvPr/>
        </p:nvSpPr>
        <p:spPr>
          <a:xfrm>
            <a:off x="6537960" y="4160520"/>
            <a:ext cx="397728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102A36"/>
                </a:solidFill>
                <a:effectLst/>
                <a:uFillTx/>
                <a:latin typeface="Aptos"/>
              </a:rPr>
              <a:t>Médiane globale : 9 min · 90e percentile : 193 min</a:t>
            </a:r>
            <a:endParaRPr lang="fr-FR"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85"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286"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700" b="1" u="none" strike="noStrike">
                <a:solidFill>
                  <a:schemeClr val="lt2"/>
                </a:solidFill>
                <a:effectLst/>
                <a:uFillTx/>
                <a:latin typeface="Aptos"/>
              </a:rPr>
              <a:t>Modèle de prédiction du prix journalier</a:t>
            </a:r>
            <a:endParaRPr lang="fr-FR" sz="1700" b="0" u="none" strike="noStrike">
              <a:solidFill>
                <a:srgbClr val="000000"/>
              </a:solidFill>
              <a:effectLst/>
              <a:uFillTx/>
              <a:latin typeface="Arial"/>
            </a:endParaRPr>
          </a:p>
        </p:txBody>
      </p:sp>
      <p:sp>
        <p:nvSpPr>
          <p:cNvPr id="287" name="Text 3"/>
          <p:cNvSpPr/>
          <p:nvPr/>
        </p:nvSpPr>
        <p:spPr>
          <a:xfrm>
            <a:off x="8229600" y="118800"/>
            <a:ext cx="370296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D9F6F6"/>
                </a:solidFill>
                <a:effectLst/>
                <a:uFillTx/>
                <a:latin typeface="Aptos"/>
                <a:ea typeface="Aptos"/>
              </a:rPr>
              <a:t>Comparer les modèles puis exposer le meilleur via API</a:t>
            </a:r>
            <a:endParaRPr lang="fr-FR" sz="1200" b="0" u="none" strike="noStrike">
              <a:solidFill>
                <a:srgbClr val="000000"/>
              </a:solidFill>
              <a:effectLst/>
              <a:uFillTx/>
              <a:latin typeface="Arial"/>
            </a:endParaRPr>
          </a:p>
        </p:txBody>
      </p:sp>
      <p:sp>
        <p:nvSpPr>
          <p:cNvPr id="288"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289"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560" b="0" u="none" strike="noStrike">
                <a:solidFill>
                  <a:srgbClr val="8AA0A8"/>
                </a:solidFill>
                <a:effectLst/>
                <a:uFillTx/>
                <a:latin typeface="Aptos"/>
              </a:rPr>
              <a:t>7</a:t>
            </a:r>
            <a:endParaRPr lang="fr-FR" sz="560" b="0" u="none" strike="noStrike">
              <a:solidFill>
                <a:srgbClr val="000000"/>
              </a:solidFill>
              <a:effectLst/>
              <a:uFillTx/>
              <a:latin typeface="Arial"/>
            </a:endParaRPr>
          </a:p>
        </p:txBody>
      </p:sp>
      <p:sp>
        <p:nvSpPr>
          <p:cNvPr id="290" name="Shape 6"/>
          <p:cNvSpPr/>
          <p:nvPr/>
        </p:nvSpPr>
        <p:spPr>
          <a:xfrm>
            <a:off x="54864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91" name="Text 7"/>
          <p:cNvSpPr/>
          <p:nvPr/>
        </p:nvSpPr>
        <p:spPr>
          <a:xfrm>
            <a:off x="64908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0B8B6"/>
                </a:solidFill>
                <a:effectLst/>
                <a:uFillTx/>
                <a:latin typeface="Aptos"/>
              </a:rPr>
              <a:t>10,75 €</a:t>
            </a:r>
            <a:endParaRPr lang="fr-FR" sz="1350" b="0" u="none" strike="noStrike">
              <a:solidFill>
                <a:srgbClr val="000000"/>
              </a:solidFill>
              <a:effectLst/>
              <a:uFillTx/>
              <a:latin typeface="Arial"/>
            </a:endParaRPr>
          </a:p>
        </p:txBody>
      </p:sp>
      <p:sp>
        <p:nvSpPr>
          <p:cNvPr id="292" name="Text 8"/>
          <p:cNvSpPr/>
          <p:nvPr/>
        </p:nvSpPr>
        <p:spPr>
          <a:xfrm>
            <a:off x="649080" y="1197720"/>
            <a:ext cx="121572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690" b="0" u="none" strike="noStrike">
                <a:solidFill>
                  <a:srgbClr val="102A36"/>
                </a:solidFill>
                <a:effectLst/>
                <a:uFillTx/>
                <a:latin typeface="Aptos"/>
              </a:rPr>
              <a:t>MAE RandomForest</a:t>
            </a:r>
            <a:endParaRPr lang="fr-FR" sz="690" b="0" u="none" strike="noStrike">
              <a:solidFill>
                <a:srgbClr val="000000"/>
              </a:solidFill>
              <a:effectLst/>
              <a:uFillTx/>
              <a:latin typeface="Arial"/>
            </a:endParaRPr>
          </a:p>
        </p:txBody>
      </p:sp>
      <p:sp>
        <p:nvSpPr>
          <p:cNvPr id="293" name="Shape 9"/>
          <p:cNvSpPr/>
          <p:nvPr/>
        </p:nvSpPr>
        <p:spPr>
          <a:xfrm>
            <a:off x="214884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94" name="Text 10"/>
          <p:cNvSpPr/>
          <p:nvPr/>
        </p:nvSpPr>
        <p:spPr>
          <a:xfrm>
            <a:off x="224928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F2A93B"/>
                </a:solidFill>
                <a:effectLst/>
                <a:uFillTx/>
                <a:latin typeface="Aptos"/>
              </a:rPr>
              <a:t>16,95</a:t>
            </a:r>
            <a:endParaRPr lang="fr-FR" sz="1350" b="0" u="none" strike="noStrike">
              <a:solidFill>
                <a:srgbClr val="000000"/>
              </a:solidFill>
              <a:effectLst/>
              <a:uFillTx/>
              <a:latin typeface="Arial"/>
            </a:endParaRPr>
          </a:p>
        </p:txBody>
      </p:sp>
      <p:sp>
        <p:nvSpPr>
          <p:cNvPr id="295" name="Text 11"/>
          <p:cNvSpPr/>
          <p:nvPr/>
        </p:nvSpPr>
        <p:spPr>
          <a:xfrm>
            <a:off x="2249280" y="1197720"/>
            <a:ext cx="121572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690" b="0" u="none" strike="noStrike">
                <a:solidFill>
                  <a:srgbClr val="102A36"/>
                </a:solidFill>
                <a:effectLst/>
                <a:uFillTx/>
                <a:latin typeface="Aptos"/>
              </a:rPr>
              <a:t>RMSE</a:t>
            </a:r>
            <a:endParaRPr lang="fr-FR" sz="690" b="0" u="none" strike="noStrike">
              <a:solidFill>
                <a:srgbClr val="000000"/>
              </a:solidFill>
              <a:effectLst/>
              <a:uFillTx/>
              <a:latin typeface="Arial"/>
            </a:endParaRPr>
          </a:p>
        </p:txBody>
      </p:sp>
      <p:sp>
        <p:nvSpPr>
          <p:cNvPr id="296" name="Shape 12"/>
          <p:cNvSpPr/>
          <p:nvPr/>
        </p:nvSpPr>
        <p:spPr>
          <a:xfrm>
            <a:off x="3749040" y="868680"/>
            <a:ext cx="141696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297" name="Text 13"/>
          <p:cNvSpPr/>
          <p:nvPr/>
        </p:nvSpPr>
        <p:spPr>
          <a:xfrm>
            <a:off x="3849480" y="951120"/>
            <a:ext cx="12157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1" u="none" strike="noStrike">
                <a:solidFill>
                  <a:srgbClr val="1F9D7A"/>
                </a:solidFill>
                <a:effectLst/>
                <a:uFillTx/>
                <a:latin typeface="Aptos"/>
              </a:rPr>
              <a:t>0,727</a:t>
            </a:r>
            <a:endParaRPr lang="fr-FR" sz="1350" b="0" u="none" strike="noStrike">
              <a:solidFill>
                <a:srgbClr val="000000"/>
              </a:solidFill>
              <a:effectLst/>
              <a:uFillTx/>
              <a:latin typeface="Arial"/>
            </a:endParaRPr>
          </a:p>
        </p:txBody>
      </p:sp>
      <p:sp>
        <p:nvSpPr>
          <p:cNvPr id="298" name="Text 14"/>
          <p:cNvSpPr/>
          <p:nvPr/>
        </p:nvSpPr>
        <p:spPr>
          <a:xfrm>
            <a:off x="3849480" y="1197720"/>
            <a:ext cx="121572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690" b="0" u="none" strike="noStrike">
                <a:solidFill>
                  <a:srgbClr val="102A36"/>
                </a:solidFill>
                <a:effectLst/>
                <a:uFillTx/>
                <a:latin typeface="Aptos"/>
              </a:rPr>
              <a:t>R²</a:t>
            </a:r>
            <a:endParaRPr lang="fr-FR" sz="690" b="0" u="none" strike="noStrike">
              <a:solidFill>
                <a:srgbClr val="000000"/>
              </a:solidFill>
              <a:effectLst/>
              <a:uFillTx/>
              <a:latin typeface="Arial"/>
            </a:endParaRPr>
          </a:p>
        </p:txBody>
      </p:sp>
      <p:sp>
        <p:nvSpPr>
          <p:cNvPr id="299" name="Shape 15"/>
          <p:cNvSpPr/>
          <p:nvPr/>
        </p:nvSpPr>
        <p:spPr>
          <a:xfrm>
            <a:off x="5349240" y="1024200"/>
            <a:ext cx="1416960" cy="456840"/>
          </a:xfrm>
          <a:prstGeom prst="rect">
            <a:avLst/>
          </a:prstGeom>
          <a:solidFill>
            <a:srgbClr val="E8F8F8"/>
          </a:solidFill>
          <a:ln w="12700">
            <a:solidFill>
              <a:srgbClr val="E8F8F8"/>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00" name="Text 16"/>
          <p:cNvSpPr/>
          <p:nvPr/>
        </p:nvSpPr>
        <p:spPr>
          <a:xfrm>
            <a:off x="5459040" y="1124640"/>
            <a:ext cx="11973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102A36"/>
                </a:solidFill>
                <a:effectLst/>
                <a:uFillTx/>
                <a:latin typeface="Aptos"/>
              </a:rPr>
              <a:t>Modèle retenu : RandomForest</a:t>
            </a:r>
            <a:endParaRPr lang="fr-FR" sz="1200" b="0" u="none" strike="noStrike">
              <a:solidFill>
                <a:srgbClr val="000000"/>
              </a:solidFill>
              <a:effectLst/>
              <a:uFillTx/>
              <a:latin typeface="Arial"/>
            </a:endParaRPr>
          </a:p>
        </p:txBody>
      </p:sp>
      <p:sp>
        <p:nvSpPr>
          <p:cNvPr id="301" name="Text 17"/>
          <p:cNvSpPr/>
          <p:nvPr/>
        </p:nvSpPr>
        <p:spPr>
          <a:xfrm>
            <a:off x="594360" y="1920240"/>
            <a:ext cx="516600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Comparaison des modèles</a:t>
            </a:r>
            <a:endParaRPr lang="fr-FR" sz="1400" b="0" u="none" strike="noStrike">
              <a:solidFill>
                <a:srgbClr val="000000"/>
              </a:solidFill>
              <a:effectLst/>
              <a:uFillTx/>
              <a:latin typeface="Arial"/>
            </a:endParaRPr>
          </a:p>
        </p:txBody>
      </p:sp>
      <p:sp>
        <p:nvSpPr>
          <p:cNvPr id="302" name="Shape 18"/>
          <p:cNvSpPr/>
          <p:nvPr/>
        </p:nvSpPr>
        <p:spPr>
          <a:xfrm>
            <a:off x="594360" y="2130480"/>
            <a:ext cx="516600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303" name="Shape 19"/>
          <p:cNvSpPr/>
          <p:nvPr/>
        </p:nvSpPr>
        <p:spPr>
          <a:xfrm>
            <a:off x="594360" y="2359080"/>
            <a:ext cx="1599840" cy="32868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04" name="Text 20"/>
          <p:cNvSpPr/>
          <p:nvPr/>
        </p:nvSpPr>
        <p:spPr>
          <a:xfrm>
            <a:off x="649080" y="2414160"/>
            <a:ext cx="14900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Modèle</a:t>
            </a:r>
            <a:endParaRPr lang="fr-FR" sz="1200" b="0" u="none" strike="noStrike">
              <a:solidFill>
                <a:srgbClr val="000000"/>
              </a:solidFill>
              <a:effectLst/>
              <a:uFillTx/>
              <a:latin typeface="Arial"/>
            </a:endParaRPr>
          </a:p>
        </p:txBody>
      </p:sp>
      <p:sp>
        <p:nvSpPr>
          <p:cNvPr id="305" name="Shape 21"/>
          <p:cNvSpPr/>
          <p:nvPr/>
        </p:nvSpPr>
        <p:spPr>
          <a:xfrm>
            <a:off x="2194560" y="2359080"/>
            <a:ext cx="1005480" cy="32868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06" name="Text 22"/>
          <p:cNvSpPr/>
          <p:nvPr/>
        </p:nvSpPr>
        <p:spPr>
          <a:xfrm>
            <a:off x="2249280" y="241416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MAE</a:t>
            </a:r>
            <a:endParaRPr lang="fr-FR" sz="1200" b="0" u="none" strike="noStrike">
              <a:solidFill>
                <a:srgbClr val="000000"/>
              </a:solidFill>
              <a:effectLst/>
              <a:uFillTx/>
              <a:latin typeface="Arial"/>
            </a:endParaRPr>
          </a:p>
        </p:txBody>
      </p:sp>
      <p:sp>
        <p:nvSpPr>
          <p:cNvPr id="307" name="Shape 23"/>
          <p:cNvSpPr/>
          <p:nvPr/>
        </p:nvSpPr>
        <p:spPr>
          <a:xfrm>
            <a:off x="3200400" y="2359080"/>
            <a:ext cx="1005480" cy="32868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08" name="Text 24"/>
          <p:cNvSpPr/>
          <p:nvPr/>
        </p:nvSpPr>
        <p:spPr>
          <a:xfrm>
            <a:off x="3255120" y="241416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RMSE</a:t>
            </a:r>
            <a:endParaRPr lang="fr-FR" sz="1200" b="0" u="none" strike="noStrike">
              <a:solidFill>
                <a:srgbClr val="000000"/>
              </a:solidFill>
              <a:effectLst/>
              <a:uFillTx/>
              <a:latin typeface="Arial"/>
            </a:endParaRPr>
          </a:p>
        </p:txBody>
      </p:sp>
      <p:sp>
        <p:nvSpPr>
          <p:cNvPr id="309" name="Shape 25"/>
          <p:cNvSpPr/>
          <p:nvPr/>
        </p:nvSpPr>
        <p:spPr>
          <a:xfrm>
            <a:off x="4206240" y="2359080"/>
            <a:ext cx="914040" cy="32868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0" name="Text 26"/>
          <p:cNvSpPr/>
          <p:nvPr/>
        </p:nvSpPr>
        <p:spPr>
          <a:xfrm>
            <a:off x="4260960" y="2414160"/>
            <a:ext cx="8042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FFFF"/>
                </a:solidFill>
                <a:effectLst/>
                <a:uFillTx/>
                <a:latin typeface="Aptos"/>
              </a:rPr>
              <a:t>R²</a:t>
            </a:r>
            <a:endParaRPr lang="fr-FR" sz="1200" b="0" u="none" strike="noStrike">
              <a:solidFill>
                <a:srgbClr val="000000"/>
              </a:solidFill>
              <a:effectLst/>
              <a:uFillTx/>
              <a:latin typeface="Arial"/>
            </a:endParaRPr>
          </a:p>
        </p:txBody>
      </p:sp>
      <p:sp>
        <p:nvSpPr>
          <p:cNvPr id="311" name="Shape 27"/>
          <p:cNvSpPr/>
          <p:nvPr/>
        </p:nvSpPr>
        <p:spPr>
          <a:xfrm>
            <a:off x="594360" y="2688480"/>
            <a:ext cx="15998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2" name="Text 28"/>
          <p:cNvSpPr/>
          <p:nvPr/>
        </p:nvSpPr>
        <p:spPr>
          <a:xfrm>
            <a:off x="649080" y="2743200"/>
            <a:ext cx="14900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RandomForest</a:t>
            </a:r>
            <a:endParaRPr lang="fr-FR" sz="1200" b="0" u="none" strike="noStrike">
              <a:solidFill>
                <a:srgbClr val="000000"/>
              </a:solidFill>
              <a:effectLst/>
              <a:uFillTx/>
              <a:latin typeface="Arial"/>
            </a:endParaRPr>
          </a:p>
        </p:txBody>
      </p:sp>
      <p:sp>
        <p:nvSpPr>
          <p:cNvPr id="313" name="Shape 29"/>
          <p:cNvSpPr/>
          <p:nvPr/>
        </p:nvSpPr>
        <p:spPr>
          <a:xfrm>
            <a:off x="2194560" y="268848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4" name="Text 30"/>
          <p:cNvSpPr/>
          <p:nvPr/>
        </p:nvSpPr>
        <p:spPr>
          <a:xfrm>
            <a:off x="2249280" y="274320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10,75</a:t>
            </a:r>
            <a:endParaRPr lang="fr-FR" sz="1200" b="0" u="none" strike="noStrike">
              <a:solidFill>
                <a:srgbClr val="000000"/>
              </a:solidFill>
              <a:effectLst/>
              <a:uFillTx/>
              <a:latin typeface="Arial"/>
            </a:endParaRPr>
          </a:p>
        </p:txBody>
      </p:sp>
      <p:sp>
        <p:nvSpPr>
          <p:cNvPr id="315" name="Shape 31"/>
          <p:cNvSpPr/>
          <p:nvPr/>
        </p:nvSpPr>
        <p:spPr>
          <a:xfrm>
            <a:off x="3200400" y="268848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6" name="Text 32"/>
          <p:cNvSpPr/>
          <p:nvPr/>
        </p:nvSpPr>
        <p:spPr>
          <a:xfrm>
            <a:off x="3255120" y="274320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16,95</a:t>
            </a:r>
            <a:endParaRPr lang="fr-FR" sz="1200" b="0" u="none" strike="noStrike">
              <a:solidFill>
                <a:srgbClr val="000000"/>
              </a:solidFill>
              <a:effectLst/>
              <a:uFillTx/>
              <a:latin typeface="Arial"/>
            </a:endParaRPr>
          </a:p>
        </p:txBody>
      </p:sp>
      <p:sp>
        <p:nvSpPr>
          <p:cNvPr id="317" name="Shape 33"/>
          <p:cNvSpPr/>
          <p:nvPr/>
        </p:nvSpPr>
        <p:spPr>
          <a:xfrm>
            <a:off x="4206240" y="2688480"/>
            <a:ext cx="9140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18" name="Text 34"/>
          <p:cNvSpPr/>
          <p:nvPr/>
        </p:nvSpPr>
        <p:spPr>
          <a:xfrm>
            <a:off x="4260960" y="2743200"/>
            <a:ext cx="8042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0,727</a:t>
            </a:r>
            <a:endParaRPr lang="fr-FR" sz="1200" b="0" u="none" strike="noStrike">
              <a:solidFill>
                <a:srgbClr val="000000"/>
              </a:solidFill>
              <a:effectLst/>
              <a:uFillTx/>
              <a:latin typeface="Arial"/>
            </a:endParaRPr>
          </a:p>
        </p:txBody>
      </p:sp>
      <p:sp>
        <p:nvSpPr>
          <p:cNvPr id="319" name="Shape 35"/>
          <p:cNvSpPr/>
          <p:nvPr/>
        </p:nvSpPr>
        <p:spPr>
          <a:xfrm>
            <a:off x="594360" y="3017520"/>
            <a:ext cx="15998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20" name="Text 36"/>
          <p:cNvSpPr/>
          <p:nvPr/>
        </p:nvSpPr>
        <p:spPr>
          <a:xfrm>
            <a:off x="649080" y="3072240"/>
            <a:ext cx="14900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ExtraTrees</a:t>
            </a:r>
            <a:endParaRPr lang="fr-FR" sz="1200" b="0" u="none" strike="noStrike">
              <a:solidFill>
                <a:srgbClr val="000000"/>
              </a:solidFill>
              <a:effectLst/>
              <a:uFillTx/>
              <a:latin typeface="Arial"/>
            </a:endParaRPr>
          </a:p>
        </p:txBody>
      </p:sp>
      <p:sp>
        <p:nvSpPr>
          <p:cNvPr id="321" name="Shape 37"/>
          <p:cNvSpPr/>
          <p:nvPr/>
        </p:nvSpPr>
        <p:spPr>
          <a:xfrm>
            <a:off x="2194560" y="301752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22" name="Text 38"/>
          <p:cNvSpPr/>
          <p:nvPr/>
        </p:nvSpPr>
        <p:spPr>
          <a:xfrm>
            <a:off x="2249280" y="307224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10,72</a:t>
            </a:r>
            <a:endParaRPr lang="fr-FR" sz="1200" b="0" u="none" strike="noStrike">
              <a:solidFill>
                <a:srgbClr val="000000"/>
              </a:solidFill>
              <a:effectLst/>
              <a:uFillTx/>
              <a:latin typeface="Arial"/>
            </a:endParaRPr>
          </a:p>
        </p:txBody>
      </p:sp>
      <p:sp>
        <p:nvSpPr>
          <p:cNvPr id="323" name="Shape 39"/>
          <p:cNvSpPr/>
          <p:nvPr/>
        </p:nvSpPr>
        <p:spPr>
          <a:xfrm>
            <a:off x="3200400" y="301752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24" name="Text 40"/>
          <p:cNvSpPr/>
          <p:nvPr/>
        </p:nvSpPr>
        <p:spPr>
          <a:xfrm>
            <a:off x="3255120" y="307224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17,00</a:t>
            </a:r>
            <a:endParaRPr lang="fr-FR" sz="1200" b="0" u="none" strike="noStrike">
              <a:solidFill>
                <a:srgbClr val="000000"/>
              </a:solidFill>
              <a:effectLst/>
              <a:uFillTx/>
              <a:latin typeface="Arial"/>
            </a:endParaRPr>
          </a:p>
        </p:txBody>
      </p:sp>
      <p:sp>
        <p:nvSpPr>
          <p:cNvPr id="325" name="Shape 41"/>
          <p:cNvSpPr/>
          <p:nvPr/>
        </p:nvSpPr>
        <p:spPr>
          <a:xfrm>
            <a:off x="4206240" y="3017520"/>
            <a:ext cx="9140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26" name="Text 42"/>
          <p:cNvSpPr/>
          <p:nvPr/>
        </p:nvSpPr>
        <p:spPr>
          <a:xfrm>
            <a:off x="4260960" y="3072240"/>
            <a:ext cx="8042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0,726</a:t>
            </a:r>
            <a:endParaRPr lang="fr-FR" sz="1200" b="0" u="none" strike="noStrike">
              <a:solidFill>
                <a:srgbClr val="000000"/>
              </a:solidFill>
              <a:effectLst/>
              <a:uFillTx/>
              <a:latin typeface="Arial"/>
            </a:endParaRPr>
          </a:p>
        </p:txBody>
      </p:sp>
      <p:sp>
        <p:nvSpPr>
          <p:cNvPr id="327" name="Shape 43"/>
          <p:cNvSpPr/>
          <p:nvPr/>
        </p:nvSpPr>
        <p:spPr>
          <a:xfrm>
            <a:off x="594360" y="3346560"/>
            <a:ext cx="15998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28" name="Text 44"/>
          <p:cNvSpPr/>
          <p:nvPr/>
        </p:nvSpPr>
        <p:spPr>
          <a:xfrm>
            <a:off x="649080" y="3401640"/>
            <a:ext cx="14900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LinearRegression</a:t>
            </a:r>
            <a:endParaRPr lang="fr-FR" sz="1200" b="0" u="none" strike="noStrike">
              <a:solidFill>
                <a:srgbClr val="000000"/>
              </a:solidFill>
              <a:effectLst/>
              <a:uFillTx/>
              <a:latin typeface="Arial"/>
            </a:endParaRPr>
          </a:p>
        </p:txBody>
      </p:sp>
      <p:sp>
        <p:nvSpPr>
          <p:cNvPr id="329" name="Shape 45"/>
          <p:cNvSpPr/>
          <p:nvPr/>
        </p:nvSpPr>
        <p:spPr>
          <a:xfrm>
            <a:off x="2194560" y="334656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0" name="Text 46"/>
          <p:cNvSpPr/>
          <p:nvPr/>
        </p:nvSpPr>
        <p:spPr>
          <a:xfrm>
            <a:off x="2249280" y="340164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13,06</a:t>
            </a:r>
            <a:endParaRPr lang="fr-FR" sz="1200" b="0" u="none" strike="noStrike">
              <a:solidFill>
                <a:srgbClr val="000000"/>
              </a:solidFill>
              <a:effectLst/>
              <a:uFillTx/>
              <a:latin typeface="Arial"/>
            </a:endParaRPr>
          </a:p>
        </p:txBody>
      </p:sp>
      <p:sp>
        <p:nvSpPr>
          <p:cNvPr id="331" name="Shape 47"/>
          <p:cNvSpPr/>
          <p:nvPr/>
        </p:nvSpPr>
        <p:spPr>
          <a:xfrm>
            <a:off x="3200400" y="334656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2" name="Text 48"/>
          <p:cNvSpPr/>
          <p:nvPr/>
        </p:nvSpPr>
        <p:spPr>
          <a:xfrm>
            <a:off x="3255120" y="340164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19,05</a:t>
            </a:r>
            <a:endParaRPr lang="fr-FR" sz="1200" b="0" u="none" strike="noStrike">
              <a:solidFill>
                <a:srgbClr val="000000"/>
              </a:solidFill>
              <a:effectLst/>
              <a:uFillTx/>
              <a:latin typeface="Arial"/>
            </a:endParaRPr>
          </a:p>
        </p:txBody>
      </p:sp>
      <p:sp>
        <p:nvSpPr>
          <p:cNvPr id="333" name="Shape 49"/>
          <p:cNvSpPr/>
          <p:nvPr/>
        </p:nvSpPr>
        <p:spPr>
          <a:xfrm>
            <a:off x="4206240" y="3346560"/>
            <a:ext cx="9140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4" name="Text 50"/>
          <p:cNvSpPr/>
          <p:nvPr/>
        </p:nvSpPr>
        <p:spPr>
          <a:xfrm>
            <a:off x="4260960" y="3401640"/>
            <a:ext cx="8042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0,655</a:t>
            </a:r>
            <a:endParaRPr lang="fr-FR" sz="1200" b="0" u="none" strike="noStrike">
              <a:solidFill>
                <a:srgbClr val="000000"/>
              </a:solidFill>
              <a:effectLst/>
              <a:uFillTx/>
              <a:latin typeface="Arial"/>
            </a:endParaRPr>
          </a:p>
        </p:txBody>
      </p:sp>
      <p:sp>
        <p:nvSpPr>
          <p:cNvPr id="335" name="Shape 51"/>
          <p:cNvSpPr/>
          <p:nvPr/>
        </p:nvSpPr>
        <p:spPr>
          <a:xfrm>
            <a:off x="594360" y="3675960"/>
            <a:ext cx="15998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6" name="Text 52"/>
          <p:cNvSpPr/>
          <p:nvPr/>
        </p:nvSpPr>
        <p:spPr>
          <a:xfrm>
            <a:off x="649080" y="3730680"/>
            <a:ext cx="14900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Ridge</a:t>
            </a:r>
            <a:endParaRPr lang="fr-FR" sz="1200" b="0" u="none" strike="noStrike">
              <a:solidFill>
                <a:srgbClr val="000000"/>
              </a:solidFill>
              <a:effectLst/>
              <a:uFillTx/>
              <a:latin typeface="Arial"/>
            </a:endParaRPr>
          </a:p>
        </p:txBody>
      </p:sp>
      <p:sp>
        <p:nvSpPr>
          <p:cNvPr id="337" name="Shape 53"/>
          <p:cNvSpPr/>
          <p:nvPr/>
        </p:nvSpPr>
        <p:spPr>
          <a:xfrm>
            <a:off x="2194560" y="367596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38" name="Text 54"/>
          <p:cNvSpPr/>
          <p:nvPr/>
        </p:nvSpPr>
        <p:spPr>
          <a:xfrm>
            <a:off x="2249280" y="373068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15,38</a:t>
            </a:r>
            <a:endParaRPr lang="fr-FR" sz="1200" b="0" u="none" strike="noStrike">
              <a:solidFill>
                <a:srgbClr val="000000"/>
              </a:solidFill>
              <a:effectLst/>
              <a:uFillTx/>
              <a:latin typeface="Arial"/>
            </a:endParaRPr>
          </a:p>
        </p:txBody>
      </p:sp>
      <p:sp>
        <p:nvSpPr>
          <p:cNvPr id="339" name="Shape 55"/>
          <p:cNvSpPr/>
          <p:nvPr/>
        </p:nvSpPr>
        <p:spPr>
          <a:xfrm>
            <a:off x="3200400" y="3675960"/>
            <a:ext cx="100548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0" name="Text 56"/>
          <p:cNvSpPr/>
          <p:nvPr/>
        </p:nvSpPr>
        <p:spPr>
          <a:xfrm>
            <a:off x="3255120" y="3730680"/>
            <a:ext cx="89568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21,91</a:t>
            </a:r>
            <a:endParaRPr lang="fr-FR" sz="1200" b="0" u="none" strike="noStrike">
              <a:solidFill>
                <a:srgbClr val="000000"/>
              </a:solidFill>
              <a:effectLst/>
              <a:uFillTx/>
              <a:latin typeface="Arial"/>
            </a:endParaRPr>
          </a:p>
        </p:txBody>
      </p:sp>
      <p:sp>
        <p:nvSpPr>
          <p:cNvPr id="341" name="Shape 57"/>
          <p:cNvSpPr/>
          <p:nvPr/>
        </p:nvSpPr>
        <p:spPr>
          <a:xfrm>
            <a:off x="4206240" y="3675960"/>
            <a:ext cx="914040" cy="328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2" name="Text 58"/>
          <p:cNvSpPr/>
          <p:nvPr/>
        </p:nvSpPr>
        <p:spPr>
          <a:xfrm>
            <a:off x="4260960" y="3730680"/>
            <a:ext cx="804240" cy="2556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0" u="none" strike="noStrike">
                <a:solidFill>
                  <a:srgbClr val="102A36"/>
                </a:solidFill>
                <a:effectLst/>
                <a:uFillTx/>
                <a:latin typeface="Aptos"/>
              </a:rPr>
              <a:t>0,544</a:t>
            </a:r>
            <a:endParaRPr lang="fr-FR" sz="1200" b="0" u="none" strike="noStrike">
              <a:solidFill>
                <a:srgbClr val="000000"/>
              </a:solidFill>
              <a:effectLst/>
              <a:uFillTx/>
              <a:latin typeface="Arial"/>
            </a:endParaRPr>
          </a:p>
        </p:txBody>
      </p:sp>
      <p:sp>
        <p:nvSpPr>
          <p:cNvPr id="343" name="Text 59"/>
          <p:cNvSpPr/>
          <p:nvPr/>
        </p:nvSpPr>
        <p:spPr>
          <a:xfrm>
            <a:off x="6995160" y="1005840"/>
            <a:ext cx="370296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008E8C"/>
                </a:solidFill>
                <a:effectLst/>
                <a:uFillTx/>
                <a:latin typeface="Aptos"/>
              </a:rPr>
              <a:t>Variables les plus influentes</a:t>
            </a:r>
            <a:endParaRPr lang="fr-FR" sz="1200" b="0" u="none" strike="noStrike">
              <a:solidFill>
                <a:srgbClr val="000000"/>
              </a:solidFill>
              <a:effectLst/>
              <a:uFillTx/>
              <a:latin typeface="Arial"/>
            </a:endParaRPr>
          </a:p>
        </p:txBody>
      </p:sp>
      <p:sp>
        <p:nvSpPr>
          <p:cNvPr id="344" name="Shape 60"/>
          <p:cNvSpPr/>
          <p:nvPr/>
        </p:nvSpPr>
        <p:spPr>
          <a:xfrm>
            <a:off x="6995160" y="1216080"/>
            <a:ext cx="370296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345" name="Text 61"/>
          <p:cNvSpPr/>
          <p:nvPr/>
        </p:nvSpPr>
        <p:spPr>
          <a:xfrm>
            <a:off x="6903720" y="1618560"/>
            <a:ext cx="132552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740" b="0" u="none" strike="noStrike">
                <a:solidFill>
                  <a:srgbClr val="102A36"/>
                </a:solidFill>
                <a:effectLst/>
                <a:uFillTx/>
                <a:latin typeface="Aptos"/>
              </a:rPr>
              <a:t>engine_power</a:t>
            </a:r>
            <a:endParaRPr lang="fr-FR" sz="740" b="0" u="none" strike="noStrike">
              <a:solidFill>
                <a:srgbClr val="000000"/>
              </a:solidFill>
              <a:effectLst/>
              <a:uFillTx/>
              <a:latin typeface="Arial"/>
            </a:endParaRPr>
          </a:p>
        </p:txBody>
      </p:sp>
      <p:sp>
        <p:nvSpPr>
          <p:cNvPr id="346" name="Shape 62"/>
          <p:cNvSpPr/>
          <p:nvPr/>
        </p:nvSpPr>
        <p:spPr>
          <a:xfrm>
            <a:off x="8321040" y="1636920"/>
            <a:ext cx="2102760" cy="136800"/>
          </a:xfrm>
          <a:prstGeom prst="rect">
            <a:avLst/>
          </a:prstGeom>
          <a:solidFill>
            <a:srgbClr val="10B8B6"/>
          </a:solidFill>
          <a:ln w="12700">
            <a:solidFill>
              <a:srgbClr val="10B8B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47" name="Text 63"/>
          <p:cNvSpPr/>
          <p:nvPr/>
        </p:nvSpPr>
        <p:spPr>
          <a:xfrm>
            <a:off x="10497240" y="160920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10" b="1" u="none" strike="noStrike">
                <a:solidFill>
                  <a:srgbClr val="10B8B6"/>
                </a:solidFill>
                <a:effectLst/>
                <a:uFillTx/>
                <a:latin typeface="Aptos"/>
              </a:rPr>
              <a:t>45,3</a:t>
            </a:r>
            <a:endParaRPr lang="fr-FR" sz="710" b="0" u="none" strike="noStrike">
              <a:solidFill>
                <a:srgbClr val="000000"/>
              </a:solidFill>
              <a:effectLst/>
              <a:uFillTx/>
              <a:latin typeface="Arial"/>
            </a:endParaRPr>
          </a:p>
        </p:txBody>
      </p:sp>
      <p:sp>
        <p:nvSpPr>
          <p:cNvPr id="348" name="Text 64"/>
          <p:cNvSpPr/>
          <p:nvPr/>
        </p:nvSpPr>
        <p:spPr>
          <a:xfrm>
            <a:off x="6903720" y="2020680"/>
            <a:ext cx="132552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740" b="0" u="none" strike="noStrike">
                <a:solidFill>
                  <a:srgbClr val="102A36"/>
                </a:solidFill>
                <a:effectLst/>
                <a:uFillTx/>
                <a:latin typeface="Aptos"/>
              </a:rPr>
              <a:t>mileage</a:t>
            </a:r>
            <a:endParaRPr lang="fr-FR" sz="740" b="0" u="none" strike="noStrike">
              <a:solidFill>
                <a:srgbClr val="000000"/>
              </a:solidFill>
              <a:effectLst/>
              <a:uFillTx/>
              <a:latin typeface="Arial"/>
            </a:endParaRPr>
          </a:p>
        </p:txBody>
      </p:sp>
      <p:sp>
        <p:nvSpPr>
          <p:cNvPr id="349" name="Shape 65"/>
          <p:cNvSpPr/>
          <p:nvPr/>
        </p:nvSpPr>
        <p:spPr>
          <a:xfrm>
            <a:off x="8321040" y="2039040"/>
            <a:ext cx="1313640" cy="136800"/>
          </a:xfrm>
          <a:prstGeom prst="rect">
            <a:avLst/>
          </a:prstGeom>
          <a:solidFill>
            <a:srgbClr val="F2A93B"/>
          </a:solidFill>
          <a:ln w="12700">
            <a:solidFill>
              <a:srgbClr val="F2A93B"/>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50" name="Text 66"/>
          <p:cNvSpPr/>
          <p:nvPr/>
        </p:nvSpPr>
        <p:spPr>
          <a:xfrm>
            <a:off x="10497240" y="201168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10" b="1" u="none" strike="noStrike">
                <a:solidFill>
                  <a:srgbClr val="F2A93B"/>
                </a:solidFill>
                <a:effectLst/>
                <a:uFillTx/>
                <a:latin typeface="Aptos"/>
              </a:rPr>
              <a:t>28,3</a:t>
            </a:r>
            <a:endParaRPr lang="fr-FR" sz="710" b="0" u="none" strike="noStrike">
              <a:solidFill>
                <a:srgbClr val="000000"/>
              </a:solidFill>
              <a:effectLst/>
              <a:uFillTx/>
              <a:latin typeface="Arial"/>
            </a:endParaRPr>
          </a:p>
        </p:txBody>
      </p:sp>
      <p:sp>
        <p:nvSpPr>
          <p:cNvPr id="351" name="Text 67"/>
          <p:cNvSpPr/>
          <p:nvPr/>
        </p:nvSpPr>
        <p:spPr>
          <a:xfrm>
            <a:off x="6903720" y="2423160"/>
            <a:ext cx="132552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740" b="0" u="none" strike="noStrike">
                <a:solidFill>
                  <a:srgbClr val="102A36"/>
                </a:solidFill>
                <a:effectLst/>
                <a:uFillTx/>
                <a:latin typeface="Aptos"/>
              </a:rPr>
              <a:t>model_key</a:t>
            </a:r>
            <a:endParaRPr lang="fr-FR" sz="740" b="0" u="none" strike="noStrike">
              <a:solidFill>
                <a:srgbClr val="000000"/>
              </a:solidFill>
              <a:effectLst/>
              <a:uFillTx/>
              <a:latin typeface="Arial"/>
            </a:endParaRPr>
          </a:p>
        </p:txBody>
      </p:sp>
      <p:sp>
        <p:nvSpPr>
          <p:cNvPr id="352" name="Shape 68"/>
          <p:cNvSpPr/>
          <p:nvPr/>
        </p:nvSpPr>
        <p:spPr>
          <a:xfrm>
            <a:off x="8321040" y="2441520"/>
            <a:ext cx="320040" cy="136800"/>
          </a:xfrm>
          <a:prstGeom prst="rect">
            <a:avLst/>
          </a:prstGeom>
          <a:solidFill>
            <a:srgbClr val="1F9D7A"/>
          </a:solidFill>
          <a:ln w="12700">
            <a:solidFill>
              <a:srgbClr val="1F9D7A"/>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53" name="Text 69"/>
          <p:cNvSpPr/>
          <p:nvPr/>
        </p:nvSpPr>
        <p:spPr>
          <a:xfrm>
            <a:off x="10497240" y="241416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10" b="1" u="none" strike="noStrike">
                <a:solidFill>
                  <a:srgbClr val="1F9D7A"/>
                </a:solidFill>
                <a:effectLst/>
                <a:uFillTx/>
                <a:latin typeface="Aptos"/>
              </a:rPr>
              <a:t>6,9</a:t>
            </a:r>
            <a:endParaRPr lang="fr-FR" sz="710" b="0" u="none" strike="noStrike">
              <a:solidFill>
                <a:srgbClr val="000000"/>
              </a:solidFill>
              <a:effectLst/>
              <a:uFillTx/>
              <a:latin typeface="Arial"/>
            </a:endParaRPr>
          </a:p>
        </p:txBody>
      </p:sp>
      <p:sp>
        <p:nvSpPr>
          <p:cNvPr id="354" name="Text 70"/>
          <p:cNvSpPr/>
          <p:nvPr/>
        </p:nvSpPr>
        <p:spPr>
          <a:xfrm>
            <a:off x="6903720" y="2825640"/>
            <a:ext cx="132552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740" b="0" u="none" strike="noStrike">
                <a:solidFill>
                  <a:srgbClr val="102A36"/>
                </a:solidFill>
                <a:effectLst/>
                <a:uFillTx/>
                <a:latin typeface="Aptos"/>
              </a:rPr>
              <a:t>has_gps</a:t>
            </a:r>
            <a:endParaRPr lang="fr-FR" sz="740" b="0" u="none" strike="noStrike">
              <a:solidFill>
                <a:srgbClr val="000000"/>
              </a:solidFill>
              <a:effectLst/>
              <a:uFillTx/>
              <a:latin typeface="Arial"/>
            </a:endParaRPr>
          </a:p>
        </p:txBody>
      </p:sp>
      <p:sp>
        <p:nvSpPr>
          <p:cNvPr id="355" name="Shape 71"/>
          <p:cNvSpPr/>
          <p:nvPr/>
        </p:nvSpPr>
        <p:spPr>
          <a:xfrm>
            <a:off x="8321040" y="2843640"/>
            <a:ext cx="194760" cy="136800"/>
          </a:xfrm>
          <a:prstGeom prst="rect">
            <a:avLst/>
          </a:prstGeom>
          <a:solidFill>
            <a:srgbClr val="0B3A4A"/>
          </a:solidFill>
          <a:ln w="12700">
            <a:solidFill>
              <a:srgbClr val="0B3A4A"/>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56" name="Text 72"/>
          <p:cNvSpPr/>
          <p:nvPr/>
        </p:nvSpPr>
        <p:spPr>
          <a:xfrm>
            <a:off x="10497240" y="281628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10" b="1" u="none" strike="noStrike">
                <a:solidFill>
                  <a:srgbClr val="0B3A4A"/>
                </a:solidFill>
                <a:effectLst/>
                <a:uFillTx/>
                <a:latin typeface="Aptos"/>
              </a:rPr>
              <a:t>4,2</a:t>
            </a:r>
            <a:endParaRPr lang="fr-FR" sz="710" b="0" u="none" strike="noStrike">
              <a:solidFill>
                <a:srgbClr val="000000"/>
              </a:solidFill>
              <a:effectLst/>
              <a:uFillTx/>
              <a:latin typeface="Arial"/>
            </a:endParaRPr>
          </a:p>
        </p:txBody>
      </p:sp>
      <p:sp>
        <p:nvSpPr>
          <p:cNvPr id="357" name="Text 73"/>
          <p:cNvSpPr/>
          <p:nvPr/>
        </p:nvSpPr>
        <p:spPr>
          <a:xfrm>
            <a:off x="6903720" y="3227760"/>
            <a:ext cx="1325520" cy="182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740" b="0" u="none" strike="noStrike">
                <a:solidFill>
                  <a:srgbClr val="102A36"/>
                </a:solidFill>
                <a:effectLst/>
                <a:uFillTx/>
                <a:latin typeface="Aptos"/>
              </a:rPr>
              <a:t>car_type</a:t>
            </a:r>
            <a:endParaRPr lang="fr-FR" sz="740" b="0" u="none" strike="noStrike">
              <a:solidFill>
                <a:srgbClr val="000000"/>
              </a:solidFill>
              <a:effectLst/>
              <a:uFillTx/>
              <a:latin typeface="Arial"/>
            </a:endParaRPr>
          </a:p>
        </p:txBody>
      </p:sp>
      <p:sp>
        <p:nvSpPr>
          <p:cNvPr id="358" name="Shape 74"/>
          <p:cNvSpPr/>
          <p:nvPr/>
        </p:nvSpPr>
        <p:spPr>
          <a:xfrm>
            <a:off x="8321040" y="3246120"/>
            <a:ext cx="190080" cy="136800"/>
          </a:xfrm>
          <a:prstGeom prst="rect">
            <a:avLst/>
          </a:prstGeom>
          <a:solidFill>
            <a:srgbClr val="E85D75"/>
          </a:solidFill>
          <a:ln w="12700">
            <a:solidFill>
              <a:srgbClr val="E85D75"/>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59" name="Text 75"/>
          <p:cNvSpPr/>
          <p:nvPr/>
        </p:nvSpPr>
        <p:spPr>
          <a:xfrm>
            <a:off x="10497240" y="3218760"/>
            <a:ext cx="566640" cy="1641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710" b="1" u="none" strike="noStrike">
                <a:solidFill>
                  <a:srgbClr val="E85D75"/>
                </a:solidFill>
                <a:effectLst/>
                <a:uFillTx/>
                <a:latin typeface="Aptos"/>
              </a:rPr>
              <a:t>4,1</a:t>
            </a:r>
            <a:endParaRPr lang="fr-FR" sz="710" b="0" u="none" strike="noStrike">
              <a:solidFill>
                <a:srgbClr val="000000"/>
              </a:solidFill>
              <a:effectLst/>
              <a:uFillTx/>
              <a:latin typeface="Arial"/>
            </a:endParaRPr>
          </a:p>
        </p:txBody>
      </p:sp>
      <p:sp>
        <p:nvSpPr>
          <p:cNvPr id="360" name="Text 76"/>
          <p:cNvSpPr/>
          <p:nvPr/>
        </p:nvSpPr>
        <p:spPr>
          <a:xfrm>
            <a:off x="6629400" y="3977640"/>
            <a:ext cx="406872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08E8C"/>
                </a:solidFill>
                <a:effectLst/>
                <a:uFillTx/>
                <a:latin typeface="Aptos"/>
              </a:rPr>
              <a:t>Choix final</a:t>
            </a:r>
            <a:endParaRPr lang="fr-FR" sz="1400" b="0" u="none" strike="noStrike">
              <a:solidFill>
                <a:srgbClr val="000000"/>
              </a:solidFill>
              <a:effectLst/>
              <a:uFillTx/>
              <a:latin typeface="Arial"/>
            </a:endParaRPr>
          </a:p>
        </p:txBody>
      </p:sp>
      <p:sp>
        <p:nvSpPr>
          <p:cNvPr id="361" name="Shape 77"/>
          <p:cNvSpPr/>
          <p:nvPr/>
        </p:nvSpPr>
        <p:spPr>
          <a:xfrm>
            <a:off x="6629400" y="4187880"/>
            <a:ext cx="406872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362" name="Shape 78"/>
          <p:cNvSpPr/>
          <p:nvPr/>
        </p:nvSpPr>
        <p:spPr>
          <a:xfrm>
            <a:off x="6629400" y="4316040"/>
            <a:ext cx="4068720" cy="76788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63" name="Text 79"/>
          <p:cNvSpPr/>
          <p:nvPr/>
        </p:nvSpPr>
        <p:spPr>
          <a:xfrm>
            <a:off x="6739200" y="4489560"/>
            <a:ext cx="3849120" cy="338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FFFFFF"/>
                </a:solidFill>
                <a:effectLst/>
                <a:uFillTx/>
                <a:latin typeface="Aptos"/>
              </a:rPr>
              <a:t>Le RandomForest est retenu pour son niveau de performance et sa robustesse sur données mixtes.</a:t>
            </a:r>
            <a:endParaRPr lang="fr-FR"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Shape 0"/>
          <p:cNvSpPr/>
          <p:nvPr/>
        </p:nvSpPr>
        <p:spPr>
          <a:xfrm>
            <a:off x="36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65"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366"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2000" b="0" u="none" strike="noStrike">
                <a:solidFill>
                  <a:srgbClr val="FFFFFF"/>
                </a:solidFill>
                <a:effectLst/>
                <a:uFillTx/>
                <a:latin typeface="Aptos"/>
              </a:rPr>
              <a:t>Dashboard, API et déploiement</a:t>
            </a:r>
            <a:endParaRPr lang="fr-FR" sz="2000" b="0" u="none" strike="noStrike">
              <a:solidFill>
                <a:srgbClr val="000000"/>
              </a:solidFill>
              <a:effectLst/>
              <a:uFillTx/>
              <a:latin typeface="Arial"/>
            </a:endParaRPr>
          </a:p>
        </p:txBody>
      </p:sp>
      <p:sp>
        <p:nvSpPr>
          <p:cNvPr id="367" name="Text 3"/>
          <p:cNvSpPr/>
          <p:nvPr/>
        </p:nvSpPr>
        <p:spPr>
          <a:xfrm>
            <a:off x="7369920" y="146160"/>
            <a:ext cx="4562640" cy="2008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pPr>
            <a:r>
              <a:rPr lang="fr-FR" sz="1400" b="0" u="none" strike="noStrike">
                <a:solidFill>
                  <a:srgbClr val="F5F5F5"/>
                </a:solidFill>
                <a:effectLst/>
                <a:uFillTx/>
                <a:latin typeface="Aptos"/>
              </a:rPr>
              <a:t>Passer d’une analyse à un service testable et documenté</a:t>
            </a:r>
            <a:endParaRPr lang="fr-FR" sz="1400" b="0" u="none" strike="noStrike">
              <a:solidFill>
                <a:srgbClr val="000000"/>
              </a:solidFill>
              <a:effectLst/>
              <a:uFillTx/>
              <a:latin typeface="Arial"/>
            </a:endParaRPr>
          </a:p>
        </p:txBody>
      </p:sp>
      <p:sp>
        <p:nvSpPr>
          <p:cNvPr id="368"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369"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560" b="0" u="none" strike="noStrike">
                <a:solidFill>
                  <a:srgbClr val="8AA0A8"/>
                </a:solidFill>
                <a:effectLst/>
                <a:uFillTx/>
                <a:latin typeface="Aptos"/>
              </a:rPr>
              <a:t>8</a:t>
            </a:r>
            <a:endParaRPr lang="fr-FR" sz="560" b="0" u="none" strike="noStrike">
              <a:solidFill>
                <a:srgbClr val="000000"/>
              </a:solidFill>
              <a:effectLst/>
              <a:uFillTx/>
              <a:latin typeface="Arial"/>
            </a:endParaRPr>
          </a:p>
        </p:txBody>
      </p:sp>
      <p:sp>
        <p:nvSpPr>
          <p:cNvPr id="370" name="Shape 6"/>
          <p:cNvSpPr/>
          <p:nvPr/>
        </p:nvSpPr>
        <p:spPr>
          <a:xfrm>
            <a:off x="1938240" y="1938240"/>
            <a:ext cx="420840" cy="27432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1" name="Shape 7"/>
          <p:cNvSpPr/>
          <p:nvPr/>
        </p:nvSpPr>
        <p:spPr>
          <a:xfrm>
            <a:off x="3886200" y="1938240"/>
            <a:ext cx="484560" cy="27432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2" name="Shape 8"/>
          <p:cNvSpPr/>
          <p:nvPr/>
        </p:nvSpPr>
        <p:spPr>
          <a:xfrm>
            <a:off x="5806440" y="1938240"/>
            <a:ext cx="484560" cy="27432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3" name="Shape 9"/>
          <p:cNvSpPr/>
          <p:nvPr/>
        </p:nvSpPr>
        <p:spPr>
          <a:xfrm>
            <a:off x="7726680" y="1938240"/>
            <a:ext cx="484560" cy="27432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4" name="Shape 10"/>
          <p:cNvSpPr/>
          <p:nvPr/>
        </p:nvSpPr>
        <p:spPr>
          <a:xfrm>
            <a:off x="9646920" y="1938240"/>
            <a:ext cx="484560" cy="274320"/>
          </a:xfrm>
          <a:prstGeom prst="line">
            <a:avLst/>
          </a:prstGeom>
          <a:ln w="21590">
            <a:solidFill>
              <a:srgbClr val="10B8B6"/>
            </a:solidFill>
            <a:round/>
            <a:tailEnd len="med" type="triangle" w="me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5" name="Shape 11"/>
          <p:cNvSpPr/>
          <p:nvPr/>
        </p:nvSpPr>
        <p:spPr>
          <a:xfrm>
            <a:off x="594360" y="1600200"/>
            <a:ext cx="1298160" cy="6854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6" name="Text 12"/>
          <p:cNvSpPr/>
          <p:nvPr/>
        </p:nvSpPr>
        <p:spPr>
          <a:xfrm>
            <a:off x="667440" y="1710000"/>
            <a:ext cx="1151640" cy="539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fr-FR" sz="1200" b="1" u="none" strike="noStrike">
                <a:solidFill>
                  <a:srgbClr val="102A36"/>
                </a:solidFill>
                <a:effectLst/>
                <a:uFillTx/>
                <a:latin typeface="Aptos"/>
              </a:rPr>
              <a:t>Données</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102A36"/>
                </a:solidFill>
                <a:effectLst/>
                <a:uFillTx/>
                <a:latin typeface="Aptos"/>
              </a:rPr>
              <a:t>retards + prix</a:t>
            </a:r>
            <a:endParaRPr lang="fr-FR" sz="1200" b="0" u="none" strike="noStrike">
              <a:solidFill>
                <a:srgbClr val="000000"/>
              </a:solidFill>
              <a:effectLst/>
              <a:uFillTx/>
              <a:latin typeface="Arial"/>
            </a:endParaRPr>
          </a:p>
        </p:txBody>
      </p:sp>
      <p:sp>
        <p:nvSpPr>
          <p:cNvPr id="377" name="Shape 13"/>
          <p:cNvSpPr/>
          <p:nvPr/>
        </p:nvSpPr>
        <p:spPr>
          <a:xfrm>
            <a:off x="2514600" y="1600200"/>
            <a:ext cx="1298160" cy="6854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78" name="Text 14"/>
          <p:cNvSpPr/>
          <p:nvPr/>
        </p:nvSpPr>
        <p:spPr>
          <a:xfrm>
            <a:off x="2587680" y="1710000"/>
            <a:ext cx="1151640" cy="539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pPr>
            <a:r>
              <a:rPr lang="fr-FR" sz="1200" b="1" u="none" strike="noStrike">
                <a:solidFill>
                  <a:schemeClr val="dk1"/>
                </a:solidFill>
                <a:effectLst/>
                <a:uFillTx/>
                <a:latin typeface="Aptos"/>
              </a:rPr>
              <a:t>Dashboard</a:t>
            </a:r>
            <a:endParaRPr lang="fr-FR" sz="1200" b="0" u="none" strike="noStrike">
              <a:solidFill>
                <a:srgbClr val="000000"/>
              </a:solidFill>
              <a:effectLst/>
              <a:uFillTx/>
              <a:latin typeface="Arial"/>
            </a:endParaRPr>
          </a:p>
          <a:p>
            <a:pPr algn="ctr" defTabSz="914400">
              <a:lnSpc>
                <a:spcPct val="100000"/>
              </a:lnSpc>
            </a:pPr>
            <a:r>
              <a:rPr lang="fr-FR" sz="1200" b="0" u="none" strike="noStrike">
                <a:solidFill>
                  <a:schemeClr val="dk1"/>
                </a:solidFill>
                <a:effectLst/>
                <a:uFillTx/>
                <a:latin typeface="Aptos"/>
              </a:rPr>
              <a:t>Streamlit</a:t>
            </a:r>
            <a:endParaRPr lang="fr-FR" sz="1200" b="0" u="none" strike="noStrike">
              <a:solidFill>
                <a:srgbClr val="000000"/>
              </a:solidFill>
              <a:effectLst/>
              <a:uFillTx/>
              <a:latin typeface="Arial"/>
            </a:endParaRPr>
          </a:p>
        </p:txBody>
      </p:sp>
      <p:sp>
        <p:nvSpPr>
          <p:cNvPr id="379" name="Shape 15"/>
          <p:cNvSpPr/>
          <p:nvPr/>
        </p:nvSpPr>
        <p:spPr>
          <a:xfrm>
            <a:off x="4434840" y="1600200"/>
            <a:ext cx="1298160" cy="6854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80" name="Text 16"/>
          <p:cNvSpPr/>
          <p:nvPr/>
        </p:nvSpPr>
        <p:spPr>
          <a:xfrm>
            <a:off x="4507920" y="1710000"/>
            <a:ext cx="1151640" cy="5392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fr-FR" sz="1200" b="1" u="none" strike="noStrike">
                <a:solidFill>
                  <a:srgbClr val="102A36"/>
                </a:solidFill>
                <a:effectLst/>
                <a:uFillTx/>
                <a:latin typeface="Aptos"/>
              </a:rPr>
              <a:t>Modèle</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102A36"/>
                </a:solidFill>
                <a:effectLst/>
                <a:uFillTx/>
                <a:latin typeface="Aptos"/>
              </a:rPr>
              <a:t>RandomForest</a:t>
            </a:r>
            <a:endParaRPr lang="fr-FR" sz="1200" b="0" u="none" strike="noStrike">
              <a:solidFill>
                <a:srgbClr val="000000"/>
              </a:solidFill>
              <a:effectLst/>
              <a:uFillTx/>
              <a:latin typeface="Arial"/>
            </a:endParaRPr>
          </a:p>
        </p:txBody>
      </p:sp>
      <p:sp>
        <p:nvSpPr>
          <p:cNvPr id="381" name="Shape 17"/>
          <p:cNvSpPr/>
          <p:nvPr/>
        </p:nvSpPr>
        <p:spPr>
          <a:xfrm>
            <a:off x="6355080" y="1600200"/>
            <a:ext cx="1298160" cy="6854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82" name="Text 18"/>
          <p:cNvSpPr/>
          <p:nvPr/>
        </p:nvSpPr>
        <p:spPr>
          <a:xfrm>
            <a:off x="6428160" y="1710000"/>
            <a:ext cx="1151640" cy="539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fr-FR" sz="1200" b="1" u="none" strike="noStrike">
                <a:solidFill>
                  <a:srgbClr val="102A36"/>
                </a:solidFill>
                <a:effectLst/>
                <a:uFillTx/>
                <a:latin typeface="Aptos"/>
              </a:rPr>
              <a:t>API</a:t>
            </a:r>
            <a:endParaRPr lang="fr-FR" sz="1200" b="0" u="none" strike="noStrike">
              <a:solidFill>
                <a:srgbClr val="000000"/>
              </a:solidFill>
              <a:effectLst/>
              <a:uFillTx/>
              <a:latin typeface="Arial"/>
            </a:endParaRPr>
          </a:p>
          <a:p>
            <a:pPr algn="ctr" defTabSz="914400">
              <a:lnSpc>
                <a:spcPct val="100000"/>
              </a:lnSpc>
              <a:tabLst>
                <a:tab pos="0" algn="l"/>
              </a:tabLst>
            </a:pPr>
            <a:r>
              <a:rPr lang="fr-FR" sz="1200" b="1" u="none" strike="noStrike">
                <a:solidFill>
                  <a:srgbClr val="102A36"/>
                </a:solidFill>
                <a:effectLst/>
                <a:uFillTx/>
                <a:latin typeface="Aptos"/>
              </a:rPr>
              <a:t>FastAPI</a:t>
            </a:r>
            <a:endParaRPr lang="fr-FR" sz="1200" b="0" u="none" strike="noStrike">
              <a:solidFill>
                <a:srgbClr val="000000"/>
              </a:solidFill>
              <a:effectLst/>
              <a:uFillTx/>
              <a:latin typeface="Arial"/>
            </a:endParaRPr>
          </a:p>
        </p:txBody>
      </p:sp>
      <p:sp>
        <p:nvSpPr>
          <p:cNvPr id="383" name="Shape 19"/>
          <p:cNvSpPr/>
          <p:nvPr/>
        </p:nvSpPr>
        <p:spPr>
          <a:xfrm>
            <a:off x="8275320" y="1600200"/>
            <a:ext cx="1298160" cy="68544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84" name="Text 20"/>
          <p:cNvSpPr/>
          <p:nvPr/>
        </p:nvSpPr>
        <p:spPr>
          <a:xfrm>
            <a:off x="8348400" y="1710000"/>
            <a:ext cx="1151640" cy="539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pPr>
            <a:r>
              <a:rPr lang="fr-FR" sz="1200" b="1" u="none" strike="noStrike">
                <a:solidFill>
                  <a:schemeClr val="dk1"/>
                </a:solidFill>
                <a:effectLst/>
                <a:uFillTx/>
                <a:latin typeface="Aptos"/>
              </a:rPr>
              <a:t>Docs interactives</a:t>
            </a:r>
            <a:endParaRPr lang="fr-FR" sz="1200" b="0" u="none" strike="noStrike">
              <a:solidFill>
                <a:srgbClr val="000000"/>
              </a:solidFill>
              <a:effectLst/>
              <a:uFillTx/>
              <a:latin typeface="Arial"/>
            </a:endParaRPr>
          </a:p>
          <a:p>
            <a:pPr algn="ctr" defTabSz="914400">
              <a:lnSpc>
                <a:spcPct val="100000"/>
              </a:lnSpc>
            </a:pPr>
            <a:r>
              <a:rPr lang="fr-FR" sz="1200" b="0" u="none" strike="noStrike">
                <a:solidFill>
                  <a:schemeClr val="dk1"/>
                </a:solidFill>
                <a:effectLst/>
                <a:uFillTx/>
                <a:latin typeface="Aptos"/>
              </a:rPr>
              <a:t>/docs</a:t>
            </a:r>
            <a:endParaRPr lang="fr-FR" sz="1200" b="0" u="none" strike="noStrike">
              <a:solidFill>
                <a:srgbClr val="000000"/>
              </a:solidFill>
              <a:effectLst/>
              <a:uFillTx/>
              <a:latin typeface="Arial"/>
            </a:endParaRPr>
          </a:p>
        </p:txBody>
      </p:sp>
      <p:sp>
        <p:nvSpPr>
          <p:cNvPr id="385" name="Shape 21"/>
          <p:cNvSpPr/>
          <p:nvPr/>
        </p:nvSpPr>
        <p:spPr>
          <a:xfrm>
            <a:off x="10195560" y="1600200"/>
            <a:ext cx="1298160" cy="685440"/>
          </a:xfrm>
          <a:prstGeom prst="rect">
            <a:avLst/>
          </a:prstGeom>
          <a:solidFill>
            <a:srgbClr val="082E3E"/>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86" name="Text 22"/>
          <p:cNvSpPr/>
          <p:nvPr/>
        </p:nvSpPr>
        <p:spPr>
          <a:xfrm>
            <a:off x="10268640" y="1710000"/>
            <a:ext cx="1151640" cy="539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pPr>
            <a:r>
              <a:rPr lang="fr-FR" sz="1200" b="1" u="none" strike="noStrike">
                <a:solidFill>
                  <a:schemeClr val="dk1"/>
                </a:solidFill>
                <a:effectLst/>
                <a:uFillTx/>
                <a:latin typeface="Aptos"/>
              </a:rPr>
              <a:t>Repo</a:t>
            </a:r>
            <a:endParaRPr lang="fr-FR" sz="1200" b="0" u="none" strike="noStrike">
              <a:solidFill>
                <a:srgbClr val="000000"/>
              </a:solidFill>
              <a:effectLst/>
              <a:uFillTx/>
              <a:latin typeface="Arial"/>
            </a:endParaRPr>
          </a:p>
          <a:p>
            <a:pPr algn="ctr" defTabSz="914400">
              <a:lnSpc>
                <a:spcPct val="100000"/>
              </a:lnSpc>
            </a:pPr>
            <a:r>
              <a:rPr lang="fr-FR" sz="1200" b="0" u="none" strike="noStrike">
                <a:solidFill>
                  <a:schemeClr val="dk1"/>
                </a:solidFill>
                <a:effectLst/>
                <a:uFillTx/>
                <a:latin typeface="Aptos"/>
              </a:rPr>
              <a:t>GitHub</a:t>
            </a:r>
            <a:endParaRPr lang="fr-FR" sz="1200" b="0" u="none" strike="noStrike">
              <a:solidFill>
                <a:srgbClr val="000000"/>
              </a:solidFill>
              <a:effectLst/>
              <a:uFillTx/>
              <a:latin typeface="Arial"/>
            </a:endParaRPr>
          </a:p>
        </p:txBody>
      </p:sp>
      <p:sp>
        <p:nvSpPr>
          <p:cNvPr id="387" name="Text 23"/>
          <p:cNvSpPr/>
          <p:nvPr/>
        </p:nvSpPr>
        <p:spPr>
          <a:xfrm>
            <a:off x="685800" y="3063240"/>
            <a:ext cx="448020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008E8C"/>
                </a:solidFill>
                <a:effectLst/>
                <a:uFillTx/>
                <a:latin typeface="Aptos"/>
              </a:rPr>
              <a:t>Endpoints exposés</a:t>
            </a:r>
            <a:endParaRPr lang="fr-FR" sz="2000" b="0" u="none" strike="noStrike">
              <a:solidFill>
                <a:srgbClr val="000000"/>
              </a:solidFill>
              <a:effectLst/>
              <a:uFillTx/>
              <a:latin typeface="Arial"/>
            </a:endParaRPr>
          </a:p>
        </p:txBody>
      </p:sp>
      <p:sp>
        <p:nvSpPr>
          <p:cNvPr id="388" name="Shape 24"/>
          <p:cNvSpPr/>
          <p:nvPr/>
        </p:nvSpPr>
        <p:spPr>
          <a:xfrm>
            <a:off x="685800" y="3273480"/>
            <a:ext cx="448020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389" name="Shape 25"/>
          <p:cNvSpPr/>
          <p:nvPr/>
        </p:nvSpPr>
        <p:spPr>
          <a:xfrm>
            <a:off x="685800" y="3502080"/>
            <a:ext cx="1371240" cy="31068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90" name="Text 26"/>
          <p:cNvSpPr/>
          <p:nvPr/>
        </p:nvSpPr>
        <p:spPr>
          <a:xfrm>
            <a:off x="740520" y="3557160"/>
            <a:ext cx="126144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1" u="none" strike="noStrike">
                <a:solidFill>
                  <a:srgbClr val="FFFFFF"/>
                </a:solidFill>
                <a:effectLst/>
                <a:uFillTx/>
                <a:latin typeface="Aptos"/>
              </a:rPr>
              <a:t>Route</a:t>
            </a:r>
            <a:endParaRPr lang="fr-FR" sz="1200" b="0" u="none" strike="noStrike">
              <a:solidFill>
                <a:srgbClr val="000000"/>
              </a:solidFill>
              <a:effectLst/>
              <a:uFillTx/>
              <a:latin typeface="Arial"/>
            </a:endParaRPr>
          </a:p>
        </p:txBody>
      </p:sp>
      <p:sp>
        <p:nvSpPr>
          <p:cNvPr id="391" name="Shape 27"/>
          <p:cNvSpPr/>
          <p:nvPr/>
        </p:nvSpPr>
        <p:spPr>
          <a:xfrm>
            <a:off x="2057400" y="3502080"/>
            <a:ext cx="3108600" cy="310680"/>
          </a:xfrm>
          <a:prstGeom prst="rect">
            <a:avLst/>
          </a:prstGeom>
          <a:solidFill>
            <a:srgbClr val="082E3E"/>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92" name="Text 28"/>
          <p:cNvSpPr/>
          <p:nvPr/>
        </p:nvSpPr>
        <p:spPr>
          <a:xfrm>
            <a:off x="2112120" y="3557160"/>
            <a:ext cx="299880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1" u="none" strike="noStrike">
                <a:solidFill>
                  <a:srgbClr val="FFFFFF"/>
                </a:solidFill>
                <a:effectLst/>
                <a:uFillTx/>
                <a:latin typeface="Aptos"/>
              </a:rPr>
              <a:t>Usage</a:t>
            </a:r>
            <a:endParaRPr lang="fr-FR" sz="1200" b="0" u="none" strike="noStrike">
              <a:solidFill>
                <a:srgbClr val="000000"/>
              </a:solidFill>
              <a:effectLst/>
              <a:uFillTx/>
              <a:latin typeface="Arial"/>
            </a:endParaRPr>
          </a:p>
        </p:txBody>
      </p:sp>
      <p:sp>
        <p:nvSpPr>
          <p:cNvPr id="393" name="Shape 29"/>
          <p:cNvSpPr/>
          <p:nvPr/>
        </p:nvSpPr>
        <p:spPr>
          <a:xfrm>
            <a:off x="685800" y="3813120"/>
            <a:ext cx="137124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94" name="Text 30"/>
          <p:cNvSpPr/>
          <p:nvPr/>
        </p:nvSpPr>
        <p:spPr>
          <a:xfrm>
            <a:off x="740520" y="3867840"/>
            <a:ext cx="126144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GET /health</a:t>
            </a:r>
            <a:endParaRPr lang="fr-FR" sz="1200" b="0" u="none" strike="noStrike">
              <a:solidFill>
                <a:srgbClr val="000000"/>
              </a:solidFill>
              <a:effectLst/>
              <a:uFillTx/>
              <a:latin typeface="Arial"/>
            </a:endParaRPr>
          </a:p>
        </p:txBody>
      </p:sp>
      <p:sp>
        <p:nvSpPr>
          <p:cNvPr id="395" name="Shape 31"/>
          <p:cNvSpPr/>
          <p:nvPr/>
        </p:nvSpPr>
        <p:spPr>
          <a:xfrm>
            <a:off x="2057400" y="3813120"/>
            <a:ext cx="310860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96" name="Text 32"/>
          <p:cNvSpPr/>
          <p:nvPr/>
        </p:nvSpPr>
        <p:spPr>
          <a:xfrm>
            <a:off x="2112120" y="3867840"/>
            <a:ext cx="299880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contrôle simple du service</a:t>
            </a:r>
            <a:endParaRPr lang="fr-FR" sz="1200" b="0" u="none" strike="noStrike">
              <a:solidFill>
                <a:srgbClr val="000000"/>
              </a:solidFill>
              <a:effectLst/>
              <a:uFillTx/>
              <a:latin typeface="Arial"/>
            </a:endParaRPr>
          </a:p>
        </p:txBody>
      </p:sp>
      <p:sp>
        <p:nvSpPr>
          <p:cNvPr id="397" name="Shape 33"/>
          <p:cNvSpPr/>
          <p:nvPr/>
        </p:nvSpPr>
        <p:spPr>
          <a:xfrm>
            <a:off x="685800" y="4123800"/>
            <a:ext cx="137124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398" name="Text 34"/>
          <p:cNvSpPr/>
          <p:nvPr/>
        </p:nvSpPr>
        <p:spPr>
          <a:xfrm>
            <a:off x="740520" y="4178880"/>
            <a:ext cx="126144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GET /metadata</a:t>
            </a:r>
            <a:endParaRPr lang="fr-FR" sz="1200" b="0" u="none" strike="noStrike">
              <a:solidFill>
                <a:srgbClr val="000000"/>
              </a:solidFill>
              <a:effectLst/>
              <a:uFillTx/>
              <a:latin typeface="Arial"/>
            </a:endParaRPr>
          </a:p>
        </p:txBody>
      </p:sp>
      <p:sp>
        <p:nvSpPr>
          <p:cNvPr id="399" name="Shape 35"/>
          <p:cNvSpPr/>
          <p:nvPr/>
        </p:nvSpPr>
        <p:spPr>
          <a:xfrm>
            <a:off x="2057400" y="4123800"/>
            <a:ext cx="310860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00" name="Text 36"/>
          <p:cNvSpPr/>
          <p:nvPr/>
        </p:nvSpPr>
        <p:spPr>
          <a:xfrm>
            <a:off x="2112120" y="4178880"/>
            <a:ext cx="299880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variables attendues et métriques</a:t>
            </a:r>
            <a:endParaRPr lang="fr-FR" sz="1200" b="0" u="none" strike="noStrike">
              <a:solidFill>
                <a:srgbClr val="000000"/>
              </a:solidFill>
              <a:effectLst/>
              <a:uFillTx/>
              <a:latin typeface="Arial"/>
            </a:endParaRPr>
          </a:p>
        </p:txBody>
      </p:sp>
      <p:sp>
        <p:nvSpPr>
          <p:cNvPr id="401" name="Shape 37"/>
          <p:cNvSpPr/>
          <p:nvPr/>
        </p:nvSpPr>
        <p:spPr>
          <a:xfrm>
            <a:off x="685800" y="4434840"/>
            <a:ext cx="137124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02" name="Text 38"/>
          <p:cNvSpPr/>
          <p:nvPr/>
        </p:nvSpPr>
        <p:spPr>
          <a:xfrm>
            <a:off x="740520" y="4489560"/>
            <a:ext cx="126144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POST /predict</a:t>
            </a:r>
            <a:endParaRPr lang="fr-FR" sz="1200" b="0" u="none" strike="noStrike">
              <a:solidFill>
                <a:srgbClr val="000000"/>
              </a:solidFill>
              <a:effectLst/>
              <a:uFillTx/>
              <a:latin typeface="Arial"/>
            </a:endParaRPr>
          </a:p>
        </p:txBody>
      </p:sp>
      <p:sp>
        <p:nvSpPr>
          <p:cNvPr id="403" name="Shape 39"/>
          <p:cNvSpPr/>
          <p:nvPr/>
        </p:nvSpPr>
        <p:spPr>
          <a:xfrm>
            <a:off x="2057400" y="4434840"/>
            <a:ext cx="310860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04" name="Text 40"/>
          <p:cNvSpPr/>
          <p:nvPr/>
        </p:nvSpPr>
        <p:spPr>
          <a:xfrm>
            <a:off x="2112120" y="4489560"/>
            <a:ext cx="299880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prédiction du prix journalier</a:t>
            </a:r>
            <a:endParaRPr lang="fr-FR" sz="1200" b="0" u="none" strike="noStrike">
              <a:solidFill>
                <a:srgbClr val="000000"/>
              </a:solidFill>
              <a:effectLst/>
              <a:uFillTx/>
              <a:latin typeface="Arial"/>
            </a:endParaRPr>
          </a:p>
        </p:txBody>
      </p:sp>
      <p:sp>
        <p:nvSpPr>
          <p:cNvPr id="405" name="Shape 41"/>
          <p:cNvSpPr/>
          <p:nvPr/>
        </p:nvSpPr>
        <p:spPr>
          <a:xfrm>
            <a:off x="685800" y="4745880"/>
            <a:ext cx="137124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06" name="Text 42"/>
          <p:cNvSpPr/>
          <p:nvPr/>
        </p:nvSpPr>
        <p:spPr>
          <a:xfrm>
            <a:off x="740520" y="4800600"/>
            <a:ext cx="126144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GET /docs</a:t>
            </a:r>
            <a:endParaRPr lang="fr-FR" sz="1200" b="0" u="none" strike="noStrike">
              <a:solidFill>
                <a:srgbClr val="000000"/>
              </a:solidFill>
              <a:effectLst/>
              <a:uFillTx/>
              <a:latin typeface="Arial"/>
            </a:endParaRPr>
          </a:p>
        </p:txBody>
      </p:sp>
      <p:sp>
        <p:nvSpPr>
          <p:cNvPr id="407" name="Shape 43"/>
          <p:cNvSpPr/>
          <p:nvPr/>
        </p:nvSpPr>
        <p:spPr>
          <a:xfrm>
            <a:off x="2057400" y="4745880"/>
            <a:ext cx="3108600" cy="310680"/>
          </a:xfrm>
          <a:prstGeom prst="rect">
            <a:avLst/>
          </a:prstGeom>
          <a:solidFill>
            <a:srgbClr val="FFFFFF"/>
          </a:solidFill>
          <a:ln w="12700">
            <a:solidFill>
              <a:srgbClr val="D7E4E7"/>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08" name="Text 44"/>
          <p:cNvSpPr/>
          <p:nvPr/>
        </p:nvSpPr>
        <p:spPr>
          <a:xfrm>
            <a:off x="2112120" y="4800600"/>
            <a:ext cx="2998800" cy="237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1200" b="0" u="none" strike="noStrike">
                <a:solidFill>
                  <a:srgbClr val="102A36"/>
                </a:solidFill>
                <a:effectLst/>
                <a:uFillTx/>
                <a:latin typeface="Aptos"/>
              </a:rPr>
              <a:t>documentation interactive FastAPI</a:t>
            </a:r>
            <a:endParaRPr lang="fr-FR" sz="1200" b="0" u="none" strike="noStrike">
              <a:solidFill>
                <a:srgbClr val="000000"/>
              </a:solidFill>
              <a:effectLst/>
              <a:uFillTx/>
              <a:latin typeface="Arial"/>
            </a:endParaRPr>
          </a:p>
        </p:txBody>
      </p:sp>
      <p:sp>
        <p:nvSpPr>
          <p:cNvPr id="409" name="Text 45"/>
          <p:cNvSpPr/>
          <p:nvPr/>
        </p:nvSpPr>
        <p:spPr>
          <a:xfrm>
            <a:off x="6492240" y="3063240"/>
            <a:ext cx="443448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1800" b="0" u="none" strike="noStrike">
                <a:solidFill>
                  <a:schemeClr val="dk1"/>
                </a:solidFill>
                <a:effectLst/>
                <a:uFillTx/>
                <a:latin typeface="Aptos"/>
              </a:rPr>
              <a:t>Chaîne technique</a:t>
            </a:r>
            <a:endParaRPr lang="fr-FR" sz="1800" b="0" u="none" strike="noStrike">
              <a:solidFill>
                <a:srgbClr val="000000"/>
              </a:solidFill>
              <a:effectLst/>
              <a:uFillTx/>
              <a:latin typeface="Arial"/>
            </a:endParaRPr>
          </a:p>
        </p:txBody>
      </p:sp>
      <p:sp>
        <p:nvSpPr>
          <p:cNvPr id="410" name="Shape 46"/>
          <p:cNvSpPr/>
          <p:nvPr/>
        </p:nvSpPr>
        <p:spPr>
          <a:xfrm>
            <a:off x="6492240" y="3273480"/>
            <a:ext cx="443448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11" name="Text 47"/>
          <p:cNvSpPr/>
          <p:nvPr/>
        </p:nvSpPr>
        <p:spPr>
          <a:xfrm>
            <a:off x="6629400" y="3493080"/>
            <a:ext cx="41144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42837"/>
                </a:solidFill>
                <a:effectLst/>
                <a:uFillTx/>
                <a:latin typeface="Aptos"/>
              </a:rPr>
              <a:t>Dashboard produit via Streamlit</a:t>
            </a:r>
            <a:endParaRPr lang="fr-FR" sz="1200" b="0" u="none" strike="noStrike">
              <a:solidFill>
                <a:srgbClr val="000000"/>
              </a:solidFill>
              <a:effectLst/>
              <a:uFillTx/>
              <a:latin typeface="Arial"/>
            </a:endParaRPr>
          </a:p>
        </p:txBody>
      </p:sp>
      <p:sp>
        <p:nvSpPr>
          <p:cNvPr id="412" name="Text 48"/>
          <p:cNvSpPr/>
          <p:nvPr/>
        </p:nvSpPr>
        <p:spPr>
          <a:xfrm>
            <a:off x="6629400" y="3749040"/>
            <a:ext cx="41144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42837"/>
                </a:solidFill>
                <a:effectLst/>
                <a:uFillTx/>
                <a:latin typeface="Aptos"/>
              </a:rPr>
              <a:t>Service de prédiction via FastAPI</a:t>
            </a:r>
            <a:endParaRPr lang="fr-FR" sz="1200" b="0" u="none" strike="noStrike">
              <a:solidFill>
                <a:srgbClr val="000000"/>
              </a:solidFill>
              <a:effectLst/>
              <a:uFillTx/>
              <a:latin typeface="Arial"/>
            </a:endParaRPr>
          </a:p>
        </p:txBody>
      </p:sp>
      <p:sp>
        <p:nvSpPr>
          <p:cNvPr id="413" name="Text 49"/>
          <p:cNvSpPr/>
          <p:nvPr/>
        </p:nvSpPr>
        <p:spPr>
          <a:xfrm>
            <a:off x="6629400" y="4005000"/>
            <a:ext cx="41144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42837"/>
                </a:solidFill>
                <a:effectLst/>
                <a:uFillTx/>
                <a:latin typeface="Aptos"/>
              </a:rPr>
              <a:t>Documentation interactive via /docs</a:t>
            </a:r>
            <a:endParaRPr lang="fr-FR" sz="1200" b="0" u="none" strike="noStrike">
              <a:solidFill>
                <a:srgbClr val="000000"/>
              </a:solidFill>
              <a:effectLst/>
              <a:uFillTx/>
              <a:latin typeface="Arial"/>
            </a:endParaRPr>
          </a:p>
        </p:txBody>
      </p:sp>
      <p:sp>
        <p:nvSpPr>
          <p:cNvPr id="414" name="Text 50"/>
          <p:cNvSpPr/>
          <p:nvPr/>
        </p:nvSpPr>
        <p:spPr>
          <a:xfrm>
            <a:off x="6629400" y="4260960"/>
            <a:ext cx="41144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42837"/>
                </a:solidFill>
                <a:effectLst/>
                <a:uFillTx/>
                <a:latin typeface="Aptos"/>
              </a:rPr>
              <a:t>Tests et packaging Docker</a:t>
            </a:r>
            <a:endParaRPr lang="fr-FR" sz="1200" b="0" u="none" strike="noStrike">
              <a:solidFill>
                <a:srgbClr val="000000"/>
              </a:solidFill>
              <a:effectLst/>
              <a:uFillTx/>
              <a:latin typeface="Arial"/>
            </a:endParaRPr>
          </a:p>
        </p:txBody>
      </p:sp>
      <p:sp>
        <p:nvSpPr>
          <p:cNvPr id="415" name="Text 51"/>
          <p:cNvSpPr/>
          <p:nvPr/>
        </p:nvSpPr>
        <p:spPr>
          <a:xfrm>
            <a:off x="6629400" y="4517280"/>
            <a:ext cx="411444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42837"/>
                </a:solidFill>
                <a:effectLst/>
                <a:uFillTx/>
                <a:latin typeface="Aptos"/>
              </a:rPr>
              <a:t>Dépôt GitHub lisible et reproductible</a:t>
            </a:r>
            <a:endParaRPr lang="fr-FR" sz="1200" b="0" u="none" strike="noStrike">
              <a:solidFill>
                <a:srgbClr val="000000"/>
              </a:solidFill>
              <a:effectLst/>
              <a:uFillTx/>
              <a:latin typeface="Arial"/>
            </a:endParaRPr>
          </a:p>
        </p:txBody>
      </p:sp>
      <p:sp>
        <p:nvSpPr>
          <p:cNvPr id="416" name="Shape 52"/>
          <p:cNvSpPr/>
          <p:nvPr/>
        </p:nvSpPr>
        <p:spPr>
          <a:xfrm>
            <a:off x="6459840" y="5040000"/>
            <a:ext cx="4563720" cy="900000"/>
          </a:xfrm>
          <a:prstGeom prst="rect">
            <a:avLst/>
          </a:prstGeom>
          <a:solidFill>
            <a:srgbClr val="083E50"/>
          </a:solidFill>
          <a:ln w="12700">
            <a:noFill/>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17" name="Text 53"/>
          <p:cNvSpPr/>
          <p:nvPr/>
        </p:nvSpPr>
        <p:spPr>
          <a:xfrm>
            <a:off x="6639840" y="5289840"/>
            <a:ext cx="4089600" cy="3394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fr-FR" sz="1600" b="0" u="none" strike="noStrike">
                <a:solidFill>
                  <a:srgbClr val="FFFFFF"/>
                </a:solidFill>
                <a:effectLst/>
                <a:uFillTx/>
                <a:latin typeface="Aptos"/>
              </a:rPr>
              <a:t>Le projet dépasse le notebook : il devient un service testable et documenté.</a:t>
            </a:r>
            <a:endParaRPr lang="fr-FR"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Shape 0"/>
          <p:cNvSpPr/>
          <p:nvPr/>
        </p:nvSpPr>
        <p:spPr>
          <a:xfrm>
            <a:off x="0" y="1152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19"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420"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FFFFFF"/>
                </a:solidFill>
                <a:effectLst/>
                <a:uFillTx/>
                <a:latin typeface="Aptos Display"/>
                <a:ea typeface="Aptos Display"/>
              </a:rPr>
              <a:t>Interprétation métier et limites</a:t>
            </a:r>
            <a:endParaRPr lang="fr-FR" sz="2000" b="0" u="none" strike="noStrike">
              <a:solidFill>
                <a:srgbClr val="000000"/>
              </a:solidFill>
              <a:effectLst/>
              <a:uFillTx/>
              <a:latin typeface="Arial"/>
            </a:endParaRPr>
          </a:p>
        </p:txBody>
      </p:sp>
      <p:sp>
        <p:nvSpPr>
          <p:cNvPr id="421" name="Text 3"/>
          <p:cNvSpPr/>
          <p:nvPr/>
        </p:nvSpPr>
        <p:spPr>
          <a:xfrm>
            <a:off x="6914520" y="146160"/>
            <a:ext cx="5039280" cy="150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400" b="0" u="none" strike="noStrike">
                <a:solidFill>
                  <a:srgbClr val="D9F6F6"/>
                </a:solidFill>
                <a:effectLst/>
                <a:uFillTx/>
                <a:latin typeface="Aptos"/>
                <a:ea typeface="Aptos"/>
              </a:rPr>
              <a:t>Une recommandation exploitable, mais à valider en production</a:t>
            </a:r>
            <a:endParaRPr lang="fr-FR" sz="1400" b="0" u="none" strike="noStrike">
              <a:solidFill>
                <a:srgbClr val="000000"/>
              </a:solidFill>
              <a:effectLst/>
              <a:uFillTx/>
              <a:latin typeface="Arial"/>
            </a:endParaRPr>
          </a:p>
        </p:txBody>
      </p:sp>
      <p:sp>
        <p:nvSpPr>
          <p:cNvPr id="422"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423"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560" b="0" u="none" strike="noStrike">
                <a:solidFill>
                  <a:srgbClr val="8AA0A8"/>
                </a:solidFill>
                <a:effectLst/>
                <a:uFillTx/>
                <a:latin typeface="Aptos"/>
              </a:rPr>
              <a:t>9</a:t>
            </a:r>
            <a:endParaRPr lang="fr-FR" sz="560" b="0" u="none" strike="noStrike">
              <a:solidFill>
                <a:srgbClr val="000000"/>
              </a:solidFill>
              <a:effectLst/>
              <a:uFillTx/>
              <a:latin typeface="Arial"/>
            </a:endParaRPr>
          </a:p>
        </p:txBody>
      </p:sp>
      <p:sp>
        <p:nvSpPr>
          <p:cNvPr id="424" name="Text 6"/>
          <p:cNvSpPr/>
          <p:nvPr/>
        </p:nvSpPr>
        <p:spPr>
          <a:xfrm>
            <a:off x="685800" y="914400"/>
            <a:ext cx="45716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08E8C"/>
                </a:solidFill>
                <a:effectLst/>
                <a:uFillTx/>
                <a:latin typeface="Aptos"/>
              </a:rPr>
              <a:t>Décision éclairée par l’analyse</a:t>
            </a:r>
            <a:endParaRPr lang="fr-FR" sz="1600" b="0" u="none" strike="noStrike">
              <a:solidFill>
                <a:srgbClr val="000000"/>
              </a:solidFill>
              <a:effectLst/>
              <a:uFillTx/>
              <a:latin typeface="Arial"/>
            </a:endParaRPr>
          </a:p>
        </p:txBody>
      </p:sp>
      <p:sp>
        <p:nvSpPr>
          <p:cNvPr id="425" name="Shape 7"/>
          <p:cNvSpPr/>
          <p:nvPr/>
        </p:nvSpPr>
        <p:spPr>
          <a:xfrm>
            <a:off x="685800" y="1124640"/>
            <a:ext cx="45716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26" name="Text 8"/>
          <p:cNvSpPr/>
          <p:nvPr/>
        </p:nvSpPr>
        <p:spPr>
          <a:xfrm>
            <a:off x="822960" y="1353240"/>
            <a:ext cx="4388760" cy="20088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pPr>
            <a:r>
              <a:rPr lang="fr-FR" sz="1200" b="0" u="none" strike="noStrike">
                <a:solidFill>
                  <a:srgbClr val="102A36"/>
                </a:solidFill>
                <a:effectLst/>
                <a:uFillTx/>
                <a:latin typeface="Aptos"/>
              </a:rPr>
              <a:t>la règle de 120 minutes traite la majorité des cas problématiques ;</a:t>
            </a:r>
            <a:endParaRPr lang="fr-FR" sz="1200" b="0" u="none" strike="noStrike">
              <a:solidFill>
                <a:srgbClr val="000000"/>
              </a:solidFill>
              <a:effectLst/>
              <a:uFillTx/>
              <a:latin typeface="Arial"/>
            </a:endParaRPr>
          </a:p>
        </p:txBody>
      </p:sp>
      <p:sp>
        <p:nvSpPr>
          <p:cNvPr id="427" name="Text 9"/>
          <p:cNvSpPr/>
          <p:nvPr/>
        </p:nvSpPr>
        <p:spPr>
          <a:xfrm>
            <a:off x="822960" y="1654920"/>
            <a:ext cx="4388760" cy="20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fr-FR" sz="1200" b="0" u="none" strike="noStrike">
                <a:solidFill>
                  <a:srgbClr val="102A36"/>
                </a:solidFill>
                <a:effectLst/>
                <a:uFillTx/>
                <a:latin typeface="Aptos"/>
              </a:rPr>
              <a:t>l’impact reste limité à 3,1 % des locations ;</a:t>
            </a:r>
            <a:endParaRPr lang="fr-FR" sz="1200" b="0" u="none" strike="noStrike">
              <a:solidFill>
                <a:srgbClr val="000000"/>
              </a:solidFill>
              <a:effectLst/>
              <a:uFillTx/>
              <a:latin typeface="Arial"/>
            </a:endParaRPr>
          </a:p>
        </p:txBody>
      </p:sp>
      <p:sp>
        <p:nvSpPr>
          <p:cNvPr id="428" name="Text 10"/>
          <p:cNvSpPr/>
          <p:nvPr/>
        </p:nvSpPr>
        <p:spPr>
          <a:xfrm>
            <a:off x="822960" y="1956960"/>
            <a:ext cx="4388760" cy="20088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02A36"/>
                </a:solidFill>
                <a:effectLst/>
                <a:uFillTx/>
                <a:latin typeface="Aptos"/>
              </a:rPr>
              <a:t>la recommandation est plus complète qu’un ciblage Connect uniquement ;</a:t>
            </a:r>
            <a:endParaRPr lang="fr-FR" sz="1200" b="0" u="none" strike="noStrike">
              <a:solidFill>
                <a:srgbClr val="000000"/>
              </a:solidFill>
              <a:effectLst/>
              <a:uFillTx/>
              <a:latin typeface="Arial"/>
            </a:endParaRPr>
          </a:p>
        </p:txBody>
      </p:sp>
      <p:sp>
        <p:nvSpPr>
          <p:cNvPr id="429" name="Text 11"/>
          <p:cNvSpPr/>
          <p:nvPr/>
        </p:nvSpPr>
        <p:spPr>
          <a:xfrm>
            <a:off x="822960" y="2258640"/>
            <a:ext cx="4388760" cy="20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fr-FR" sz="1200" b="0" u="none" strike="noStrike">
                <a:solidFill>
                  <a:srgbClr val="102A36"/>
                </a:solidFill>
                <a:effectLst/>
                <a:uFillTx/>
                <a:latin typeface="Aptos"/>
              </a:rPr>
              <a:t>le pricing est transformé en service API testable.</a:t>
            </a:r>
            <a:endParaRPr lang="fr-FR" sz="1200" b="0" u="none" strike="noStrike">
              <a:solidFill>
                <a:srgbClr val="000000"/>
              </a:solidFill>
              <a:effectLst/>
              <a:uFillTx/>
              <a:latin typeface="Arial"/>
            </a:endParaRPr>
          </a:p>
        </p:txBody>
      </p:sp>
      <p:sp>
        <p:nvSpPr>
          <p:cNvPr id="430" name="Text 12"/>
          <p:cNvSpPr/>
          <p:nvPr/>
        </p:nvSpPr>
        <p:spPr>
          <a:xfrm>
            <a:off x="6400800" y="914400"/>
            <a:ext cx="438876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08E8C"/>
                </a:solidFill>
                <a:effectLst/>
                <a:uFillTx/>
                <a:latin typeface="Aptos"/>
              </a:rPr>
              <a:t>Limites à reconnaître</a:t>
            </a:r>
            <a:endParaRPr lang="fr-FR" sz="1600" b="0" u="none" strike="noStrike">
              <a:solidFill>
                <a:srgbClr val="000000"/>
              </a:solidFill>
              <a:effectLst/>
              <a:uFillTx/>
              <a:latin typeface="Arial"/>
            </a:endParaRPr>
          </a:p>
        </p:txBody>
      </p:sp>
      <p:sp>
        <p:nvSpPr>
          <p:cNvPr id="431" name="Shape 13"/>
          <p:cNvSpPr/>
          <p:nvPr/>
        </p:nvSpPr>
        <p:spPr>
          <a:xfrm>
            <a:off x="6400800" y="1124640"/>
            <a:ext cx="438876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32" name="Text 14"/>
          <p:cNvSpPr/>
          <p:nvPr/>
        </p:nvSpPr>
        <p:spPr>
          <a:xfrm>
            <a:off x="6537960" y="1353240"/>
            <a:ext cx="4114440" cy="20088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pPr>
            <a:r>
              <a:rPr lang="fr-FR" sz="1200" b="0" u="none" strike="noStrike">
                <a:solidFill>
                  <a:srgbClr val="102A36"/>
                </a:solidFill>
                <a:effectLst/>
                <a:uFillTx/>
                <a:latin typeface="Aptos"/>
              </a:rPr>
              <a:t>pas de chiffre d’affaires direct dans le dataset retards ;</a:t>
            </a:r>
            <a:endParaRPr lang="fr-FR" sz="1200" b="0" u="none" strike="noStrike">
              <a:solidFill>
                <a:srgbClr val="000000"/>
              </a:solidFill>
              <a:effectLst/>
              <a:uFillTx/>
              <a:latin typeface="Arial"/>
            </a:endParaRPr>
          </a:p>
        </p:txBody>
      </p:sp>
      <p:sp>
        <p:nvSpPr>
          <p:cNvPr id="433" name="Text 15"/>
          <p:cNvSpPr/>
          <p:nvPr/>
        </p:nvSpPr>
        <p:spPr>
          <a:xfrm>
            <a:off x="6537960" y="1654920"/>
            <a:ext cx="4114440" cy="20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fr-FR" sz="1200" b="0" u="none" strike="noStrike">
                <a:solidFill>
                  <a:srgbClr val="102A36"/>
                </a:solidFill>
                <a:effectLst/>
                <a:uFillTx/>
                <a:latin typeface="Aptos"/>
              </a:rPr>
              <a:t>la recommandation doit être confirmée par test réel ;</a:t>
            </a:r>
            <a:endParaRPr lang="fr-FR" sz="1200" b="0" u="none" strike="noStrike">
              <a:solidFill>
                <a:srgbClr val="000000"/>
              </a:solidFill>
              <a:effectLst/>
              <a:uFillTx/>
              <a:latin typeface="Arial"/>
            </a:endParaRPr>
          </a:p>
        </p:txBody>
      </p:sp>
      <p:sp>
        <p:nvSpPr>
          <p:cNvPr id="434" name="Text 16"/>
          <p:cNvSpPr/>
          <p:nvPr/>
        </p:nvSpPr>
        <p:spPr>
          <a:xfrm>
            <a:off x="6537960" y="1956960"/>
            <a:ext cx="4114440" cy="20088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pPr>
            <a:r>
              <a:rPr lang="fr-FR" sz="1200" b="0" u="none" strike="noStrike">
                <a:solidFill>
                  <a:srgbClr val="102A36"/>
                </a:solidFill>
                <a:effectLst/>
                <a:uFillTx/>
                <a:latin typeface="Aptos"/>
              </a:rPr>
              <a:t>le modèle de prix reste adapté à un cas pédagogique ;</a:t>
            </a:r>
            <a:endParaRPr lang="fr-FR" sz="1200" b="0" u="none" strike="noStrike">
              <a:solidFill>
                <a:srgbClr val="000000"/>
              </a:solidFill>
              <a:effectLst/>
              <a:uFillTx/>
              <a:latin typeface="Arial"/>
            </a:endParaRPr>
          </a:p>
        </p:txBody>
      </p:sp>
      <p:sp>
        <p:nvSpPr>
          <p:cNvPr id="435" name="Text 17"/>
          <p:cNvSpPr/>
          <p:nvPr/>
        </p:nvSpPr>
        <p:spPr>
          <a:xfrm>
            <a:off x="6537960" y="2258640"/>
            <a:ext cx="4114440" cy="20088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chemeClr val="dk1"/>
                </a:solidFill>
                <a:effectLst/>
                <a:uFillTx/>
                <a:latin typeface="Aptos"/>
              </a:rPr>
              <a:t>l’artefact modèle n’est pas versionné sur GitHub à cause de sa taille ;</a:t>
            </a:r>
            <a:endParaRPr lang="fr-FR" sz="1200" b="0" u="none" strike="noStrike">
              <a:solidFill>
                <a:srgbClr val="000000"/>
              </a:solidFill>
              <a:effectLst/>
              <a:uFillTx/>
              <a:latin typeface="Arial"/>
            </a:endParaRPr>
          </a:p>
        </p:txBody>
      </p:sp>
      <p:sp>
        <p:nvSpPr>
          <p:cNvPr id="436" name="Text 18"/>
          <p:cNvSpPr/>
          <p:nvPr/>
        </p:nvSpPr>
        <p:spPr>
          <a:xfrm>
            <a:off x="685800" y="3867840"/>
            <a:ext cx="45716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008E8C"/>
                </a:solidFill>
                <a:effectLst/>
                <a:uFillTx/>
                <a:latin typeface="Aptos"/>
              </a:rPr>
              <a:t>Suites possibles</a:t>
            </a:r>
            <a:endParaRPr lang="fr-FR" sz="1600" b="0" u="none" strike="noStrike">
              <a:solidFill>
                <a:srgbClr val="000000"/>
              </a:solidFill>
              <a:effectLst/>
              <a:uFillTx/>
              <a:latin typeface="Arial"/>
            </a:endParaRPr>
          </a:p>
        </p:txBody>
      </p:sp>
      <p:sp>
        <p:nvSpPr>
          <p:cNvPr id="437" name="Shape 19"/>
          <p:cNvSpPr/>
          <p:nvPr/>
        </p:nvSpPr>
        <p:spPr>
          <a:xfrm>
            <a:off x="685800" y="4078080"/>
            <a:ext cx="457164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38" name="Text 20"/>
          <p:cNvSpPr/>
          <p:nvPr/>
        </p:nvSpPr>
        <p:spPr>
          <a:xfrm>
            <a:off x="822960" y="4325040"/>
            <a:ext cx="438876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02A36"/>
                </a:solidFill>
                <a:effectLst/>
                <a:uFillTx/>
                <a:latin typeface="Aptos"/>
              </a:rPr>
              <a:t>tester par segment de véhicule, ville ou saison ;</a:t>
            </a:r>
            <a:endParaRPr lang="fr-FR" sz="1200" b="0" u="none" strike="noStrike">
              <a:solidFill>
                <a:srgbClr val="000000"/>
              </a:solidFill>
              <a:effectLst/>
              <a:uFillTx/>
              <a:latin typeface="Arial"/>
            </a:endParaRPr>
          </a:p>
        </p:txBody>
      </p:sp>
      <p:sp>
        <p:nvSpPr>
          <p:cNvPr id="439" name="Text 21"/>
          <p:cNvSpPr/>
          <p:nvPr/>
        </p:nvSpPr>
        <p:spPr>
          <a:xfrm>
            <a:off x="822960" y="4590360"/>
            <a:ext cx="438876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02A36"/>
                </a:solidFill>
                <a:effectLst/>
                <a:uFillTx/>
                <a:latin typeface="Aptos"/>
              </a:rPr>
              <a:t>ajouter une mesure de revenu ou de conversion ;</a:t>
            </a:r>
            <a:endParaRPr lang="fr-FR" sz="1200" b="0" u="none" strike="noStrike">
              <a:solidFill>
                <a:srgbClr val="000000"/>
              </a:solidFill>
              <a:effectLst/>
              <a:uFillTx/>
              <a:latin typeface="Arial"/>
            </a:endParaRPr>
          </a:p>
        </p:txBody>
      </p:sp>
      <p:sp>
        <p:nvSpPr>
          <p:cNvPr id="440" name="Text 22"/>
          <p:cNvSpPr/>
          <p:nvPr/>
        </p:nvSpPr>
        <p:spPr>
          <a:xfrm>
            <a:off x="822960" y="4855320"/>
            <a:ext cx="438876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02A36"/>
                </a:solidFill>
                <a:effectLst/>
                <a:uFillTx/>
                <a:latin typeface="Aptos"/>
              </a:rPr>
              <a:t>surveiller le drift du modèle de prix ;</a:t>
            </a:r>
            <a:endParaRPr lang="fr-FR" sz="1200" b="0" u="none" strike="noStrike">
              <a:solidFill>
                <a:srgbClr val="000000"/>
              </a:solidFill>
              <a:effectLst/>
              <a:uFillTx/>
              <a:latin typeface="Arial"/>
            </a:endParaRPr>
          </a:p>
        </p:txBody>
      </p:sp>
      <p:sp>
        <p:nvSpPr>
          <p:cNvPr id="441" name="Text 23"/>
          <p:cNvSpPr/>
          <p:nvPr/>
        </p:nvSpPr>
        <p:spPr>
          <a:xfrm>
            <a:off x="822960" y="5120640"/>
            <a:ext cx="4388760" cy="16416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rgbClr val="102A36"/>
                </a:solidFill>
                <a:effectLst/>
                <a:uFillTx/>
                <a:latin typeface="Aptos"/>
              </a:rPr>
              <a:t>déployer dashboard et API avec URLs publiques.</a:t>
            </a:r>
            <a:endParaRPr lang="fr-FR" sz="1200" b="0" u="none" strike="noStrike">
              <a:solidFill>
                <a:srgbClr val="000000"/>
              </a:solidFill>
              <a:effectLst/>
              <a:uFillTx/>
              <a:latin typeface="Arial"/>
            </a:endParaRPr>
          </a:p>
        </p:txBody>
      </p:sp>
      <p:sp>
        <p:nvSpPr>
          <p:cNvPr id="442" name="Shape 24"/>
          <p:cNvSpPr/>
          <p:nvPr/>
        </p:nvSpPr>
        <p:spPr>
          <a:xfrm>
            <a:off x="6400800" y="4500000"/>
            <a:ext cx="4388760" cy="90000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43" name="Text 25"/>
          <p:cNvSpPr/>
          <p:nvPr/>
        </p:nvSpPr>
        <p:spPr>
          <a:xfrm>
            <a:off x="6510600" y="4763880"/>
            <a:ext cx="4169160" cy="429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600" b="1" u="none" strike="noStrike">
                <a:solidFill>
                  <a:srgbClr val="FFFFFF"/>
                </a:solidFill>
                <a:effectLst/>
                <a:uFillTx/>
                <a:latin typeface="Aptos"/>
              </a:rPr>
              <a:t>Le projet fournit une base solide de décision, pas une règle industrielle définitive.</a:t>
            </a:r>
            <a:endParaRPr lang="fr-FR"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Shape 0"/>
          <p:cNvSpPr/>
          <p:nvPr/>
        </p:nvSpPr>
        <p:spPr>
          <a:xfrm>
            <a:off x="0" y="0"/>
            <a:ext cx="12191400" cy="493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45" name="Shape 1"/>
          <p:cNvSpPr/>
          <p:nvPr/>
        </p:nvSpPr>
        <p:spPr>
          <a:xfrm>
            <a:off x="0" y="493920"/>
            <a:ext cx="12191400" cy="40680"/>
          </a:xfrm>
          <a:prstGeom prst="rect">
            <a:avLst/>
          </a:prstGeom>
          <a:solidFill>
            <a:srgbClr val="10B8B6"/>
          </a:solidFill>
          <a:ln w="12700">
            <a:solidFill>
              <a:srgbClr val="10B8B6"/>
            </a:solidFill>
            <a:round/>
          </a:ln>
        </p:spPr>
        <p:style>
          <a:lnRef idx="0"/>
          <a:fillRef idx="0"/>
          <a:effectRef idx="0"/>
          <a:fontRef idx="minor"/>
        </p:style>
        <p:txBody>
          <a:bodyPr lIns="90000" tIns="-3960" rIns="90000" bIns="-3960" anchor="t">
            <a:noAutofit/>
          </a:bodyPr>
          <a:p>
            <a:endParaRPr lang="fr-FR" sz="1800" b="0" u="none" strike="noStrike">
              <a:solidFill>
                <a:schemeClr val="dk1"/>
              </a:solidFill>
              <a:effectLst/>
              <a:uFillTx/>
              <a:latin typeface="Aptos"/>
            </a:endParaRPr>
          </a:p>
        </p:txBody>
      </p:sp>
      <p:sp>
        <p:nvSpPr>
          <p:cNvPr id="446" name="Text 2"/>
          <p:cNvSpPr/>
          <p:nvPr/>
        </p:nvSpPr>
        <p:spPr>
          <a:xfrm>
            <a:off x="237600" y="82440"/>
            <a:ext cx="71319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2000" b="1" u="none" strike="noStrike">
                <a:solidFill>
                  <a:srgbClr val="FFFFFF"/>
                </a:solidFill>
                <a:effectLst/>
                <a:uFillTx/>
                <a:latin typeface="Aptos Display"/>
                <a:ea typeface="Aptos Display"/>
              </a:rPr>
              <a:t>Conclusion</a:t>
            </a:r>
            <a:endParaRPr lang="fr-FR" sz="2000" b="0" u="none" strike="noStrike">
              <a:solidFill>
                <a:srgbClr val="000000"/>
              </a:solidFill>
              <a:effectLst/>
              <a:uFillTx/>
              <a:latin typeface="Arial"/>
            </a:endParaRPr>
          </a:p>
        </p:txBody>
      </p:sp>
      <p:sp>
        <p:nvSpPr>
          <p:cNvPr id="447" name="Text 3"/>
          <p:cNvSpPr/>
          <p:nvPr/>
        </p:nvSpPr>
        <p:spPr>
          <a:xfrm>
            <a:off x="8229600" y="118800"/>
            <a:ext cx="370296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1200" b="0" u="none" strike="noStrike">
                <a:solidFill>
                  <a:srgbClr val="D9F6F6"/>
                </a:solidFill>
                <a:effectLst/>
                <a:uFillTx/>
                <a:latin typeface="Aptos"/>
                <a:ea typeface="Aptos"/>
              </a:rPr>
              <a:t>Une réponse complète : décision produit, modèle et API</a:t>
            </a:r>
            <a:endParaRPr lang="fr-FR" sz="1200" b="0" u="none" strike="noStrike">
              <a:solidFill>
                <a:srgbClr val="000000"/>
              </a:solidFill>
              <a:effectLst/>
              <a:uFillTx/>
              <a:latin typeface="Arial"/>
            </a:endParaRPr>
          </a:p>
        </p:txBody>
      </p:sp>
      <p:sp>
        <p:nvSpPr>
          <p:cNvPr id="448" name="Text 4"/>
          <p:cNvSpPr/>
          <p:nvPr/>
        </p:nvSpPr>
        <p:spPr>
          <a:xfrm>
            <a:off x="219600" y="6565320"/>
            <a:ext cx="20113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560" b="0" u="none" strike="noStrike">
                <a:solidFill>
                  <a:srgbClr val="8AA0A8"/>
                </a:solidFill>
                <a:effectLst/>
                <a:uFillTx/>
                <a:latin typeface="Aptos"/>
              </a:rPr>
              <a:t>GetAround — Bloc 5</a:t>
            </a:r>
            <a:endParaRPr lang="fr-FR" sz="560" b="0" u="none" strike="noStrike">
              <a:solidFill>
                <a:srgbClr val="000000"/>
              </a:solidFill>
              <a:effectLst/>
              <a:uFillTx/>
              <a:latin typeface="Arial"/>
            </a:endParaRPr>
          </a:p>
        </p:txBody>
      </p:sp>
      <p:sp>
        <p:nvSpPr>
          <p:cNvPr id="449" name="Text 5"/>
          <p:cNvSpPr/>
          <p:nvPr/>
        </p:nvSpPr>
        <p:spPr>
          <a:xfrm>
            <a:off x="11704320" y="6565320"/>
            <a:ext cx="228240" cy="1458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fr-FR" sz="560" b="0" u="none" strike="noStrike">
                <a:solidFill>
                  <a:srgbClr val="8AA0A8"/>
                </a:solidFill>
                <a:effectLst/>
                <a:uFillTx/>
                <a:latin typeface="Aptos"/>
              </a:rPr>
              <a:t>10</a:t>
            </a:r>
            <a:endParaRPr lang="fr-FR" sz="560" b="0" u="none" strike="noStrike">
              <a:solidFill>
                <a:srgbClr val="000000"/>
              </a:solidFill>
              <a:effectLst/>
              <a:uFillTx/>
              <a:latin typeface="Arial"/>
            </a:endParaRPr>
          </a:p>
        </p:txBody>
      </p:sp>
      <p:sp>
        <p:nvSpPr>
          <p:cNvPr id="450" name="Text 6"/>
          <p:cNvSpPr/>
          <p:nvPr/>
        </p:nvSpPr>
        <p:spPr>
          <a:xfrm>
            <a:off x="731520" y="914400"/>
            <a:ext cx="516600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08E8C"/>
                </a:solidFill>
                <a:effectLst/>
                <a:uFillTx/>
                <a:latin typeface="Aptos"/>
              </a:rPr>
              <a:t>Ce que le projet démontre</a:t>
            </a:r>
            <a:endParaRPr lang="fr-FR" sz="1200" b="0" u="none" strike="noStrike">
              <a:solidFill>
                <a:srgbClr val="000000"/>
              </a:solidFill>
              <a:effectLst/>
              <a:uFillTx/>
              <a:latin typeface="Arial"/>
            </a:endParaRPr>
          </a:p>
        </p:txBody>
      </p:sp>
      <p:sp>
        <p:nvSpPr>
          <p:cNvPr id="451" name="Shape 7"/>
          <p:cNvSpPr/>
          <p:nvPr/>
        </p:nvSpPr>
        <p:spPr>
          <a:xfrm>
            <a:off x="731520" y="1124640"/>
            <a:ext cx="516600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52" name="Text 8"/>
          <p:cNvSpPr/>
          <p:nvPr/>
        </p:nvSpPr>
        <p:spPr>
          <a:xfrm>
            <a:off x="868680" y="1353240"/>
            <a:ext cx="4845960" cy="200880"/>
          </a:xfrm>
          <a:prstGeom prst="rect">
            <a:avLst/>
          </a:prstGeom>
          <a:noFill/>
          <a:ln w="0">
            <a:noFill/>
          </a:ln>
        </p:spPr>
        <p:style>
          <a:lnRef idx="0"/>
          <a:fillRef idx="0"/>
          <a:effectRef idx="0"/>
          <a:fontRef idx="minor"/>
        </p:style>
        <p:txBody>
          <a:bodyPr lIns="360" tIns="360" rIns="360" bIns="360" anchor="ctr">
            <a:normAutofit fontScale="85000" lnSpcReduction="9999"/>
          </a:bodyPr>
          <a:p>
            <a:pPr defTabSz="914400">
              <a:lnSpc>
                <a:spcPct val="100000"/>
              </a:lnSpc>
            </a:pPr>
            <a:r>
              <a:rPr lang="fr-FR" sz="1200" b="0" u="none" strike="noStrike">
                <a:solidFill>
                  <a:srgbClr val="102A36"/>
                </a:solidFill>
                <a:effectLst/>
                <a:uFillTx/>
                <a:latin typeface="Aptos"/>
              </a:rPr>
              <a:t>une analyse métier structurée du retard entre locations successives ;</a:t>
            </a:r>
            <a:endParaRPr lang="fr-FR" sz="1200" b="0" u="none" strike="noStrike">
              <a:solidFill>
                <a:srgbClr val="000000"/>
              </a:solidFill>
              <a:effectLst/>
              <a:uFillTx/>
              <a:latin typeface="Arial"/>
            </a:endParaRPr>
          </a:p>
        </p:txBody>
      </p:sp>
      <p:sp>
        <p:nvSpPr>
          <p:cNvPr id="453" name="Text 9"/>
          <p:cNvSpPr/>
          <p:nvPr/>
        </p:nvSpPr>
        <p:spPr>
          <a:xfrm>
            <a:off x="868680" y="1664280"/>
            <a:ext cx="4845960" cy="20088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pPr>
            <a:r>
              <a:rPr lang="fr-FR" sz="1200" b="0" u="none" strike="noStrike">
                <a:solidFill>
                  <a:srgbClr val="102A36"/>
                </a:solidFill>
                <a:effectLst/>
                <a:uFillTx/>
                <a:latin typeface="Aptos"/>
              </a:rPr>
              <a:t>une recommandation claire : 120 minutes sur l’ensemble du parc ;</a:t>
            </a:r>
            <a:endParaRPr lang="fr-FR" sz="1200" b="0" u="none" strike="noStrike">
              <a:solidFill>
                <a:srgbClr val="000000"/>
              </a:solidFill>
              <a:effectLst/>
              <a:uFillTx/>
              <a:latin typeface="Arial"/>
            </a:endParaRPr>
          </a:p>
        </p:txBody>
      </p:sp>
      <p:sp>
        <p:nvSpPr>
          <p:cNvPr id="454" name="Text 10"/>
          <p:cNvSpPr/>
          <p:nvPr/>
        </p:nvSpPr>
        <p:spPr>
          <a:xfrm>
            <a:off x="868680" y="1974960"/>
            <a:ext cx="4845960" cy="2008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pPr>
            <a:r>
              <a:rPr lang="fr-FR" sz="1200" b="0" u="none" strike="noStrike">
                <a:solidFill>
                  <a:srgbClr val="102A36"/>
                </a:solidFill>
                <a:effectLst/>
                <a:uFillTx/>
                <a:latin typeface="Aptos"/>
              </a:rPr>
              <a:t>un modèle de pricing comparé et exposé via API ;</a:t>
            </a:r>
            <a:endParaRPr lang="fr-FR" sz="1200" b="0" u="none" strike="noStrike">
              <a:solidFill>
                <a:srgbClr val="000000"/>
              </a:solidFill>
              <a:effectLst/>
              <a:uFillTx/>
              <a:latin typeface="Arial"/>
            </a:endParaRPr>
          </a:p>
        </p:txBody>
      </p:sp>
      <p:sp>
        <p:nvSpPr>
          <p:cNvPr id="455" name="Text 11"/>
          <p:cNvSpPr/>
          <p:nvPr/>
        </p:nvSpPr>
        <p:spPr>
          <a:xfrm>
            <a:off x="868680" y="2295000"/>
            <a:ext cx="3979080" cy="191520"/>
          </a:xfrm>
          <a:prstGeom prst="rect">
            <a:avLst/>
          </a:prstGeom>
          <a:noFill/>
          <a:ln w="0">
            <a:noFill/>
          </a:ln>
        </p:spPr>
        <p:style>
          <a:lnRef idx="0"/>
          <a:fillRef idx="0"/>
          <a:effectRef idx="0"/>
          <a:fontRef idx="minor"/>
        </p:style>
        <p:txBody>
          <a:bodyPr lIns="360" tIns="360" rIns="360" bIns="360" anchor="ctr">
            <a:noAutofit/>
          </a:bodyPr>
          <a:p>
            <a:pPr defTabSz="914400">
              <a:lnSpc>
                <a:spcPct val="100000"/>
              </a:lnSpc>
            </a:pPr>
            <a:r>
              <a:rPr lang="fr-FR" sz="1200" b="0" u="none" strike="noStrike">
                <a:solidFill>
                  <a:schemeClr val="dk1"/>
                </a:solidFill>
                <a:effectLst/>
                <a:uFillTx/>
                <a:latin typeface="Aptos"/>
              </a:rPr>
              <a:t>un dépôt GitHub propre, testable et préparé pour le déploiement.</a:t>
            </a:r>
            <a:endParaRPr lang="fr-FR" sz="1200" b="0" u="none" strike="noStrike">
              <a:solidFill>
                <a:srgbClr val="000000"/>
              </a:solidFill>
              <a:effectLst/>
              <a:uFillTx/>
              <a:latin typeface="Arial"/>
            </a:endParaRPr>
          </a:p>
        </p:txBody>
      </p:sp>
      <p:sp>
        <p:nvSpPr>
          <p:cNvPr id="456" name="Text 12"/>
          <p:cNvSpPr/>
          <p:nvPr/>
        </p:nvSpPr>
        <p:spPr>
          <a:xfrm>
            <a:off x="731520" y="3931920"/>
            <a:ext cx="516600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008E8C"/>
                </a:solidFill>
                <a:effectLst/>
                <a:uFillTx/>
                <a:latin typeface="Aptos"/>
              </a:rPr>
              <a:t>Résultat final</a:t>
            </a:r>
            <a:endParaRPr lang="fr-FR" sz="1200" b="0" u="none" strike="noStrike">
              <a:solidFill>
                <a:srgbClr val="000000"/>
              </a:solidFill>
              <a:effectLst/>
              <a:uFillTx/>
              <a:latin typeface="Arial"/>
            </a:endParaRPr>
          </a:p>
        </p:txBody>
      </p:sp>
      <p:sp>
        <p:nvSpPr>
          <p:cNvPr id="457" name="Shape 13"/>
          <p:cNvSpPr/>
          <p:nvPr/>
        </p:nvSpPr>
        <p:spPr>
          <a:xfrm>
            <a:off x="731520" y="4142160"/>
            <a:ext cx="5166000" cy="31680"/>
          </a:xfrm>
          <a:prstGeom prst="rect">
            <a:avLst/>
          </a:prstGeom>
          <a:solidFill>
            <a:srgbClr val="E7EEF0"/>
          </a:solidFill>
          <a:ln w="12700">
            <a:solidFill>
              <a:srgbClr val="E7EEF0"/>
            </a:solidFill>
            <a:round/>
          </a:ln>
        </p:spPr>
        <p:style>
          <a:lnRef idx="0"/>
          <a:fillRef idx="0"/>
          <a:effectRef idx="0"/>
          <a:fontRef idx="minor"/>
        </p:style>
        <p:txBody>
          <a:bodyPr lIns="90000" tIns="-12960" rIns="90000" bIns="-12960" anchor="t">
            <a:noAutofit/>
          </a:bodyPr>
          <a:p>
            <a:endParaRPr lang="fr-FR" sz="1800" b="0" u="none" strike="noStrike">
              <a:solidFill>
                <a:schemeClr val="dk1"/>
              </a:solidFill>
              <a:effectLst/>
              <a:uFillTx/>
              <a:latin typeface="Aptos"/>
            </a:endParaRPr>
          </a:p>
        </p:txBody>
      </p:sp>
      <p:sp>
        <p:nvSpPr>
          <p:cNvPr id="458" name="Shape 14"/>
          <p:cNvSpPr/>
          <p:nvPr/>
        </p:nvSpPr>
        <p:spPr>
          <a:xfrm>
            <a:off x="731520" y="4370760"/>
            <a:ext cx="5166000" cy="502560"/>
          </a:xfrm>
          <a:prstGeom prst="rect">
            <a:avLst/>
          </a:prstGeom>
          <a:solidFill>
            <a:srgbClr val="082E3E"/>
          </a:solidFill>
          <a:ln w="12700">
            <a:solidFill>
              <a:srgbClr val="082E3E"/>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59" name="Text 15"/>
          <p:cNvSpPr/>
          <p:nvPr/>
        </p:nvSpPr>
        <p:spPr>
          <a:xfrm>
            <a:off x="841320" y="4471560"/>
            <a:ext cx="4946400" cy="338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200" b="1" u="none" strike="noStrike">
                <a:solidFill>
                  <a:srgbClr val="FFFFFF"/>
                </a:solidFill>
                <a:effectLst/>
                <a:uFillTx/>
                <a:latin typeface="Aptos"/>
              </a:rPr>
              <a:t>Une règle simple, chiffrée et défendable pour réduire les frictions de location.</a:t>
            </a:r>
            <a:endParaRPr lang="fr-FR" sz="1200" b="0" u="none" strike="noStrike">
              <a:solidFill>
                <a:srgbClr val="000000"/>
              </a:solidFill>
              <a:effectLst/>
              <a:uFillTx/>
              <a:latin typeface="Arial"/>
            </a:endParaRPr>
          </a:p>
        </p:txBody>
      </p:sp>
      <p:sp>
        <p:nvSpPr>
          <p:cNvPr id="460" name="Shape 16"/>
          <p:cNvSpPr/>
          <p:nvPr/>
        </p:nvSpPr>
        <p:spPr>
          <a:xfrm>
            <a:off x="6583680" y="1005840"/>
            <a:ext cx="132552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61" name="Text 17"/>
          <p:cNvSpPr/>
          <p:nvPr/>
        </p:nvSpPr>
        <p:spPr>
          <a:xfrm>
            <a:off x="6684120" y="1088280"/>
            <a:ext cx="112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50" b="1" u="none" strike="noStrike">
                <a:solidFill>
                  <a:srgbClr val="F2A93B"/>
                </a:solidFill>
                <a:effectLst/>
                <a:uFillTx/>
                <a:latin typeface="Aptos"/>
              </a:rPr>
              <a:t>120</a:t>
            </a:r>
            <a:endParaRPr lang="fr-FR" sz="1350" b="0" u="none" strike="noStrike">
              <a:solidFill>
                <a:srgbClr val="000000"/>
              </a:solidFill>
              <a:effectLst/>
              <a:uFillTx/>
              <a:latin typeface="Arial"/>
            </a:endParaRPr>
          </a:p>
        </p:txBody>
      </p:sp>
      <p:sp>
        <p:nvSpPr>
          <p:cNvPr id="462" name="Text 18"/>
          <p:cNvSpPr/>
          <p:nvPr/>
        </p:nvSpPr>
        <p:spPr>
          <a:xfrm>
            <a:off x="6684120" y="1334880"/>
            <a:ext cx="112428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690" b="0" u="none" strike="noStrike">
                <a:solidFill>
                  <a:srgbClr val="102A36"/>
                </a:solidFill>
                <a:effectLst/>
                <a:uFillTx/>
                <a:latin typeface="Aptos"/>
              </a:rPr>
              <a:t>minutes</a:t>
            </a:r>
            <a:endParaRPr lang="fr-FR" sz="690" b="0" u="none" strike="noStrike">
              <a:solidFill>
                <a:srgbClr val="000000"/>
              </a:solidFill>
              <a:effectLst/>
              <a:uFillTx/>
              <a:latin typeface="Arial"/>
            </a:endParaRPr>
          </a:p>
        </p:txBody>
      </p:sp>
      <p:sp>
        <p:nvSpPr>
          <p:cNvPr id="463" name="Shape 19"/>
          <p:cNvSpPr/>
          <p:nvPr/>
        </p:nvSpPr>
        <p:spPr>
          <a:xfrm>
            <a:off x="8092440" y="1005840"/>
            <a:ext cx="132552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64" name="Text 20"/>
          <p:cNvSpPr/>
          <p:nvPr/>
        </p:nvSpPr>
        <p:spPr>
          <a:xfrm>
            <a:off x="8192880" y="1088280"/>
            <a:ext cx="112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50" b="1" u="none" strike="noStrike">
                <a:solidFill>
                  <a:srgbClr val="1F9D7A"/>
                </a:solidFill>
                <a:effectLst/>
                <a:uFillTx/>
                <a:latin typeface="Aptos"/>
              </a:rPr>
              <a:t>82,6 %</a:t>
            </a:r>
            <a:endParaRPr lang="fr-FR" sz="1350" b="0" u="none" strike="noStrike">
              <a:solidFill>
                <a:srgbClr val="000000"/>
              </a:solidFill>
              <a:effectLst/>
              <a:uFillTx/>
              <a:latin typeface="Arial"/>
            </a:endParaRPr>
          </a:p>
        </p:txBody>
      </p:sp>
      <p:sp>
        <p:nvSpPr>
          <p:cNvPr id="465" name="Text 21"/>
          <p:cNvSpPr/>
          <p:nvPr/>
        </p:nvSpPr>
        <p:spPr>
          <a:xfrm>
            <a:off x="8192880" y="1334880"/>
            <a:ext cx="112428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690" b="0" u="none" strike="noStrike">
                <a:solidFill>
                  <a:srgbClr val="102A36"/>
                </a:solidFill>
                <a:effectLst/>
                <a:uFillTx/>
                <a:latin typeface="Aptos"/>
              </a:rPr>
              <a:t>cas couverts</a:t>
            </a:r>
            <a:endParaRPr lang="fr-FR" sz="690" b="0" u="none" strike="noStrike">
              <a:solidFill>
                <a:srgbClr val="000000"/>
              </a:solidFill>
              <a:effectLst/>
              <a:uFillTx/>
              <a:latin typeface="Arial"/>
            </a:endParaRPr>
          </a:p>
        </p:txBody>
      </p:sp>
      <p:sp>
        <p:nvSpPr>
          <p:cNvPr id="466" name="Shape 22"/>
          <p:cNvSpPr/>
          <p:nvPr/>
        </p:nvSpPr>
        <p:spPr>
          <a:xfrm>
            <a:off x="9601200" y="1005840"/>
            <a:ext cx="132552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67" name="Text 23"/>
          <p:cNvSpPr/>
          <p:nvPr/>
        </p:nvSpPr>
        <p:spPr>
          <a:xfrm>
            <a:off x="9701640" y="1088280"/>
            <a:ext cx="112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50" b="1" u="none" strike="noStrike">
                <a:solidFill>
                  <a:srgbClr val="10B8B6"/>
                </a:solidFill>
                <a:effectLst/>
                <a:uFillTx/>
                <a:latin typeface="Aptos"/>
              </a:rPr>
              <a:t>3,1 %</a:t>
            </a:r>
            <a:endParaRPr lang="fr-FR" sz="1350" b="0" u="none" strike="noStrike">
              <a:solidFill>
                <a:srgbClr val="000000"/>
              </a:solidFill>
              <a:effectLst/>
              <a:uFillTx/>
              <a:latin typeface="Arial"/>
            </a:endParaRPr>
          </a:p>
        </p:txBody>
      </p:sp>
      <p:sp>
        <p:nvSpPr>
          <p:cNvPr id="468" name="Text 24"/>
          <p:cNvSpPr/>
          <p:nvPr/>
        </p:nvSpPr>
        <p:spPr>
          <a:xfrm>
            <a:off x="9701640" y="1334880"/>
            <a:ext cx="112428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690" b="0" u="none" strike="noStrike">
                <a:solidFill>
                  <a:srgbClr val="102A36"/>
                </a:solidFill>
                <a:effectLst/>
                <a:uFillTx/>
                <a:latin typeface="Aptos"/>
              </a:rPr>
              <a:t>locations affectées</a:t>
            </a:r>
            <a:endParaRPr lang="fr-FR" sz="690" b="0" u="none" strike="noStrike">
              <a:solidFill>
                <a:srgbClr val="000000"/>
              </a:solidFill>
              <a:effectLst/>
              <a:uFillTx/>
              <a:latin typeface="Arial"/>
            </a:endParaRPr>
          </a:p>
        </p:txBody>
      </p:sp>
      <p:sp>
        <p:nvSpPr>
          <p:cNvPr id="469" name="Shape 25"/>
          <p:cNvSpPr/>
          <p:nvPr/>
        </p:nvSpPr>
        <p:spPr>
          <a:xfrm>
            <a:off x="6583680" y="1965960"/>
            <a:ext cx="132552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70" name="Text 26"/>
          <p:cNvSpPr/>
          <p:nvPr/>
        </p:nvSpPr>
        <p:spPr>
          <a:xfrm>
            <a:off x="6684120" y="2048400"/>
            <a:ext cx="112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50" b="1" u="none" strike="noStrike">
                <a:solidFill>
                  <a:srgbClr val="10B8B6"/>
                </a:solidFill>
                <a:effectLst/>
                <a:uFillTx/>
                <a:latin typeface="Aptos"/>
              </a:rPr>
              <a:t>10,75 €</a:t>
            </a:r>
            <a:endParaRPr lang="fr-FR" sz="1350" b="0" u="none" strike="noStrike">
              <a:solidFill>
                <a:srgbClr val="000000"/>
              </a:solidFill>
              <a:effectLst/>
              <a:uFillTx/>
              <a:latin typeface="Arial"/>
            </a:endParaRPr>
          </a:p>
        </p:txBody>
      </p:sp>
      <p:sp>
        <p:nvSpPr>
          <p:cNvPr id="471" name="Text 27"/>
          <p:cNvSpPr/>
          <p:nvPr/>
        </p:nvSpPr>
        <p:spPr>
          <a:xfrm>
            <a:off x="6684120" y="2295000"/>
            <a:ext cx="112428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690" b="0" u="none" strike="noStrike">
                <a:solidFill>
                  <a:srgbClr val="102A36"/>
                </a:solidFill>
                <a:effectLst/>
                <a:uFillTx/>
                <a:latin typeface="Aptos"/>
              </a:rPr>
              <a:t>MAE</a:t>
            </a:r>
            <a:endParaRPr lang="fr-FR" sz="690" b="0" u="none" strike="noStrike">
              <a:solidFill>
                <a:srgbClr val="000000"/>
              </a:solidFill>
              <a:effectLst/>
              <a:uFillTx/>
              <a:latin typeface="Arial"/>
            </a:endParaRPr>
          </a:p>
        </p:txBody>
      </p:sp>
      <p:sp>
        <p:nvSpPr>
          <p:cNvPr id="472" name="Shape 28"/>
          <p:cNvSpPr/>
          <p:nvPr/>
        </p:nvSpPr>
        <p:spPr>
          <a:xfrm>
            <a:off x="8092440" y="1965960"/>
            <a:ext cx="132552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73" name="Text 29"/>
          <p:cNvSpPr/>
          <p:nvPr/>
        </p:nvSpPr>
        <p:spPr>
          <a:xfrm>
            <a:off x="8192880" y="2048400"/>
            <a:ext cx="112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50" b="1" u="none" strike="noStrike">
                <a:solidFill>
                  <a:srgbClr val="1F9D7A"/>
                </a:solidFill>
                <a:effectLst/>
                <a:uFillTx/>
                <a:latin typeface="Aptos"/>
              </a:rPr>
              <a:t>0,727</a:t>
            </a:r>
            <a:endParaRPr lang="fr-FR" sz="1350" b="0" u="none" strike="noStrike">
              <a:solidFill>
                <a:srgbClr val="000000"/>
              </a:solidFill>
              <a:effectLst/>
              <a:uFillTx/>
              <a:latin typeface="Arial"/>
            </a:endParaRPr>
          </a:p>
        </p:txBody>
      </p:sp>
      <p:sp>
        <p:nvSpPr>
          <p:cNvPr id="474" name="Text 30"/>
          <p:cNvSpPr/>
          <p:nvPr/>
        </p:nvSpPr>
        <p:spPr>
          <a:xfrm>
            <a:off x="8192880" y="2295000"/>
            <a:ext cx="112428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690" b="0" u="none" strike="noStrike">
                <a:solidFill>
                  <a:srgbClr val="102A36"/>
                </a:solidFill>
                <a:effectLst/>
                <a:uFillTx/>
                <a:latin typeface="Aptos"/>
              </a:rPr>
              <a:t>R²</a:t>
            </a:r>
            <a:endParaRPr lang="fr-FR" sz="690" b="0" u="none" strike="noStrike">
              <a:solidFill>
                <a:srgbClr val="000000"/>
              </a:solidFill>
              <a:effectLst/>
              <a:uFillTx/>
              <a:latin typeface="Arial"/>
            </a:endParaRPr>
          </a:p>
        </p:txBody>
      </p:sp>
      <p:sp>
        <p:nvSpPr>
          <p:cNvPr id="475" name="Shape 31"/>
          <p:cNvSpPr/>
          <p:nvPr/>
        </p:nvSpPr>
        <p:spPr>
          <a:xfrm>
            <a:off x="9601200" y="1965960"/>
            <a:ext cx="1325520" cy="621360"/>
          </a:xfrm>
          <a:prstGeom prst="rect">
            <a:avLst/>
          </a:prstGeom>
          <a:solidFill>
            <a:srgbClr val="FFFFFF"/>
          </a:solidFill>
          <a:ln w="12700">
            <a:solidFill>
              <a:srgbClr val="E7EEF0"/>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76" name="Text 32"/>
          <p:cNvSpPr/>
          <p:nvPr/>
        </p:nvSpPr>
        <p:spPr>
          <a:xfrm>
            <a:off x="9701640" y="2048400"/>
            <a:ext cx="112428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fr-FR" sz="1350" b="1" u="none" strike="noStrike">
                <a:solidFill>
                  <a:srgbClr val="082E3E"/>
                </a:solidFill>
                <a:effectLst/>
                <a:uFillTx/>
                <a:latin typeface="Aptos"/>
              </a:rPr>
              <a:t>/docs</a:t>
            </a:r>
            <a:endParaRPr lang="fr-FR" sz="1350" b="0" u="none" strike="noStrike">
              <a:solidFill>
                <a:srgbClr val="000000"/>
              </a:solidFill>
              <a:effectLst/>
              <a:uFillTx/>
              <a:latin typeface="Arial"/>
            </a:endParaRPr>
          </a:p>
        </p:txBody>
      </p:sp>
      <p:sp>
        <p:nvSpPr>
          <p:cNvPr id="477" name="Text 33"/>
          <p:cNvSpPr/>
          <p:nvPr/>
        </p:nvSpPr>
        <p:spPr>
          <a:xfrm>
            <a:off x="9701640" y="2295000"/>
            <a:ext cx="1124280" cy="200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fr-FR" sz="690" b="0" u="none" strike="noStrike">
                <a:solidFill>
                  <a:srgbClr val="102A36"/>
                </a:solidFill>
                <a:effectLst/>
                <a:uFillTx/>
                <a:latin typeface="Aptos"/>
              </a:rPr>
              <a:t>API</a:t>
            </a:r>
            <a:endParaRPr lang="fr-FR" sz="690" b="0" u="none" strike="noStrike">
              <a:solidFill>
                <a:srgbClr val="000000"/>
              </a:solidFill>
              <a:effectLst/>
              <a:uFillTx/>
              <a:latin typeface="Arial"/>
            </a:endParaRPr>
          </a:p>
        </p:txBody>
      </p:sp>
      <p:sp>
        <p:nvSpPr>
          <p:cNvPr id="478" name="Shape 36"/>
          <p:cNvSpPr/>
          <p:nvPr/>
        </p:nvSpPr>
        <p:spPr>
          <a:xfrm>
            <a:off x="7406640" y="5230440"/>
            <a:ext cx="2925720" cy="594000"/>
          </a:xfrm>
          <a:prstGeom prst="rect">
            <a:avLst/>
          </a:prstGeom>
          <a:solidFill>
            <a:srgbClr val="10B8B6"/>
          </a:solidFill>
          <a:ln w="12700">
            <a:solidFill>
              <a:srgbClr val="10B8B6"/>
            </a:solidFill>
            <a:round/>
          </a:ln>
        </p:spPr>
        <p:style>
          <a:lnRef idx="0"/>
          <a:fillRef idx="0"/>
          <a:effectRef idx="0"/>
          <a:fontRef idx="minor"/>
        </p:style>
        <p:txBody>
          <a:bodyPr lIns="90000" tIns="45000" rIns="90000" bIns="45000" anchor="t">
            <a:noAutofit/>
          </a:bodyPr>
          <a:p>
            <a:endParaRPr lang="fr-FR" sz="1800" b="0" u="none" strike="noStrike">
              <a:solidFill>
                <a:schemeClr val="dk1"/>
              </a:solidFill>
              <a:effectLst/>
              <a:uFillTx/>
              <a:latin typeface="Aptos"/>
            </a:endParaRPr>
          </a:p>
        </p:txBody>
      </p:sp>
      <p:sp>
        <p:nvSpPr>
          <p:cNvPr id="479" name="Text 37"/>
          <p:cNvSpPr/>
          <p:nvPr/>
        </p:nvSpPr>
        <p:spPr>
          <a:xfrm>
            <a:off x="7516440" y="5330880"/>
            <a:ext cx="2706120" cy="429480"/>
          </a:xfrm>
          <a:prstGeom prst="rect">
            <a:avLst/>
          </a:prstGeom>
          <a:noFill/>
          <a:ln w="0">
            <a:noFill/>
          </a:ln>
        </p:spPr>
        <p:style>
          <a:lnRef idx="0"/>
          <a:fillRef idx="0"/>
          <a:effectRef idx="0"/>
          <a:fontRef idx="minor"/>
        </p:style>
        <p:txBody>
          <a:bodyPr lIns="0" tIns="0" rIns="0" bIns="0" anchor="ctr">
            <a:normAutofit/>
          </a:bodyPr>
          <a:p>
            <a:pPr defTabSz="914400">
              <a:lnSpc>
                <a:spcPct val="100000"/>
              </a:lnSpc>
            </a:pPr>
            <a:r>
              <a:rPr lang="fr-FR" sz="1800" b="0" u="none" strike="noStrike">
                <a:solidFill>
                  <a:schemeClr val="dk1"/>
                </a:solidFill>
                <a:effectLst/>
                <a:uFillTx/>
                <a:latin typeface="Aptos"/>
              </a:rPr>
              <a:t>Questions ?</a:t>
            </a:r>
            <a:endParaRPr lang="fr-FR"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192</TotalTime>
  <Application>LibreOffice/26.2.3.2$Windows_X86_64 LibreOffice_project/70e089b17412e4cb7773e41413306b17a2328c34</Application>
  <AppVersion>15.0000</AppVersion>
  <Words>1794</Words>
  <Paragraphs>304</Paragraphs>
  <Company>Jedha</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2026-05-03T16:42:27Z</dcterms:created>
  <dc:creator>Etudiant JEDHA</dc:creator>
  <dc:description/>
  <dc:language>fr-FR</dc:language>
  <cp:lastModifiedBy/>
  <dcterms:modified xsi:type="dcterms:W3CDTF">2026-05-28T17:28:48Z</dcterms:modified>
  <cp:revision>9</cp:revision>
  <dc:subject>GetAround — analyse des retards et API de prédiction de prix</dc:subject>
  <dc:title>GetAround — analyse des retards et API de prédiction de prix</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Grand écran</vt:lpwstr>
  </property>
  <property fmtid="{D5CDD505-2E9C-101B-9397-08002B2CF9AE}" pid="4" name="Slides">
    <vt:i4>10</vt:i4>
  </property>
</Properties>
</file>