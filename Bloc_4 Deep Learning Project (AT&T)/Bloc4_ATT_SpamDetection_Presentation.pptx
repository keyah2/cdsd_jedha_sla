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Inter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sWhyxcfw74igz93HY8FttcENd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5da45ec31_0_4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g3f5da45ec31_0_4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da45ec3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f5da45ec3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f5da45ec3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5da45ec31_0_105:notes"/>
          <p:cNvSpPr/>
          <p:nvPr>
            <p:ph idx="2" type="sldImg"/>
          </p:nvPr>
        </p:nvSpPr>
        <p:spPr>
          <a:xfrm>
            <a:off x="-223203" y="1523959"/>
            <a:ext cx="7304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5da45ec31_0_105:notes"/>
          <p:cNvSpPr txBox="1"/>
          <p:nvPr>
            <p:ph idx="1" type="body"/>
          </p:nvPr>
        </p:nvSpPr>
        <p:spPr>
          <a:xfrm>
            <a:off x="685167" y="5867244"/>
            <a:ext cx="5487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f5da45ec31_0_105:notes"/>
          <p:cNvSpPr txBox="1"/>
          <p:nvPr>
            <p:ph idx="12" type="sldNum"/>
          </p:nvPr>
        </p:nvSpPr>
        <p:spPr>
          <a:xfrm>
            <a:off x="3884730" y="11579975"/>
            <a:ext cx="29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5da45ec31_0_56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f5da45ec31_0_56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f5da45ec31_0_56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da45ec31_0_4"/>
          <p:cNvSpPr txBox="1"/>
          <p:nvPr>
            <p:ph type="ctrTitle"/>
          </p:nvPr>
        </p:nvSpPr>
        <p:spPr>
          <a:xfrm>
            <a:off x="975334" y="2072640"/>
            <a:ext cx="54864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b="1" lang="en-US" sz="4500">
                <a:solidFill>
                  <a:srgbClr val="1C3860"/>
                </a:solidFill>
              </a:rPr>
              <a:t>Projet AT&amp;T</a:t>
            </a:r>
            <a:br>
              <a:rPr b="1" lang="en-US" sz="4500">
                <a:solidFill>
                  <a:srgbClr val="1C3860"/>
                </a:solidFill>
              </a:rPr>
            </a:br>
            <a:r>
              <a:rPr b="1" lang="en-US" sz="4500">
                <a:solidFill>
                  <a:srgbClr val="1C3860"/>
                </a:solidFill>
              </a:rPr>
              <a:t>Spam Detector</a:t>
            </a:r>
            <a:endParaRPr sz="6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1" name="Google Shape;21;g3f5da45ec3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7233" y="3461000"/>
            <a:ext cx="5091131" cy="3396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f5da45ec31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703" y="1049833"/>
            <a:ext cx="1297665" cy="86804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f5da45ec31_0_4"/>
          <p:cNvSpPr/>
          <p:nvPr/>
        </p:nvSpPr>
        <p:spPr>
          <a:xfrm>
            <a:off x="566925" y="5910275"/>
            <a:ext cx="47748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CDSD – Groupe 4 – 2026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Comprendre le besoin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685800" y="1005840"/>
            <a:ext cx="5074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400"/>
              <a:buFont typeface="Arial"/>
              <a:buNone/>
            </a:pPr>
            <a:r>
              <a:rPr b="1" i="0" lang="en-US" sz="2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Détecter automatiquement les SMS indésirables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2184815"/>
            <a:ext cx="1554600" cy="7863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SMS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487168" y="2148840"/>
            <a:ext cx="1554480" cy="786384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Texte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698902" y="2184778"/>
            <a:ext cx="1554600" cy="7863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Décision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025475" y="2368328"/>
            <a:ext cx="310800" cy="3108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214821" y="2386590"/>
            <a:ext cx="310800" cy="3108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97764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9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Objectif : construire un modèle NLP capable de classer un message en ham ou spam.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977925" y="1005850"/>
            <a:ext cx="4116300" cy="43851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9525">
            <a:solidFill>
              <a:srgbClr val="E8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7443845" y="1586255"/>
            <a:ext cx="310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AT&amp;T Spam Protection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18200" y="2240280"/>
            <a:ext cx="2697600" cy="567000"/>
          </a:xfrm>
          <a:prstGeom prst="roundRect">
            <a:avLst>
              <a:gd fmla="val 16667" name="adj"/>
            </a:avLst>
          </a:prstGeom>
          <a:solidFill>
            <a:srgbClr val="FFE6E6"/>
          </a:solidFill>
          <a:ln cap="flat" cmpd="sng" w="9525">
            <a:solidFill>
              <a:srgbClr val="FFD2D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7786840" y="233172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D4848"/>
                </a:solidFill>
                <a:latin typeface="Arial"/>
                <a:ea typeface="Arial"/>
                <a:cs typeface="Arial"/>
                <a:sym typeface="Arial"/>
              </a:rPr>
              <a:t>URGENT : claim reward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335448" y="290732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A69A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718150" y="3440663"/>
            <a:ext cx="2697600" cy="567000"/>
          </a:xfrm>
          <a:prstGeom prst="roundRect">
            <a:avLst>
              <a:gd fmla="val 16667" name="adj"/>
            </a:avLst>
          </a:prstGeom>
          <a:solidFill>
            <a:srgbClr val="419669"/>
          </a:solidFill>
          <a:ln cap="flat" cmpd="sng" w="9525">
            <a:solidFill>
              <a:srgbClr val="41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7718215" y="3566165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SPAM détecté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8335423" y="4110190"/>
            <a:ext cx="1463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A69A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718150" y="4571933"/>
            <a:ext cx="2697600" cy="567000"/>
          </a:xfrm>
          <a:prstGeom prst="roundRect">
            <a:avLst>
              <a:gd fmla="val 16667" name="adj"/>
            </a:avLst>
          </a:prstGeom>
          <a:solidFill>
            <a:srgbClr val="E8F0F8"/>
          </a:solidFill>
          <a:ln cap="flat" cmpd="sng" w="9525">
            <a:solidFill>
              <a:srgbClr val="E8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855490" y="4709185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Utilisateur protégé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Architecture du pipeline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/>
          <p:nvPr/>
        </p:nvSpPr>
        <p:spPr>
          <a:xfrm>
            <a:off x="59436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COLLECTER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SMS dataset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labels ham/spam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92608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42900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PRÉPARER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Tokenization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6072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26364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MODÉLISER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Embedding + GAP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LSTM / NNLM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59536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098280" y="4160520"/>
            <a:ext cx="2240280" cy="11430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ÉVALUER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Accuracy, Precision</a:t>
            </a:r>
            <a:b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Recall, F1-score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538563" y="5863825"/>
            <a:ext cx="8791800" cy="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pipeline transforme un SMS brut en une prédiction "Ham" ou "Spam"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2077800" y="1299825"/>
            <a:ext cx="1947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📩 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3"/>
          <p:cNvCxnSpPr/>
          <p:nvPr/>
        </p:nvCxnSpPr>
        <p:spPr>
          <a:xfrm flipH="1" rot="10800000">
            <a:off x="6768513" y="2280975"/>
            <a:ext cx="564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" name="Google Shape;67;p3"/>
          <p:cNvSpPr txBox="1"/>
          <p:nvPr/>
        </p:nvSpPr>
        <p:spPr>
          <a:xfrm>
            <a:off x="4672075" y="1299825"/>
            <a:ext cx="1947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 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3"/>
          <p:cNvCxnSpPr/>
          <p:nvPr/>
        </p:nvCxnSpPr>
        <p:spPr>
          <a:xfrm flipH="1" rot="10800000">
            <a:off x="4177200" y="2280975"/>
            <a:ext cx="5646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3"/>
          <p:cNvSpPr txBox="1"/>
          <p:nvPr/>
        </p:nvSpPr>
        <p:spPr>
          <a:xfrm>
            <a:off x="7482550" y="1451025"/>
            <a:ext cx="1791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🛡️ </a:t>
            </a:r>
            <a:endParaRPr b="0" i="0" sz="9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742850" y="2957250"/>
            <a:ext cx="25944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SMS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789700" y="2957250"/>
            <a:ext cx="2240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Réseau neuronal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7796275" y="2938950"/>
            <a:ext cx="2534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téléphone protégé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Données utilisées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4"/>
          <p:cNvSpPr/>
          <p:nvPr/>
        </p:nvSpPr>
        <p:spPr>
          <a:xfrm>
            <a:off x="658368" y="1170432"/>
            <a:ext cx="566928" cy="56692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408176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58368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5 572 SMS</a:t>
            </a:r>
            <a:b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annotés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471416" y="1170432"/>
            <a:ext cx="566928" cy="56692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221224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471416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🟦 Ham : 4 825</a:t>
            </a:r>
            <a:endParaRPr b="0" i="0" sz="1600" u="none" cap="none" strike="noStrike">
              <a:solidFill>
                <a:srgbClr val="1C38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C38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🟥 Spam : 747</a:t>
            </a:r>
            <a:endParaRPr b="0" i="0" sz="1600" u="none" cap="none" strike="noStrike">
              <a:solidFill>
                <a:srgbClr val="1C38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C38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284464" y="1170432"/>
            <a:ext cx="566928" cy="566928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034272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Colonnes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84464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1600" u="none" cap="none" strike="noStrike">
              <a:solidFill>
                <a:srgbClr val="1C38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1C38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22370" y="6226955"/>
            <a:ext cx="1069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2000"/>
              <a:buFont typeface="Arial"/>
              <a:buNone/>
            </a:pPr>
            <a:r>
              <a:rPr b="1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Le dataset est déséquilibré : le F1-score et le recall sont plus utiles que l’accuracy seule.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200" y="3264400"/>
            <a:ext cx="2893749" cy="273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5da45ec31_0_64"/>
          <p:cNvSpPr/>
          <p:nvPr/>
        </p:nvSpPr>
        <p:spPr>
          <a:xfrm>
            <a:off x="320040" y="201168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Modèle retenu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g3f5da45ec31_0_64"/>
          <p:cNvCxnSpPr/>
          <p:nvPr/>
        </p:nvCxnSpPr>
        <p:spPr>
          <a:xfrm>
            <a:off x="320040" y="658368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f5da45ec31_0_64"/>
          <p:cNvSpPr/>
          <p:nvPr/>
        </p:nvSpPr>
        <p:spPr>
          <a:xfrm>
            <a:off x="685800" y="1051560"/>
            <a:ext cx="2057400" cy="6858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b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0,9448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5da45ec31_0_64"/>
          <p:cNvSpPr/>
          <p:nvPr/>
        </p:nvSpPr>
        <p:spPr>
          <a:xfrm>
            <a:off x="4414978" y="3014975"/>
            <a:ext cx="411600" cy="4116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5da45ec31_0_64"/>
          <p:cNvSpPr/>
          <p:nvPr/>
        </p:nvSpPr>
        <p:spPr>
          <a:xfrm>
            <a:off x="5226275" y="1234403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Comparaison des modèles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5da45ec31_0_64"/>
          <p:cNvSpPr/>
          <p:nvPr/>
        </p:nvSpPr>
        <p:spPr>
          <a:xfrm>
            <a:off x="10051560" y="419094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5da45ec31_0_64"/>
          <p:cNvSpPr/>
          <p:nvPr/>
        </p:nvSpPr>
        <p:spPr>
          <a:xfrm>
            <a:off x="4960013" y="5342040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Le modèle le plus simple surpasse le LSTM et le transfer learning.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5da45ec31_0_64"/>
          <p:cNvSpPr/>
          <p:nvPr/>
        </p:nvSpPr>
        <p:spPr>
          <a:xfrm>
            <a:off x="11475720" y="6473952"/>
            <a:ext cx="41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g3f5da45ec31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425" y="1825450"/>
            <a:ext cx="2828925" cy="296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f5da45ec31_0_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7200" y="1790462"/>
            <a:ext cx="4314825" cy="30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Restitution &amp; impact utilisateur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6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6"/>
          <p:cNvSpPr/>
          <p:nvPr/>
        </p:nvSpPr>
        <p:spPr>
          <a:xfrm>
            <a:off x="1234440" y="1325880"/>
            <a:ext cx="2240280" cy="84124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0,9448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91440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1440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performance globale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1440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modèle retenu</a:t>
            </a:r>
            <a:b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Embedding + GAP</a:t>
            </a:r>
            <a:b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simple, léger, fiable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950208" y="1609344"/>
            <a:ext cx="384048" cy="384048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480560" y="1325880"/>
            <a:ext cx="2240280" cy="841248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91,9 %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16052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Spams détectés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16052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recall spam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16052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plus de 9 spams sur 10</a:t>
            </a:r>
            <a:b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correctement identifiés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196328" y="1609344"/>
            <a:ext cx="384048" cy="384048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726680" y="1325880"/>
            <a:ext cx="2240280" cy="84124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AT&amp;T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40664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6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Protection SMS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40664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ham / spam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40664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filtrage automatique</a:t>
            </a:r>
            <a:b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réduction de l’exposition</a:t>
            </a:r>
            <a:b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meilleure expérience utilisateur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Difficultés rencontrées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/>
          <p:nvPr/>
        </p:nvSpPr>
        <p:spPr>
          <a:xfrm>
            <a:off x="822960" y="1234440"/>
            <a:ext cx="594360" cy="594360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645920" y="126187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Dataset déséquilibré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349257" y="1261887"/>
            <a:ext cx="329100" cy="3291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355080" y="118872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Suivi du F1-score et du recall plutôt que de l’accuracy seule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22960" y="2743200"/>
            <a:ext cx="594360" cy="594360"/>
          </a:xfrm>
          <a:prstGeom prst="rect">
            <a:avLst/>
          </a:prstGeom>
          <a:solidFill>
            <a:srgbClr val="FFB703"/>
          </a:solidFill>
          <a:ln cap="flat" cmpd="sng" w="9525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645920" y="277063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Langage SMS spécifique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349207" y="2766060"/>
            <a:ext cx="329100" cy="3291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355080" y="269748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Tokenization + padding pour traiter abréviations, fautes et texte court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645920" y="427939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Complexité non gagnante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349157" y="4251957"/>
            <a:ext cx="329100" cy="3291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355080" y="420624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Embedding + GAP retenu car plus performant que LSTM et NNLM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22960" y="5961888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7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Point fort : le projet montre qu’un modèle simple, bien préparé et bien évalué peut battre des architectures plus complexes.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Conclusion et perspectives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8"/>
          <p:cNvSpPr/>
          <p:nvPr/>
        </p:nvSpPr>
        <p:spPr>
          <a:xfrm>
            <a:off x="685800" y="987552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800"/>
              <a:buFont typeface="Arial"/>
              <a:buNone/>
            </a:pP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Détecteur de spam SMS</a:t>
            </a:r>
            <a:b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2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simple et performant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777240" y="2331720"/>
            <a:ext cx="1234440" cy="395021"/>
          </a:xfrm>
          <a:prstGeom prst="rect">
            <a:avLst/>
          </a:prstGeom>
          <a:solidFill>
            <a:srgbClr val="FFFFFF">
              <a:alpha val="96078"/>
            </a:srgbClr>
          </a:solidFill>
          <a:ln cap="flat" cmpd="sng" w="9525">
            <a:solidFill>
              <a:srgbClr val="CFE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2400"/>
              <a:buFont typeface="Arial"/>
              <a:buNone/>
            </a:pPr>
            <a:r>
              <a:rPr b="1" i="0" lang="en-US" sz="2300" u="none" cap="none" strike="noStrike">
                <a:solidFill>
                  <a:srgbClr val="419669"/>
                </a:solidFill>
                <a:latin typeface="Arial"/>
                <a:ea typeface="Arial"/>
                <a:cs typeface="Arial"/>
                <a:sym typeface="Arial"/>
              </a:rPr>
              <a:t>5 572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77240" y="2726741"/>
            <a:ext cx="1234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80"/>
              <a:buFont typeface="Arial"/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SMS analysés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2404872" y="2331720"/>
            <a:ext cx="1234440" cy="395021"/>
          </a:xfrm>
          <a:prstGeom prst="rect">
            <a:avLst/>
          </a:prstGeom>
          <a:solidFill>
            <a:srgbClr val="FFFFFF">
              <a:alpha val="96078"/>
            </a:srgbClr>
          </a:solidFill>
          <a:ln cap="flat" cmpd="sng" w="9525">
            <a:solidFill>
              <a:srgbClr val="CFE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400"/>
              <a:buFont typeface="Arial"/>
              <a:buNone/>
            </a:pPr>
            <a:r>
              <a:rPr b="1" i="0" lang="en-US" sz="2300" u="none" cap="none" strike="noStrike">
                <a:solidFill>
                  <a:srgbClr val="419669"/>
                </a:solidFill>
                <a:latin typeface="Arial"/>
                <a:ea typeface="Arial"/>
                <a:cs typeface="Arial"/>
                <a:sym typeface="Arial"/>
              </a:rPr>
              <a:t>0,9448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404872" y="2726741"/>
            <a:ext cx="1234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80"/>
              <a:buFont typeface="Arial"/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032504" y="2331720"/>
            <a:ext cx="1234440" cy="395021"/>
          </a:xfrm>
          <a:prstGeom prst="rect">
            <a:avLst/>
          </a:prstGeom>
          <a:solidFill>
            <a:srgbClr val="FFFFFF">
              <a:alpha val="96078"/>
            </a:srgbClr>
          </a:solidFill>
          <a:ln cap="flat" cmpd="sng" w="9525">
            <a:solidFill>
              <a:srgbClr val="CFEF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2400"/>
              <a:buFont typeface="Arial"/>
              <a:buNone/>
            </a:pPr>
            <a:r>
              <a:rPr b="1" i="0" lang="en-US" sz="2300" u="none" cap="none" strike="noStrike">
                <a:solidFill>
                  <a:srgbClr val="419669"/>
                </a:solidFill>
                <a:latin typeface="Arial"/>
                <a:ea typeface="Arial"/>
                <a:cs typeface="Arial"/>
                <a:sym typeface="Arial"/>
              </a:rPr>
              <a:t>91,9 %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032504" y="2726741"/>
            <a:ext cx="12344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880"/>
              <a:buFont typeface="Arial"/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spams détectés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22960" y="393192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7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Compétences clés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22960" y="4343400"/>
            <a:ext cx="5120640" cy="621792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450"/>
              <a:buFont typeface="Arial"/>
              <a:buNone/>
            </a:pPr>
            <a:r>
              <a:rPr b="1" i="0" lang="en-US" sz="13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NLP   •   Tokenization   •   Padding   •   TensorFlow/Keras   •   Deep Learning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22960" y="534924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Évolutions possibles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22960" y="569671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données réelles AT&amp;T  ·  contexte expéditeur  ·  API de filtrage  ·  monitoring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98A2B3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346077" y="1237518"/>
            <a:ext cx="4160400" cy="4709100"/>
          </a:xfrm>
          <a:prstGeom prst="roundRect">
            <a:avLst>
              <a:gd fmla="val 16667" name="adj"/>
            </a:avLst>
          </a:prstGeom>
          <a:solidFill>
            <a:srgbClr val="F6F9FC"/>
          </a:solidFill>
          <a:ln cap="flat" cmpd="sng" w="9525">
            <a:solidFill>
              <a:srgbClr val="E8F0F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6812280" y="14173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Du SMS à la protection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929074" y="1938725"/>
            <a:ext cx="1046700" cy="438900"/>
          </a:xfrm>
          <a:prstGeom prst="ellipse">
            <a:avLst/>
          </a:prstGeom>
          <a:solidFill>
            <a:srgbClr val="2A69AA"/>
          </a:solidFill>
          <a:ln cap="flat" cmpd="sng" w="9525">
            <a:solidFill>
              <a:srgbClr val="2A69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8000990" y="2014986"/>
            <a:ext cx="205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SMS reçu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7338116" y="2385122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9A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903724" y="2715775"/>
            <a:ext cx="1097400" cy="475500"/>
          </a:xfrm>
          <a:prstGeom prst="ellipse">
            <a:avLst/>
          </a:prstGeom>
          <a:solidFill>
            <a:srgbClr val="EB9637"/>
          </a:solidFill>
          <a:ln cap="flat" cmpd="sng" w="9525">
            <a:solidFill>
              <a:srgbClr val="EB96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0.97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8046715" y="2766044"/>
            <a:ext cx="205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Score spam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7315266" y="3201967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9A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903725" y="3511475"/>
            <a:ext cx="1143000" cy="521400"/>
          </a:xfrm>
          <a:prstGeom prst="ellipse">
            <a:avLst/>
          </a:prstGeom>
          <a:solidFill>
            <a:srgbClr val="CD4848"/>
          </a:solidFill>
          <a:ln cap="flat" cmpd="sng" w="9525">
            <a:solidFill>
              <a:srgbClr val="CD48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8076365" y="3624127"/>
            <a:ext cx="205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Décision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7315266" y="4018812"/>
            <a:ext cx="27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69AA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903725" y="4305375"/>
            <a:ext cx="1143000" cy="521400"/>
          </a:xfrm>
          <a:prstGeom prst="ellipse">
            <a:avLst/>
          </a:prstGeom>
          <a:solidFill>
            <a:srgbClr val="419669"/>
          </a:solidFill>
          <a:ln cap="flat" cmpd="sng" w="9525">
            <a:solidFill>
              <a:srgbClr val="41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Bloquer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8046715" y="4448409"/>
            <a:ext cx="205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903720" y="5074920"/>
            <a:ext cx="3291840" cy="384048"/>
          </a:xfrm>
          <a:prstGeom prst="roundRect">
            <a:avLst>
              <a:gd fmla="val 16667" name="adj"/>
            </a:avLst>
          </a:prstGeom>
          <a:solidFill>
            <a:srgbClr val="419669"/>
          </a:solidFill>
          <a:ln cap="flat" cmpd="sng" w="9525">
            <a:solidFill>
              <a:srgbClr val="41966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6995160" y="512978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Utilisateur mieux protégé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5da45ec31_0_105"/>
          <p:cNvSpPr/>
          <p:nvPr/>
        </p:nvSpPr>
        <p:spPr>
          <a:xfrm>
            <a:off x="780267" y="1827113"/>
            <a:ext cx="10606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7500"/>
              <a:buFont typeface="Calibri"/>
              <a:buNone/>
            </a:pPr>
            <a:r>
              <a:rPr b="1" i="0" lang="en-US" sz="4400" u="none" cap="none" strike="noStrike">
                <a:solidFill>
                  <a:srgbClr val="1C3860"/>
                </a:solidFill>
                <a:latin typeface="Arial"/>
                <a:ea typeface="Arial"/>
                <a:cs typeface="Arial"/>
                <a:sym typeface="Arial"/>
              </a:rPr>
              <a:t>Merci !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5da45ec31_0_105"/>
          <p:cNvSpPr/>
          <p:nvPr/>
        </p:nvSpPr>
        <p:spPr>
          <a:xfrm>
            <a:off x="3708438" y="4677075"/>
            <a:ext cx="47748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CDSD – Groupe 4 – 2026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5da45ec31_0_105"/>
          <p:cNvSpPr/>
          <p:nvPr/>
        </p:nvSpPr>
        <p:spPr>
          <a:xfrm>
            <a:off x="11475720" y="6473952"/>
            <a:ext cx="41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2026-07-28T14:11:22Z</dcterms:created>
  <dc:creator>OpenAI</dc:creator>
</cp:coreProperties>
</file>