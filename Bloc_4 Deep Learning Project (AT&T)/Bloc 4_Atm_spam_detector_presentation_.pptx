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style2.xml" ContentType="application/vnd.ms-office.chartstyl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olors2.xml" ContentType="application/vnd.ms-office.chartcolorstyl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tx>
        <c:rich>
          <a:bodyPr rot="0"/>
          <a:lstStyle/>
          <a:p>
            <a:pPr>
              <a:defRPr sz="1300" b="0" u="none" strike="noStrike">
                <a:solidFill>
                  <a:srgbClr val="000000"/>
                </a:solidFill>
                <a:uFillTx/>
                <a:latin typeface="Arial"/>
              </a:defRPr>
            </a:pPr>
            <a:r>
              <a:rPr lang="fr-FR" sz="1800" b="0" u="none" strike="noStrike">
                <a:solidFill>
                  <a:srgbClr val="000000"/>
                </a:solidFill>
                <a:uFillTx/>
                <a:latin typeface="Arial"/>
              </a:rPr>
              <a:t>Répartition des classes (%)</a:t>
            </a:r>
          </a:p>
        </c:rich>
      </c:tx>
      <c:overlay val="0"/>
      <c:spPr>
        <a:noFill/>
        <a:ln w="0">
          <a:noFill/>
        </a:ln>
      </c:spPr>
    </c:title>
    <c:autoTitleDeleted val="0"/>
    <c:plotArea>
      <c:barChart>
        <c:barDir val="col"/>
        <c:grouping val="clustered"/>
        <c:varyColors val="0"/>
        <c:ser>
          <c:idx val="0"/>
          <c:order val="0"/>
          <c:tx>
            <c:strRef>
              <c:f>label 0</c:f>
              <c:strCache>
                <c:ptCount val="1"/>
                <c:pt idx="0">
                  <c:v>Répartition</c:v>
                </c:pt>
              </c:strCache>
            </c:strRef>
          </c:tx>
          <c:spPr>
            <a:solidFill>
              <a:srgbClr val="12A6A6"/>
            </a:solidFill>
            <a:ln w="0">
              <a:noFill/>
            </a:ln>
          </c:spPr>
          <c:invertIfNegative val="0"/>
          <c:dLbls>
            <c:numFmt formatCode="#,##0" sourceLinked="0"/>
            <c:txPr>
              <a:bodyPr wrap="square"/>
              <a:lstStyle/>
              <a:p>
                <a:pPr>
                  <a:defRPr sz="80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Ham</c:v>
                </c:pt>
                <c:pt idx="1">
                  <c:v>Spam</c:v>
                </c:pt>
              </c:strCache>
            </c:strRef>
          </c:cat>
          <c:val>
            <c:numRef>
              <c:f>0</c:f>
              <c:numCache>
                <c:formatCode>General</c:formatCode>
                <c:ptCount val="2"/>
                <c:pt idx="0">
                  <c:v>86.59</c:v>
                </c:pt>
                <c:pt idx="1">
                  <c:v>13.41</c:v>
                </c:pt>
              </c:numCache>
            </c:numRef>
          </c:val>
        </c:ser>
        <c:gapWidth val="150"/>
        <c:overlap val="0"/>
        <c:axId val="28264535"/>
        <c:axId val="4772394"/>
      </c:barChart>
      <c:catAx>
        <c:axId val="2826453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800" b="0" u="none" strike="noStrike">
                <a:solidFill>
                  <a:srgbClr val="000000"/>
                </a:solidFill>
                <a:uFillTx/>
                <a:latin typeface="Arial"/>
              </a:defRPr>
            </a:pPr>
          </a:p>
        </c:txPr>
        <c:crossAx val="4772394"/>
        <c:crosses val="autoZero"/>
        <c:auto val="1"/>
        <c:lblAlgn val="ctr"/>
        <c:lblOffset val="100"/>
        <c:noMultiLvlLbl val="0"/>
      </c:catAx>
      <c:valAx>
        <c:axId val="4772394"/>
        <c:scaling>
          <c:orientation val="minMax"/>
          <c:max val="100"/>
          <c:min val="0"/>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800" b="0" u="none" strike="noStrike">
                <a:solidFill>
                  <a:srgbClr val="000000"/>
                </a:solidFill>
                <a:uFillTx/>
                <a:latin typeface="Arial"/>
              </a:defRPr>
            </a:pPr>
          </a:p>
        </c:txPr>
        <c:crossAx val="28264535"/>
        <c:crosses val="autoZero"/>
        <c:crossBetween val="between"/>
        <c:majorUnit val="20"/>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tx>
        <c:rich>
          <a:bodyPr rot="0"/>
          <a:lstStyle/>
          <a:p>
            <a:pPr>
              <a:defRPr sz="1300" b="0" u="none" strike="noStrike">
                <a:solidFill>
                  <a:srgbClr val="000000"/>
                </a:solidFill>
                <a:uFillTx/>
                <a:latin typeface="Arial"/>
              </a:defRPr>
            </a:pPr>
            <a:r>
              <a:rPr lang="fr-FR" sz="1800" b="0" u="none" strike="noStrike">
                <a:solidFill>
                  <a:srgbClr val="000000"/>
                </a:solidFill>
                <a:uFillTx/>
                <a:latin typeface="Arial"/>
              </a:rPr>
              <a:t>Comparaison F1-score</a:t>
            </a:r>
          </a:p>
        </c:rich>
      </c:tx>
      <c:overlay val="0"/>
      <c:spPr>
        <a:noFill/>
        <a:ln w="0">
          <a:noFill/>
        </a:ln>
      </c:spPr>
    </c:title>
    <c:autoTitleDeleted val="0"/>
    <c:plotArea>
      <c:barChart>
        <c:barDir val="col"/>
        <c:grouping val="clustered"/>
        <c:varyColors val="0"/>
        <c:ser>
          <c:idx val="0"/>
          <c:order val="0"/>
          <c:tx>
            <c:strRef>
              <c:f>label 0</c:f>
              <c:strCache>
                <c:ptCount val="1"/>
                <c:pt idx="0">
                  <c:v>F1-score</c:v>
                </c:pt>
              </c:strCache>
            </c:strRef>
          </c:tx>
          <c:spPr>
            <a:solidFill>
              <a:srgbClr val="12A6A6"/>
            </a:solidFill>
            <a:ln w="0">
              <a:noFill/>
            </a:ln>
          </c:spPr>
          <c:invertIfNegative val="0"/>
          <c:dLbls>
            <c:txPr>
              <a:bodyPr wrap="square"/>
              <a:lstStyle/>
              <a:p>
                <a:pPr>
                  <a:defRPr sz="1000" b="0" u="none" strike="noStrike">
                    <a:solidFill>
                      <a:srgbClr val="000000"/>
                    </a:solidFill>
                    <a:uFillTx/>
                    <a:latin typeface="Arial"/>
                  </a:defRPr>
                </a:pPr>
              </a:p>
            </c:txPr>
            <c:dLblPos val="outEnd"/>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Embedding + GAP</c:v>
                </c:pt>
                <c:pt idx="1">
                  <c:v>Embedding + LSTM</c:v>
                </c:pt>
              </c:strCache>
            </c:strRef>
          </c:cat>
          <c:val>
            <c:numRef>
              <c:f>0</c:f>
              <c:numCache>
                <c:formatCode>General</c:formatCode>
                <c:ptCount val="2"/>
                <c:pt idx="0">
                  <c:v>0.9155</c:v>
                </c:pt>
                <c:pt idx="1">
                  <c:v>0.911</c:v>
                </c:pt>
              </c:numCache>
            </c:numRef>
          </c:val>
        </c:ser>
        <c:gapWidth val="150"/>
        <c:overlap val="0"/>
        <c:axId val="35740908"/>
        <c:axId val="26899869"/>
      </c:barChart>
      <c:catAx>
        <c:axId val="35740908"/>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800" b="0" u="none" strike="noStrike">
                <a:solidFill>
                  <a:srgbClr val="000000"/>
                </a:solidFill>
                <a:uFillTx/>
                <a:latin typeface="Arial"/>
              </a:defRPr>
            </a:pPr>
          </a:p>
        </c:txPr>
        <c:crossAx val="26899869"/>
        <c:crosses val="autoZero"/>
        <c:auto val="1"/>
        <c:lblAlgn val="ctr"/>
        <c:lblOffset val="100"/>
        <c:noMultiLvlLbl val="0"/>
      </c:catAx>
      <c:valAx>
        <c:axId val="26899869"/>
        <c:scaling>
          <c:orientation val="minMax"/>
          <c:max val="0.93"/>
          <c:min val="0.88"/>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800" b="0" u="none" strike="noStrike">
                <a:solidFill>
                  <a:srgbClr val="000000"/>
                </a:solidFill>
                <a:uFillTx/>
                <a:latin typeface="Arial"/>
              </a:defRPr>
            </a:pPr>
          </a:p>
        </c:txPr>
        <c:crossAx val="35740908"/>
        <c:crosses val="autoZero"/>
        <c:crossBetween val="between"/>
        <c:majorUnit val="0.01"/>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fr-FR" sz="1800" b="0" u="none" strike="noStrike">
                <a:solidFill>
                  <a:schemeClr val="dk1"/>
                </a:solidFill>
                <a:effectLst/>
                <a:uFillTx/>
                <a:latin typeface="Arial"/>
              </a:rPr>
              <a:t>Cliquez pour déplacer la diapo</a:t>
            </a:r>
            <a:endParaRPr lang="fr-FR" sz="1800" b="0" u="none" strike="noStrike">
              <a:solidFill>
                <a:schemeClr val="dk1"/>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31DEC1EE-7C58-44C7-98C6-08F9DA8E7965}"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0" y="0"/>
            <a:ext cx="0" cy="0"/>
          </a:xfrm>
          <a:prstGeom prst="rect">
            <a:avLst/>
          </a:prstGeom>
          <a:ln w="0">
            <a:noFill/>
          </a:ln>
        </p:spPr>
      </p:sp>
      <p:sp>
        <p:nvSpPr>
          <p:cNvPr id="1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Bonjour, je présente mon projet de détection de SMS indésirables avec le deep learning. L'objectif est de prédire si un SMS est un message normal, appelé ham, ou un spam, à partir du contenu textuel. Le projet suit une démarche complète : comprendre les données, préparer le texte, entraîner deux modèles, comparer les performances et retenir le modèle le plus pertinent.</a:t>
            </a:r>
            <a:endParaRPr lang="fr-FR" sz="2000" b="0" u="none" strike="noStrike">
              <a:solidFill>
                <a:srgbClr val="000000"/>
              </a:solidFill>
              <a:effectLst/>
              <a:uFillTx/>
              <a:latin typeface="Arial"/>
            </a:endParaRPr>
          </a:p>
        </p:txBody>
      </p:sp>
      <p:sp>
        <p:nvSpPr>
          <p:cNvPr id="161"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6024414-0FB9-4FED-8F11-B32EBC64D67A}"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0" y="0"/>
            <a:ext cx="0" cy="0"/>
          </a:xfrm>
          <a:prstGeom prst="rect">
            <a:avLst/>
          </a:prstGeom>
          <a:ln w="0">
            <a:noFill/>
          </a:ln>
        </p:spPr>
      </p:sp>
      <p:sp>
        <p:nvSpPr>
          <p:cNvPr id="1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problématique est de classer automatiquement des SMS comme normaux ou indésirables. Le modèle n’a pas accès à des informations sur l’expéditeur ou l’historique, il travaille uniquement sur le texte. L’intérêt métier est de réduire l’exposition aux spams et de produire une première brique de filtrage automatique.</a:t>
            </a:r>
            <a:endParaRPr lang="fr-FR" sz="2000" b="0" u="none" strike="noStrike">
              <a:solidFill>
                <a:srgbClr val="000000"/>
              </a:solidFill>
              <a:effectLst/>
              <a:uFillTx/>
              <a:latin typeface="Arial"/>
            </a:endParaRPr>
          </a:p>
        </p:txBody>
      </p:sp>
      <p:sp>
        <p:nvSpPr>
          <p:cNvPr id="164"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5B0CD78-76FB-4506-9595-8FDAD9D5D4F8}"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0" y="0"/>
            <a:ext cx="0" cy="0"/>
          </a:xfrm>
          <a:prstGeom prst="rect">
            <a:avLst/>
          </a:prstGeom>
          <a:ln w="0">
            <a:noFill/>
          </a:ln>
        </p:spPr>
      </p:sp>
      <p:sp>
        <p:nvSpPr>
          <p:cNvPr id="1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dataset contient 5 572 SMS, avec 4 825 messages normaux et 747 spams. Après nettoyage, je garde uniquement deux colonnes : le texte et le label. Cette étape montre que les données sont exploitables, mais aussi que la cible est déséquilibrée. Cela influence directement le choix des métriques.</a:t>
            </a:r>
            <a:endParaRPr lang="fr-FR" sz="2000" b="0" u="none" strike="noStrike">
              <a:solidFill>
                <a:srgbClr val="000000"/>
              </a:solidFill>
              <a:effectLst/>
              <a:uFillTx/>
              <a:latin typeface="Arial"/>
            </a:endParaRPr>
          </a:p>
        </p:txBody>
      </p:sp>
      <p:sp>
        <p:nvSpPr>
          <p:cNvPr id="167"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4FDA282-DC2A-4823-978B-5869383F9737}"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0" y="0"/>
            <a:ext cx="0" cy="0"/>
          </a:xfrm>
          <a:prstGeom prst="rect">
            <a:avLst/>
          </a:prstGeom>
          <a:ln w="0">
            <a:noFill/>
          </a:ln>
        </p:spPr>
      </p:sp>
      <p:sp>
        <p:nvSpPr>
          <p:cNvPr id="1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classe spam est minoritaire. Si on utilisait uniquement l’accuracy, on pourrait être trompé par un modèle qui prédit souvent ham. Ici, je regarde donc la précision, le rappel et le F1-score. Le rappel indique la part de vrais spams détectés, et le F1-score donne un compromis global.</a:t>
            </a:r>
            <a:endParaRPr lang="fr-FR" sz="2000" b="0" u="none" strike="noStrike">
              <a:solidFill>
                <a:srgbClr val="000000"/>
              </a:solidFill>
              <a:effectLst/>
              <a:uFillTx/>
              <a:latin typeface="Arial"/>
            </a:endParaRPr>
          </a:p>
        </p:txBody>
      </p:sp>
      <p:sp>
        <p:nvSpPr>
          <p:cNvPr id="170"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4B5779D-6155-443D-851D-DFCB992966D2}"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0" y="0"/>
            <a:ext cx="0" cy="0"/>
          </a:xfrm>
          <a:prstGeom prst="rect">
            <a:avLst/>
          </a:prstGeom>
          <a:ln w="0">
            <a:noFill/>
          </a:ln>
        </p:spPr>
      </p:sp>
      <p:sp>
        <p:nvSpPr>
          <p:cNvPr id="1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partie centrale du projet est la préparation du texte. Les labels sont encodés en 0 et 1, puis je sépare les données avec un split stratifié. Ensuite, le Tokenizer transforme les mots en entiers, et le padding uniformise la longueur des SMS. À la fin, chaque message est représenté par une séquence de 50 nombres.</a:t>
            </a:r>
            <a:endParaRPr lang="fr-FR" sz="2000" b="0" u="none" strike="noStrike">
              <a:solidFill>
                <a:srgbClr val="000000"/>
              </a:solidFill>
              <a:effectLst/>
              <a:uFillTx/>
              <a:latin typeface="Arial"/>
            </a:endParaRPr>
          </a:p>
        </p:txBody>
      </p:sp>
      <p:sp>
        <p:nvSpPr>
          <p:cNvPr id="173"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62D9B2B-DFE6-4DD4-A5AC-7DD348DFD5B9}"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0" y="0"/>
            <a:ext cx="0" cy="0"/>
          </a:xfrm>
          <a:prstGeom prst="rect">
            <a:avLst/>
          </a:prstGeom>
          <a:ln w="0">
            <a:noFill/>
          </a:ln>
        </p:spPr>
      </p:sp>
      <p:sp>
        <p:nvSpPr>
          <p:cNvPr id="17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premier modèle utilise une couche Embedding pour représenter les mots, puis un GlobalAveragePooling pour résumer le message. Il est volontairement simple, rapide et adapté aux textes courts. Il obtient un F1-score d’environ 0,9155, ce qui en fait une base solide pour le projet.</a:t>
            </a:r>
            <a:endParaRPr lang="fr-FR" sz="2000" b="0" u="none" strike="noStrike">
              <a:solidFill>
                <a:srgbClr val="000000"/>
              </a:solidFill>
              <a:effectLst/>
              <a:uFillTx/>
              <a:latin typeface="Arial"/>
            </a:endParaRPr>
          </a:p>
        </p:txBody>
      </p:sp>
      <p:sp>
        <p:nvSpPr>
          <p:cNvPr id="176"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777DC8E-95DB-4B94-BD27-D101102DE392}"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0" y="0"/>
            <a:ext cx="0" cy="0"/>
          </a:xfrm>
          <a:prstGeom prst="rect">
            <a:avLst/>
          </a:prstGeom>
          <a:ln w="0">
            <a:noFill/>
          </a:ln>
        </p:spPr>
      </p:sp>
      <p:sp>
        <p:nvSpPr>
          <p:cNvPr id="17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J’ai ensuite comparé le premier modèle avec un LSTM. Le LSTM est plus complexe et tient davantage compte de l’ordre des mots. Pourtant, sur ce dataset, il n’améliore pas les performances globales. Le modèle simple obtient le meilleur F1-score, donc il est retenu comme modèle final.</a:t>
            </a:r>
            <a:endParaRPr lang="fr-FR" sz="2000" b="0" u="none" strike="noStrike">
              <a:solidFill>
                <a:srgbClr val="000000"/>
              </a:solidFill>
              <a:effectLst/>
              <a:uFillTx/>
              <a:latin typeface="Arial"/>
            </a:endParaRPr>
          </a:p>
        </p:txBody>
      </p:sp>
      <p:sp>
        <p:nvSpPr>
          <p:cNvPr id="179"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39F8625-164A-4569-8D9F-8511ADE512B2}"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0" y="0"/>
            <a:ext cx="0" cy="0"/>
          </a:xfrm>
          <a:prstGeom prst="rect">
            <a:avLst/>
          </a:prstGeom>
          <a:ln w="0">
            <a:noFill/>
          </a:ln>
        </p:spPr>
      </p:sp>
      <p:sp>
        <p:nvSpPr>
          <p:cNvPr id="1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matrice de confusion donne une lecture plus concrète. Le modèle identifie 130 spams, ne produit que 5 fausses alertes, mais manque encore 19 spams. Cela montre que le modèle est performant, mais qu’il reste un arbitrage entre éviter les fausses alertes et détecter davantage de spams.</a:t>
            </a:r>
            <a:endParaRPr lang="fr-FR" sz="2000" b="0" u="none" strike="noStrike">
              <a:solidFill>
                <a:srgbClr val="000000"/>
              </a:solidFill>
              <a:effectLst/>
              <a:uFillTx/>
              <a:latin typeface="Arial"/>
            </a:endParaRPr>
          </a:p>
        </p:txBody>
      </p:sp>
      <p:sp>
        <p:nvSpPr>
          <p:cNvPr id="182"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B753D3A-741A-4805-9696-8E2DCF7CFD3D}"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0" y="0"/>
            <a:ext cx="0" cy="0"/>
          </a:xfrm>
          <a:prstGeom prst="rect">
            <a:avLst/>
          </a:prstGeom>
          <a:ln w="0">
            <a:noFill/>
          </a:ln>
        </p:spPr>
      </p:sp>
      <p:sp>
        <p:nvSpPr>
          <p:cNvPr id="1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D’un point de vue métier, le modèle peut servir de première couche de filtrage. Il ne remplace pas un système complet, car il ne voit pas l’expéditeur ou la fréquence des messages. Les suites possibles seraient d’ajouter des données contextuelles, de tester des embeddings plus avancés et d’ajuster le seuil selon le coût des erreurs.</a:t>
            </a:r>
            <a:endParaRPr lang="fr-FR" sz="2000" b="0" u="none" strike="noStrike">
              <a:solidFill>
                <a:srgbClr val="000000"/>
              </a:solidFill>
              <a:effectLst/>
              <a:uFillTx/>
              <a:latin typeface="Arial"/>
            </a:endParaRPr>
          </a:p>
        </p:txBody>
      </p:sp>
      <p:sp>
        <p:nvSpPr>
          <p:cNvPr id="185"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1E7EB3F-23F8-4BD2-BCEC-69DDB929B56A}"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0" y="0"/>
            <a:ext cx="0" cy="0"/>
          </a:xfrm>
          <a:prstGeom prst="rect">
            <a:avLst/>
          </a:prstGeom>
          <a:ln w="0">
            <a:noFill/>
          </a:ln>
        </p:spPr>
      </p:sp>
      <p:sp>
        <p:nvSpPr>
          <p:cNvPr id="1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Pour conclure, ce projet montre une chaîne complète de classification de texte : préparation, modèle, comparaison, interprétation et limites. Le modèle retenu est simple, performant et plus facile à expliquer que le LSTM. Pour les questions, je suis prêt à expliquer le déséquilibre des classes, le rôle du Tokenizer, la différence entre précision et rappel, pourquoi le modèle simple est retenu, et les pistes d’amélioration.</a:t>
            </a:r>
            <a:endParaRPr lang="fr-FR" sz="2000" b="0" u="none" strike="noStrike">
              <a:solidFill>
                <a:srgbClr val="000000"/>
              </a:solidFill>
              <a:effectLst/>
              <a:uFillTx/>
              <a:latin typeface="Arial"/>
            </a:endParaRPr>
          </a:p>
        </p:txBody>
      </p:sp>
      <p:sp>
        <p:nvSpPr>
          <p:cNvPr id="188"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4D80757-4916-4BCA-843A-4FFC7A5C5A13}"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rial"/>
              </a:defRPr>
            </a:lvl1pPr>
          </a:lstStyle>
          <a:p>
            <a:pPr indent="0" algn="l">
              <a:buNone/>
            </a:pPr>
            <a:r>
              <a:rPr lang="fr-FR" sz="1800" b="0" u="none" strike="noStrike">
                <a:solidFill>
                  <a:schemeClr val="dk1"/>
                </a:solidFill>
                <a:effectLst/>
                <a:uFillTx/>
                <a:latin typeface="Arial"/>
              </a:rPr>
              <a:t>Cliquez pour éditer le format du texte-titre</a:t>
            </a:r>
            <a:endParaRPr lang="fr-FR" sz="1800" b="0" u="none" strike="noStrike">
              <a:solidFill>
                <a:schemeClr val="dk1"/>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chemeClr val="dk1"/>
                </a:solidFill>
                <a:effectLst/>
                <a:uFillTx/>
                <a:latin typeface="Arial"/>
              </a:defRPr>
            </a:lvl1pPr>
            <a:lvl2pPr lvl="1" algn="l">
              <a:spcBef>
                <a:spcPts val="1134"/>
              </a:spcBef>
              <a:buClr>
                <a:srgbClr val="000000"/>
              </a:buClr>
              <a:buSzPct val="75000"/>
              <a:buFont typeface="Symbol" charset="2"/>
              <a:buChar char=""/>
              <a:defRPr lang="fr-FR" sz="2400" b="0" u="none" strike="noStrike">
                <a:solidFill>
                  <a:schemeClr val="dk1"/>
                </a:solidFill>
                <a:effectLst/>
                <a:uFillTx/>
                <a:latin typeface="Arial"/>
              </a:defRPr>
            </a:lvl2pPr>
            <a:lvl3pPr lvl="2" algn="l">
              <a:spcBef>
                <a:spcPts val="850"/>
              </a:spcBef>
              <a:buClr>
                <a:srgbClr val="000000"/>
              </a:buClr>
              <a:buSzPct val="45000"/>
              <a:buFont typeface="Wingdings" charset="2"/>
              <a:buChar char=""/>
              <a:defRPr lang="fr-FR" sz="20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fr-FR" sz="200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spcBef>
                <a:spcPts val="1417"/>
              </a:spcBef>
              <a:buClr>
                <a:srgbClr val="000000"/>
              </a:buClr>
              <a:buSzPct val="45000"/>
              <a:buFont typeface="Wingdings" charset="2"/>
              <a:buChar char=""/>
            </a:pPr>
            <a:r>
              <a:rPr lang="fr-FR" sz="3200" b="0" u="none" strike="noStrike">
                <a:solidFill>
                  <a:schemeClr val="dk1"/>
                </a:solidFill>
                <a:effectLst/>
                <a:uFillTx/>
                <a:latin typeface="Arial"/>
              </a:rPr>
              <a:t>Cliquez pour éditer le format du plan de texte</a:t>
            </a:r>
            <a:endParaRPr lang="fr-FR" sz="3200" b="0" u="none" strike="noStrike">
              <a:solidFill>
                <a:schemeClr val="dk1"/>
              </a:solidFill>
              <a:effectLst/>
              <a:uFillTx/>
              <a:latin typeface="Arial"/>
            </a:endParaRPr>
          </a:p>
          <a:p>
            <a:pPr marL="864000" lvl="1" indent="-324000" algn="l">
              <a:spcBef>
                <a:spcPts val="1134"/>
              </a:spcBef>
              <a:buClr>
                <a:srgbClr val="000000"/>
              </a:buClr>
              <a:buSzPct val="75000"/>
              <a:buFont typeface="Symbol" charset="2"/>
              <a:buChar char=""/>
            </a:pPr>
            <a:r>
              <a:rPr lang="fr-FR" sz="2400" b="0" u="none" strike="noStrike">
                <a:solidFill>
                  <a:schemeClr val="dk1"/>
                </a:solidFill>
                <a:effectLst/>
                <a:uFillTx/>
                <a:latin typeface="Arial"/>
              </a:rPr>
              <a:t>Second niveau de plan</a:t>
            </a:r>
            <a:endParaRPr lang="fr-FR" sz="2400" b="0" u="none" strike="noStrike">
              <a:solidFill>
                <a:schemeClr val="dk1"/>
              </a:solidFill>
              <a:effectLst/>
              <a:uFillTx/>
              <a:latin typeface="Arial"/>
            </a:endParaRPr>
          </a:p>
          <a:p>
            <a:pPr marL="1296000" lvl="2" indent="-288000" algn="l">
              <a:spcBef>
                <a:spcPts val="850"/>
              </a:spcBef>
              <a:buClr>
                <a:srgbClr val="000000"/>
              </a:buClr>
              <a:buSzPct val="45000"/>
              <a:buFont typeface="Wingdings" charset="2"/>
              <a:buChar char=""/>
            </a:pPr>
            <a:r>
              <a:rPr lang="fr-FR" sz="2000" b="0" u="none" strike="noStrike">
                <a:solidFill>
                  <a:schemeClr val="dk1"/>
                </a:solidFill>
                <a:effectLst/>
                <a:uFillTx/>
                <a:latin typeface="Arial"/>
              </a:rPr>
              <a:t>Troisième niveau de plan</a:t>
            </a:r>
            <a:endParaRPr lang="fr-FR" sz="20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fr-FR" sz="2000" b="0" u="none" strike="noStrike">
                <a:solidFill>
                  <a:schemeClr val="dk1"/>
                </a:solidFill>
                <a:effectLst/>
                <a:uFillTx/>
                <a:latin typeface="Arial"/>
              </a:rPr>
              <a:t>Quatrième niveau de plan</a:t>
            </a:r>
            <a:endParaRPr lang="fr-FR" sz="200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fr-FR" sz="2000" b="0" u="none" strike="noStrike">
                <a:solidFill>
                  <a:schemeClr val="dk1"/>
                </a:solidFill>
                <a:effectLst/>
                <a:uFillTx/>
                <a:latin typeface="Arial"/>
              </a:rPr>
              <a:t>Cinquième niveau de plan</a:t>
            </a:r>
            <a:endParaRPr lang="fr-FR"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fr-FR" sz="2000" b="0" u="none" strike="noStrike">
                <a:solidFill>
                  <a:schemeClr val="dk1"/>
                </a:solidFill>
                <a:effectLst/>
                <a:uFillTx/>
                <a:latin typeface="Arial"/>
              </a:rPr>
              <a:t>Sixième niveau de plan</a:t>
            </a:r>
            <a:endParaRPr lang="fr-FR"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fr-FR" sz="2000" b="0" u="none" strike="noStrike">
                <a:solidFill>
                  <a:schemeClr val="dk1"/>
                </a:solidFill>
                <a:effectLst/>
                <a:uFillTx/>
                <a:latin typeface="Arial"/>
              </a:rPr>
              <a:t>Septième niveau de plan</a:t>
            </a:r>
            <a:endParaRPr lang="fr-FR"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D42"/>
        </a:solidFill>
      </p:bgPr>
    </p:bg>
    <p:spTree>
      <p:nvGrpSpPr>
        <p:cNvPr id="1" name=""/>
        <p:cNvGrpSpPr/>
        <p:nvPr/>
      </p:nvGrpSpPr>
      <p:grpSpPr>
        <a:xfrm>
          <a:off x="0" y="0"/>
          <a:ext cx="0" cy="0"/>
          <a:chOff x="0" y="0"/>
          <a:chExt cx="0" cy="0"/>
        </a:xfrm>
      </p:grpSpPr>
      <p:sp>
        <p:nvSpPr>
          <p:cNvPr id="10" name="Text 0"/>
          <p:cNvSpPr/>
          <p:nvPr/>
        </p:nvSpPr>
        <p:spPr>
          <a:xfrm>
            <a:off x="640080" y="859680"/>
            <a:ext cx="5851800" cy="648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FFFFFF"/>
                </a:solidFill>
                <a:effectLst/>
                <a:uFillTx/>
                <a:latin typeface="Arial"/>
              </a:rPr>
              <a:t>Détection de SMS indésirables</a:t>
            </a:r>
            <a:endParaRPr lang="fr-FR" sz="2800" b="0" u="none" strike="noStrike">
              <a:solidFill>
                <a:srgbClr val="FFFFFF"/>
              </a:solidFill>
              <a:effectLst/>
              <a:uFillTx/>
              <a:latin typeface="Arial"/>
            </a:endParaRPr>
          </a:p>
        </p:txBody>
      </p:sp>
      <p:sp>
        <p:nvSpPr>
          <p:cNvPr id="11" name="Text 1"/>
          <p:cNvSpPr/>
          <p:nvPr/>
        </p:nvSpPr>
        <p:spPr>
          <a:xfrm>
            <a:off x="640080" y="1572840"/>
            <a:ext cx="5486040" cy="402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0" u="none" strike="noStrike">
                <a:solidFill>
                  <a:srgbClr val="D9EEF2"/>
                </a:solidFill>
                <a:effectLst/>
                <a:uFillTx/>
                <a:latin typeface="Arial"/>
              </a:rPr>
              <a:t>avec le deep learning</a:t>
            </a:r>
            <a:endParaRPr lang="fr-FR" sz="2000" b="0" u="none" strike="noStrike">
              <a:solidFill>
                <a:srgbClr val="FFFFFF"/>
              </a:solidFill>
              <a:effectLst/>
              <a:uFillTx/>
              <a:latin typeface="Arial"/>
            </a:endParaRPr>
          </a:p>
        </p:txBody>
      </p:sp>
      <p:sp>
        <p:nvSpPr>
          <p:cNvPr id="12" name="Text 2"/>
          <p:cNvSpPr/>
          <p:nvPr/>
        </p:nvSpPr>
        <p:spPr>
          <a:xfrm>
            <a:off x="640080" y="2030040"/>
            <a:ext cx="63090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D9EEF2"/>
                </a:solidFill>
                <a:effectLst/>
                <a:uFillTx/>
                <a:latin typeface="Arial"/>
              </a:rPr>
              <a:t>Classification binaire · NLP · TensorFlow/Keras · F1-score</a:t>
            </a:r>
            <a:endParaRPr lang="fr-FR" sz="1200" b="0" u="none" strike="noStrike">
              <a:solidFill>
                <a:srgbClr val="FFFFFF"/>
              </a:solidFill>
              <a:effectLst/>
              <a:uFillTx/>
              <a:latin typeface="Arial"/>
            </a:endParaRPr>
          </a:p>
        </p:txBody>
      </p:sp>
      <p:sp>
        <p:nvSpPr>
          <p:cNvPr id="13" name="Text 3"/>
          <p:cNvSpPr/>
          <p:nvPr/>
        </p:nvSpPr>
        <p:spPr>
          <a:xfrm>
            <a:off x="640080" y="4297680"/>
            <a:ext cx="5119920" cy="742320"/>
          </a:xfrm>
          <a:prstGeom prst="rect">
            <a:avLst/>
          </a:prstGeom>
          <a:solidFill>
            <a:srgbClr val="123C55"/>
          </a:solidFill>
          <a:ln w="0">
            <a:noFill/>
          </a:ln>
        </p:spPr>
        <p:style>
          <a:lnRef idx="0"/>
          <a:fillRef idx="0"/>
          <a:effectRef idx="0"/>
          <a:fontRef idx="minor"/>
        </p:style>
        <p:txBody>
          <a:bodyPr lIns="1800" tIns="1800" rIns="1800" bIns="1800" anchor="ctr">
            <a:noAutofit/>
          </a:bodyPr>
          <a:p>
            <a:pPr defTabSz="914400">
              <a:lnSpc>
                <a:spcPct val="100000"/>
              </a:lnSpc>
              <a:tabLst>
                <a:tab pos="0" algn="l"/>
              </a:tabLst>
            </a:pPr>
            <a:r>
              <a:rPr lang="fr-FR" sz="1600" b="1" u="none" strike="noStrike">
                <a:solidFill>
                  <a:srgbClr val="FFFFFF"/>
                </a:solidFill>
                <a:effectLst/>
                <a:uFillTx/>
                <a:latin typeface="Arial"/>
              </a:rPr>
              <a:t>Objectif : Prédire automatiquement si un SMS est un message normal ou indésirable à partir de son contenu textuel.</a:t>
            </a:r>
            <a:endParaRPr lang="fr-FR" sz="1600" b="0" u="none" strike="noStrike">
              <a:solidFill>
                <a:srgbClr val="FFFFFF"/>
              </a:solidFill>
              <a:effectLst/>
              <a:uFillTx/>
              <a:latin typeface="Arial"/>
            </a:endParaRPr>
          </a:p>
        </p:txBody>
      </p:sp>
      <p:sp>
        <p:nvSpPr>
          <p:cNvPr id="14" name="Text 4"/>
          <p:cNvSpPr/>
          <p:nvPr/>
        </p:nvSpPr>
        <p:spPr>
          <a:xfrm>
            <a:off x="7680960" y="1170360"/>
            <a:ext cx="15084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D9EEF2"/>
                </a:solidFill>
                <a:effectLst/>
                <a:uFillTx/>
                <a:latin typeface="Arial"/>
              </a:rPr>
              <a:t>Repères clés</a:t>
            </a:r>
            <a:endParaRPr lang="fr-FR" sz="1200" b="0" u="none" strike="noStrike">
              <a:solidFill>
                <a:srgbClr val="FFFFFF"/>
              </a:solidFill>
              <a:effectLst/>
              <a:uFillTx/>
              <a:latin typeface="Arial"/>
            </a:endParaRPr>
          </a:p>
        </p:txBody>
      </p:sp>
      <p:sp>
        <p:nvSpPr>
          <p:cNvPr id="15" name="Shape 5"/>
          <p:cNvSpPr/>
          <p:nvPr/>
        </p:nvSpPr>
        <p:spPr>
          <a:xfrm>
            <a:off x="7635240" y="914400"/>
            <a:ext cx="36360" cy="4434480"/>
          </a:xfrm>
          <a:prstGeom prst="rect">
            <a:avLst/>
          </a:prstGeom>
          <a:solidFill>
            <a:srgbClr val="12A6A6"/>
          </a:solidFill>
          <a:ln w="12700">
            <a:solidFill>
              <a:srgbClr val="12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rial"/>
            </a:endParaRPr>
          </a:p>
        </p:txBody>
      </p:sp>
      <p:sp>
        <p:nvSpPr>
          <p:cNvPr id="16" name="Shape 6"/>
          <p:cNvSpPr/>
          <p:nvPr/>
        </p:nvSpPr>
        <p:spPr>
          <a:xfrm>
            <a:off x="7818120" y="640080"/>
            <a:ext cx="146268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7" name="Shape 7"/>
          <p:cNvSpPr/>
          <p:nvPr/>
        </p:nvSpPr>
        <p:spPr>
          <a:xfrm>
            <a:off x="7818120" y="850320"/>
            <a:ext cx="1234080" cy="36360"/>
          </a:xfrm>
          <a:prstGeom prst="rect">
            <a:avLst/>
          </a:prstGeom>
          <a:solidFill>
            <a:srgbClr val="F2B744"/>
          </a:solidFill>
          <a:ln w="12700">
            <a:solidFill>
              <a:srgbClr val="F2B744"/>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8" name="Shape 8"/>
          <p:cNvSpPr/>
          <p:nvPr/>
        </p:nvSpPr>
        <p:spPr>
          <a:xfrm>
            <a:off x="7818120" y="1060560"/>
            <a:ext cx="1005480" cy="36360"/>
          </a:xfrm>
          <a:prstGeom prst="rect">
            <a:avLst/>
          </a:prstGeom>
          <a:solidFill>
            <a:srgbClr val="FFFFFF"/>
          </a:solidFill>
          <a:ln w="12700">
            <a:solidFill>
              <a:srgbClr val="FFFFFF"/>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9" name="Text 9"/>
          <p:cNvSpPr/>
          <p:nvPr/>
        </p:nvSpPr>
        <p:spPr>
          <a:xfrm>
            <a:off x="7818120" y="1554480"/>
            <a:ext cx="228564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24B8B8"/>
                </a:solidFill>
                <a:effectLst/>
                <a:uFillTx/>
                <a:latin typeface="Arial"/>
              </a:rPr>
              <a:t>5 572</a:t>
            </a:r>
            <a:endParaRPr lang="fr-FR" sz="2400" b="0" u="none" strike="noStrike">
              <a:solidFill>
                <a:srgbClr val="FFFFFF"/>
              </a:solidFill>
              <a:effectLst/>
              <a:uFillTx/>
              <a:latin typeface="Arial"/>
            </a:endParaRPr>
          </a:p>
        </p:txBody>
      </p:sp>
      <p:sp>
        <p:nvSpPr>
          <p:cNvPr id="20" name="Text 10"/>
          <p:cNvSpPr/>
          <p:nvPr/>
        </p:nvSpPr>
        <p:spPr>
          <a:xfrm>
            <a:off x="7836480" y="1810440"/>
            <a:ext cx="22856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D9EEF2"/>
                </a:solidFill>
                <a:effectLst/>
                <a:uFillTx/>
                <a:latin typeface="Arial"/>
              </a:rPr>
              <a:t>SMS annotés</a:t>
            </a:r>
            <a:endParaRPr lang="fr-FR" sz="1100" b="0" u="none" strike="noStrike">
              <a:solidFill>
                <a:srgbClr val="FFFFFF"/>
              </a:solidFill>
              <a:effectLst/>
              <a:uFillTx/>
              <a:latin typeface="Arial"/>
            </a:endParaRPr>
          </a:p>
        </p:txBody>
      </p:sp>
      <p:sp>
        <p:nvSpPr>
          <p:cNvPr id="21" name="Text 11"/>
          <p:cNvSpPr/>
          <p:nvPr/>
        </p:nvSpPr>
        <p:spPr>
          <a:xfrm>
            <a:off x="7818120" y="2267640"/>
            <a:ext cx="228564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24B8B8"/>
                </a:solidFill>
                <a:effectLst/>
                <a:uFillTx/>
                <a:latin typeface="Arial"/>
              </a:rPr>
              <a:t>13,41 %</a:t>
            </a:r>
            <a:endParaRPr lang="fr-FR" sz="2200" b="0" u="none" strike="noStrike">
              <a:solidFill>
                <a:srgbClr val="FFFFFF"/>
              </a:solidFill>
              <a:effectLst/>
              <a:uFillTx/>
              <a:latin typeface="Arial"/>
            </a:endParaRPr>
          </a:p>
        </p:txBody>
      </p:sp>
      <p:sp>
        <p:nvSpPr>
          <p:cNvPr id="22" name="Text 12"/>
          <p:cNvSpPr/>
          <p:nvPr/>
        </p:nvSpPr>
        <p:spPr>
          <a:xfrm>
            <a:off x="7836480" y="2523600"/>
            <a:ext cx="22856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D9EEF2"/>
                </a:solidFill>
                <a:effectLst/>
                <a:uFillTx/>
                <a:latin typeface="Arial"/>
              </a:rPr>
              <a:t>messages spam</a:t>
            </a:r>
            <a:endParaRPr lang="fr-FR" sz="1100" b="0" u="none" strike="noStrike">
              <a:solidFill>
                <a:srgbClr val="FFFFFF"/>
              </a:solidFill>
              <a:effectLst/>
              <a:uFillTx/>
              <a:latin typeface="Arial"/>
            </a:endParaRPr>
          </a:p>
        </p:txBody>
      </p:sp>
      <p:sp>
        <p:nvSpPr>
          <p:cNvPr id="23" name="Text 13"/>
          <p:cNvSpPr/>
          <p:nvPr/>
        </p:nvSpPr>
        <p:spPr>
          <a:xfrm>
            <a:off x="7818120" y="2980800"/>
            <a:ext cx="228564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24B8B8"/>
                </a:solidFill>
                <a:effectLst/>
                <a:uFillTx/>
                <a:latin typeface="Arial"/>
              </a:rPr>
              <a:t>0,9155</a:t>
            </a:r>
            <a:endParaRPr lang="fr-FR" sz="2200" b="0" u="none" strike="noStrike">
              <a:solidFill>
                <a:srgbClr val="FFFFFF"/>
              </a:solidFill>
              <a:effectLst/>
              <a:uFillTx/>
              <a:latin typeface="Arial"/>
            </a:endParaRPr>
          </a:p>
        </p:txBody>
      </p:sp>
      <p:sp>
        <p:nvSpPr>
          <p:cNvPr id="24" name="Text 14"/>
          <p:cNvSpPr/>
          <p:nvPr/>
        </p:nvSpPr>
        <p:spPr>
          <a:xfrm>
            <a:off x="7836480" y="3237120"/>
            <a:ext cx="22856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D9EEF2"/>
                </a:solidFill>
                <a:effectLst/>
                <a:uFillTx/>
                <a:latin typeface="Arial"/>
              </a:rPr>
              <a:t>F1-score final</a:t>
            </a:r>
            <a:endParaRPr lang="fr-FR" sz="1100" b="0" u="none" strike="noStrike">
              <a:solidFill>
                <a:srgbClr val="FFFFFF"/>
              </a:solidFill>
              <a:effectLst/>
              <a:uFillTx/>
              <a:latin typeface="Arial"/>
            </a:endParaRPr>
          </a:p>
        </p:txBody>
      </p:sp>
      <p:sp>
        <p:nvSpPr>
          <p:cNvPr id="25" name="Text 15"/>
          <p:cNvSpPr/>
          <p:nvPr/>
        </p:nvSpPr>
        <p:spPr>
          <a:xfrm>
            <a:off x="640080" y="6080760"/>
            <a:ext cx="2742840" cy="429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0" u="none" strike="noStrike">
                <a:solidFill>
                  <a:srgbClr val="D9EEF2"/>
                </a:solidFill>
                <a:effectLst/>
                <a:uFillTx/>
                <a:latin typeface="Arial"/>
              </a:rPr>
              <a:t>Groupe 3- Bloc 4</a:t>
            </a:r>
            <a:endParaRPr lang="fr-FR" sz="2200" b="0" u="none" strike="noStrike">
              <a:solidFill>
                <a:srgbClr val="FFFFFF"/>
              </a:solidFill>
              <a:effectLst/>
              <a:uFillTx/>
              <a:latin typeface="Arial"/>
            </a:endParaRPr>
          </a:p>
        </p:txBody>
      </p:sp>
      <p:sp>
        <p:nvSpPr>
          <p:cNvPr id="26" name="Text 16"/>
          <p:cNvSpPr/>
          <p:nvPr/>
        </p:nvSpPr>
        <p:spPr>
          <a:xfrm>
            <a:off x="7909560" y="5614560"/>
            <a:ext cx="255996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D9EEF2"/>
                </a:solidFill>
                <a:effectLst/>
                <a:uFillTx/>
                <a:latin typeface="Arial"/>
              </a:rPr>
              <a:t>Présentation 5 min + questions 5 min</a:t>
            </a:r>
            <a:endParaRPr lang="fr-FR" sz="1100" b="0" u="none" strike="noStrike">
              <a:solidFill>
                <a:srgbClr val="FFFFFF"/>
              </a:solidFill>
              <a:effectLst/>
              <a:uFillTx/>
              <a:latin typeface="Arial"/>
            </a:endParaRPr>
          </a:p>
        </p:txBody>
      </p:sp>
      <p:sp>
        <p:nvSpPr>
          <p:cNvPr id="27" name="Text 17"/>
          <p:cNvSpPr/>
          <p:nvPr/>
        </p:nvSpPr>
        <p:spPr>
          <a:xfrm>
            <a:off x="11777400" y="651060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D9EEF2"/>
                </a:solidFill>
                <a:effectLst/>
                <a:uFillTx/>
                <a:latin typeface="Arial"/>
              </a:rPr>
              <a:t>1</a:t>
            </a:r>
            <a:endParaRPr lang="fr-FR" sz="6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28"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000" b="1" u="none" strike="noStrike">
                <a:solidFill>
                  <a:srgbClr val="FFFFFF"/>
                </a:solidFill>
                <a:effectLst/>
                <a:uFillTx/>
                <a:latin typeface="Arial"/>
                <a:ea typeface="Arial"/>
              </a:rPr>
              <a:t> Problème métier</a:t>
            </a:r>
            <a:endParaRPr lang="fr-FR" sz="2000" b="0" u="none" strike="noStrike">
              <a:solidFill>
                <a:srgbClr val="FFFFFF"/>
              </a:solidFill>
              <a:effectLst/>
              <a:uFillTx/>
              <a:latin typeface="Arial"/>
            </a:endParaRPr>
          </a:p>
        </p:txBody>
      </p:sp>
      <p:sp>
        <p:nvSpPr>
          <p:cNvPr id="29"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D9EEF2"/>
                </a:solidFill>
                <a:effectLst/>
                <a:uFillTx/>
                <a:latin typeface="Arial"/>
              </a:rPr>
              <a:t>Identifier automatiquement les messages indésirables</a:t>
            </a:r>
            <a:endParaRPr lang="fr-FR" sz="1100" b="0" u="none" strike="noStrike">
              <a:solidFill>
                <a:srgbClr val="000000"/>
              </a:solidFill>
              <a:effectLst/>
              <a:uFillTx/>
              <a:latin typeface="Arial"/>
            </a:endParaRPr>
          </a:p>
        </p:txBody>
      </p:sp>
      <p:sp>
        <p:nvSpPr>
          <p:cNvPr id="30"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31"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32"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2</a:t>
            </a:r>
            <a:endParaRPr lang="fr-FR" sz="650" b="0" u="none" strike="noStrike">
              <a:solidFill>
                <a:srgbClr val="000000"/>
              </a:solidFill>
              <a:effectLst/>
              <a:uFillTx/>
              <a:latin typeface="Arial"/>
            </a:endParaRPr>
          </a:p>
        </p:txBody>
      </p:sp>
      <p:sp>
        <p:nvSpPr>
          <p:cNvPr id="33" name="Text 5"/>
          <p:cNvSpPr/>
          <p:nvPr/>
        </p:nvSpPr>
        <p:spPr>
          <a:xfrm>
            <a:off x="640080" y="978480"/>
            <a:ext cx="2322360" cy="282960"/>
          </a:xfrm>
          <a:prstGeom prst="rect">
            <a:avLst/>
          </a:prstGeom>
          <a:solidFill>
            <a:srgbClr val="E7F6F6"/>
          </a:solidFill>
          <a:ln w="0">
            <a:noFill/>
          </a:ln>
        </p:spPr>
        <p:style>
          <a:lnRef idx="0"/>
          <a:fillRef idx="0"/>
          <a:effectRef idx="0"/>
          <a:fontRef idx="minor"/>
        </p:style>
        <p:txBody>
          <a:bodyPr lIns="720" tIns="720" rIns="720" bIns="720" anchor="ctr">
            <a:noAutofit/>
          </a:bodyPr>
          <a:p>
            <a:pPr defTabSz="914400">
              <a:lnSpc>
                <a:spcPct val="100000"/>
              </a:lnSpc>
              <a:tabLst>
                <a:tab pos="0" algn="l"/>
              </a:tabLst>
            </a:pPr>
            <a:r>
              <a:rPr lang="fr-FR" sz="1600" b="1" u="none" strike="noStrike">
                <a:solidFill>
                  <a:srgbClr val="12A6A6"/>
                </a:solidFill>
                <a:effectLst/>
                <a:uFillTx/>
                <a:latin typeface="Arial"/>
              </a:rPr>
              <a:t>QUESTION CENTRALE</a:t>
            </a:r>
            <a:endParaRPr lang="fr-FR" sz="1600" b="0" u="none" strike="noStrike">
              <a:solidFill>
                <a:srgbClr val="000000"/>
              </a:solidFill>
              <a:effectLst/>
              <a:uFillTx/>
              <a:latin typeface="Arial"/>
            </a:endParaRPr>
          </a:p>
        </p:txBody>
      </p:sp>
      <p:sp>
        <p:nvSpPr>
          <p:cNvPr id="34" name="Text 6"/>
          <p:cNvSpPr/>
          <p:nvPr/>
        </p:nvSpPr>
        <p:spPr>
          <a:xfrm>
            <a:off x="640080" y="1417320"/>
            <a:ext cx="4754520" cy="621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fr-FR" sz="1700" b="1" u="none" strike="noStrike">
                <a:solidFill>
                  <a:srgbClr val="26343B"/>
                </a:solidFill>
                <a:effectLst/>
                <a:uFillTx/>
                <a:latin typeface="Arial"/>
              </a:rPr>
              <a:t>Peut-on détecter efficacement un SMS spam à partir du seul texte du message ?</a:t>
            </a:r>
            <a:endParaRPr lang="fr-FR" sz="1700" b="0" u="none" strike="noStrike">
              <a:solidFill>
                <a:srgbClr val="000000"/>
              </a:solidFill>
              <a:effectLst/>
              <a:uFillTx/>
              <a:latin typeface="Arial"/>
            </a:endParaRPr>
          </a:p>
        </p:txBody>
      </p:sp>
      <p:sp>
        <p:nvSpPr>
          <p:cNvPr id="35" name="Text 7"/>
          <p:cNvSpPr/>
          <p:nvPr/>
        </p:nvSpPr>
        <p:spPr>
          <a:xfrm>
            <a:off x="640080" y="2514600"/>
            <a:ext cx="470880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800" b="1" u="none" strike="noStrike">
                <a:solidFill>
                  <a:srgbClr val="12A6A6"/>
                </a:solidFill>
                <a:effectLst/>
                <a:uFillTx/>
                <a:latin typeface="Arial"/>
              </a:rPr>
              <a:t>Valeur métier</a:t>
            </a:r>
            <a:endParaRPr lang="fr-FR" sz="1800" b="0" u="none" strike="noStrike">
              <a:solidFill>
                <a:srgbClr val="000000"/>
              </a:solidFill>
              <a:effectLst/>
              <a:uFillTx/>
              <a:latin typeface="Arial"/>
            </a:endParaRPr>
          </a:p>
        </p:txBody>
      </p:sp>
      <p:sp>
        <p:nvSpPr>
          <p:cNvPr id="36" name="Text 8"/>
          <p:cNvSpPr/>
          <p:nvPr/>
        </p:nvSpPr>
        <p:spPr>
          <a:xfrm>
            <a:off x="694800" y="2843640"/>
            <a:ext cx="4599000" cy="1746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600" b="0" u="none" strike="noStrike">
                <a:solidFill>
                  <a:srgbClr val="26343B"/>
                </a:solidFill>
                <a:effectLst/>
                <a:uFillTx/>
                <a:latin typeface="Arial"/>
              </a:rPr>
              <a:t>• filtrer automatiquement les messages suspects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réduire l’exposition aux messages frauduleux ou promotionnels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améliorer l’expérience utilisateur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fournir une première brique de modération.</a:t>
            </a:r>
            <a:endParaRPr lang="fr-FR" sz="1600" b="0" u="none" strike="noStrike">
              <a:solidFill>
                <a:srgbClr val="000000"/>
              </a:solidFill>
              <a:effectLst/>
              <a:uFillTx/>
              <a:latin typeface="Arial"/>
            </a:endParaRPr>
          </a:p>
        </p:txBody>
      </p:sp>
      <p:sp>
        <p:nvSpPr>
          <p:cNvPr id="37" name="Text 9"/>
          <p:cNvSpPr/>
          <p:nvPr/>
        </p:nvSpPr>
        <p:spPr>
          <a:xfrm>
            <a:off x="640080" y="4983480"/>
            <a:ext cx="5105160" cy="594000"/>
          </a:xfrm>
          <a:prstGeom prst="rect">
            <a:avLst/>
          </a:prstGeom>
          <a:solidFill>
            <a:srgbClr val="FFF5DD"/>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600" b="1" u="none" strike="noStrike">
                <a:solidFill>
                  <a:srgbClr val="26343B"/>
                </a:solidFill>
                <a:effectLst/>
                <a:uFillTx/>
                <a:latin typeface="Arial"/>
              </a:rPr>
              <a:t>Idée directrice : transformer un texte brut en décision exploitable.</a:t>
            </a:r>
            <a:endParaRPr lang="fr-FR" sz="1600" b="0" u="none" strike="noStrike">
              <a:solidFill>
                <a:srgbClr val="000000"/>
              </a:solidFill>
              <a:effectLst/>
              <a:uFillTx/>
              <a:latin typeface="Arial"/>
            </a:endParaRPr>
          </a:p>
        </p:txBody>
      </p:sp>
      <p:sp>
        <p:nvSpPr>
          <p:cNvPr id="38" name="Text 10"/>
          <p:cNvSpPr/>
          <p:nvPr/>
        </p:nvSpPr>
        <p:spPr>
          <a:xfrm>
            <a:off x="6238080" y="1069920"/>
            <a:ext cx="1442520" cy="5940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12A6A6"/>
                </a:solidFill>
                <a:effectLst/>
                <a:uFillTx/>
                <a:latin typeface="Arial"/>
              </a:rPr>
              <a:t> 1</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12A6A6"/>
                </a:solidFill>
                <a:effectLst/>
                <a:uFillTx/>
                <a:latin typeface="Arial"/>
              </a:rPr>
              <a:t> texte SMS</a:t>
            </a:r>
            <a:endParaRPr lang="fr-FR" sz="1400" b="0" u="none" strike="noStrike">
              <a:solidFill>
                <a:srgbClr val="000000"/>
              </a:solidFill>
              <a:effectLst/>
              <a:uFillTx/>
              <a:latin typeface="Arial"/>
            </a:endParaRPr>
          </a:p>
        </p:txBody>
      </p:sp>
      <p:sp>
        <p:nvSpPr>
          <p:cNvPr id="39" name="Text 11"/>
          <p:cNvSpPr/>
          <p:nvPr/>
        </p:nvSpPr>
        <p:spPr>
          <a:xfrm>
            <a:off x="7955280" y="1069920"/>
            <a:ext cx="1234080" cy="5940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0B2D42"/>
                </a:solidFill>
                <a:effectLst/>
                <a:uFillTx/>
                <a:latin typeface="Arial"/>
              </a:rPr>
              <a:t> 1</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0B2D42"/>
                </a:solidFill>
                <a:effectLst/>
                <a:uFillTx/>
                <a:latin typeface="Arial"/>
              </a:rPr>
              <a:t> cible : label</a:t>
            </a:r>
            <a:endParaRPr lang="fr-FR" sz="1400" b="0" u="none" strike="noStrike">
              <a:solidFill>
                <a:srgbClr val="000000"/>
              </a:solidFill>
              <a:effectLst/>
              <a:uFillTx/>
              <a:latin typeface="Arial"/>
            </a:endParaRPr>
          </a:p>
        </p:txBody>
      </p:sp>
      <p:sp>
        <p:nvSpPr>
          <p:cNvPr id="40" name="Text 12"/>
          <p:cNvSpPr/>
          <p:nvPr/>
        </p:nvSpPr>
        <p:spPr>
          <a:xfrm>
            <a:off x="9464040" y="1078920"/>
            <a:ext cx="1234080" cy="5850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F2B744"/>
                </a:solidFill>
                <a:effectLst/>
                <a:uFillTx/>
                <a:latin typeface="Arial"/>
              </a:rPr>
              <a:t> 2</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F2B744"/>
                </a:solidFill>
                <a:effectLst/>
                <a:uFillTx/>
                <a:latin typeface="Arial"/>
              </a:rPr>
              <a:t> classes</a:t>
            </a:r>
            <a:endParaRPr lang="fr-FR" sz="1400" b="0" u="none" strike="noStrike">
              <a:solidFill>
                <a:srgbClr val="000000"/>
              </a:solidFill>
              <a:effectLst/>
              <a:uFillTx/>
              <a:latin typeface="Arial"/>
            </a:endParaRPr>
          </a:p>
        </p:txBody>
      </p:sp>
      <p:sp>
        <p:nvSpPr>
          <p:cNvPr id="41" name="Text 13"/>
          <p:cNvSpPr/>
          <p:nvPr/>
        </p:nvSpPr>
        <p:spPr>
          <a:xfrm>
            <a:off x="6675120" y="2112120"/>
            <a:ext cx="356580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12A6A6"/>
                </a:solidFill>
                <a:effectLst/>
                <a:uFillTx/>
                <a:latin typeface="Arial"/>
              </a:rPr>
              <a:t>Données disponibles</a:t>
            </a:r>
            <a:endParaRPr lang="fr-FR" sz="1600" b="0" u="none" strike="noStrike">
              <a:solidFill>
                <a:srgbClr val="000000"/>
              </a:solidFill>
              <a:effectLst/>
              <a:uFillTx/>
              <a:latin typeface="Arial"/>
            </a:endParaRPr>
          </a:p>
        </p:txBody>
      </p:sp>
      <p:sp>
        <p:nvSpPr>
          <p:cNvPr id="42" name="Text 14"/>
          <p:cNvSpPr/>
          <p:nvPr/>
        </p:nvSpPr>
        <p:spPr>
          <a:xfrm>
            <a:off x="6629400" y="2566080"/>
            <a:ext cx="1828440" cy="1005480"/>
          </a:xfrm>
          <a:prstGeom prst="rect">
            <a:avLst/>
          </a:prstGeom>
          <a:solidFill>
            <a:srgbClr val="0B2D42"/>
          </a:solidFill>
          <a:ln w="0">
            <a:noFill/>
          </a:ln>
        </p:spPr>
        <p:style>
          <a:lnRef idx="0"/>
          <a:fillRef idx="0"/>
          <a:effectRef idx="0"/>
          <a:fontRef idx="minor"/>
        </p:style>
        <p:txBody>
          <a:bodyPr lIns="1800" tIns="1800" rIns="1800" bIns="1800" anchor="ctr">
            <a:noAutofit/>
          </a:bodyPr>
          <a:p>
            <a:pPr defTabSz="914400">
              <a:lnSpc>
                <a:spcPct val="100000"/>
              </a:lnSpc>
              <a:tabLst>
                <a:tab pos="0" algn="l"/>
              </a:tabLst>
            </a:pPr>
            <a:r>
              <a:rPr lang="fr-FR" sz="1400" b="1" u="none" strike="noStrike">
                <a:solidFill>
                  <a:srgbClr val="FFFFFF"/>
                </a:solidFill>
                <a:effectLst/>
                <a:uFillTx/>
                <a:latin typeface="Arial"/>
              </a:rPr>
              <a:t> text</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FFFFFF"/>
                </a:solidFill>
                <a:effectLst/>
                <a:uFillTx/>
                <a:latin typeface="Arial"/>
              </a:rPr>
              <a:t> label</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FFFFFF"/>
                </a:solidFill>
                <a:effectLst/>
                <a:uFillTx/>
                <a:latin typeface="Arial"/>
              </a:rPr>
              <a:t> ham</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FFFFFF"/>
                </a:solidFill>
                <a:effectLst/>
                <a:uFillTx/>
                <a:latin typeface="Arial"/>
              </a:rPr>
              <a:t> spam</a:t>
            </a:r>
            <a:endParaRPr lang="fr-FR" sz="1400" b="0" u="none" strike="noStrike">
              <a:solidFill>
                <a:srgbClr val="FFFFFF"/>
              </a:solidFill>
              <a:effectLst/>
              <a:uFillTx/>
              <a:latin typeface="Arial"/>
            </a:endParaRPr>
          </a:p>
        </p:txBody>
      </p:sp>
      <p:sp>
        <p:nvSpPr>
          <p:cNvPr id="43" name="Text 15"/>
          <p:cNvSpPr/>
          <p:nvPr/>
        </p:nvSpPr>
        <p:spPr>
          <a:xfrm>
            <a:off x="8458200" y="2566080"/>
            <a:ext cx="2651400" cy="1005480"/>
          </a:xfrm>
          <a:prstGeom prst="rect">
            <a:avLst/>
          </a:prstGeom>
          <a:solidFill>
            <a:srgbClr val="0B2D42"/>
          </a:solidFill>
          <a:ln w="0">
            <a:noFill/>
          </a:ln>
        </p:spPr>
        <p:style>
          <a:lnRef idx="0"/>
          <a:fillRef idx="0"/>
          <a:effectRef idx="0"/>
          <a:fontRef idx="minor"/>
        </p:style>
        <p:txBody>
          <a:bodyPr lIns="1800" tIns="1800" rIns="1800" bIns="1800" anchor="ctr">
            <a:noAutofit/>
          </a:bodyPr>
          <a:p>
            <a:pPr defTabSz="914400">
              <a:lnSpc>
                <a:spcPct val="100000"/>
              </a:lnSpc>
              <a:tabLst>
                <a:tab pos="0" algn="l"/>
              </a:tabLst>
            </a:pPr>
            <a:r>
              <a:rPr lang="fr-FR" sz="1400" b="1" u="none" strike="noStrike">
                <a:solidFill>
                  <a:srgbClr val="D9EEF2"/>
                </a:solidFill>
                <a:effectLst/>
                <a:uFillTx/>
                <a:latin typeface="Arial"/>
              </a:rPr>
              <a:t>contenu textuel du SMS</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D9EEF2"/>
                </a:solidFill>
                <a:effectLst/>
                <a:uFillTx/>
                <a:latin typeface="Arial"/>
              </a:rPr>
              <a:t>classe observée</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D9EEF2"/>
                </a:solidFill>
                <a:effectLst/>
                <a:uFillTx/>
                <a:latin typeface="Arial"/>
              </a:rPr>
              <a:t>message normal</a:t>
            </a:r>
            <a:endParaRPr lang="fr-FR" sz="1400" b="0" u="none" strike="noStrike">
              <a:solidFill>
                <a:srgbClr val="FFFFFF"/>
              </a:solidFill>
              <a:effectLst/>
              <a:uFillTx/>
              <a:latin typeface="Arial"/>
            </a:endParaRPr>
          </a:p>
          <a:p>
            <a:pPr defTabSz="914400">
              <a:lnSpc>
                <a:spcPct val="100000"/>
              </a:lnSpc>
              <a:tabLst>
                <a:tab pos="0" algn="l"/>
              </a:tabLst>
            </a:pPr>
            <a:r>
              <a:rPr lang="fr-FR" sz="1400" b="1" u="none" strike="noStrike">
                <a:solidFill>
                  <a:srgbClr val="D9EEF2"/>
                </a:solidFill>
                <a:effectLst/>
                <a:uFillTx/>
                <a:latin typeface="Arial"/>
              </a:rPr>
              <a:t>message indésirable</a:t>
            </a:r>
            <a:endParaRPr lang="fr-FR" sz="1400" b="0" u="none" strike="noStrike">
              <a:solidFill>
                <a:srgbClr val="FFFFFF"/>
              </a:solidFill>
              <a:effectLst/>
              <a:uFillTx/>
              <a:latin typeface="Arial"/>
            </a:endParaRPr>
          </a:p>
        </p:txBody>
      </p:sp>
      <p:sp>
        <p:nvSpPr>
          <p:cNvPr id="44" name="Text 16"/>
          <p:cNvSpPr/>
          <p:nvPr/>
        </p:nvSpPr>
        <p:spPr>
          <a:xfrm>
            <a:off x="6629400" y="4646520"/>
            <a:ext cx="5050080" cy="62136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200" b="1" u="none" strike="noStrike">
                <a:solidFill>
                  <a:srgbClr val="FFFFFF"/>
                </a:solidFill>
                <a:effectLst/>
                <a:uFillTx/>
                <a:latin typeface="Arial"/>
              </a:rPr>
              <a:t>Apprentissage supervisé : le modèle apprend à partir d’exemples déjà annotés.</a:t>
            </a:r>
            <a:endParaRPr lang="fr-FR"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45"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1800" b="1" u="none" strike="noStrike">
                <a:solidFill>
                  <a:srgbClr val="FFFFFF"/>
                </a:solidFill>
                <a:effectLst/>
                <a:uFillTx/>
                <a:latin typeface="Arial"/>
                <a:ea typeface="Arial"/>
              </a:rPr>
              <a:t> Données et premiers contrôles</a:t>
            </a:r>
            <a:endParaRPr lang="fr-FR" sz="1800" b="0" u="none" strike="noStrike">
              <a:solidFill>
                <a:srgbClr val="FFFFFF"/>
              </a:solidFill>
              <a:effectLst/>
              <a:uFillTx/>
              <a:latin typeface="Arial"/>
            </a:endParaRPr>
          </a:p>
        </p:txBody>
      </p:sp>
      <p:sp>
        <p:nvSpPr>
          <p:cNvPr id="46"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D9EEF2"/>
                </a:solidFill>
                <a:effectLst/>
                <a:uFillTx/>
                <a:latin typeface="Arial"/>
              </a:rPr>
              <a:t>Un dataset exploitable, avec une cible déséquilibrée</a:t>
            </a:r>
            <a:endParaRPr lang="fr-FR" sz="1200" b="0" u="none" strike="noStrike">
              <a:solidFill>
                <a:srgbClr val="000000"/>
              </a:solidFill>
              <a:effectLst/>
              <a:uFillTx/>
              <a:latin typeface="Arial"/>
            </a:endParaRPr>
          </a:p>
        </p:txBody>
      </p:sp>
      <p:sp>
        <p:nvSpPr>
          <p:cNvPr id="47"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48"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49"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3</a:t>
            </a:r>
            <a:endParaRPr lang="fr-FR" sz="650" b="0" u="none" strike="noStrike">
              <a:solidFill>
                <a:srgbClr val="000000"/>
              </a:solidFill>
              <a:effectLst/>
              <a:uFillTx/>
              <a:latin typeface="Arial"/>
            </a:endParaRPr>
          </a:p>
        </p:txBody>
      </p:sp>
      <p:sp>
        <p:nvSpPr>
          <p:cNvPr id="50" name="Text 5"/>
          <p:cNvSpPr/>
          <p:nvPr/>
        </p:nvSpPr>
        <p:spPr>
          <a:xfrm>
            <a:off x="658440" y="960120"/>
            <a:ext cx="117000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fontScale="92500" lnSpcReduction="9999"/>
          </a:bodyPr>
          <a:p>
            <a:pPr defTabSz="914400">
              <a:lnSpc>
                <a:spcPct val="100000"/>
              </a:lnSpc>
              <a:tabLst>
                <a:tab pos="0" algn="l"/>
              </a:tabLst>
            </a:pPr>
            <a:r>
              <a:rPr lang="fr-FR" sz="1400" b="1" u="none" strike="noStrike">
                <a:solidFill>
                  <a:srgbClr val="0B2D42"/>
                </a:solidFill>
                <a:effectLst/>
                <a:uFillTx/>
                <a:latin typeface="Arial"/>
              </a:rPr>
              <a:t> 5 572</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0B2D42"/>
                </a:solidFill>
                <a:effectLst/>
                <a:uFillTx/>
                <a:latin typeface="Arial"/>
              </a:rPr>
              <a:t> SMS annotés</a:t>
            </a:r>
            <a:endParaRPr lang="fr-FR" sz="1400" b="0" u="none" strike="noStrike">
              <a:solidFill>
                <a:srgbClr val="000000"/>
              </a:solidFill>
              <a:effectLst/>
              <a:uFillTx/>
              <a:latin typeface="Arial"/>
            </a:endParaRPr>
          </a:p>
        </p:txBody>
      </p:sp>
      <p:sp>
        <p:nvSpPr>
          <p:cNvPr id="51" name="Text 6"/>
          <p:cNvSpPr/>
          <p:nvPr/>
        </p:nvSpPr>
        <p:spPr>
          <a:xfrm>
            <a:off x="1974960" y="960120"/>
            <a:ext cx="117000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12A6A6"/>
                </a:solidFill>
                <a:effectLst/>
                <a:uFillTx/>
                <a:latin typeface="Arial"/>
              </a:rPr>
              <a:t> 4 825</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12A6A6"/>
                </a:solidFill>
                <a:effectLst/>
                <a:uFillTx/>
                <a:latin typeface="Arial"/>
              </a:rPr>
              <a:t> ham</a:t>
            </a:r>
            <a:endParaRPr lang="fr-FR" sz="1400" b="0" u="none" strike="noStrike">
              <a:solidFill>
                <a:srgbClr val="000000"/>
              </a:solidFill>
              <a:effectLst/>
              <a:uFillTx/>
              <a:latin typeface="Arial"/>
            </a:endParaRPr>
          </a:p>
        </p:txBody>
      </p:sp>
      <p:sp>
        <p:nvSpPr>
          <p:cNvPr id="52" name="Text 7"/>
          <p:cNvSpPr/>
          <p:nvPr/>
        </p:nvSpPr>
        <p:spPr>
          <a:xfrm>
            <a:off x="3291840" y="960120"/>
            <a:ext cx="117000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F2B744"/>
                </a:solidFill>
                <a:effectLst/>
                <a:uFillTx/>
                <a:latin typeface="Arial"/>
              </a:rPr>
              <a:t> 747</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F2B744"/>
                </a:solidFill>
                <a:effectLst/>
                <a:uFillTx/>
                <a:latin typeface="Arial"/>
              </a:rPr>
              <a:t> spam</a:t>
            </a:r>
            <a:endParaRPr lang="fr-FR" sz="1400" b="0" u="none" strike="noStrike">
              <a:solidFill>
                <a:srgbClr val="000000"/>
              </a:solidFill>
              <a:effectLst/>
              <a:uFillTx/>
              <a:latin typeface="Arial"/>
            </a:endParaRPr>
          </a:p>
        </p:txBody>
      </p:sp>
      <p:sp>
        <p:nvSpPr>
          <p:cNvPr id="53" name="Text 8"/>
          <p:cNvSpPr/>
          <p:nvPr/>
        </p:nvSpPr>
        <p:spPr>
          <a:xfrm>
            <a:off x="4608720" y="960120"/>
            <a:ext cx="117000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200" b="1" u="none" strike="noStrike">
                <a:solidFill>
                  <a:srgbClr val="2BAF7A"/>
                </a:solidFill>
                <a:effectLst/>
                <a:uFillTx/>
                <a:latin typeface="Arial"/>
              </a:rPr>
              <a:t> 2</a:t>
            </a:r>
            <a:endParaRPr lang="fr-FR" sz="1200" b="0" u="none" strike="noStrike">
              <a:solidFill>
                <a:srgbClr val="000000"/>
              </a:solidFill>
              <a:effectLst/>
              <a:uFillTx/>
              <a:latin typeface="Arial"/>
            </a:endParaRPr>
          </a:p>
          <a:p>
            <a:pPr defTabSz="914400">
              <a:lnSpc>
                <a:spcPct val="100000"/>
              </a:lnSpc>
              <a:tabLst>
                <a:tab pos="0" algn="l"/>
              </a:tabLst>
            </a:pPr>
            <a:r>
              <a:rPr lang="fr-FR" sz="1200" b="1" u="none" strike="noStrike">
                <a:solidFill>
                  <a:srgbClr val="2BAF7A"/>
                </a:solidFill>
                <a:effectLst/>
                <a:uFillTx/>
                <a:latin typeface="Arial"/>
              </a:rPr>
              <a:t> colonnes   conservées</a:t>
            </a:r>
            <a:endParaRPr lang="fr-FR" sz="1200" b="0" u="none" strike="noStrike">
              <a:solidFill>
                <a:srgbClr val="000000"/>
              </a:solidFill>
              <a:effectLst/>
              <a:uFillTx/>
              <a:latin typeface="Arial"/>
            </a:endParaRPr>
          </a:p>
        </p:txBody>
      </p:sp>
      <p:sp>
        <p:nvSpPr>
          <p:cNvPr id="54" name="Text 9"/>
          <p:cNvSpPr/>
          <p:nvPr/>
        </p:nvSpPr>
        <p:spPr>
          <a:xfrm>
            <a:off x="5925240" y="960120"/>
            <a:ext cx="117000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200" b="1" u="none" strike="noStrike">
                <a:solidFill>
                  <a:srgbClr val="12A6A6"/>
                </a:solidFill>
                <a:effectLst/>
                <a:uFillTx/>
                <a:latin typeface="Arial"/>
              </a:rPr>
              <a:t> 80/20</a:t>
            </a:r>
            <a:endParaRPr lang="fr-FR" sz="1200" b="0" u="none" strike="noStrike">
              <a:solidFill>
                <a:srgbClr val="000000"/>
              </a:solidFill>
              <a:effectLst/>
              <a:uFillTx/>
              <a:latin typeface="Arial"/>
            </a:endParaRPr>
          </a:p>
          <a:p>
            <a:pPr defTabSz="914400">
              <a:lnSpc>
                <a:spcPct val="100000"/>
              </a:lnSpc>
              <a:tabLst>
                <a:tab pos="0" algn="l"/>
              </a:tabLst>
            </a:pPr>
            <a:r>
              <a:rPr lang="fr-FR" sz="1200" b="1" u="none" strike="noStrike">
                <a:solidFill>
                  <a:srgbClr val="12A6A6"/>
                </a:solidFill>
                <a:effectLst/>
                <a:uFillTx/>
                <a:latin typeface="Arial"/>
              </a:rPr>
              <a:t> split stratifié</a:t>
            </a:r>
            <a:endParaRPr lang="fr-FR" sz="1200" b="0" u="none" strike="noStrike">
              <a:solidFill>
                <a:srgbClr val="000000"/>
              </a:solidFill>
              <a:effectLst/>
              <a:uFillTx/>
              <a:latin typeface="Arial"/>
            </a:endParaRPr>
          </a:p>
        </p:txBody>
      </p:sp>
      <p:sp>
        <p:nvSpPr>
          <p:cNvPr id="55" name="Text 10"/>
          <p:cNvSpPr/>
          <p:nvPr/>
        </p:nvSpPr>
        <p:spPr>
          <a:xfrm>
            <a:off x="658440" y="2057400"/>
            <a:ext cx="425160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400" b="1" u="none" strike="noStrike">
                <a:solidFill>
                  <a:srgbClr val="12A6A6"/>
                </a:solidFill>
                <a:effectLst/>
                <a:uFillTx/>
                <a:latin typeface="Arial"/>
              </a:rPr>
              <a:t> Lecture des variables</a:t>
            </a:r>
            <a:endParaRPr lang="fr-FR" sz="1400" b="0" u="none" strike="noStrike">
              <a:solidFill>
                <a:srgbClr val="000000"/>
              </a:solidFill>
              <a:effectLst/>
              <a:uFillTx/>
              <a:latin typeface="Arial"/>
            </a:endParaRPr>
          </a:p>
        </p:txBody>
      </p:sp>
      <p:sp>
        <p:nvSpPr>
          <p:cNvPr id="56" name="Text 11"/>
          <p:cNvSpPr/>
          <p:nvPr/>
        </p:nvSpPr>
        <p:spPr>
          <a:xfrm>
            <a:off x="713160" y="2386440"/>
            <a:ext cx="4141800" cy="1928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`label` : classe observée du SMS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`text` : contenu du message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colonnes inutiles supprimées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labels convertis en valeurs numériques</a:t>
            </a:r>
            <a:endParaRPr lang="fr-FR" sz="1400" b="0" u="none" strike="noStrike">
              <a:solidFill>
                <a:srgbClr val="000000"/>
              </a:solidFill>
              <a:effectLst/>
              <a:uFillTx/>
              <a:latin typeface="Arial"/>
            </a:endParaRPr>
          </a:p>
        </p:txBody>
      </p:sp>
      <p:sp>
        <p:nvSpPr>
          <p:cNvPr id="57" name="Text 12"/>
          <p:cNvSpPr/>
          <p:nvPr/>
        </p:nvSpPr>
        <p:spPr>
          <a:xfrm>
            <a:off x="5669280" y="2057400"/>
            <a:ext cx="525744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400" b="1" u="none" strike="noStrike">
                <a:solidFill>
                  <a:srgbClr val="12A6A6"/>
                </a:solidFill>
                <a:effectLst/>
                <a:uFillTx/>
                <a:latin typeface="Arial"/>
              </a:rPr>
              <a:t> Première conclusion</a:t>
            </a:r>
            <a:endParaRPr lang="fr-FR" sz="1400" b="0" u="none" strike="noStrike">
              <a:solidFill>
                <a:srgbClr val="000000"/>
              </a:solidFill>
              <a:effectLst/>
              <a:uFillTx/>
              <a:latin typeface="Arial"/>
            </a:endParaRPr>
          </a:p>
        </p:txBody>
      </p:sp>
      <p:sp>
        <p:nvSpPr>
          <p:cNvPr id="58" name="Text 13"/>
          <p:cNvSpPr/>
          <p:nvPr/>
        </p:nvSpPr>
        <p:spPr>
          <a:xfrm>
            <a:off x="5724000" y="2386440"/>
            <a:ext cx="5147640" cy="1928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le dataset est simple et exploitable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 texte est la seule source de signal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la difficulté vient du faible nombre de spams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les métriques doivent tenir compte de la classe positive</a:t>
            </a:r>
            <a:endParaRPr lang="fr-FR" sz="1400" b="0" u="none" strike="noStrike">
              <a:solidFill>
                <a:srgbClr val="000000"/>
              </a:solidFill>
              <a:effectLst/>
              <a:uFillTx/>
              <a:latin typeface="Arial"/>
            </a:endParaRPr>
          </a:p>
        </p:txBody>
      </p:sp>
      <p:sp>
        <p:nvSpPr>
          <p:cNvPr id="59" name="Text 14"/>
          <p:cNvSpPr/>
          <p:nvPr/>
        </p:nvSpPr>
        <p:spPr>
          <a:xfrm>
            <a:off x="658440" y="4892040"/>
            <a:ext cx="10268280" cy="58500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800" b="1" u="none" strike="noStrike">
                <a:solidFill>
                  <a:srgbClr val="FFFFFF"/>
                </a:solidFill>
                <a:effectLst/>
                <a:uFillTx/>
                <a:latin typeface="Arial"/>
              </a:rPr>
              <a:t> La classe spam représente seulement 13,41 % des messages : l’accuracy seule ne suffit pas.</a:t>
            </a:r>
            <a:endParaRPr lang="fr-FR"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60"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1700" b="1" u="none" strike="noStrike">
                <a:solidFill>
                  <a:srgbClr val="FFFFFF"/>
                </a:solidFill>
                <a:effectLst/>
                <a:uFillTx/>
                <a:latin typeface="Arial"/>
                <a:ea typeface="Arial"/>
              </a:rPr>
              <a:t> Déséquilibre de la cible</a:t>
            </a:r>
            <a:endParaRPr lang="fr-FR" sz="1700" b="0" u="none" strike="noStrike">
              <a:solidFill>
                <a:srgbClr val="FFFFFF"/>
              </a:solidFill>
              <a:effectLst/>
              <a:uFillTx/>
              <a:latin typeface="Arial"/>
            </a:endParaRPr>
          </a:p>
        </p:txBody>
      </p:sp>
      <p:sp>
        <p:nvSpPr>
          <p:cNvPr id="61"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D9EEF2"/>
                </a:solidFill>
                <a:effectLst/>
                <a:uFillTx/>
                <a:latin typeface="Arial"/>
              </a:rPr>
              <a:t>Pourquoi précision, rappel et F1-score sont nécessaires</a:t>
            </a:r>
            <a:endParaRPr lang="fr-FR" sz="1100" b="0" u="none" strike="noStrike">
              <a:solidFill>
                <a:srgbClr val="000000"/>
              </a:solidFill>
              <a:effectLst/>
              <a:uFillTx/>
              <a:latin typeface="Arial"/>
            </a:endParaRPr>
          </a:p>
        </p:txBody>
      </p:sp>
      <p:sp>
        <p:nvSpPr>
          <p:cNvPr id="62"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63"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64"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4</a:t>
            </a:r>
            <a:endParaRPr lang="fr-FR" sz="650" b="0" u="none" strike="noStrike">
              <a:solidFill>
                <a:srgbClr val="000000"/>
              </a:solidFill>
              <a:effectLst/>
              <a:uFillTx/>
              <a:latin typeface="Arial"/>
            </a:endParaRPr>
          </a:p>
        </p:txBody>
      </p:sp>
      <p:graphicFrame>
        <p:nvGraphicFramePr>
          <p:cNvPr id="65" name="Chart 0"/>
          <p:cNvGraphicFramePr/>
          <p:nvPr/>
        </p:nvGraphicFramePr>
        <p:xfrm>
          <a:off x="749880" y="1051560"/>
          <a:ext cx="4434480" cy="3382920"/>
        </p:xfrm>
        <a:graphic>
          <a:graphicData uri="http://schemas.openxmlformats.org/drawingml/2006/chart">
            <c:chart xmlns:c="http://schemas.openxmlformats.org/drawingml/2006/chart" xmlns:r="http://schemas.openxmlformats.org/officeDocument/2006/relationships" r:id="rId1"/>
          </a:graphicData>
        </a:graphic>
      </p:graphicFrame>
      <p:sp>
        <p:nvSpPr>
          <p:cNvPr id="66" name="Text 5"/>
          <p:cNvSpPr/>
          <p:nvPr/>
        </p:nvSpPr>
        <p:spPr>
          <a:xfrm>
            <a:off x="6400800" y="1234440"/>
            <a:ext cx="164556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600" b="1" u="none" strike="noStrike">
                <a:solidFill>
                  <a:srgbClr val="0B2D42"/>
                </a:solidFill>
                <a:effectLst/>
                <a:uFillTx/>
                <a:latin typeface="Arial"/>
              </a:rPr>
              <a:t> 86,59 %</a:t>
            </a:r>
            <a:endParaRPr lang="fr-FR" sz="1600" b="0" u="none" strike="noStrike">
              <a:solidFill>
                <a:srgbClr val="000000"/>
              </a:solidFill>
              <a:effectLst/>
              <a:uFillTx/>
              <a:latin typeface="Arial"/>
            </a:endParaRPr>
          </a:p>
          <a:p>
            <a:pPr defTabSz="914400">
              <a:lnSpc>
                <a:spcPct val="100000"/>
              </a:lnSpc>
              <a:tabLst>
                <a:tab pos="0" algn="l"/>
              </a:tabLst>
            </a:pPr>
            <a:r>
              <a:rPr lang="fr-FR" sz="1600" b="1" u="none" strike="noStrike">
                <a:solidFill>
                  <a:srgbClr val="0B2D42"/>
                </a:solidFill>
                <a:effectLst/>
                <a:uFillTx/>
                <a:latin typeface="Arial"/>
              </a:rPr>
              <a:t> ham</a:t>
            </a:r>
            <a:endParaRPr lang="fr-FR" sz="1600" b="0" u="none" strike="noStrike">
              <a:solidFill>
                <a:srgbClr val="000000"/>
              </a:solidFill>
              <a:effectLst/>
              <a:uFillTx/>
              <a:latin typeface="Arial"/>
            </a:endParaRPr>
          </a:p>
        </p:txBody>
      </p:sp>
      <p:sp>
        <p:nvSpPr>
          <p:cNvPr id="67" name="Text 6"/>
          <p:cNvSpPr/>
          <p:nvPr/>
        </p:nvSpPr>
        <p:spPr>
          <a:xfrm>
            <a:off x="8321040" y="1234440"/>
            <a:ext cx="164556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600" b="1" u="none" strike="noStrike">
                <a:solidFill>
                  <a:srgbClr val="F2B744"/>
                </a:solidFill>
                <a:effectLst/>
                <a:uFillTx/>
                <a:latin typeface="Arial"/>
              </a:rPr>
              <a:t> 13,41 %</a:t>
            </a:r>
            <a:endParaRPr lang="fr-FR" sz="1600" b="0" u="none" strike="noStrike">
              <a:solidFill>
                <a:srgbClr val="000000"/>
              </a:solidFill>
              <a:effectLst/>
              <a:uFillTx/>
              <a:latin typeface="Arial"/>
            </a:endParaRPr>
          </a:p>
          <a:p>
            <a:pPr defTabSz="914400">
              <a:lnSpc>
                <a:spcPct val="100000"/>
              </a:lnSpc>
              <a:tabLst>
                <a:tab pos="0" algn="l"/>
              </a:tabLst>
            </a:pPr>
            <a:r>
              <a:rPr lang="fr-FR" sz="1600" b="1" u="none" strike="noStrike">
                <a:solidFill>
                  <a:srgbClr val="F2B744"/>
                </a:solidFill>
                <a:effectLst/>
                <a:uFillTx/>
                <a:latin typeface="Arial"/>
              </a:rPr>
              <a:t> spam</a:t>
            </a:r>
            <a:endParaRPr lang="fr-FR" sz="1600" b="0" u="none" strike="noStrike">
              <a:solidFill>
                <a:srgbClr val="000000"/>
              </a:solidFill>
              <a:effectLst/>
              <a:uFillTx/>
              <a:latin typeface="Arial"/>
            </a:endParaRPr>
          </a:p>
        </p:txBody>
      </p:sp>
      <p:sp>
        <p:nvSpPr>
          <p:cNvPr id="68" name="Text 7"/>
          <p:cNvSpPr/>
          <p:nvPr/>
        </p:nvSpPr>
        <p:spPr>
          <a:xfrm>
            <a:off x="6400800" y="2377440"/>
            <a:ext cx="416016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Pourquoi l’accuracy ne suffit pas</a:t>
            </a:r>
            <a:endParaRPr lang="fr-FR" sz="1600" b="0" u="none" strike="noStrike">
              <a:solidFill>
                <a:srgbClr val="000000"/>
              </a:solidFill>
              <a:effectLst/>
              <a:uFillTx/>
              <a:latin typeface="Arial"/>
            </a:endParaRPr>
          </a:p>
        </p:txBody>
      </p:sp>
      <p:sp>
        <p:nvSpPr>
          <p:cNvPr id="69" name="Text 8"/>
          <p:cNvSpPr/>
          <p:nvPr/>
        </p:nvSpPr>
        <p:spPr>
          <a:xfrm>
            <a:off x="6455520" y="2706480"/>
            <a:ext cx="4105440" cy="1965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une prédiction majoritaire peut paraître très performante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elle peut pourtant manquer une partie des vrais spams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chemeClr val="dk1"/>
                </a:solidFill>
                <a:effectLst/>
                <a:uFillTx/>
                <a:latin typeface="Arial"/>
              </a:rPr>
              <a:t> </a:t>
            </a:r>
            <a:r>
              <a:rPr lang="fr-FR" sz="1400" b="0" u="none" strike="noStrike">
                <a:solidFill>
                  <a:srgbClr val="26343B"/>
                </a:solidFill>
                <a:effectLst/>
                <a:uFillTx/>
                <a:latin typeface="Arial"/>
              </a:rPr>
              <a:t>• </a:t>
            </a:r>
            <a:r>
              <a:rPr lang="fr-FR" sz="1400" b="0" u="none" strike="noStrike">
                <a:solidFill>
                  <a:schemeClr val="dk1"/>
                </a:solidFill>
                <a:effectLst/>
                <a:uFillTx/>
                <a:latin typeface="Arial"/>
              </a:rPr>
              <a:t>la precision mesure la fiabilité des spams prédits</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 recall mesure les spams retrouvés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chemeClr val="dk1"/>
                </a:solidFill>
                <a:effectLst/>
                <a:uFillTx/>
                <a:latin typeface="Arial"/>
              </a:rPr>
              <a:t>le recall mesure la part des vrais spams retrouvés</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 F1-score équilibre précision et recall</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p:txBody>
      </p:sp>
      <p:sp>
        <p:nvSpPr>
          <p:cNvPr id="70" name="Text 9"/>
          <p:cNvSpPr/>
          <p:nvPr/>
        </p:nvSpPr>
        <p:spPr>
          <a:xfrm>
            <a:off x="6455520" y="4672440"/>
            <a:ext cx="4581720" cy="137628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400" b="1" u="none" strike="noStrike">
                <a:solidFill>
                  <a:srgbClr val="FFFFFF"/>
                </a:solidFill>
                <a:effectLst/>
                <a:uFillTx/>
                <a:latin typeface="Arial"/>
              </a:rPr>
              <a:t> Le F1-score équilibre précision, recall et donc le compromis entre détection des spams et limitation des fausses alertes.</a:t>
            </a:r>
            <a:endParaRPr lang="fr-FR"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71"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400" b="1" u="none" strike="noStrike">
                <a:solidFill>
                  <a:srgbClr val="FFFFFF"/>
                </a:solidFill>
                <a:effectLst/>
                <a:uFillTx/>
                <a:latin typeface="Arial"/>
                <a:ea typeface="Arial"/>
              </a:rPr>
              <a:t> Préparation du texte</a:t>
            </a:r>
            <a:endParaRPr lang="fr-FR" sz="2400" b="0" u="none" strike="noStrike">
              <a:solidFill>
                <a:srgbClr val="FFFFFF"/>
              </a:solidFill>
              <a:effectLst/>
              <a:uFillTx/>
              <a:latin typeface="Arial"/>
            </a:endParaRPr>
          </a:p>
        </p:txBody>
      </p:sp>
      <p:sp>
        <p:nvSpPr>
          <p:cNvPr id="72" name="Text 1"/>
          <p:cNvSpPr/>
          <p:nvPr/>
        </p:nvSpPr>
        <p:spPr>
          <a:xfrm>
            <a:off x="7912440" y="137160"/>
            <a:ext cx="4047480" cy="281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D9EEF2"/>
                </a:solidFill>
                <a:effectLst/>
                <a:uFillTx/>
                <a:latin typeface="Arial"/>
              </a:rPr>
              <a:t>Transformer des SMS en données utilisables par un réseau de neurones</a:t>
            </a:r>
            <a:endParaRPr lang="fr-FR" sz="900" b="0" u="none" strike="noStrike">
              <a:solidFill>
                <a:srgbClr val="000000"/>
              </a:solidFill>
              <a:effectLst/>
              <a:uFillTx/>
              <a:latin typeface="Arial"/>
            </a:endParaRPr>
          </a:p>
        </p:txBody>
      </p:sp>
      <p:sp>
        <p:nvSpPr>
          <p:cNvPr id="73"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74"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75"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5</a:t>
            </a:r>
            <a:endParaRPr lang="fr-FR" sz="650" b="0" u="none" strike="noStrike">
              <a:solidFill>
                <a:srgbClr val="000000"/>
              </a:solidFill>
              <a:effectLst/>
              <a:uFillTx/>
              <a:latin typeface="Arial"/>
            </a:endParaRPr>
          </a:p>
        </p:txBody>
      </p:sp>
      <p:sp>
        <p:nvSpPr>
          <p:cNvPr id="76" name="Text 5"/>
          <p:cNvSpPr/>
          <p:nvPr/>
        </p:nvSpPr>
        <p:spPr>
          <a:xfrm>
            <a:off x="658440" y="932760"/>
            <a:ext cx="10881000" cy="50256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400" b="1" u="none" strike="noStrike">
                <a:solidFill>
                  <a:srgbClr val="FFFFFF"/>
                </a:solidFill>
                <a:effectLst/>
                <a:uFillTx/>
                <a:latin typeface="Arial"/>
              </a:rPr>
              <a:t>Texte brut → labels numériques → split stratifié → tokenization → padding → modèle</a:t>
            </a:r>
            <a:endParaRPr lang="fr-FR" sz="1400" b="0" u="none" strike="noStrike">
              <a:solidFill>
                <a:srgbClr val="FFFFFF"/>
              </a:solidFill>
              <a:effectLst/>
              <a:uFillTx/>
              <a:latin typeface="Arial"/>
            </a:endParaRPr>
          </a:p>
        </p:txBody>
      </p:sp>
      <p:sp>
        <p:nvSpPr>
          <p:cNvPr id="77" name="Text 6"/>
          <p:cNvSpPr/>
          <p:nvPr/>
        </p:nvSpPr>
        <p:spPr>
          <a:xfrm>
            <a:off x="749880" y="2030040"/>
            <a:ext cx="1874160" cy="959760"/>
          </a:xfrm>
          <a:prstGeom prst="rect">
            <a:avLst/>
          </a:prstGeom>
          <a:solidFill>
            <a:srgbClr val="FFFFFF"/>
          </a:solidFill>
          <a:ln w="0">
            <a:solidFill>
              <a:srgbClr val="D8E1E5"/>
            </a:solidFill>
          </a:ln>
        </p:spPr>
        <p:style>
          <a:lnRef idx="0"/>
          <a:fillRef idx="0"/>
          <a:effectRef idx="0"/>
          <a:fontRef idx="minor"/>
        </p:style>
        <p:txBody>
          <a:bodyPr lIns="1440" tIns="1440" rIns="1440" bIns="1440" anchor="ctr">
            <a:normAutofit/>
          </a:bodyPr>
          <a:p>
            <a:pPr algn="ctr" defTabSz="914400">
              <a:lnSpc>
                <a:spcPct val="100000"/>
              </a:lnSpc>
              <a:tabLst>
                <a:tab pos="0" algn="l"/>
              </a:tabLst>
            </a:pPr>
            <a:r>
              <a:rPr lang="fr-FR" sz="1200" b="1" u="none" strike="noStrike">
                <a:solidFill>
                  <a:srgbClr val="26343B"/>
                </a:solidFill>
                <a:effectLst/>
                <a:uFillTx/>
                <a:latin typeface="Arial"/>
              </a:rPr>
              <a:t>SMS brut</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26343B"/>
                </a:solidFill>
                <a:effectLst/>
                <a:uFillTx/>
                <a:latin typeface="Arial"/>
              </a:rPr>
              <a:t>messages textuels</a:t>
            </a:r>
            <a:endParaRPr lang="fr-FR" sz="1200" b="0" u="none" strike="noStrike">
              <a:solidFill>
                <a:srgbClr val="000000"/>
              </a:solidFill>
              <a:effectLst/>
              <a:uFillTx/>
              <a:latin typeface="Arial"/>
            </a:endParaRPr>
          </a:p>
        </p:txBody>
      </p:sp>
      <p:sp>
        <p:nvSpPr>
          <p:cNvPr id="78" name="Shape 7"/>
          <p:cNvSpPr/>
          <p:nvPr/>
        </p:nvSpPr>
        <p:spPr>
          <a:xfrm>
            <a:off x="2724840" y="2432160"/>
            <a:ext cx="209880" cy="164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7080" rIns="90000" bIns="37080" anchor="t">
            <a:noAutofit/>
          </a:bodyPr>
          <a:p>
            <a:endParaRPr lang="fr-FR" sz="1800" b="0" u="none" strike="noStrike">
              <a:solidFill>
                <a:schemeClr val="dk1"/>
              </a:solidFill>
              <a:effectLst/>
              <a:uFillTx/>
              <a:latin typeface="Arial"/>
            </a:endParaRPr>
          </a:p>
        </p:txBody>
      </p:sp>
      <p:sp>
        <p:nvSpPr>
          <p:cNvPr id="79" name="Text 8"/>
          <p:cNvSpPr/>
          <p:nvPr/>
        </p:nvSpPr>
        <p:spPr>
          <a:xfrm>
            <a:off x="2962800" y="2030040"/>
            <a:ext cx="1874160" cy="959760"/>
          </a:xfrm>
          <a:prstGeom prst="rect">
            <a:avLst/>
          </a:prstGeom>
          <a:solidFill>
            <a:srgbClr val="FFFFFF"/>
          </a:solidFill>
          <a:ln w="0">
            <a:solidFill>
              <a:srgbClr val="D8E1E5"/>
            </a:solidFill>
          </a:ln>
        </p:spPr>
        <p:style>
          <a:lnRef idx="0"/>
          <a:fillRef idx="0"/>
          <a:effectRef idx="0"/>
          <a:fontRef idx="minor"/>
        </p:style>
        <p:txBody>
          <a:bodyPr lIns="1440" tIns="1440" rIns="1440" bIns="1440" anchor="ctr">
            <a:normAutofit/>
          </a:bodyPr>
          <a:p>
            <a:pPr algn="ctr" defTabSz="914400">
              <a:lnSpc>
                <a:spcPct val="100000"/>
              </a:lnSpc>
              <a:tabLst>
                <a:tab pos="0" algn="l"/>
              </a:tabLst>
            </a:pPr>
            <a:r>
              <a:rPr lang="fr-FR" sz="1200" b="1" u="none" strike="noStrike">
                <a:solidFill>
                  <a:srgbClr val="26343B"/>
                </a:solidFill>
                <a:effectLst/>
                <a:uFillTx/>
                <a:latin typeface="Arial"/>
              </a:rPr>
              <a:t>Encodage</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26343B"/>
                </a:solidFill>
                <a:effectLst/>
                <a:uFillTx/>
                <a:latin typeface="Arial"/>
              </a:rPr>
              <a:t>ham=0 · spam=1</a:t>
            </a:r>
            <a:endParaRPr lang="fr-FR" sz="1200" b="0" u="none" strike="noStrike">
              <a:solidFill>
                <a:srgbClr val="000000"/>
              </a:solidFill>
              <a:effectLst/>
              <a:uFillTx/>
              <a:latin typeface="Arial"/>
            </a:endParaRPr>
          </a:p>
        </p:txBody>
      </p:sp>
      <p:sp>
        <p:nvSpPr>
          <p:cNvPr id="80" name="Shape 9"/>
          <p:cNvSpPr/>
          <p:nvPr/>
        </p:nvSpPr>
        <p:spPr>
          <a:xfrm>
            <a:off x="4937760" y="2432160"/>
            <a:ext cx="209880" cy="164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7080" rIns="90000" bIns="37080" anchor="t">
            <a:noAutofit/>
          </a:bodyPr>
          <a:p>
            <a:endParaRPr lang="fr-FR" sz="1800" b="0" u="none" strike="noStrike">
              <a:solidFill>
                <a:schemeClr val="dk1"/>
              </a:solidFill>
              <a:effectLst/>
              <a:uFillTx/>
              <a:latin typeface="Arial"/>
            </a:endParaRPr>
          </a:p>
        </p:txBody>
      </p:sp>
      <p:sp>
        <p:nvSpPr>
          <p:cNvPr id="81" name="Text 10"/>
          <p:cNvSpPr/>
          <p:nvPr/>
        </p:nvSpPr>
        <p:spPr>
          <a:xfrm>
            <a:off x="5175360" y="2030040"/>
            <a:ext cx="1874160" cy="959760"/>
          </a:xfrm>
          <a:prstGeom prst="rect">
            <a:avLst/>
          </a:prstGeom>
          <a:solidFill>
            <a:srgbClr val="FFFFFF"/>
          </a:solidFill>
          <a:ln w="0">
            <a:solidFill>
              <a:srgbClr val="D8E1E5"/>
            </a:solidFill>
          </a:ln>
        </p:spPr>
        <p:style>
          <a:lnRef idx="0"/>
          <a:fillRef idx="0"/>
          <a:effectRef idx="0"/>
          <a:fontRef idx="minor"/>
        </p:style>
        <p:txBody>
          <a:bodyPr lIns="1440" tIns="1440" rIns="1440" bIns="1440" anchor="ctr">
            <a:normAutofit/>
          </a:bodyPr>
          <a:p>
            <a:pPr algn="ctr" defTabSz="914400">
              <a:lnSpc>
                <a:spcPct val="100000"/>
              </a:lnSpc>
              <a:tabLst>
                <a:tab pos="0" algn="l"/>
              </a:tabLst>
            </a:pPr>
            <a:r>
              <a:rPr lang="fr-FR" sz="1200" b="1" u="none" strike="noStrike">
                <a:solidFill>
                  <a:srgbClr val="26343B"/>
                </a:solidFill>
                <a:effectLst/>
                <a:uFillTx/>
                <a:latin typeface="Arial"/>
              </a:rPr>
              <a:t>Split</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26343B"/>
                </a:solidFill>
                <a:effectLst/>
                <a:uFillTx/>
                <a:latin typeface="Arial"/>
              </a:rPr>
              <a:t>train/test stratifié</a:t>
            </a:r>
            <a:endParaRPr lang="fr-FR" sz="1200" b="0" u="none" strike="noStrike">
              <a:solidFill>
                <a:srgbClr val="000000"/>
              </a:solidFill>
              <a:effectLst/>
              <a:uFillTx/>
              <a:latin typeface="Arial"/>
            </a:endParaRPr>
          </a:p>
        </p:txBody>
      </p:sp>
      <p:sp>
        <p:nvSpPr>
          <p:cNvPr id="82" name="Shape 11"/>
          <p:cNvSpPr/>
          <p:nvPr/>
        </p:nvSpPr>
        <p:spPr>
          <a:xfrm>
            <a:off x="7150680" y="2432160"/>
            <a:ext cx="209880" cy="164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7080" rIns="90000" bIns="37080" anchor="t">
            <a:noAutofit/>
          </a:bodyPr>
          <a:p>
            <a:endParaRPr lang="fr-FR" sz="1800" b="0" u="none" strike="noStrike">
              <a:solidFill>
                <a:schemeClr val="dk1"/>
              </a:solidFill>
              <a:effectLst/>
              <a:uFillTx/>
              <a:latin typeface="Arial"/>
            </a:endParaRPr>
          </a:p>
        </p:txBody>
      </p:sp>
      <p:sp>
        <p:nvSpPr>
          <p:cNvPr id="83" name="Text 12"/>
          <p:cNvSpPr/>
          <p:nvPr/>
        </p:nvSpPr>
        <p:spPr>
          <a:xfrm>
            <a:off x="7388280" y="2030040"/>
            <a:ext cx="1874160" cy="959760"/>
          </a:xfrm>
          <a:prstGeom prst="rect">
            <a:avLst/>
          </a:prstGeom>
          <a:solidFill>
            <a:srgbClr val="FFFFFF"/>
          </a:solidFill>
          <a:ln w="0">
            <a:solidFill>
              <a:srgbClr val="D8E1E5"/>
            </a:solidFill>
          </a:ln>
        </p:spPr>
        <p:style>
          <a:lnRef idx="0"/>
          <a:fillRef idx="0"/>
          <a:effectRef idx="0"/>
          <a:fontRef idx="minor"/>
        </p:style>
        <p:txBody>
          <a:bodyPr lIns="1440" tIns="1440" rIns="1440" bIns="1440" anchor="ctr">
            <a:normAutofit/>
          </a:bodyPr>
          <a:p>
            <a:pPr algn="ctr" defTabSz="914400">
              <a:lnSpc>
                <a:spcPct val="100000"/>
              </a:lnSpc>
              <a:tabLst>
                <a:tab pos="0" algn="l"/>
              </a:tabLst>
            </a:pPr>
            <a:r>
              <a:rPr lang="fr-FR" sz="1200" b="1" u="none" strike="noStrike">
                <a:solidFill>
                  <a:srgbClr val="26343B"/>
                </a:solidFill>
                <a:effectLst/>
                <a:uFillTx/>
                <a:latin typeface="Arial"/>
              </a:rPr>
              <a:t>Tokenizer</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26343B"/>
                </a:solidFill>
                <a:effectLst/>
                <a:uFillTx/>
                <a:latin typeface="Arial"/>
              </a:rPr>
              <a:t>mots → nombres</a:t>
            </a:r>
            <a:endParaRPr lang="fr-FR" sz="1200" b="0" u="none" strike="noStrike">
              <a:solidFill>
                <a:srgbClr val="000000"/>
              </a:solidFill>
              <a:effectLst/>
              <a:uFillTx/>
              <a:latin typeface="Arial"/>
            </a:endParaRPr>
          </a:p>
        </p:txBody>
      </p:sp>
      <p:sp>
        <p:nvSpPr>
          <p:cNvPr id="84" name="Shape 13"/>
          <p:cNvSpPr/>
          <p:nvPr/>
        </p:nvSpPr>
        <p:spPr>
          <a:xfrm>
            <a:off x="9363600" y="2432160"/>
            <a:ext cx="209880" cy="164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7080" rIns="90000" bIns="37080" anchor="t">
            <a:noAutofit/>
          </a:bodyPr>
          <a:p>
            <a:endParaRPr lang="fr-FR" sz="1800" b="0" u="none" strike="noStrike">
              <a:solidFill>
                <a:schemeClr val="dk1"/>
              </a:solidFill>
              <a:effectLst/>
              <a:uFillTx/>
              <a:latin typeface="Arial"/>
            </a:endParaRPr>
          </a:p>
        </p:txBody>
      </p:sp>
      <p:sp>
        <p:nvSpPr>
          <p:cNvPr id="85" name="Text 14"/>
          <p:cNvSpPr/>
          <p:nvPr/>
        </p:nvSpPr>
        <p:spPr>
          <a:xfrm>
            <a:off x="9601200" y="2030040"/>
            <a:ext cx="1874160" cy="959760"/>
          </a:xfrm>
          <a:prstGeom prst="rect">
            <a:avLst/>
          </a:prstGeom>
          <a:solidFill>
            <a:srgbClr val="FFFFFF"/>
          </a:solidFill>
          <a:ln w="0">
            <a:solidFill>
              <a:srgbClr val="D8E1E5"/>
            </a:solidFill>
          </a:ln>
        </p:spPr>
        <p:style>
          <a:lnRef idx="0"/>
          <a:fillRef idx="0"/>
          <a:effectRef idx="0"/>
          <a:fontRef idx="minor"/>
        </p:style>
        <p:txBody>
          <a:bodyPr lIns="1440" tIns="1440" rIns="1440" bIns="1440" anchor="ctr">
            <a:normAutofit/>
          </a:bodyPr>
          <a:p>
            <a:pPr algn="ctr" defTabSz="914400">
              <a:lnSpc>
                <a:spcPct val="100000"/>
              </a:lnSpc>
              <a:tabLst>
                <a:tab pos="0" algn="l"/>
              </a:tabLst>
            </a:pPr>
            <a:r>
              <a:rPr lang="fr-FR" sz="1200" b="1" u="none" strike="noStrike">
                <a:solidFill>
                  <a:srgbClr val="26343B"/>
                </a:solidFill>
                <a:effectLst/>
                <a:uFillTx/>
                <a:latin typeface="Arial"/>
              </a:rPr>
              <a:t>Padding</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26343B"/>
                </a:solidFill>
                <a:effectLst/>
                <a:uFillTx/>
                <a:latin typeface="Arial"/>
              </a:rPr>
              <a:t>séquences de longueur 50</a:t>
            </a:r>
            <a:endParaRPr lang="fr-FR" sz="1200" b="0" u="none" strike="noStrike">
              <a:solidFill>
                <a:srgbClr val="000000"/>
              </a:solidFill>
              <a:effectLst/>
              <a:uFillTx/>
              <a:latin typeface="Arial"/>
            </a:endParaRPr>
          </a:p>
        </p:txBody>
      </p:sp>
      <p:sp>
        <p:nvSpPr>
          <p:cNvPr id="86" name="Text 15"/>
          <p:cNvSpPr/>
          <p:nvPr/>
        </p:nvSpPr>
        <p:spPr>
          <a:xfrm>
            <a:off x="749880" y="3886200"/>
            <a:ext cx="489168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Choix méthodologiques</a:t>
            </a:r>
            <a:endParaRPr lang="fr-FR" sz="1600" b="0" u="none" strike="noStrike">
              <a:solidFill>
                <a:srgbClr val="000000"/>
              </a:solidFill>
              <a:effectLst/>
              <a:uFillTx/>
              <a:latin typeface="Arial"/>
            </a:endParaRPr>
          </a:p>
        </p:txBody>
      </p:sp>
      <p:sp>
        <p:nvSpPr>
          <p:cNvPr id="87" name="Text 16"/>
          <p:cNvSpPr/>
          <p:nvPr/>
        </p:nvSpPr>
        <p:spPr>
          <a:xfrm>
            <a:off x="804600" y="4215240"/>
            <a:ext cx="4630680" cy="21394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le vocabulaire est appris uniquement sur le train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‘max_words = 5000` limite le vocabulaire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`max_len = 50` fixe la longueur maximale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les entrées finales ont une forme `(4457, 50)` et `(1115, 50)`.</a:t>
            </a:r>
            <a:endParaRPr lang="fr-FR" sz="1400" b="0" u="none" strike="noStrike">
              <a:solidFill>
                <a:srgbClr val="000000"/>
              </a:solidFill>
              <a:effectLst/>
              <a:uFillTx/>
              <a:latin typeface="Arial"/>
            </a:endParaRPr>
          </a:p>
        </p:txBody>
      </p:sp>
      <p:sp>
        <p:nvSpPr>
          <p:cNvPr id="88" name="Text 17"/>
          <p:cNvSpPr/>
          <p:nvPr/>
        </p:nvSpPr>
        <p:spPr>
          <a:xfrm>
            <a:off x="6199560" y="3886200"/>
            <a:ext cx="489168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Pourquoi cette étape est indispensable</a:t>
            </a:r>
            <a:endParaRPr lang="fr-FR" sz="1600" b="0" u="none" strike="noStrike">
              <a:solidFill>
                <a:srgbClr val="000000"/>
              </a:solidFill>
              <a:effectLst/>
              <a:uFillTx/>
              <a:latin typeface="Arial"/>
            </a:endParaRPr>
          </a:p>
        </p:txBody>
      </p:sp>
      <p:sp>
        <p:nvSpPr>
          <p:cNvPr id="89" name="Text 18"/>
          <p:cNvSpPr/>
          <p:nvPr/>
        </p:nvSpPr>
        <p:spPr>
          <a:xfrm>
            <a:off x="6254640" y="4215240"/>
            <a:ext cx="4781880" cy="20023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un réseau de neurones ne lit pas directement du texte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il attend des tableaux numériques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 padding permet d’avoir des entrées de même taille ; </a:t>
            </a:r>
            <a:endParaRPr lang="fr-FR" sz="1400" b="0" u="none" strike="noStrike">
              <a:solidFill>
                <a:srgbClr val="000000"/>
              </a:solidFill>
              <a:effectLst/>
              <a:uFillTx/>
              <a:latin typeface="Arial"/>
            </a:endParaRPr>
          </a:p>
          <a:p>
            <a:pPr defTabSz="914400">
              <a:lnSpc>
                <a:spcPct val="100000"/>
              </a:lnSpc>
              <a:tabLst>
                <a:tab pos="0" algn="l"/>
              </a:tabLst>
            </a:pP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la préparation doit rester identique entre train et test.</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90"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000" b="1" u="none" strike="noStrike">
                <a:solidFill>
                  <a:srgbClr val="FFFFFF"/>
                </a:solidFill>
                <a:effectLst/>
                <a:uFillTx/>
                <a:latin typeface="Arial"/>
                <a:ea typeface="Arial"/>
              </a:rPr>
              <a:t> Premier modèle</a:t>
            </a:r>
            <a:endParaRPr lang="fr-FR" sz="2000" b="0" u="none" strike="noStrike">
              <a:solidFill>
                <a:srgbClr val="FFFFFF"/>
              </a:solidFill>
              <a:effectLst/>
              <a:uFillTx/>
              <a:latin typeface="Arial"/>
            </a:endParaRPr>
          </a:p>
        </p:txBody>
      </p:sp>
      <p:sp>
        <p:nvSpPr>
          <p:cNvPr id="91"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50" b="0" u="none" strike="noStrike">
                <a:solidFill>
                  <a:srgbClr val="D9EEF2"/>
                </a:solidFill>
                <a:effectLst/>
                <a:uFillTx/>
                <a:latin typeface="Arial"/>
              </a:rPr>
              <a:t>Une base simple et efficace pour du texte court</a:t>
            </a:r>
            <a:endParaRPr lang="fr-FR" sz="1050" b="0" u="none" strike="noStrike">
              <a:solidFill>
                <a:srgbClr val="000000"/>
              </a:solidFill>
              <a:effectLst/>
              <a:uFillTx/>
              <a:latin typeface="Arial"/>
            </a:endParaRPr>
          </a:p>
        </p:txBody>
      </p:sp>
      <p:sp>
        <p:nvSpPr>
          <p:cNvPr id="92"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93"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94"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6</a:t>
            </a:r>
            <a:endParaRPr lang="fr-FR" sz="650" b="0" u="none" strike="noStrike">
              <a:solidFill>
                <a:srgbClr val="000000"/>
              </a:solidFill>
              <a:effectLst/>
              <a:uFillTx/>
              <a:latin typeface="Arial"/>
            </a:endParaRPr>
          </a:p>
        </p:txBody>
      </p:sp>
      <p:sp>
        <p:nvSpPr>
          <p:cNvPr id="95" name="Text 5"/>
          <p:cNvSpPr/>
          <p:nvPr/>
        </p:nvSpPr>
        <p:spPr>
          <a:xfrm>
            <a:off x="749880" y="914400"/>
            <a:ext cx="123408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0B2D42"/>
                </a:solidFill>
                <a:effectLst/>
                <a:uFillTx/>
                <a:latin typeface="Arial"/>
              </a:rPr>
              <a:t> 0,9785</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0B2D42"/>
                </a:solidFill>
                <a:effectLst/>
                <a:uFillTx/>
                <a:latin typeface="Arial"/>
              </a:rPr>
              <a:t> accuracy</a:t>
            </a:r>
            <a:endParaRPr lang="fr-FR" sz="1400" b="0" u="none" strike="noStrike">
              <a:solidFill>
                <a:srgbClr val="000000"/>
              </a:solidFill>
              <a:effectLst/>
              <a:uFillTx/>
              <a:latin typeface="Arial"/>
            </a:endParaRPr>
          </a:p>
        </p:txBody>
      </p:sp>
      <p:sp>
        <p:nvSpPr>
          <p:cNvPr id="96" name="Text 6"/>
          <p:cNvSpPr/>
          <p:nvPr/>
        </p:nvSpPr>
        <p:spPr>
          <a:xfrm>
            <a:off x="2167200" y="914400"/>
            <a:ext cx="123408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12A6A6"/>
                </a:solidFill>
                <a:effectLst/>
                <a:uFillTx/>
                <a:latin typeface="Arial"/>
              </a:rPr>
              <a:t> 0,9630</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12A6A6"/>
                </a:solidFill>
                <a:effectLst/>
                <a:uFillTx/>
                <a:latin typeface="Arial"/>
              </a:rPr>
              <a:t> precision</a:t>
            </a:r>
            <a:endParaRPr lang="fr-FR" sz="1400" b="0" u="none" strike="noStrike">
              <a:solidFill>
                <a:srgbClr val="000000"/>
              </a:solidFill>
              <a:effectLst/>
              <a:uFillTx/>
              <a:latin typeface="Arial"/>
            </a:endParaRPr>
          </a:p>
        </p:txBody>
      </p:sp>
      <p:sp>
        <p:nvSpPr>
          <p:cNvPr id="97" name="Text 7"/>
          <p:cNvSpPr/>
          <p:nvPr/>
        </p:nvSpPr>
        <p:spPr>
          <a:xfrm>
            <a:off x="3584520" y="914400"/>
            <a:ext cx="123408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F2B744"/>
                </a:solidFill>
                <a:effectLst/>
                <a:uFillTx/>
                <a:latin typeface="Arial"/>
              </a:rPr>
              <a:t> 0,8725</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F2B744"/>
                </a:solidFill>
                <a:effectLst/>
                <a:uFillTx/>
                <a:latin typeface="Arial"/>
              </a:rPr>
              <a:t> recall</a:t>
            </a:r>
            <a:endParaRPr lang="fr-FR" sz="1400" b="0" u="none" strike="noStrike">
              <a:solidFill>
                <a:srgbClr val="000000"/>
              </a:solidFill>
              <a:effectLst/>
              <a:uFillTx/>
              <a:latin typeface="Arial"/>
            </a:endParaRPr>
          </a:p>
        </p:txBody>
      </p:sp>
      <p:sp>
        <p:nvSpPr>
          <p:cNvPr id="98" name="Text 8"/>
          <p:cNvSpPr/>
          <p:nvPr/>
        </p:nvSpPr>
        <p:spPr>
          <a:xfrm>
            <a:off x="5001840" y="914400"/>
            <a:ext cx="1234080" cy="56664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2BAF7A"/>
                </a:solidFill>
                <a:effectLst/>
                <a:uFillTx/>
                <a:latin typeface="Arial"/>
              </a:rPr>
              <a:t> 0,9155</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2BAF7A"/>
                </a:solidFill>
                <a:effectLst/>
                <a:uFillTx/>
                <a:latin typeface="Arial"/>
              </a:rPr>
              <a:t> F1-score</a:t>
            </a:r>
            <a:endParaRPr lang="fr-FR" sz="1400" b="0" u="none" strike="noStrike">
              <a:solidFill>
                <a:srgbClr val="000000"/>
              </a:solidFill>
              <a:effectLst/>
              <a:uFillTx/>
              <a:latin typeface="Arial"/>
            </a:endParaRPr>
          </a:p>
        </p:txBody>
      </p:sp>
      <p:sp>
        <p:nvSpPr>
          <p:cNvPr id="99" name="Text 9"/>
          <p:cNvSpPr/>
          <p:nvPr/>
        </p:nvSpPr>
        <p:spPr>
          <a:xfrm>
            <a:off x="749880" y="1920240"/>
            <a:ext cx="29257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12A6A6"/>
                </a:solidFill>
                <a:effectLst/>
                <a:uFillTx/>
                <a:latin typeface="Arial"/>
              </a:rPr>
              <a:t>Architecture retenue</a:t>
            </a:r>
            <a:endParaRPr lang="fr-FR" sz="1600" b="0" u="none" strike="noStrike">
              <a:solidFill>
                <a:srgbClr val="000000"/>
              </a:solidFill>
              <a:effectLst/>
              <a:uFillTx/>
              <a:latin typeface="Arial"/>
            </a:endParaRPr>
          </a:p>
        </p:txBody>
      </p:sp>
      <p:sp>
        <p:nvSpPr>
          <p:cNvPr id="100" name="Text 10"/>
          <p:cNvSpPr/>
          <p:nvPr/>
        </p:nvSpPr>
        <p:spPr>
          <a:xfrm>
            <a:off x="749880" y="2423160"/>
            <a:ext cx="2148480" cy="822600"/>
          </a:xfrm>
          <a:prstGeom prst="rect">
            <a:avLst/>
          </a:prstGeom>
          <a:solidFill>
            <a:srgbClr val="0B2D42"/>
          </a:solidFill>
          <a:ln w="0">
            <a:solidFill>
              <a:srgbClr val="D8E1E5"/>
            </a:solidFill>
          </a:ln>
        </p:spPr>
        <p:style>
          <a:lnRef idx="0"/>
          <a:fillRef idx="0"/>
          <a:effectRef idx="0"/>
          <a:fontRef idx="minor"/>
        </p:style>
        <p:txBody>
          <a:bodyPr lIns="1080" tIns="1080" rIns="1080" bIns="1080" anchor="ctr">
            <a:normAutofit/>
          </a:bodyPr>
          <a:p>
            <a:pPr algn="ctr" defTabSz="914400">
              <a:lnSpc>
                <a:spcPct val="100000"/>
              </a:lnSpc>
              <a:tabLst>
                <a:tab pos="0" algn="l"/>
              </a:tabLst>
            </a:pPr>
            <a:r>
              <a:rPr lang="fr-FR" sz="1400" b="1" u="none" strike="noStrike">
                <a:solidFill>
                  <a:srgbClr val="FFFFFF"/>
                </a:solidFill>
                <a:effectLst/>
                <a:uFillTx/>
                <a:latin typeface="Arial"/>
              </a:rPr>
              <a:t>Embedding</a:t>
            </a:r>
            <a:endParaRPr lang="fr-FR" sz="1400" b="0" u="none" strike="noStrike">
              <a:solidFill>
                <a:srgbClr val="FFFFFF"/>
              </a:solidFill>
              <a:effectLst/>
              <a:uFillTx/>
              <a:latin typeface="Arial"/>
            </a:endParaRPr>
          </a:p>
        </p:txBody>
      </p:sp>
      <p:sp>
        <p:nvSpPr>
          <p:cNvPr id="101" name="Shape 11"/>
          <p:cNvSpPr/>
          <p:nvPr/>
        </p:nvSpPr>
        <p:spPr>
          <a:xfrm>
            <a:off x="2999160" y="2761560"/>
            <a:ext cx="228240" cy="155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2760" rIns="90000" bIns="32760" anchor="t">
            <a:noAutofit/>
          </a:bodyPr>
          <a:p>
            <a:endParaRPr lang="fr-FR" sz="1800" b="0" u="none" strike="noStrike">
              <a:solidFill>
                <a:schemeClr val="dk1"/>
              </a:solidFill>
              <a:effectLst/>
              <a:uFillTx/>
              <a:latin typeface="Arial"/>
            </a:endParaRPr>
          </a:p>
        </p:txBody>
      </p:sp>
      <p:sp>
        <p:nvSpPr>
          <p:cNvPr id="102" name="Text 12"/>
          <p:cNvSpPr/>
          <p:nvPr/>
        </p:nvSpPr>
        <p:spPr>
          <a:xfrm>
            <a:off x="3264480" y="2423160"/>
            <a:ext cx="2148480" cy="822600"/>
          </a:xfrm>
          <a:prstGeom prst="rect">
            <a:avLst/>
          </a:prstGeom>
          <a:solidFill>
            <a:srgbClr val="FFFFFF"/>
          </a:solidFill>
          <a:ln w="0">
            <a:solidFill>
              <a:srgbClr val="D8E1E5"/>
            </a:solidFill>
          </a:ln>
        </p:spPr>
        <p:style>
          <a:lnRef idx="0"/>
          <a:fillRef idx="0"/>
          <a:effectRef idx="0"/>
          <a:fontRef idx="minor"/>
        </p:style>
        <p:txBody>
          <a:bodyPr lIns="1080" tIns="1080" rIns="1080" bIns="1080" anchor="ctr">
            <a:normAutofit/>
          </a:bodyPr>
          <a:p>
            <a:pPr algn="ctr" defTabSz="914400">
              <a:lnSpc>
                <a:spcPct val="100000"/>
              </a:lnSpc>
              <a:tabLst>
                <a:tab pos="0" algn="l"/>
              </a:tabLst>
            </a:pPr>
            <a:r>
              <a:rPr lang="fr-FR" sz="1400" b="1" u="none" strike="noStrike">
                <a:solidFill>
                  <a:srgbClr val="26343B"/>
                </a:solidFill>
                <a:effectLst/>
                <a:uFillTx/>
                <a:latin typeface="Arial"/>
              </a:rPr>
              <a:t>GlobalAveragePooling1D</a:t>
            </a:r>
            <a:endParaRPr lang="fr-FR" sz="1400" b="0" u="none" strike="noStrike">
              <a:solidFill>
                <a:srgbClr val="000000"/>
              </a:solidFill>
              <a:effectLst/>
              <a:uFillTx/>
              <a:latin typeface="Arial"/>
            </a:endParaRPr>
          </a:p>
        </p:txBody>
      </p:sp>
      <p:sp>
        <p:nvSpPr>
          <p:cNvPr id="103" name="Shape 13"/>
          <p:cNvSpPr/>
          <p:nvPr/>
        </p:nvSpPr>
        <p:spPr>
          <a:xfrm>
            <a:off x="5513760" y="2761560"/>
            <a:ext cx="228240" cy="155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2760" rIns="90000" bIns="32760" anchor="t">
            <a:noAutofit/>
          </a:bodyPr>
          <a:p>
            <a:endParaRPr lang="fr-FR" sz="1800" b="0" u="none" strike="noStrike">
              <a:solidFill>
                <a:schemeClr val="dk1"/>
              </a:solidFill>
              <a:effectLst/>
              <a:uFillTx/>
              <a:latin typeface="Arial"/>
            </a:endParaRPr>
          </a:p>
        </p:txBody>
      </p:sp>
      <p:sp>
        <p:nvSpPr>
          <p:cNvPr id="104" name="Text 14"/>
          <p:cNvSpPr/>
          <p:nvPr/>
        </p:nvSpPr>
        <p:spPr>
          <a:xfrm>
            <a:off x="5779080" y="2423160"/>
            <a:ext cx="2148480" cy="822600"/>
          </a:xfrm>
          <a:prstGeom prst="rect">
            <a:avLst/>
          </a:prstGeom>
          <a:solidFill>
            <a:srgbClr val="FFFFFF"/>
          </a:solidFill>
          <a:ln w="0">
            <a:solidFill>
              <a:srgbClr val="D8E1E5"/>
            </a:solidFill>
          </a:ln>
        </p:spPr>
        <p:style>
          <a:lnRef idx="0"/>
          <a:fillRef idx="0"/>
          <a:effectRef idx="0"/>
          <a:fontRef idx="minor"/>
        </p:style>
        <p:txBody>
          <a:bodyPr lIns="1080" tIns="1080" rIns="1080" bIns="1080" anchor="ctr">
            <a:normAutofit/>
          </a:bodyPr>
          <a:p>
            <a:pPr algn="ctr" defTabSz="914400">
              <a:lnSpc>
                <a:spcPct val="100000"/>
              </a:lnSpc>
              <a:tabLst>
                <a:tab pos="0" algn="l"/>
              </a:tabLst>
            </a:pPr>
            <a:r>
              <a:rPr lang="fr-FR" sz="1400" b="1" u="none" strike="noStrike">
                <a:solidFill>
                  <a:srgbClr val="26343B"/>
                </a:solidFill>
                <a:effectLst/>
                <a:uFillTx/>
                <a:latin typeface="Arial"/>
              </a:rPr>
              <a:t>Dense + Dropout</a:t>
            </a:r>
            <a:endParaRPr lang="fr-FR" sz="1400" b="0" u="none" strike="noStrike">
              <a:solidFill>
                <a:srgbClr val="000000"/>
              </a:solidFill>
              <a:effectLst/>
              <a:uFillTx/>
              <a:latin typeface="Arial"/>
            </a:endParaRPr>
          </a:p>
        </p:txBody>
      </p:sp>
      <p:sp>
        <p:nvSpPr>
          <p:cNvPr id="105" name="Shape 15"/>
          <p:cNvSpPr/>
          <p:nvPr/>
        </p:nvSpPr>
        <p:spPr>
          <a:xfrm>
            <a:off x="8028360" y="2761560"/>
            <a:ext cx="228240" cy="155160"/>
          </a:xfrm>
          <a:prstGeom prst="rightArrow">
            <a:avLst>
              <a:gd name="adj1" fmla="val 50000"/>
              <a:gd name="adj2" fmla="val 50000"/>
            </a:avLst>
          </a:prstGeom>
          <a:solidFill>
            <a:srgbClr val="12A6A6"/>
          </a:solidFill>
          <a:ln w="12700">
            <a:solidFill>
              <a:srgbClr val="12A6A6"/>
            </a:solidFill>
            <a:round/>
          </a:ln>
        </p:spPr>
        <p:style>
          <a:lnRef idx="0"/>
          <a:fillRef idx="0"/>
          <a:effectRef idx="0"/>
          <a:fontRef idx="minor"/>
        </p:style>
        <p:txBody>
          <a:bodyPr lIns="90000" tIns="32760" rIns="90000" bIns="32760" anchor="t">
            <a:noAutofit/>
          </a:bodyPr>
          <a:p>
            <a:endParaRPr lang="fr-FR" sz="1800" b="0" u="none" strike="noStrike">
              <a:solidFill>
                <a:schemeClr val="dk1"/>
              </a:solidFill>
              <a:effectLst/>
              <a:uFillTx/>
              <a:latin typeface="Arial"/>
            </a:endParaRPr>
          </a:p>
        </p:txBody>
      </p:sp>
      <p:sp>
        <p:nvSpPr>
          <p:cNvPr id="106" name="Text 16"/>
          <p:cNvSpPr/>
          <p:nvPr/>
        </p:nvSpPr>
        <p:spPr>
          <a:xfrm>
            <a:off x="8293680" y="2423160"/>
            <a:ext cx="2148480" cy="822600"/>
          </a:xfrm>
          <a:prstGeom prst="rect">
            <a:avLst/>
          </a:prstGeom>
          <a:solidFill>
            <a:srgbClr val="FFFFFF"/>
          </a:solidFill>
          <a:ln w="0">
            <a:solidFill>
              <a:srgbClr val="D8E1E5"/>
            </a:solidFill>
          </a:ln>
        </p:spPr>
        <p:style>
          <a:lnRef idx="0"/>
          <a:fillRef idx="0"/>
          <a:effectRef idx="0"/>
          <a:fontRef idx="minor"/>
        </p:style>
        <p:txBody>
          <a:bodyPr lIns="1080" tIns="1080" rIns="1080" bIns="1080" anchor="ctr">
            <a:normAutofit/>
          </a:bodyPr>
          <a:p>
            <a:pPr algn="ctr" defTabSz="914400">
              <a:lnSpc>
                <a:spcPct val="100000"/>
              </a:lnSpc>
              <a:tabLst>
                <a:tab pos="0" algn="l"/>
              </a:tabLst>
            </a:pPr>
            <a:r>
              <a:rPr lang="fr-FR" sz="1400" b="1" u="none" strike="noStrike">
                <a:solidFill>
                  <a:srgbClr val="26343B"/>
                </a:solidFill>
                <a:effectLst/>
                <a:uFillTx/>
                <a:latin typeface="Arial"/>
              </a:rPr>
              <a:t>Sigmoid</a:t>
            </a:r>
            <a:endParaRPr lang="fr-FR" sz="1400" b="0" u="none" strike="noStrike">
              <a:solidFill>
                <a:srgbClr val="000000"/>
              </a:solidFill>
              <a:effectLst/>
              <a:uFillTx/>
              <a:latin typeface="Arial"/>
            </a:endParaRPr>
          </a:p>
        </p:txBody>
      </p:sp>
      <p:sp>
        <p:nvSpPr>
          <p:cNvPr id="107" name="Text 17"/>
          <p:cNvSpPr/>
          <p:nvPr/>
        </p:nvSpPr>
        <p:spPr>
          <a:xfrm>
            <a:off x="749880" y="4114800"/>
            <a:ext cx="493740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400" b="1" u="none" strike="noStrike">
                <a:solidFill>
                  <a:srgbClr val="12A6A6"/>
                </a:solidFill>
                <a:effectLst/>
                <a:uFillTx/>
                <a:latin typeface="Arial"/>
              </a:rPr>
              <a:t> Pourquoi ce modèle ?</a:t>
            </a:r>
            <a:endParaRPr lang="fr-FR" sz="1400" b="0" u="none" strike="noStrike">
              <a:solidFill>
                <a:srgbClr val="000000"/>
              </a:solidFill>
              <a:effectLst/>
              <a:uFillTx/>
              <a:latin typeface="Arial"/>
            </a:endParaRPr>
          </a:p>
        </p:txBody>
      </p:sp>
      <p:sp>
        <p:nvSpPr>
          <p:cNvPr id="108" name="Text 18"/>
          <p:cNvSpPr/>
          <p:nvPr/>
        </p:nvSpPr>
        <p:spPr>
          <a:xfrm>
            <a:off x="804600" y="4443840"/>
            <a:ext cx="4827600" cy="1170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rapide à entraîner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adapté à des SMS courts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moins complexe qu’un modèle séquentiel lourd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très bon compromis entre performance et lisibilité.</a:t>
            </a:r>
            <a:endParaRPr lang="fr-FR" sz="1400" b="0" u="none" strike="noStrike">
              <a:solidFill>
                <a:srgbClr val="000000"/>
              </a:solidFill>
              <a:effectLst/>
              <a:uFillTx/>
              <a:latin typeface="Arial"/>
            </a:endParaRPr>
          </a:p>
        </p:txBody>
      </p:sp>
      <p:sp>
        <p:nvSpPr>
          <p:cNvPr id="109" name="Text 19"/>
          <p:cNvSpPr/>
          <p:nvPr/>
        </p:nvSpPr>
        <p:spPr>
          <a:xfrm>
            <a:off x="6263640" y="4114800"/>
            <a:ext cx="489168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400" b="1" u="none" strike="noStrike">
                <a:solidFill>
                  <a:srgbClr val="12A6A6"/>
                </a:solidFill>
                <a:effectLst/>
                <a:uFillTx/>
                <a:latin typeface="Arial"/>
              </a:rPr>
              <a:t> Lecture des performances</a:t>
            </a:r>
            <a:endParaRPr lang="fr-FR" sz="1400" b="0" u="none" strike="noStrike">
              <a:solidFill>
                <a:srgbClr val="000000"/>
              </a:solidFill>
              <a:effectLst/>
              <a:uFillTx/>
              <a:latin typeface="Arial"/>
            </a:endParaRPr>
          </a:p>
        </p:txBody>
      </p:sp>
      <p:sp>
        <p:nvSpPr>
          <p:cNvPr id="110" name="Text 20"/>
          <p:cNvSpPr/>
          <p:nvPr/>
        </p:nvSpPr>
        <p:spPr>
          <a:xfrm>
            <a:off x="6318360" y="4443840"/>
            <a:ext cx="4781880" cy="1170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très bonne classification globale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forte précision sur la classe spam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rappel satisfaisant malgré le déséquilibre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F1-score final solide.</a:t>
            </a:r>
            <a:endParaRPr lang="fr-FR" sz="1400" b="0" u="none" strike="noStrike">
              <a:solidFill>
                <a:srgbClr val="000000"/>
              </a:solidFill>
              <a:effectLst/>
              <a:uFillTx/>
              <a:latin typeface="Arial"/>
            </a:endParaRPr>
          </a:p>
        </p:txBody>
      </p:sp>
      <p:sp>
        <p:nvSpPr>
          <p:cNvPr id="111" name="Text 21"/>
          <p:cNvSpPr/>
          <p:nvPr/>
        </p:nvSpPr>
        <p:spPr>
          <a:xfrm>
            <a:off x="6583680" y="960120"/>
            <a:ext cx="4160160" cy="529920"/>
          </a:xfrm>
          <a:prstGeom prst="rect">
            <a:avLst/>
          </a:prstGeom>
          <a:solidFill>
            <a:srgbClr val="E9F7F7"/>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400" b="1" u="none" strike="noStrike">
                <a:solidFill>
                  <a:srgbClr val="26343B"/>
                </a:solidFill>
                <a:effectLst/>
                <a:uFillTx/>
                <a:latin typeface="Arial"/>
              </a:rPr>
              <a:t>Modèle principal retenu pour le projet.</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112"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1700" b="1" u="none" strike="noStrike">
                <a:solidFill>
                  <a:srgbClr val="FFFFFF"/>
                </a:solidFill>
                <a:effectLst/>
                <a:uFillTx/>
                <a:latin typeface="Arial"/>
                <a:ea typeface="Arial"/>
              </a:rPr>
              <a:t> Comparaison des modèles</a:t>
            </a:r>
            <a:endParaRPr lang="fr-FR" sz="1700" b="0" u="none" strike="noStrike">
              <a:solidFill>
                <a:srgbClr val="FFFFFF"/>
              </a:solidFill>
              <a:effectLst/>
              <a:uFillTx/>
              <a:latin typeface="Arial"/>
            </a:endParaRPr>
          </a:p>
        </p:txBody>
      </p:sp>
      <p:sp>
        <p:nvSpPr>
          <p:cNvPr id="113" name="Text 1"/>
          <p:cNvSpPr/>
          <p:nvPr/>
        </p:nvSpPr>
        <p:spPr>
          <a:xfrm>
            <a:off x="6959520" y="182880"/>
            <a:ext cx="48816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D9EEF2"/>
                </a:solidFill>
                <a:effectLst/>
                <a:uFillTx/>
                <a:latin typeface="Arial"/>
              </a:rPr>
              <a:t>Un modèle plus complexe n’apporte pas toujours une meilleure décision</a:t>
            </a:r>
            <a:endParaRPr lang="fr-FR" sz="1200" b="0" u="none" strike="noStrike">
              <a:solidFill>
                <a:srgbClr val="000000"/>
              </a:solidFill>
              <a:effectLst/>
              <a:uFillTx/>
              <a:latin typeface="Arial"/>
            </a:endParaRPr>
          </a:p>
        </p:txBody>
      </p:sp>
      <p:sp>
        <p:nvSpPr>
          <p:cNvPr id="114"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15"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116"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7</a:t>
            </a:r>
            <a:endParaRPr lang="fr-FR" sz="650" b="0" u="none" strike="noStrike">
              <a:solidFill>
                <a:srgbClr val="000000"/>
              </a:solidFill>
              <a:effectLst/>
              <a:uFillTx/>
              <a:latin typeface="Arial"/>
            </a:endParaRPr>
          </a:p>
        </p:txBody>
      </p:sp>
      <p:graphicFrame>
        <p:nvGraphicFramePr>
          <p:cNvPr id="117" name="Chart 0"/>
          <p:cNvGraphicFramePr/>
          <p:nvPr/>
        </p:nvGraphicFramePr>
        <p:xfrm>
          <a:off x="567000" y="1097280"/>
          <a:ext cx="5010480" cy="34927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8" name="Table 0"/>
          <p:cNvGraphicFramePr/>
          <p:nvPr/>
        </p:nvGraphicFramePr>
        <p:xfrm>
          <a:off x="5989320" y="1143000"/>
          <a:ext cx="5120280" cy="1416960"/>
        </p:xfrm>
        <a:graphic>
          <a:graphicData uri="http://schemas.openxmlformats.org/drawingml/2006/table">
            <a:tbl>
              <a:tblPr/>
              <a:tblGrid>
                <a:gridCol w="1508760"/>
                <a:gridCol w="896040"/>
                <a:gridCol w="896040"/>
                <a:gridCol w="896040"/>
                <a:gridCol w="923400"/>
              </a:tblGrid>
              <a:tr h="472320">
                <a:tc>
                  <a:txBody>
                    <a:bodyPr lIns="54720" tIns="54720" rIns="54720" bIns="54720" anchor="t">
                      <a:noAutofit/>
                    </a:bodyPr>
                    <a:p>
                      <a:pPr defTabSz="914400">
                        <a:lnSpc>
                          <a:spcPct val="100000"/>
                        </a:lnSpc>
                        <a:tabLst>
                          <a:tab pos="0" algn="l"/>
                        </a:tabLst>
                      </a:pPr>
                      <a:r>
                        <a:rPr lang="fr-FR" sz="1100" b="1" u="none" strike="noStrike">
                          <a:solidFill>
                            <a:srgbClr val="FFFFFF"/>
                          </a:solidFill>
                          <a:effectLst/>
                          <a:uFillTx/>
                          <a:latin typeface="Arial"/>
                          <a:ea typeface="Arial"/>
                        </a:rPr>
                        <a:t>Modèle</a:t>
                      </a:r>
                      <a:endParaRPr lang="fr-FR" sz="11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050" b="1" u="none" strike="noStrike">
                          <a:solidFill>
                            <a:srgbClr val="FFFFFF"/>
                          </a:solidFill>
                          <a:effectLst/>
                          <a:uFillTx/>
                          <a:latin typeface="Arial"/>
                          <a:ea typeface="Arial"/>
                        </a:rPr>
                        <a:t>Accuracy</a:t>
                      </a:r>
                      <a:endParaRPr lang="fr-FR" sz="105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100" b="1" u="none" strike="noStrike">
                          <a:solidFill>
                            <a:srgbClr val="FFFFFF"/>
                          </a:solidFill>
                          <a:effectLst/>
                          <a:uFillTx/>
                          <a:latin typeface="Arial"/>
                          <a:ea typeface="Arial"/>
                        </a:rPr>
                        <a:t>Precision</a:t>
                      </a:r>
                      <a:endParaRPr lang="fr-FR" sz="11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100" b="1" u="none" strike="noStrike">
                          <a:solidFill>
                            <a:srgbClr val="FFFFFF"/>
                          </a:solidFill>
                          <a:effectLst/>
                          <a:uFillTx/>
                          <a:latin typeface="Arial"/>
                          <a:ea typeface="Arial"/>
                        </a:rPr>
                        <a:t>Recall</a:t>
                      </a:r>
                      <a:endParaRPr lang="fr-FR" sz="11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100" b="1" u="none" strike="noStrike">
                          <a:solidFill>
                            <a:srgbClr val="FFFFFF"/>
                          </a:solidFill>
                          <a:effectLst/>
                          <a:uFillTx/>
                          <a:latin typeface="Arial"/>
                          <a:ea typeface="Arial"/>
                        </a:rPr>
                        <a:t>F1-score</a:t>
                      </a:r>
                      <a:endParaRPr lang="fr-FR" sz="11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r>
              <a:tr h="472320">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Embedding + GAP</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0,9785</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0,9630</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0,8725</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0,9155</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r>
              <a:tr h="472320">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Embedding + LSTM</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0,9776</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0,9697</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0,8591</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100" b="0" u="none" strike="noStrike">
                          <a:solidFill>
                            <a:srgbClr val="26343B"/>
                          </a:solidFill>
                          <a:effectLst/>
                          <a:uFillTx/>
                          <a:latin typeface="Arial"/>
                          <a:ea typeface="Arial"/>
                        </a:rPr>
                        <a:t>0,9110</a:t>
                      </a:r>
                      <a:endParaRPr lang="fr-FR" sz="11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r>
            </a:tbl>
          </a:graphicData>
        </a:graphic>
      </p:graphicFrame>
      <p:sp>
        <p:nvSpPr>
          <p:cNvPr id="119" name="Text 5"/>
          <p:cNvSpPr/>
          <p:nvPr/>
        </p:nvSpPr>
        <p:spPr>
          <a:xfrm>
            <a:off x="5989320" y="2880360"/>
            <a:ext cx="512028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Choix final</a:t>
            </a:r>
            <a:endParaRPr lang="fr-FR" sz="1600" b="0" u="none" strike="noStrike">
              <a:solidFill>
                <a:srgbClr val="000000"/>
              </a:solidFill>
              <a:effectLst/>
              <a:uFillTx/>
              <a:latin typeface="Arial"/>
            </a:endParaRPr>
          </a:p>
        </p:txBody>
      </p:sp>
      <p:sp>
        <p:nvSpPr>
          <p:cNvPr id="120" name="Text 6"/>
          <p:cNvSpPr/>
          <p:nvPr/>
        </p:nvSpPr>
        <p:spPr>
          <a:xfrm>
            <a:off x="6044040" y="3209400"/>
            <a:ext cx="5010480" cy="1380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400" b="0" u="none" strike="noStrike">
                <a:solidFill>
                  <a:srgbClr val="26343B"/>
                </a:solidFill>
                <a:effectLst/>
                <a:uFillTx/>
                <a:latin typeface="Arial"/>
              </a:rPr>
              <a:t>• le modèle simple obtient le meilleur F1-score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le LSTM améliore légèrement la précision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mais il baisse le recall et le F1-score ;</a:t>
            </a:r>
            <a:endParaRPr lang="fr-FR" sz="1400" b="0" u="none" strike="noStrike">
              <a:solidFill>
                <a:srgbClr val="000000"/>
              </a:solidFill>
              <a:effectLst/>
              <a:uFillTx/>
              <a:latin typeface="Arial"/>
            </a:endParaRPr>
          </a:p>
          <a:p>
            <a:pPr defTabSz="914400">
              <a:lnSpc>
                <a:spcPct val="100000"/>
              </a:lnSpc>
              <a:tabLst>
                <a:tab pos="0" algn="l"/>
              </a:tabLst>
            </a:pPr>
            <a:r>
              <a:rPr lang="fr-FR" sz="1400" b="0" u="none" strike="noStrike">
                <a:solidFill>
                  <a:srgbClr val="26343B"/>
                </a:solidFill>
                <a:effectLst/>
                <a:uFillTx/>
                <a:latin typeface="Arial"/>
              </a:rPr>
              <a:t>• la complexité supplémentaire n’est pas justifiée ici.</a:t>
            </a:r>
            <a:endParaRPr lang="fr-FR" sz="1400" b="0" u="none" strike="noStrike">
              <a:solidFill>
                <a:srgbClr val="000000"/>
              </a:solidFill>
              <a:effectLst/>
              <a:uFillTx/>
              <a:latin typeface="Arial"/>
            </a:endParaRPr>
          </a:p>
        </p:txBody>
      </p:sp>
      <p:sp>
        <p:nvSpPr>
          <p:cNvPr id="121" name="Text 7"/>
          <p:cNvSpPr/>
          <p:nvPr/>
        </p:nvSpPr>
        <p:spPr>
          <a:xfrm>
            <a:off x="5989320" y="5074920"/>
            <a:ext cx="5120280" cy="47520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200" b="1" u="none" strike="noStrike">
                <a:solidFill>
                  <a:srgbClr val="FFFFFF"/>
                </a:solidFill>
                <a:effectLst/>
                <a:uFillTx/>
                <a:latin typeface="Arial"/>
              </a:rPr>
              <a:t>  Modèle retenu : `Embedding + GlobalAveragePooling1D`.</a:t>
            </a:r>
            <a:endParaRPr lang="fr-FR"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122"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000" b="1" u="none" strike="noStrike">
                <a:solidFill>
                  <a:srgbClr val="FFFFFF"/>
                </a:solidFill>
                <a:effectLst/>
                <a:uFillTx/>
                <a:latin typeface="Arial"/>
                <a:ea typeface="Arial"/>
              </a:rPr>
              <a:t> Résultats du modèle retenu</a:t>
            </a:r>
            <a:endParaRPr lang="fr-FR" sz="2000" b="0" u="none" strike="noStrike">
              <a:solidFill>
                <a:srgbClr val="FFFFFF"/>
              </a:solidFill>
              <a:effectLst/>
              <a:uFillTx/>
              <a:latin typeface="Arial"/>
            </a:endParaRPr>
          </a:p>
        </p:txBody>
      </p:sp>
      <p:sp>
        <p:nvSpPr>
          <p:cNvPr id="123"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400" b="0" u="none" strike="noStrike">
                <a:solidFill>
                  <a:srgbClr val="D9EEF2"/>
                </a:solidFill>
                <a:effectLst/>
                <a:uFillTx/>
                <a:latin typeface="Arial"/>
              </a:rPr>
              <a:t>Lire les performances au-delà de l’accuracy</a:t>
            </a:r>
            <a:endParaRPr lang="fr-FR" sz="1400" b="0" u="none" strike="noStrike">
              <a:solidFill>
                <a:srgbClr val="000000"/>
              </a:solidFill>
              <a:effectLst/>
              <a:uFillTx/>
              <a:latin typeface="Arial"/>
            </a:endParaRPr>
          </a:p>
        </p:txBody>
      </p:sp>
      <p:sp>
        <p:nvSpPr>
          <p:cNvPr id="124"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25"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126"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8</a:t>
            </a:r>
            <a:endParaRPr lang="fr-FR" sz="650" b="0" u="none" strike="noStrike">
              <a:solidFill>
                <a:srgbClr val="000000"/>
              </a:solidFill>
              <a:effectLst/>
              <a:uFillTx/>
              <a:latin typeface="Arial"/>
            </a:endParaRPr>
          </a:p>
        </p:txBody>
      </p:sp>
      <p:sp>
        <p:nvSpPr>
          <p:cNvPr id="127" name="Text 5"/>
          <p:cNvSpPr/>
          <p:nvPr/>
        </p:nvSpPr>
        <p:spPr>
          <a:xfrm>
            <a:off x="467280" y="883800"/>
            <a:ext cx="1608120" cy="6426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0B2D42"/>
                </a:solidFill>
                <a:effectLst/>
                <a:uFillTx/>
                <a:latin typeface="Arial"/>
              </a:rPr>
              <a:t> 961</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0B2D42"/>
                </a:solidFill>
                <a:effectLst/>
                <a:uFillTx/>
                <a:latin typeface="Arial"/>
              </a:rPr>
              <a:t> ham bien détectés</a:t>
            </a:r>
            <a:endParaRPr lang="fr-FR" sz="1400" b="0" u="none" strike="noStrike">
              <a:solidFill>
                <a:srgbClr val="000000"/>
              </a:solidFill>
              <a:effectLst/>
              <a:uFillTx/>
              <a:latin typeface="Arial"/>
            </a:endParaRPr>
          </a:p>
        </p:txBody>
      </p:sp>
      <p:sp>
        <p:nvSpPr>
          <p:cNvPr id="128" name="Text 6"/>
          <p:cNvSpPr/>
          <p:nvPr/>
        </p:nvSpPr>
        <p:spPr>
          <a:xfrm>
            <a:off x="2331720" y="883800"/>
            <a:ext cx="1416960" cy="6426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12A6A6"/>
                </a:solidFill>
                <a:effectLst/>
                <a:uFillTx/>
                <a:latin typeface="Arial"/>
              </a:rPr>
              <a:t> 130</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12A6A6"/>
                </a:solidFill>
                <a:effectLst/>
                <a:uFillTx/>
                <a:latin typeface="Arial"/>
              </a:rPr>
              <a:t> spams détectés</a:t>
            </a:r>
            <a:endParaRPr lang="fr-FR" sz="1400" b="0" u="none" strike="noStrike">
              <a:solidFill>
                <a:srgbClr val="000000"/>
              </a:solidFill>
              <a:effectLst/>
              <a:uFillTx/>
              <a:latin typeface="Arial"/>
            </a:endParaRPr>
          </a:p>
        </p:txBody>
      </p:sp>
      <p:sp>
        <p:nvSpPr>
          <p:cNvPr id="129" name="Text 7"/>
          <p:cNvSpPr/>
          <p:nvPr/>
        </p:nvSpPr>
        <p:spPr>
          <a:xfrm>
            <a:off x="3913560" y="883800"/>
            <a:ext cx="1416960" cy="6426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F2B744"/>
                </a:solidFill>
                <a:effectLst/>
                <a:uFillTx/>
                <a:latin typeface="Arial"/>
              </a:rPr>
              <a:t> 5</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F2B744"/>
                </a:solidFill>
                <a:effectLst/>
                <a:uFillTx/>
                <a:latin typeface="Arial"/>
              </a:rPr>
              <a:t> fausses alertes</a:t>
            </a:r>
            <a:endParaRPr lang="fr-FR" sz="1400" b="0" u="none" strike="noStrike">
              <a:solidFill>
                <a:srgbClr val="000000"/>
              </a:solidFill>
              <a:effectLst/>
              <a:uFillTx/>
              <a:latin typeface="Arial"/>
            </a:endParaRPr>
          </a:p>
        </p:txBody>
      </p:sp>
      <p:sp>
        <p:nvSpPr>
          <p:cNvPr id="130" name="Text 8"/>
          <p:cNvSpPr/>
          <p:nvPr/>
        </p:nvSpPr>
        <p:spPr>
          <a:xfrm>
            <a:off x="5495400" y="883800"/>
            <a:ext cx="1676880" cy="642600"/>
          </a:xfrm>
          <a:prstGeom prst="rect">
            <a:avLst/>
          </a:prstGeom>
          <a:solidFill>
            <a:srgbClr val="FFFFFF"/>
          </a:solidFill>
          <a:ln w="12700">
            <a:solidFill>
              <a:srgbClr val="D8E1E5"/>
            </a:solidFill>
            <a:round/>
          </a:ln>
        </p:spPr>
        <p:style>
          <a:lnRef idx="0"/>
          <a:fillRef idx="0"/>
          <a:effectRef idx="0"/>
          <a:fontRef idx="minor"/>
        </p:style>
        <p:txBody>
          <a:bodyPr lIns="1080" tIns="1080" rIns="1080" bIns="1080" anchor="ctr">
            <a:normAutofit/>
          </a:bodyPr>
          <a:p>
            <a:pPr defTabSz="914400">
              <a:lnSpc>
                <a:spcPct val="100000"/>
              </a:lnSpc>
              <a:tabLst>
                <a:tab pos="0" algn="l"/>
              </a:tabLst>
            </a:pPr>
            <a:r>
              <a:rPr lang="fr-FR" sz="1400" b="1" u="none" strike="noStrike">
                <a:solidFill>
                  <a:srgbClr val="CE6A5D"/>
                </a:solidFill>
                <a:effectLst/>
                <a:uFillTx/>
                <a:latin typeface="Arial"/>
              </a:rPr>
              <a:t> 19</a:t>
            </a:r>
            <a:endParaRPr lang="fr-FR" sz="1400" b="0" u="none" strike="noStrike">
              <a:solidFill>
                <a:srgbClr val="000000"/>
              </a:solidFill>
              <a:effectLst/>
              <a:uFillTx/>
              <a:latin typeface="Arial"/>
            </a:endParaRPr>
          </a:p>
          <a:p>
            <a:pPr defTabSz="914400">
              <a:lnSpc>
                <a:spcPct val="100000"/>
              </a:lnSpc>
              <a:tabLst>
                <a:tab pos="0" algn="l"/>
              </a:tabLst>
            </a:pPr>
            <a:r>
              <a:rPr lang="fr-FR" sz="1400" b="1" u="none" strike="noStrike">
                <a:solidFill>
                  <a:srgbClr val="CE6A5D"/>
                </a:solidFill>
                <a:effectLst/>
                <a:uFillTx/>
                <a:latin typeface="Arial"/>
              </a:rPr>
              <a:t> spams manqués</a:t>
            </a:r>
            <a:endParaRPr lang="fr-FR" sz="1400" b="0" u="none" strike="noStrike">
              <a:solidFill>
                <a:srgbClr val="000000"/>
              </a:solidFill>
              <a:effectLst/>
              <a:uFillTx/>
              <a:latin typeface="Arial"/>
            </a:endParaRPr>
          </a:p>
        </p:txBody>
      </p:sp>
      <p:sp>
        <p:nvSpPr>
          <p:cNvPr id="131" name="Text 9"/>
          <p:cNvSpPr/>
          <p:nvPr/>
        </p:nvSpPr>
        <p:spPr>
          <a:xfrm>
            <a:off x="749880" y="2103120"/>
            <a:ext cx="411444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12A6A6"/>
                </a:solidFill>
                <a:effectLst/>
                <a:uFillTx/>
                <a:latin typeface="Arial"/>
              </a:rPr>
              <a:t>Matrice de confusion sur le test</a:t>
            </a:r>
            <a:endParaRPr lang="fr-FR" sz="2000" b="0" u="none" strike="noStrike">
              <a:solidFill>
                <a:srgbClr val="000000"/>
              </a:solidFill>
              <a:effectLst/>
              <a:uFillTx/>
              <a:latin typeface="Arial"/>
            </a:endParaRPr>
          </a:p>
        </p:txBody>
      </p:sp>
      <p:graphicFrame>
        <p:nvGraphicFramePr>
          <p:cNvPr id="132" name="Table 0"/>
          <p:cNvGraphicFramePr/>
          <p:nvPr/>
        </p:nvGraphicFramePr>
        <p:xfrm>
          <a:off x="749880" y="2487240"/>
          <a:ext cx="4708800" cy="1416960"/>
        </p:xfrm>
        <a:graphic>
          <a:graphicData uri="http://schemas.openxmlformats.org/drawingml/2006/table">
            <a:tbl>
              <a:tblPr/>
              <a:tblGrid>
                <a:gridCol w="1417320"/>
                <a:gridCol w="1645920"/>
                <a:gridCol w="1645920"/>
              </a:tblGrid>
              <a:tr h="472320">
                <a:tc>
                  <a:txBody>
                    <a:bodyPr lIns="54720" tIns="54720" rIns="54720" bIns="54720" anchor="t">
                      <a:noAutofit/>
                    </a:bodyPr>
                    <a:p>
                      <a:endParaRPr lang="fr-FR" sz="1000" b="0" u="none" strike="noStrike">
                        <a:solidFill>
                          <a:schemeClr val="dk1"/>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400" b="1" u="none" strike="noStrike">
                          <a:solidFill>
                            <a:srgbClr val="FFFFFF"/>
                          </a:solidFill>
                          <a:effectLst/>
                          <a:uFillTx/>
                          <a:latin typeface="Arial"/>
                          <a:ea typeface="Arial"/>
                        </a:rPr>
                        <a:t>Prédit ham</a:t>
                      </a:r>
                      <a:endParaRPr lang="fr-FR" sz="14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c>
                  <a:txBody>
                    <a:bodyPr lIns="54720" tIns="54720" rIns="54720" bIns="54720" anchor="t">
                      <a:noAutofit/>
                    </a:bodyPr>
                    <a:p>
                      <a:pPr defTabSz="914400">
                        <a:lnSpc>
                          <a:spcPct val="100000"/>
                        </a:lnSpc>
                        <a:tabLst>
                          <a:tab pos="0" algn="l"/>
                        </a:tabLst>
                      </a:pPr>
                      <a:r>
                        <a:rPr lang="fr-FR" sz="1400" b="1" u="none" strike="noStrike">
                          <a:solidFill>
                            <a:srgbClr val="FFFFFF"/>
                          </a:solidFill>
                          <a:effectLst/>
                          <a:uFillTx/>
                          <a:latin typeface="Arial"/>
                          <a:ea typeface="Arial"/>
                        </a:rPr>
                        <a:t>Prédit spam</a:t>
                      </a:r>
                      <a:endParaRPr lang="fr-FR" sz="1400" b="0" u="none" strike="noStrike">
                        <a:solidFill>
                          <a:srgbClr val="FFFFFF"/>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0B2D42"/>
                    </a:solidFill>
                  </a:tcPr>
                </a:tc>
              </a:tr>
              <a:tr h="472320">
                <a:tc>
                  <a:txBody>
                    <a:bodyPr lIns="54720" tIns="54720" rIns="54720" bIns="54720" anchor="t">
                      <a:noAutofit/>
                    </a:bodyPr>
                    <a:p>
                      <a:pPr defTabSz="914400">
                        <a:lnSpc>
                          <a:spcPct val="100000"/>
                        </a:lnSpc>
                        <a:tabLst>
                          <a:tab pos="0" algn="l"/>
                        </a:tabLst>
                      </a:pPr>
                      <a:r>
                        <a:rPr lang="fr-FR" sz="1400" b="1" u="none" strike="noStrike">
                          <a:solidFill>
                            <a:srgbClr val="26343B"/>
                          </a:solidFill>
                          <a:effectLst/>
                          <a:uFillTx/>
                          <a:latin typeface="Arial"/>
                          <a:ea typeface="Arial"/>
                        </a:rPr>
                        <a:t>Réel ham</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400" b="0" u="none" strike="noStrike">
                          <a:solidFill>
                            <a:srgbClr val="26343B"/>
                          </a:solidFill>
                          <a:effectLst/>
                          <a:uFillTx/>
                          <a:latin typeface="Arial"/>
                          <a:ea typeface="Arial"/>
                        </a:rPr>
                        <a:t> 961</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400" b="0" u="none" strike="noStrike">
                          <a:solidFill>
                            <a:srgbClr val="26343B"/>
                          </a:solidFill>
                          <a:effectLst/>
                          <a:uFillTx/>
                          <a:latin typeface="Arial"/>
                          <a:ea typeface="Arial"/>
                        </a:rPr>
                        <a:t> 5</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r>
              <a:tr h="472320">
                <a:tc>
                  <a:txBody>
                    <a:bodyPr lIns="54720" tIns="54720" rIns="54720" bIns="54720" anchor="t">
                      <a:noAutofit/>
                    </a:bodyPr>
                    <a:p>
                      <a:pPr defTabSz="914400">
                        <a:lnSpc>
                          <a:spcPct val="100000"/>
                        </a:lnSpc>
                        <a:tabLst>
                          <a:tab pos="0" algn="l"/>
                        </a:tabLst>
                      </a:pPr>
                      <a:r>
                        <a:rPr lang="fr-FR" sz="1400" b="1" u="none" strike="noStrike">
                          <a:solidFill>
                            <a:srgbClr val="26343B"/>
                          </a:solidFill>
                          <a:effectLst/>
                          <a:uFillTx/>
                          <a:latin typeface="Arial"/>
                          <a:ea typeface="Arial"/>
                        </a:rPr>
                        <a:t>Réel spam</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400" b="0" u="none" strike="noStrike">
                          <a:solidFill>
                            <a:srgbClr val="26343B"/>
                          </a:solidFill>
                          <a:effectLst/>
                          <a:uFillTx/>
                          <a:latin typeface="Arial"/>
                          <a:ea typeface="Arial"/>
                        </a:rPr>
                        <a:t> 19</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c>
                  <a:txBody>
                    <a:bodyPr lIns="54720" tIns="54720" rIns="54720" bIns="54720" anchor="t">
                      <a:noAutofit/>
                    </a:bodyPr>
                    <a:p>
                      <a:pPr defTabSz="914400">
                        <a:lnSpc>
                          <a:spcPct val="100000"/>
                        </a:lnSpc>
                        <a:tabLst>
                          <a:tab pos="0" algn="l"/>
                        </a:tabLst>
                      </a:pPr>
                      <a:r>
                        <a:rPr lang="fr-FR" sz="1400" b="0" u="none" strike="noStrike">
                          <a:solidFill>
                            <a:srgbClr val="26343B"/>
                          </a:solidFill>
                          <a:effectLst/>
                          <a:uFillTx/>
                          <a:latin typeface="Arial"/>
                          <a:ea typeface="Arial"/>
                        </a:rPr>
                        <a:t>130</a:t>
                      </a:r>
                      <a:endParaRPr lang="fr-FR" sz="1400" b="0" u="none" strike="noStrike">
                        <a:solidFill>
                          <a:srgbClr val="000000"/>
                        </a:solidFill>
                        <a:effectLst/>
                        <a:uFillTx/>
                        <a:latin typeface="Arial"/>
                      </a:endParaRPr>
                    </a:p>
                  </a:txBody>
                  <a:tcPr anchor="t" marL="54720" marR="54720" marT="54720" marB="54720">
                    <a:lnL w="6480">
                      <a:solidFill>
                        <a:srgbClr val="D8E1E5"/>
                      </a:solidFill>
                      <a:prstDash val="solid"/>
                    </a:lnL>
                    <a:lnR w="6480">
                      <a:solidFill>
                        <a:srgbClr val="D8E1E5"/>
                      </a:solidFill>
                      <a:prstDash val="solid"/>
                    </a:lnR>
                    <a:lnT w="6480">
                      <a:solidFill>
                        <a:srgbClr val="D8E1E5"/>
                      </a:solidFill>
                      <a:prstDash val="solid"/>
                    </a:lnT>
                    <a:lnB w="6480">
                      <a:solidFill>
                        <a:srgbClr val="D8E1E5"/>
                      </a:solidFill>
                      <a:prstDash val="solid"/>
                    </a:lnB>
                    <a:solidFill>
                      <a:srgbClr val="FFFFFF"/>
                    </a:solidFill>
                  </a:tcPr>
                </a:tc>
              </a:tr>
            </a:tbl>
          </a:graphicData>
        </a:graphic>
      </p:graphicFrame>
      <p:sp>
        <p:nvSpPr>
          <p:cNvPr id="133" name="Text 10"/>
          <p:cNvSpPr/>
          <p:nvPr/>
        </p:nvSpPr>
        <p:spPr>
          <a:xfrm>
            <a:off x="6263640" y="1993320"/>
            <a:ext cx="470880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Lecture opérationnelle</a:t>
            </a:r>
            <a:endParaRPr lang="fr-FR" sz="1600" b="0" u="none" strike="noStrike">
              <a:solidFill>
                <a:srgbClr val="000000"/>
              </a:solidFill>
              <a:effectLst/>
              <a:uFillTx/>
              <a:latin typeface="Arial"/>
            </a:endParaRPr>
          </a:p>
        </p:txBody>
      </p:sp>
      <p:sp>
        <p:nvSpPr>
          <p:cNvPr id="134" name="Text 11"/>
          <p:cNvSpPr/>
          <p:nvPr/>
        </p:nvSpPr>
        <p:spPr>
          <a:xfrm>
            <a:off x="6318360" y="2322720"/>
            <a:ext cx="4599000" cy="1746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600" b="0" u="none" strike="noStrike">
                <a:solidFill>
                  <a:srgbClr val="26343B"/>
                </a:solidFill>
                <a:effectLst/>
                <a:uFillTx/>
                <a:latin typeface="Arial"/>
              </a:rPr>
              <a:t>• très peu de ham classés à tort comme spam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la majorité des spams est correctement identifiée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le modèle rate encore certains spams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le seuil de décision pourrait être ajusté selon le coût métier des erreurs.</a:t>
            </a:r>
            <a:endParaRPr lang="fr-FR" sz="1600" b="0" u="none" strike="noStrike">
              <a:solidFill>
                <a:srgbClr val="000000"/>
              </a:solidFill>
              <a:effectLst/>
              <a:uFillTx/>
              <a:latin typeface="Arial"/>
            </a:endParaRPr>
          </a:p>
        </p:txBody>
      </p:sp>
      <p:sp>
        <p:nvSpPr>
          <p:cNvPr id="135" name="Text 12"/>
          <p:cNvSpPr/>
          <p:nvPr/>
        </p:nvSpPr>
        <p:spPr>
          <a:xfrm>
            <a:off x="6263640" y="4617720"/>
            <a:ext cx="4911840" cy="87840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600" b="1" u="none" strike="noStrike">
                <a:solidFill>
                  <a:srgbClr val="FFFFFF"/>
                </a:solidFill>
                <a:effectLst/>
                <a:uFillTx/>
                <a:latin typeface="Arial"/>
              </a:rPr>
              <a:t> Le F1-score permet de synthétiser le compromis  entre précision et rappel.</a:t>
            </a:r>
            <a:endParaRPr lang="fr-FR"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136"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600" b="1" u="none" strike="noStrike">
                <a:solidFill>
                  <a:srgbClr val="FFFFFF"/>
                </a:solidFill>
                <a:effectLst/>
                <a:uFillTx/>
                <a:latin typeface="Arial"/>
                <a:ea typeface="Arial"/>
              </a:rPr>
              <a:t> Interprétation métier et limites</a:t>
            </a:r>
            <a:endParaRPr lang="fr-FR" sz="2600" b="0" u="none" strike="noStrike">
              <a:solidFill>
                <a:srgbClr val="FFFFFF"/>
              </a:solidFill>
              <a:effectLst/>
              <a:uFillTx/>
              <a:latin typeface="Arial"/>
            </a:endParaRPr>
          </a:p>
        </p:txBody>
      </p:sp>
      <p:sp>
        <p:nvSpPr>
          <p:cNvPr id="137"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D9EEF2"/>
                </a:solidFill>
                <a:effectLst/>
                <a:uFillTx/>
                <a:latin typeface="Arial"/>
              </a:rPr>
              <a:t>Transformer un résultat technique en usage réaliste</a:t>
            </a:r>
            <a:endParaRPr lang="fr-FR" sz="1200" b="0" u="none" strike="noStrike">
              <a:solidFill>
                <a:srgbClr val="000000"/>
              </a:solidFill>
              <a:effectLst/>
              <a:uFillTx/>
              <a:latin typeface="Arial"/>
            </a:endParaRPr>
          </a:p>
        </p:txBody>
      </p:sp>
      <p:sp>
        <p:nvSpPr>
          <p:cNvPr id="138"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39"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140"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9</a:t>
            </a:r>
            <a:endParaRPr lang="fr-FR" sz="650" b="0" u="none" strike="noStrike">
              <a:solidFill>
                <a:srgbClr val="000000"/>
              </a:solidFill>
              <a:effectLst/>
              <a:uFillTx/>
              <a:latin typeface="Arial"/>
            </a:endParaRPr>
          </a:p>
        </p:txBody>
      </p:sp>
      <p:sp>
        <p:nvSpPr>
          <p:cNvPr id="141" name="Text 5"/>
          <p:cNvSpPr/>
          <p:nvPr/>
        </p:nvSpPr>
        <p:spPr>
          <a:xfrm>
            <a:off x="142200" y="1115640"/>
            <a:ext cx="480024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Utilisation possible</a:t>
            </a:r>
            <a:endParaRPr lang="fr-FR" sz="1600" b="0" u="none" strike="noStrike">
              <a:solidFill>
                <a:srgbClr val="000000"/>
              </a:solidFill>
              <a:effectLst/>
              <a:uFillTx/>
              <a:latin typeface="Arial"/>
            </a:endParaRPr>
          </a:p>
        </p:txBody>
      </p:sp>
      <p:sp>
        <p:nvSpPr>
          <p:cNvPr id="142" name="Text 6"/>
          <p:cNvSpPr/>
          <p:nvPr/>
        </p:nvSpPr>
        <p:spPr>
          <a:xfrm>
            <a:off x="142200" y="1416240"/>
            <a:ext cx="5567400" cy="1947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fr-FR" sz="1600" b="0" u="none" strike="noStrike">
                <a:solidFill>
                  <a:srgbClr val="26343B"/>
                </a:solidFill>
                <a:effectLst/>
                <a:uFillTx/>
                <a:latin typeface="Arial"/>
              </a:rPr>
              <a:t>• pré-filtrer automatiquement les SMS suspects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réduire l’exposition des utilisateurs aux messages indésirables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servir de première brique dans un système plus large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aider à prioriser les messages à contrôler.</a:t>
            </a:r>
            <a:endParaRPr lang="fr-FR" sz="1600" b="0" u="none" strike="noStrike">
              <a:solidFill>
                <a:srgbClr val="000000"/>
              </a:solidFill>
              <a:effectLst/>
              <a:uFillTx/>
              <a:latin typeface="Arial"/>
            </a:endParaRPr>
          </a:p>
        </p:txBody>
      </p:sp>
      <p:sp>
        <p:nvSpPr>
          <p:cNvPr id="143" name="Text 7"/>
          <p:cNvSpPr/>
          <p:nvPr/>
        </p:nvSpPr>
        <p:spPr>
          <a:xfrm>
            <a:off x="6263640" y="1097280"/>
            <a:ext cx="480024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Limites à reconnaître</a:t>
            </a:r>
            <a:endParaRPr lang="fr-FR" sz="1600" b="0" u="none" strike="noStrike">
              <a:solidFill>
                <a:srgbClr val="000000"/>
              </a:solidFill>
              <a:effectLst/>
              <a:uFillTx/>
              <a:latin typeface="Arial"/>
            </a:endParaRPr>
          </a:p>
        </p:txBody>
      </p:sp>
      <p:sp>
        <p:nvSpPr>
          <p:cNvPr id="144" name="Text 8"/>
          <p:cNvSpPr/>
          <p:nvPr/>
        </p:nvSpPr>
        <p:spPr>
          <a:xfrm>
            <a:off x="6318360" y="1194840"/>
            <a:ext cx="4690440" cy="20203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600" b="0" u="none" strike="noStrike">
                <a:solidFill>
                  <a:srgbClr val="26343B"/>
                </a:solidFill>
                <a:effectLst/>
                <a:uFillTx/>
                <a:latin typeface="Arial"/>
              </a:rPr>
              <a:t>• le modèle utilise uniquement le texte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pas de métadonnées : expéditeur, fréquence, historique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dataset de taille modérée ;</a:t>
            </a: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les résultats ne garantissent pas une généralisation parfaite en production.</a:t>
            </a:r>
            <a:endParaRPr lang="fr-FR" sz="1600" b="0" u="none" strike="noStrike">
              <a:solidFill>
                <a:srgbClr val="000000"/>
              </a:solidFill>
              <a:effectLst/>
              <a:uFillTx/>
              <a:latin typeface="Arial"/>
            </a:endParaRPr>
          </a:p>
        </p:txBody>
      </p:sp>
      <p:sp>
        <p:nvSpPr>
          <p:cNvPr id="145" name="Text 9"/>
          <p:cNvSpPr/>
          <p:nvPr/>
        </p:nvSpPr>
        <p:spPr>
          <a:xfrm>
            <a:off x="142200" y="3570120"/>
            <a:ext cx="480024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Suites possibles</a:t>
            </a:r>
            <a:endParaRPr lang="fr-FR" sz="1600" b="0" u="none" strike="noStrike">
              <a:solidFill>
                <a:srgbClr val="000000"/>
              </a:solidFill>
              <a:effectLst/>
              <a:uFillTx/>
              <a:latin typeface="Arial"/>
            </a:endParaRPr>
          </a:p>
        </p:txBody>
      </p:sp>
      <p:sp>
        <p:nvSpPr>
          <p:cNvPr id="146" name="Text 10"/>
          <p:cNvSpPr/>
          <p:nvPr/>
        </p:nvSpPr>
        <p:spPr>
          <a:xfrm>
            <a:off x="142200" y="4343400"/>
            <a:ext cx="5567400" cy="942480"/>
          </a:xfrm>
          <a:prstGeom prst="rect">
            <a:avLst/>
          </a:prstGeom>
          <a:noFill/>
          <a:ln w="0">
            <a:noFill/>
          </a:ln>
        </p:spPr>
        <p:style>
          <a:lnRef idx="0"/>
          <a:fillRef idx="0"/>
          <a:effectRef idx="0"/>
          <a:fontRef idx="minor"/>
        </p:style>
        <p:txBody>
          <a:bodyPr lIns="720" tIns="720" rIns="720" bIns="720" anchor="ctr">
            <a:noAutofit/>
          </a:bodyPr>
          <a:p>
            <a:pPr defTabSz="914400">
              <a:lnSpc>
                <a:spcPct val="100000"/>
              </a:lnSpc>
              <a:tabLst>
                <a:tab pos="0" algn="l"/>
              </a:tabLst>
            </a:pPr>
            <a:r>
              <a:rPr lang="fr-FR" sz="1600" b="0" u="none" strike="noStrike">
                <a:solidFill>
                  <a:srgbClr val="26343B"/>
                </a:solidFill>
                <a:effectLst/>
                <a:uFillTx/>
                <a:latin typeface="Arial"/>
              </a:rPr>
              <a:t>• nettoyage textuel plus avancé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embeddings pré-entraînés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ajustement du seuil selon le coût des erreurs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intégration API ou application de démonstration.</a:t>
            </a:r>
            <a:endParaRPr lang="fr-FR" sz="1600" b="0" u="none" strike="noStrike">
              <a:solidFill>
                <a:srgbClr val="000000"/>
              </a:solidFill>
              <a:effectLst/>
              <a:uFillTx/>
              <a:latin typeface="Arial"/>
            </a:endParaRPr>
          </a:p>
        </p:txBody>
      </p:sp>
      <p:sp>
        <p:nvSpPr>
          <p:cNvPr id="147" name="Text 11"/>
          <p:cNvSpPr/>
          <p:nvPr/>
        </p:nvSpPr>
        <p:spPr>
          <a:xfrm>
            <a:off x="6187320" y="3429000"/>
            <a:ext cx="5772600" cy="129996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300" b="1" u="none" strike="noStrike">
                <a:solidFill>
                  <a:srgbClr val="FFFFFF"/>
                </a:solidFill>
                <a:effectLst/>
                <a:uFillTx/>
                <a:latin typeface="Arial"/>
              </a:rPr>
              <a:t> Le modèle est une base solide, pas une solution industrielle complète.</a:t>
            </a:r>
            <a:endParaRPr lang="fr-FR"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7F8"/>
        </a:solidFill>
      </p:bgPr>
    </p:bg>
    <p:spTree>
      <p:nvGrpSpPr>
        <p:cNvPr id="1" name=""/>
        <p:cNvGrpSpPr/>
        <p:nvPr/>
      </p:nvGrpSpPr>
      <p:grpSpPr>
        <a:xfrm>
          <a:off x="0" y="0"/>
          <a:ext cx="0" cy="0"/>
          <a:chOff x="0" y="0"/>
          <a:chExt cx="0" cy="0"/>
        </a:xfrm>
      </p:grpSpPr>
      <p:sp>
        <p:nvSpPr>
          <p:cNvPr id="148" name="Text 0"/>
          <p:cNvSpPr/>
          <p:nvPr/>
        </p:nvSpPr>
        <p:spPr>
          <a:xfrm>
            <a:off x="0" y="0"/>
            <a:ext cx="12191400" cy="502560"/>
          </a:xfrm>
          <a:prstGeom prst="rect">
            <a:avLst/>
          </a:prstGeom>
          <a:solidFill>
            <a:srgbClr val="0B2D42"/>
          </a:solidFill>
          <a:ln w="0">
            <a:noFill/>
          </a:ln>
        </p:spPr>
        <p:style>
          <a:lnRef idx="0"/>
          <a:fillRef idx="0"/>
          <a:effectRef idx="0"/>
          <a:fontRef idx="minor"/>
        </p:style>
        <p:txBody>
          <a:bodyPr lIns="1440" tIns="1440" rIns="1440" bIns="1440" anchor="ctr">
            <a:noAutofit/>
          </a:bodyPr>
          <a:p>
            <a:pPr defTabSz="914400">
              <a:lnSpc>
                <a:spcPct val="100000"/>
              </a:lnSpc>
              <a:tabLst>
                <a:tab pos="0" algn="l"/>
              </a:tabLst>
            </a:pPr>
            <a:r>
              <a:rPr lang="fr-FR" sz="2800" b="1" u="none" strike="noStrike">
                <a:solidFill>
                  <a:srgbClr val="FFFFFF"/>
                </a:solidFill>
                <a:effectLst/>
                <a:uFillTx/>
                <a:latin typeface="Arial"/>
                <a:ea typeface="Arial"/>
              </a:rPr>
              <a:t> Conclusion</a:t>
            </a:r>
            <a:endParaRPr lang="fr-FR" sz="2800" b="0" u="none" strike="noStrike">
              <a:solidFill>
                <a:srgbClr val="FFFFFF"/>
              </a:solidFill>
              <a:effectLst/>
              <a:uFillTx/>
              <a:latin typeface="Arial"/>
            </a:endParaRPr>
          </a:p>
        </p:txBody>
      </p:sp>
      <p:sp>
        <p:nvSpPr>
          <p:cNvPr id="149" name="Text 1"/>
          <p:cNvSpPr/>
          <p:nvPr/>
        </p:nvSpPr>
        <p:spPr>
          <a:xfrm>
            <a:off x="8275320" y="137160"/>
            <a:ext cx="356580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D9EEF2"/>
                </a:solidFill>
                <a:effectLst/>
                <a:uFillTx/>
                <a:latin typeface="Arial"/>
              </a:rPr>
              <a:t>Une approche simple, robuste et lisible pour classifier des SMS</a:t>
            </a:r>
            <a:endParaRPr lang="fr-FR" sz="1200" b="0" u="none" strike="noStrike">
              <a:solidFill>
                <a:srgbClr val="000000"/>
              </a:solidFill>
              <a:effectLst/>
              <a:uFillTx/>
              <a:latin typeface="Arial"/>
            </a:endParaRPr>
          </a:p>
        </p:txBody>
      </p:sp>
      <p:sp>
        <p:nvSpPr>
          <p:cNvPr id="150" name="Shape 2"/>
          <p:cNvSpPr/>
          <p:nvPr/>
        </p:nvSpPr>
        <p:spPr>
          <a:xfrm>
            <a:off x="0" y="502920"/>
            <a:ext cx="12191400" cy="36360"/>
          </a:xfrm>
          <a:prstGeom prst="rect">
            <a:avLst/>
          </a:prstGeom>
          <a:solidFill>
            <a:srgbClr val="12A6A6"/>
          </a:solidFill>
          <a:ln w="12700">
            <a:solidFill>
              <a:srgbClr val="12A6A6"/>
            </a:solidFill>
            <a:round/>
          </a:ln>
        </p:spPr>
        <p:style>
          <a:lnRef idx="0"/>
          <a:fillRef idx="0"/>
          <a:effectRef idx="0"/>
          <a:fontRef idx="minor"/>
        </p:style>
        <p:txBody>
          <a:bodyPr lIns="90000" tIns="-8280" rIns="90000" bIns="-8280" anchor="t">
            <a:noAutofit/>
          </a:bodyPr>
          <a:p>
            <a:endParaRPr lang="fr-FR" sz="1800" b="0" u="none" strike="noStrike">
              <a:solidFill>
                <a:schemeClr val="dk1"/>
              </a:solidFill>
              <a:effectLst/>
              <a:uFillTx/>
              <a:latin typeface="Arial"/>
            </a:endParaRPr>
          </a:p>
        </p:txBody>
      </p:sp>
      <p:sp>
        <p:nvSpPr>
          <p:cNvPr id="151" name="Text 3"/>
          <p:cNvSpPr/>
          <p:nvPr/>
        </p:nvSpPr>
        <p:spPr>
          <a:xfrm>
            <a:off x="219600" y="6583680"/>
            <a:ext cx="274284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50" b="0" u="none" strike="noStrike">
                <a:solidFill>
                  <a:srgbClr val="60707A"/>
                </a:solidFill>
                <a:effectLst/>
                <a:uFillTx/>
                <a:latin typeface="Arial"/>
              </a:rPr>
              <a:t>AT&amp;T Spam Detector — Bloc 4</a:t>
            </a:r>
            <a:endParaRPr lang="fr-FR" sz="650" b="0" u="none" strike="noStrike">
              <a:solidFill>
                <a:srgbClr val="000000"/>
              </a:solidFill>
              <a:effectLst/>
              <a:uFillTx/>
              <a:latin typeface="Arial"/>
            </a:endParaRPr>
          </a:p>
        </p:txBody>
      </p:sp>
      <p:sp>
        <p:nvSpPr>
          <p:cNvPr id="152" name="Text 4"/>
          <p:cNvSpPr/>
          <p:nvPr/>
        </p:nvSpPr>
        <p:spPr>
          <a:xfrm>
            <a:off x="11777400" y="6583680"/>
            <a:ext cx="1825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650" b="0" u="none" strike="noStrike">
                <a:solidFill>
                  <a:srgbClr val="60707A"/>
                </a:solidFill>
                <a:effectLst/>
                <a:uFillTx/>
                <a:latin typeface="Arial"/>
              </a:rPr>
              <a:t>10</a:t>
            </a:r>
            <a:endParaRPr lang="fr-FR" sz="650" b="0" u="none" strike="noStrike">
              <a:solidFill>
                <a:srgbClr val="000000"/>
              </a:solidFill>
              <a:effectLst/>
              <a:uFillTx/>
              <a:latin typeface="Arial"/>
            </a:endParaRPr>
          </a:p>
        </p:txBody>
      </p:sp>
      <p:sp>
        <p:nvSpPr>
          <p:cNvPr id="153" name="Text 5"/>
          <p:cNvSpPr/>
          <p:nvPr/>
        </p:nvSpPr>
        <p:spPr>
          <a:xfrm>
            <a:off x="749880" y="1097280"/>
            <a:ext cx="4891680" cy="237240"/>
          </a:xfrm>
          <a:prstGeom prst="rect">
            <a:avLst/>
          </a:prstGeom>
          <a:solidFill>
            <a:srgbClr val="0B2D42"/>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24B8B8"/>
                </a:solidFill>
                <a:effectLst/>
                <a:uFillTx/>
                <a:latin typeface="Arial"/>
              </a:rPr>
              <a:t> Ce que le projet démontre</a:t>
            </a:r>
            <a:endParaRPr lang="fr-FR" sz="1600" b="0" u="none" strike="noStrike">
              <a:solidFill>
                <a:srgbClr val="FFFFFF"/>
              </a:solidFill>
              <a:effectLst/>
              <a:uFillTx/>
              <a:latin typeface="Arial"/>
            </a:endParaRPr>
          </a:p>
        </p:txBody>
      </p:sp>
      <p:sp>
        <p:nvSpPr>
          <p:cNvPr id="154" name="Text 6"/>
          <p:cNvSpPr/>
          <p:nvPr/>
        </p:nvSpPr>
        <p:spPr>
          <a:xfrm>
            <a:off x="749880" y="1243440"/>
            <a:ext cx="4781880" cy="21117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600" b="0" u="none" strike="noStrike">
                <a:solidFill>
                  <a:srgbClr val="26343B"/>
                </a:solidFill>
                <a:effectLst/>
                <a:uFillTx/>
                <a:latin typeface="Arial"/>
              </a:rPr>
              <a:t>• un pipeline complet de classification de texte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une préparation NLP simple et reproductible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une comparaison de deux modèles deep learning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un choix final justifié par des métriques adaptées.</a:t>
            </a:r>
            <a:endParaRPr lang="fr-FR" sz="1600" b="0" u="none" strike="noStrike">
              <a:solidFill>
                <a:srgbClr val="000000"/>
              </a:solidFill>
              <a:effectLst/>
              <a:uFillTx/>
              <a:latin typeface="Arial"/>
            </a:endParaRPr>
          </a:p>
        </p:txBody>
      </p:sp>
      <p:sp>
        <p:nvSpPr>
          <p:cNvPr id="155" name="Text 9"/>
          <p:cNvSpPr/>
          <p:nvPr/>
        </p:nvSpPr>
        <p:spPr>
          <a:xfrm>
            <a:off x="6263640" y="1097280"/>
            <a:ext cx="4800240" cy="237240"/>
          </a:xfrm>
          <a:prstGeom prst="rect">
            <a:avLst/>
          </a:prstGeom>
          <a:solidFill>
            <a:srgbClr val="FFFFFF"/>
          </a:solidFill>
          <a:ln w="12700">
            <a:solidFill>
              <a:srgbClr val="D8E1E5"/>
            </a:solidFill>
            <a:round/>
          </a:ln>
        </p:spPr>
        <p:style>
          <a:lnRef idx="0"/>
          <a:fillRef idx="0"/>
          <a:effectRef idx="0"/>
          <a:fontRef idx="minor"/>
        </p:style>
        <p:txBody>
          <a:bodyPr lIns="1440" tIns="1440" rIns="1440" bIns="1440" anchor="ctr">
            <a:noAutofit/>
          </a:bodyPr>
          <a:p>
            <a:pPr defTabSz="914400">
              <a:lnSpc>
                <a:spcPct val="100000"/>
              </a:lnSpc>
              <a:tabLst>
                <a:tab pos="0" algn="l"/>
              </a:tabLst>
            </a:pPr>
            <a:r>
              <a:rPr lang="fr-FR" sz="1600" b="1" u="none" strike="noStrike">
                <a:solidFill>
                  <a:srgbClr val="12A6A6"/>
                </a:solidFill>
                <a:effectLst/>
                <a:uFillTx/>
                <a:latin typeface="Arial"/>
              </a:rPr>
              <a:t> Limites et suites possibles</a:t>
            </a:r>
            <a:endParaRPr lang="fr-FR" sz="1600" b="0" u="none" strike="noStrike">
              <a:solidFill>
                <a:srgbClr val="000000"/>
              </a:solidFill>
              <a:effectLst/>
              <a:uFillTx/>
              <a:latin typeface="Arial"/>
            </a:endParaRPr>
          </a:p>
        </p:txBody>
      </p:sp>
      <p:sp>
        <p:nvSpPr>
          <p:cNvPr id="156" name="Text 10"/>
          <p:cNvSpPr/>
          <p:nvPr/>
        </p:nvSpPr>
        <p:spPr>
          <a:xfrm>
            <a:off x="6263640" y="1261800"/>
            <a:ext cx="4690440" cy="21117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fr-FR" sz="1600" b="0" u="none" strike="noStrike">
                <a:solidFill>
                  <a:srgbClr val="26343B"/>
                </a:solidFill>
                <a:effectLst/>
                <a:uFillTx/>
                <a:latin typeface="Arial"/>
              </a:rPr>
              <a:t>• peu de variables disponibles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pas de données contextuelles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seuil à ajuster selon le coût des erreurs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r>
              <a:rPr lang="fr-FR" sz="1600" b="0" u="none" strike="noStrike">
                <a:solidFill>
                  <a:srgbClr val="26343B"/>
                </a:solidFill>
                <a:effectLst/>
                <a:uFillTx/>
                <a:latin typeface="Arial"/>
              </a:rPr>
              <a:t>• tester d’autres approches NLP plus avancées.</a:t>
            </a:r>
            <a:endParaRPr lang="fr-FR" sz="1600" b="0" u="none" strike="noStrike">
              <a:solidFill>
                <a:srgbClr val="000000"/>
              </a:solidFill>
              <a:effectLst/>
              <a:uFillTx/>
              <a:latin typeface="Arial"/>
            </a:endParaRPr>
          </a:p>
        </p:txBody>
      </p:sp>
      <p:sp>
        <p:nvSpPr>
          <p:cNvPr id="157" name="Text 11"/>
          <p:cNvSpPr/>
          <p:nvPr/>
        </p:nvSpPr>
        <p:spPr>
          <a:xfrm>
            <a:off x="749880" y="4503600"/>
            <a:ext cx="5851800" cy="594000"/>
          </a:xfrm>
          <a:prstGeom prst="rect">
            <a:avLst/>
          </a:prstGeom>
          <a:solidFill>
            <a:srgbClr val="0B2D42"/>
          </a:solid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fr-FR" sz="1600" b="1" u="none" strike="noStrike">
                <a:solidFill>
                  <a:srgbClr val="FFFFFF"/>
                </a:solidFill>
                <a:effectLst/>
                <a:uFillTx/>
                <a:latin typeface="Arial"/>
              </a:rPr>
              <a:t> Résultat final : un modèle simple, cohérent pour classifier les SMS.</a:t>
            </a:r>
            <a:endParaRPr lang="fr-FR" sz="1600" b="0" u="none" strike="noStrike">
              <a:solidFill>
                <a:srgbClr val="FFFFFF"/>
              </a:solidFill>
              <a:effectLst/>
              <a:uFillTx/>
              <a:latin typeface="Arial"/>
            </a:endParaRPr>
          </a:p>
        </p:txBody>
      </p:sp>
      <p:sp>
        <p:nvSpPr>
          <p:cNvPr id="158" name="Text 12"/>
          <p:cNvSpPr/>
          <p:nvPr/>
        </p:nvSpPr>
        <p:spPr>
          <a:xfrm>
            <a:off x="7498080" y="4412160"/>
            <a:ext cx="2971440" cy="685440"/>
          </a:xfrm>
          <a:prstGeom prst="rect">
            <a:avLst/>
          </a:prstGeom>
          <a:solidFill>
            <a:srgbClr val="12A6A6"/>
          </a:solidFill>
          <a:ln w="0">
            <a:noFill/>
          </a:ln>
        </p:spPr>
        <p:style>
          <a:lnRef idx="0"/>
          <a:fillRef idx="0"/>
          <a:effectRef idx="0"/>
          <a:fontRef idx="minor"/>
        </p:style>
        <p:txBody>
          <a:bodyPr lIns="720" tIns="720" rIns="720" bIns="720" anchor="ctr">
            <a:noAutofit/>
          </a:bodyPr>
          <a:p>
            <a:pPr algn="ctr" defTabSz="914400">
              <a:lnSpc>
                <a:spcPct val="100000"/>
              </a:lnSpc>
              <a:tabLst>
                <a:tab pos="0" algn="l"/>
              </a:tabLst>
            </a:pPr>
            <a:r>
              <a:rPr lang="fr-FR" sz="1200" b="1" u="none" strike="noStrike">
                <a:solidFill>
                  <a:srgbClr val="FFFFFF"/>
                </a:solidFill>
                <a:effectLst/>
                <a:uFillTx/>
                <a:latin typeface="Arial"/>
              </a:rPr>
              <a:t>Merci pour votre attention</a:t>
            </a:r>
            <a:endParaRPr lang="fr-FR" sz="1200" b="0" u="none" strike="noStrike">
              <a:solidFill>
                <a:srgbClr val="FFFFFF"/>
              </a:solidFill>
              <a:effectLst/>
              <a:uFillTx/>
              <a:latin typeface="Arial"/>
            </a:endParaRPr>
          </a:p>
          <a:p>
            <a:pPr algn="ctr" defTabSz="914400">
              <a:lnSpc>
                <a:spcPct val="100000"/>
              </a:lnSpc>
              <a:tabLst>
                <a:tab pos="0" algn="l"/>
              </a:tabLst>
            </a:pPr>
            <a:r>
              <a:rPr lang="fr-FR" sz="1200" b="1" u="none" strike="noStrike">
                <a:solidFill>
                  <a:srgbClr val="FFFFFF"/>
                </a:solidFill>
                <a:effectLst/>
                <a:uFillTx/>
                <a:latin typeface="Arial"/>
              </a:rPr>
              <a:t>Questions / réponses</a:t>
            </a:r>
            <a:endParaRPr lang="fr-FR"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236</TotalTime>
  <Application>LibreOffice/26.2.3.2$Windows_X86_64 LibreOffice_project/70e089b17412e4cb7773e41413306b17a2328c34</Application>
  <AppVersion>15.0000</AppVersion>
  <Words>1808</Words>
  <Paragraphs>266</Paragraphs>
  <Company>Jedha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2026-05-03T15:38:18Z</dcterms:created>
  <dc:creator>Etudiant JEDHA</dc:creator>
  <dc:description/>
  <dc:language>fr-FR</dc:language>
  <cp:lastModifiedBy/>
  <dcterms:modified xsi:type="dcterms:W3CDTF">2026-05-28T16:02:38Z</dcterms:modified>
  <cp:revision>15</cp:revision>
  <dc:subject>Détection de SMS indésirables avec le deep learning</dc:subject>
  <dc:title>AT&amp;T / Orange Spam Detector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Grand écran</vt:lpwstr>
  </property>
  <property fmtid="{D5CDD505-2E9C-101B-9397-08002B2CF9AE}" pid="4" name="Slides">
    <vt:i4>10</vt:i4>
  </property>
</Properties>
</file>