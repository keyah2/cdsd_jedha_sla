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Inter SemiBold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pAOUH/wPSqjKGXvmVs9NtRr5i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SemiBold-bold.fntdata"/><Relationship Id="rId14" Type="http://schemas.openxmlformats.org/officeDocument/2006/relationships/font" Target="fonts/InterSemiBold-regular.fntdata"/><Relationship Id="rId17" Type="http://schemas.openxmlformats.org/officeDocument/2006/relationships/font" Target="fonts/InterSemiBold-boldItalic.fntdata"/><Relationship Id="rId16" Type="http://schemas.openxmlformats.org/officeDocument/2006/relationships/font" Target="fonts/InterSemiBol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5da45ec31_0_4:notes"/>
          <p:cNvSpPr txBox="1"/>
          <p:nvPr>
            <p:ph idx="1" type="body"/>
          </p:nvPr>
        </p:nvSpPr>
        <p:spPr>
          <a:xfrm>
            <a:off x="685800" y="5791046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" name="Google Shape;18;g3f5da45ec31_0_4:notes"/>
          <p:cNvSpPr/>
          <p:nvPr>
            <p:ph idx="2" type="sldImg"/>
          </p:nvPr>
        </p:nvSpPr>
        <p:spPr>
          <a:xfrm>
            <a:off x="381381" y="914376"/>
            <a:ext cx="60957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5da45ec31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f5da45ec31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" name="Google Shape;109;g3f5da45ec31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5da45ec31_0_105:notes"/>
          <p:cNvSpPr/>
          <p:nvPr>
            <p:ph idx="2" type="sldImg"/>
          </p:nvPr>
        </p:nvSpPr>
        <p:spPr>
          <a:xfrm>
            <a:off x="-223203" y="1523959"/>
            <a:ext cx="73044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f5da45ec31_0_105:notes"/>
          <p:cNvSpPr txBox="1"/>
          <p:nvPr>
            <p:ph idx="1" type="body"/>
          </p:nvPr>
        </p:nvSpPr>
        <p:spPr>
          <a:xfrm>
            <a:off x="685167" y="5867244"/>
            <a:ext cx="5487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f5da45ec31_0_105:notes"/>
          <p:cNvSpPr txBox="1"/>
          <p:nvPr>
            <p:ph idx="12" type="sldNum"/>
          </p:nvPr>
        </p:nvSpPr>
        <p:spPr>
          <a:xfrm>
            <a:off x="3884730" y="11579975"/>
            <a:ext cx="29712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f5da45ec31_0_56"/>
          <p:cNvSpPr txBox="1"/>
          <p:nvPr>
            <p:ph type="ctrTitle"/>
          </p:nvPr>
        </p:nvSpPr>
        <p:spPr>
          <a:xfrm>
            <a:off x="415600" y="992767"/>
            <a:ext cx="113604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  <a:defRPr b="0" i="0" sz="6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f5da45ec31_0_56"/>
          <p:cNvSpPr txBox="1"/>
          <p:nvPr>
            <p:ph idx="1" type="subTitle"/>
          </p:nvPr>
        </p:nvSpPr>
        <p:spPr>
          <a:xfrm>
            <a:off x="415589" y="3778833"/>
            <a:ext cx="113604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f5da45ec31_0_56"/>
          <p:cNvSpPr txBox="1"/>
          <p:nvPr>
            <p:ph idx="12" type="sldNum"/>
          </p:nvPr>
        </p:nvSpPr>
        <p:spPr>
          <a:xfrm>
            <a:off x="11296310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5da45ec31_0_4"/>
          <p:cNvSpPr txBox="1"/>
          <p:nvPr>
            <p:ph type="ctrTitle"/>
          </p:nvPr>
        </p:nvSpPr>
        <p:spPr>
          <a:xfrm>
            <a:off x="975334" y="2072640"/>
            <a:ext cx="5486400" cy="1950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b="1" lang="en-US" sz="4000"/>
              <a:t>Projet Conversion Rate</a:t>
            </a:r>
            <a:endParaRPr sz="53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21" name="Google Shape;21;g3f5da45ec31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7233" y="3461000"/>
            <a:ext cx="5091131" cy="3396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g3f5da45ec31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0703" y="1049833"/>
            <a:ext cx="1297665" cy="86804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f5da45ec31_0_4"/>
          <p:cNvSpPr/>
          <p:nvPr/>
        </p:nvSpPr>
        <p:spPr>
          <a:xfrm>
            <a:off x="566925" y="5821200"/>
            <a:ext cx="5130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CDSD – Groupe 4 – 2026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Comprendre le besoin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" name="Google Shape;30;p2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2"/>
          <p:cNvSpPr/>
          <p:nvPr/>
        </p:nvSpPr>
        <p:spPr>
          <a:xfrm>
            <a:off x="685800" y="1005840"/>
            <a:ext cx="5074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Prédire quels visiteurs vont s'abonner à la newsletter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65565" y="2148840"/>
            <a:ext cx="1554600" cy="7863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Visiteur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211618" y="2139690"/>
            <a:ext cx="1554600" cy="7863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Session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257677" y="2148828"/>
            <a:ext cx="1554600" cy="7863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Conversion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810512" y="2386628"/>
            <a:ext cx="310800" cy="3108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821634" y="2377403"/>
            <a:ext cx="310800" cy="3108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77240" y="3977640"/>
            <a:ext cx="47548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9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Objectif : construire un modèle prédictif fiable et actionnable pour le marketing.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989320" y="1051560"/>
            <a:ext cx="5440680" cy="4434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263640" y="1325880"/>
            <a:ext cx="4892040" cy="502920"/>
          </a:xfrm>
          <a:prstGeom prst="roundRect">
            <a:avLst>
              <a:gd fmla="val 16667" name="adj"/>
            </a:avLst>
          </a:prstGeom>
          <a:solidFill>
            <a:srgbClr val="06304A"/>
          </a:solidFill>
          <a:ln cap="flat" cmpd="sng" w="9525">
            <a:solidFill>
              <a:srgbClr val="063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6446520" y="1389888"/>
            <a:ext cx="4526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Newsletter Data Science Weekly</a:t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537960" y="2148840"/>
            <a:ext cx="4389120" cy="502920"/>
          </a:xfrm>
          <a:prstGeom prst="trapezoid">
            <a:avLst>
              <a:gd fmla="val 25000" name="adj"/>
            </a:avLst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6537960" y="2231136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Visite site</a:t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355772" y="3017520"/>
            <a:ext cx="2753494" cy="502920"/>
          </a:xfrm>
          <a:prstGeom prst="trapezoid">
            <a:avLst>
              <a:gd fmla="val 25000" name="adj"/>
            </a:avLst>
          </a:prstGeom>
          <a:solidFill>
            <a:srgbClr val="FFB703"/>
          </a:solidFill>
          <a:ln cap="flat" cmpd="sng" w="9525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6537960" y="3099815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Pages vues</a:t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071775" y="3836850"/>
            <a:ext cx="1346700" cy="457200"/>
          </a:xfrm>
          <a:prstGeom prst="trapezoid">
            <a:avLst>
              <a:gd fmla="val 25000" name="adj"/>
            </a:avLst>
          </a:prstGeom>
          <a:solidFill>
            <a:srgbClr val="FF595E"/>
          </a:solidFill>
          <a:ln cap="flat" cmpd="sng" w="9525">
            <a:solidFill>
              <a:srgbClr val="FF59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 txBox="1"/>
          <p:nvPr/>
        </p:nvSpPr>
        <p:spPr>
          <a:xfrm>
            <a:off x="6537960" y="3968496"/>
            <a:ext cx="4389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Abonnement</a:t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9418320" y="4526280"/>
            <a:ext cx="594360" cy="594360"/>
          </a:xfrm>
          <a:prstGeom prst="ellipse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9418320" y="45262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3,23%</a:t>
            </a:r>
            <a:endParaRPr/>
          </a:p>
        </p:txBody>
      </p:sp>
      <p:sp>
        <p:nvSpPr>
          <p:cNvPr id="50" name="Google Shape;50;p2"/>
          <p:cNvSpPr txBox="1"/>
          <p:nvPr/>
        </p:nvSpPr>
        <p:spPr>
          <a:xfrm>
            <a:off x="6446520" y="452628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Objectif : prédire les visiteurs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qui vont convertir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 du pipeline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p3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3"/>
          <p:cNvSpPr/>
          <p:nvPr/>
        </p:nvSpPr>
        <p:spPr>
          <a:xfrm>
            <a:off x="594360" y="4160520"/>
            <a:ext cx="2240280" cy="11430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dataset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dataset</a:t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2926080" y="4526280"/>
            <a:ext cx="347472" cy="347472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429000" y="4160520"/>
            <a:ext cx="2240280" cy="11430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PRÉPARER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Nettoyage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Préprocessing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760720" y="4526280"/>
            <a:ext cx="347472" cy="347472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263640" y="4160520"/>
            <a:ext cx="2240280" cy="1143000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25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MODÉLISER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AdaBoost</a:t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8595360" y="4526280"/>
            <a:ext cx="347472" cy="347472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9098280" y="4160520"/>
            <a:ext cx="2240280" cy="1143000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rgbClr val="45818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RESTITUER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Prédictions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Recommandations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417320" y="1143000"/>
            <a:ext cx="914400" cy="914400"/>
          </a:xfrm>
          <a:prstGeom prst="ellipse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1417320" y="1143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CSV</a:t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960120" y="2148840"/>
            <a:ext cx="1828800" cy="320040"/>
          </a:xfrm>
          <a:prstGeom prst="roundRect">
            <a:avLst>
              <a:gd fmla="val 16667" name="adj"/>
            </a:avLst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960120" y="21671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Données visiteurs</a:t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2971800" y="1627632"/>
            <a:ext cx="502920" cy="50292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251960" y="1051560"/>
            <a:ext cx="2148840" cy="1554480"/>
          </a:xfrm>
          <a:prstGeom prst="roundRect">
            <a:avLst>
              <a:gd fmla="val 16667" name="adj"/>
            </a:avLst>
          </a:prstGeom>
          <a:solidFill>
            <a:srgbClr val="E8FAF7"/>
          </a:solidFill>
          <a:ln cap="flat" cmpd="sng" w="9525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 txBox="1"/>
          <p:nvPr/>
        </p:nvSpPr>
        <p:spPr>
          <a:xfrm>
            <a:off x="4507992" y="1207008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/>
          </a:p>
        </p:txBody>
      </p:sp>
      <p:sp>
        <p:nvSpPr>
          <p:cNvPr id="73" name="Google Shape;73;p3"/>
          <p:cNvSpPr txBox="1"/>
          <p:nvPr/>
        </p:nvSpPr>
        <p:spPr>
          <a:xfrm>
            <a:off x="4434840" y="1700784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97D"/>
                </a:solidFill>
                <a:latin typeface="Arial"/>
                <a:ea typeface="Arial"/>
                <a:cs typeface="Arial"/>
                <a:sym typeface="Arial"/>
              </a:rPr>
              <a:t>préprocessing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97D"/>
                </a:solidFill>
                <a:latin typeface="Arial"/>
                <a:ea typeface="Arial"/>
                <a:cs typeface="Arial"/>
                <a:sym typeface="Arial"/>
              </a:rPr>
              <a:t>+ modèle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720840" y="1627632"/>
            <a:ext cx="502920" cy="50292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8366760" y="1143000"/>
            <a:ext cx="914400" cy="914400"/>
          </a:xfrm>
          <a:prstGeom prst="ellipse">
            <a:avLst/>
          </a:prstGeom>
          <a:solidFill>
            <a:srgbClr val="06304A"/>
          </a:solidFill>
          <a:ln cap="flat" cmpd="sng" w="9525">
            <a:solidFill>
              <a:srgbClr val="063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8366760" y="11430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0/1</a:t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7863840" y="2148840"/>
            <a:ext cx="1920240" cy="320040"/>
          </a:xfrm>
          <a:prstGeom prst="roundRect">
            <a:avLst>
              <a:gd fmla="val 16667" name="adj"/>
            </a:avLst>
          </a:prstGeom>
          <a:solidFill>
            <a:srgbClr val="06304A"/>
          </a:solidFill>
          <a:ln cap="flat" cmpd="sng" w="9525">
            <a:solidFill>
              <a:srgbClr val="0630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7863840" y="216712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Prédiction conversion</a:t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10012680" y="1124712"/>
            <a:ext cx="914400" cy="457200"/>
          </a:xfrm>
          <a:prstGeom prst="roundRect">
            <a:avLst>
              <a:gd fmla="val 16667" name="adj"/>
            </a:avLst>
          </a:prstGeom>
          <a:solidFill>
            <a:srgbClr val="F6FEFD"/>
          </a:solidFill>
          <a:ln cap="flat" cmpd="sng" w="9525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/>
        </p:nvSpPr>
        <p:spPr>
          <a:xfrm>
            <a:off x="10012680" y="11887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1AAA3"/>
                </a:solidFill>
                <a:latin typeface="Arial"/>
                <a:ea typeface="Arial"/>
                <a:cs typeface="Arial"/>
                <a:sym typeface="Arial"/>
              </a:rPr>
              <a:t>F1 0,777</a:t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10012680" y="1783080"/>
            <a:ext cx="914400" cy="457200"/>
          </a:xfrm>
          <a:prstGeom prst="roundRect">
            <a:avLst>
              <a:gd fmla="val 16667" name="adj"/>
            </a:avLst>
          </a:prstGeom>
          <a:solidFill>
            <a:srgbClr val="F6FEFD"/>
          </a:solidFill>
          <a:ln cap="flat" cmpd="sng" w="9525">
            <a:solidFill>
              <a:srgbClr val="D7EC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10012680" y="18470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6304A"/>
                </a:solidFill>
                <a:latin typeface="Arial"/>
                <a:ea typeface="Arial"/>
                <a:cs typeface="Arial"/>
                <a:sym typeface="Arial"/>
              </a:rPr>
              <a:t>seuil 0,44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Données utilisées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4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4"/>
          <p:cNvSpPr/>
          <p:nvPr/>
        </p:nvSpPr>
        <p:spPr>
          <a:xfrm>
            <a:off x="658368" y="1170432"/>
            <a:ext cx="566928" cy="566928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1408176" y="1216152"/>
            <a:ext cx="23774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658368" y="1965960"/>
            <a:ext cx="3154680" cy="129844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284 580 lignes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colonnes</a:t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1161288" y="3703320"/>
            <a:ext cx="2148840" cy="493776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AAA3"/>
              </a:buClr>
              <a:buSzPts val="17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avec cible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471416" y="1170432"/>
            <a:ext cx="566928" cy="566928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221224" y="1216152"/>
            <a:ext cx="23774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471416" y="1965960"/>
            <a:ext cx="3154680" cy="129844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country, age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new_user, source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total_pages_visited</a:t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974336" y="3703320"/>
            <a:ext cx="2148840" cy="493776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E9FAF8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AAA3"/>
              </a:buClr>
              <a:buSzPts val="17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 + session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284464" y="1170432"/>
            <a:ext cx="566928" cy="566928"/>
          </a:xfrm>
          <a:prstGeom prst="rect">
            <a:avLst/>
          </a:prstGeom>
          <a:solidFill>
            <a:srgbClr val="FF595E"/>
          </a:solidFill>
          <a:ln cap="flat" cmpd="sng" w="9525">
            <a:solidFill>
              <a:srgbClr val="FF59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034272" y="1216152"/>
            <a:ext cx="237744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284464" y="1965960"/>
            <a:ext cx="3154680" cy="129844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00" lIns="1900" spcFirstLastPara="1" rIns="1900" wrap="square" tIns="19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31 620 lignes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colonnes</a:t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8787384" y="3703320"/>
            <a:ext cx="2148840" cy="493776"/>
          </a:xfrm>
          <a:prstGeom prst="rect">
            <a:avLst/>
          </a:prstGeom>
          <a:solidFill>
            <a:srgbClr val="FFEDEE"/>
          </a:solidFill>
          <a:ln cap="flat" cmpd="sng" w="9525">
            <a:solidFill>
              <a:srgbClr val="FFED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5E"/>
              </a:buClr>
              <a:buSzPts val="17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à prédire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716988" y="3776483"/>
            <a:ext cx="347400" cy="347400"/>
          </a:xfrm>
          <a:prstGeom prst="chevron">
            <a:avLst>
              <a:gd fmla="val 46503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653605" y="3776521"/>
            <a:ext cx="347400" cy="3474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731520" y="5669280"/>
            <a:ext cx="10698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classe positive est rare : seulement 3,23 % des visiteurs convertissent.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5da45ec31_0_64"/>
          <p:cNvSpPr/>
          <p:nvPr/>
        </p:nvSpPr>
        <p:spPr>
          <a:xfrm>
            <a:off x="320040" y="201168"/>
            <a:ext cx="7680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Modèle et performance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g3f5da45ec31_0_64"/>
          <p:cNvCxnSpPr/>
          <p:nvPr/>
        </p:nvCxnSpPr>
        <p:spPr>
          <a:xfrm>
            <a:off x="320040" y="658368"/>
            <a:ext cx="201180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g3f5da45ec31_0_64"/>
          <p:cNvSpPr/>
          <p:nvPr/>
        </p:nvSpPr>
        <p:spPr>
          <a:xfrm>
            <a:off x="685800" y="1051560"/>
            <a:ext cx="2057400" cy="685800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rgbClr val="76A5A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F1-score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optimisé</a:t>
            </a:r>
            <a:endParaRPr/>
          </a:p>
        </p:txBody>
      </p:sp>
      <p:sp>
        <p:nvSpPr>
          <p:cNvPr id="114" name="Google Shape;114;g3f5da45ec31_0_64"/>
          <p:cNvSpPr/>
          <p:nvPr/>
        </p:nvSpPr>
        <p:spPr>
          <a:xfrm>
            <a:off x="685800" y="2130525"/>
            <a:ext cx="3478500" cy="2400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5da45ec31_0_64"/>
          <p:cNvSpPr/>
          <p:nvPr/>
        </p:nvSpPr>
        <p:spPr>
          <a:xfrm>
            <a:off x="1005905" y="2436455"/>
            <a:ext cx="1417200" cy="411600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Précision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5da45ec31_0_64"/>
          <p:cNvSpPr/>
          <p:nvPr/>
        </p:nvSpPr>
        <p:spPr>
          <a:xfrm>
            <a:off x="1005905" y="3108825"/>
            <a:ext cx="1417200" cy="411600"/>
          </a:xfrm>
          <a:prstGeom prst="rect">
            <a:avLst/>
          </a:prstGeom>
          <a:solidFill>
            <a:srgbClr val="FF595E"/>
          </a:solidFill>
          <a:ln cap="flat" cmpd="sng" w="9525">
            <a:solidFill>
              <a:srgbClr val="FF595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Rappel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5da45ec31_0_64"/>
          <p:cNvSpPr/>
          <p:nvPr/>
        </p:nvSpPr>
        <p:spPr>
          <a:xfrm>
            <a:off x="1005905" y="3781195"/>
            <a:ext cx="1417200" cy="411600"/>
          </a:xfrm>
          <a:prstGeom prst="rect">
            <a:avLst/>
          </a:prstGeom>
          <a:solidFill>
            <a:srgbClr val="FFB703"/>
          </a:solidFill>
          <a:ln cap="flat" cmpd="sng" w="9525">
            <a:solidFill>
              <a:srgbClr val="FFB70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Seuil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5da45ec31_0_64"/>
          <p:cNvSpPr/>
          <p:nvPr/>
        </p:nvSpPr>
        <p:spPr>
          <a:xfrm>
            <a:off x="2514600" y="250515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84,5 %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5da45ec31_0_64"/>
          <p:cNvSpPr/>
          <p:nvPr/>
        </p:nvSpPr>
        <p:spPr>
          <a:xfrm>
            <a:off x="2480350" y="317752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71,9 %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5da45ec31_0_64"/>
          <p:cNvSpPr/>
          <p:nvPr/>
        </p:nvSpPr>
        <p:spPr>
          <a:xfrm>
            <a:off x="2480350" y="3849890"/>
            <a:ext cx="228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0,44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5da45ec31_0_64"/>
          <p:cNvSpPr/>
          <p:nvPr/>
        </p:nvSpPr>
        <p:spPr>
          <a:xfrm>
            <a:off x="4892040" y="2971800"/>
            <a:ext cx="411600" cy="4116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5da45ec31_0_64"/>
          <p:cNvSpPr/>
          <p:nvPr/>
        </p:nvSpPr>
        <p:spPr>
          <a:xfrm>
            <a:off x="6031400" y="2072925"/>
            <a:ext cx="4832400" cy="251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5da45ec31_0_64"/>
          <p:cNvSpPr/>
          <p:nvPr/>
        </p:nvSpPr>
        <p:spPr>
          <a:xfrm>
            <a:off x="5753750" y="1197803"/>
            <a:ext cx="4297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Comparaison des modèles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5da45ec31_0_64"/>
          <p:cNvSpPr/>
          <p:nvPr/>
        </p:nvSpPr>
        <p:spPr>
          <a:xfrm>
            <a:off x="6369875" y="2404800"/>
            <a:ext cx="320100" cy="256200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5da45ec31_0_64"/>
          <p:cNvSpPr/>
          <p:nvPr/>
        </p:nvSpPr>
        <p:spPr>
          <a:xfrm>
            <a:off x="6369875" y="2848050"/>
            <a:ext cx="320100" cy="255900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5da45ec31_0_64"/>
          <p:cNvSpPr/>
          <p:nvPr/>
        </p:nvSpPr>
        <p:spPr>
          <a:xfrm>
            <a:off x="6369875" y="3290993"/>
            <a:ext cx="320100" cy="255900"/>
          </a:xfrm>
          <a:prstGeom prst="rect">
            <a:avLst/>
          </a:prstGeom>
          <a:solidFill>
            <a:srgbClr val="06304A"/>
          </a:solidFill>
          <a:ln cap="flat" cmpd="sng" w="9525">
            <a:solidFill>
              <a:srgbClr val="063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5da45ec31_0_64"/>
          <p:cNvSpPr/>
          <p:nvPr/>
        </p:nvSpPr>
        <p:spPr>
          <a:xfrm>
            <a:off x="6369875" y="3733961"/>
            <a:ext cx="320100" cy="255900"/>
          </a:xfrm>
          <a:prstGeom prst="rect">
            <a:avLst/>
          </a:prstGeom>
          <a:solidFill>
            <a:srgbClr val="06304A"/>
          </a:solidFill>
          <a:ln cap="flat" cmpd="sng" w="9525">
            <a:solidFill>
              <a:srgbClr val="063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5da45ec31_0_64"/>
          <p:cNvSpPr/>
          <p:nvPr/>
        </p:nvSpPr>
        <p:spPr>
          <a:xfrm>
            <a:off x="6369875" y="4176900"/>
            <a:ext cx="320100" cy="256200"/>
          </a:xfrm>
          <a:prstGeom prst="rect">
            <a:avLst/>
          </a:prstGeom>
          <a:solidFill>
            <a:srgbClr val="06304A"/>
          </a:solidFill>
          <a:ln cap="flat" cmpd="sng" w="9525">
            <a:solidFill>
              <a:srgbClr val="0630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f5da45ec31_0_64"/>
          <p:cNvSpPr/>
          <p:nvPr/>
        </p:nvSpPr>
        <p:spPr>
          <a:xfrm>
            <a:off x="6792418" y="2432245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35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LogReg seuil 0,44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5da45ec31_0_64"/>
          <p:cNvSpPr/>
          <p:nvPr/>
        </p:nvSpPr>
        <p:spPr>
          <a:xfrm>
            <a:off x="6792418" y="2875338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35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LogReg seuil 0,50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5da45ec31_0_64"/>
          <p:cNvSpPr/>
          <p:nvPr/>
        </p:nvSpPr>
        <p:spPr>
          <a:xfrm>
            <a:off x="6792418" y="3318456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35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AdaBoost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f5da45ec31_0_64"/>
          <p:cNvSpPr/>
          <p:nvPr/>
        </p:nvSpPr>
        <p:spPr>
          <a:xfrm>
            <a:off x="6792418" y="3761549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5da45ec31_0_64"/>
          <p:cNvSpPr/>
          <p:nvPr/>
        </p:nvSpPr>
        <p:spPr>
          <a:xfrm>
            <a:off x="6792418" y="4204642"/>
            <a:ext cx="2103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5da45ec31_0_64"/>
          <p:cNvSpPr/>
          <p:nvPr/>
        </p:nvSpPr>
        <p:spPr>
          <a:xfrm>
            <a:off x="8320880" y="2487153"/>
            <a:ext cx="1694700" cy="91500"/>
          </a:xfrm>
          <a:prstGeom prst="rect">
            <a:avLst/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5da45ec31_0_64"/>
          <p:cNvSpPr/>
          <p:nvPr/>
        </p:nvSpPr>
        <p:spPr>
          <a:xfrm>
            <a:off x="8320880" y="2930246"/>
            <a:ext cx="1659600" cy="91500"/>
          </a:xfrm>
          <a:prstGeom prst="rect">
            <a:avLst/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5da45ec31_0_64"/>
          <p:cNvSpPr/>
          <p:nvPr/>
        </p:nvSpPr>
        <p:spPr>
          <a:xfrm>
            <a:off x="8293505" y="3359614"/>
            <a:ext cx="1307700" cy="91500"/>
          </a:xfrm>
          <a:prstGeom prst="rect">
            <a:avLst/>
          </a:prstGeom>
          <a:solidFill>
            <a:srgbClr val="DFF8F4"/>
          </a:solidFill>
          <a:ln cap="flat" cmpd="sng" w="12700">
            <a:solidFill>
              <a:srgbClr val="DFF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5da45ec31_0_64"/>
          <p:cNvSpPr/>
          <p:nvPr/>
        </p:nvSpPr>
        <p:spPr>
          <a:xfrm>
            <a:off x="8293505" y="3782145"/>
            <a:ext cx="1287600" cy="91500"/>
          </a:xfrm>
          <a:prstGeom prst="rect">
            <a:avLst/>
          </a:prstGeom>
          <a:solidFill>
            <a:srgbClr val="DFF8F4"/>
          </a:solidFill>
          <a:ln cap="flat" cmpd="sng" w="12700">
            <a:solidFill>
              <a:srgbClr val="DFF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f5da45ec31_0_64"/>
          <p:cNvSpPr/>
          <p:nvPr/>
        </p:nvSpPr>
        <p:spPr>
          <a:xfrm>
            <a:off x="8293505" y="4204650"/>
            <a:ext cx="1156800" cy="91500"/>
          </a:xfrm>
          <a:prstGeom prst="rect">
            <a:avLst/>
          </a:prstGeom>
          <a:solidFill>
            <a:srgbClr val="DFF8F4"/>
          </a:solidFill>
          <a:ln cap="flat" cmpd="sng" w="12700">
            <a:solidFill>
              <a:srgbClr val="DFF8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5da45ec31_0_64"/>
          <p:cNvSpPr/>
          <p:nvPr/>
        </p:nvSpPr>
        <p:spPr>
          <a:xfrm>
            <a:off x="10051560" y="2487157"/>
            <a:ext cx="567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0,777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5da45ec31_0_64"/>
          <p:cNvSpPr/>
          <p:nvPr/>
        </p:nvSpPr>
        <p:spPr>
          <a:xfrm>
            <a:off x="10051560" y="2866200"/>
            <a:ext cx="567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0,765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5da45ec31_0_64"/>
          <p:cNvSpPr/>
          <p:nvPr/>
        </p:nvSpPr>
        <p:spPr>
          <a:xfrm>
            <a:off x="10051560" y="3245243"/>
            <a:ext cx="567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0,741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5da45ec31_0_64"/>
          <p:cNvSpPr/>
          <p:nvPr/>
        </p:nvSpPr>
        <p:spPr>
          <a:xfrm>
            <a:off x="10051560" y="3718093"/>
            <a:ext cx="567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f5da45ec31_0_64"/>
          <p:cNvSpPr/>
          <p:nvPr/>
        </p:nvSpPr>
        <p:spPr>
          <a:xfrm>
            <a:off x="10051560" y="4190943"/>
            <a:ext cx="567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5da45ec31_0_64"/>
          <p:cNvSpPr/>
          <p:nvPr/>
        </p:nvSpPr>
        <p:spPr>
          <a:xfrm>
            <a:off x="5715000" y="5349240"/>
            <a:ext cx="5029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800"/>
              <a:buFont typeface="Arial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régression logistique offre le meilleur compromis entre performance et interprétabilité.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5da45ec31_0_64"/>
          <p:cNvSpPr/>
          <p:nvPr/>
        </p:nvSpPr>
        <p:spPr>
          <a:xfrm>
            <a:off x="11475720" y="6473952"/>
            <a:ext cx="41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Facteurs de conversion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6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6"/>
          <p:cNvSpPr/>
          <p:nvPr/>
        </p:nvSpPr>
        <p:spPr>
          <a:xfrm>
            <a:off x="1234440" y="1325880"/>
            <a:ext cx="2240280" cy="841248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signal fort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914400" y="251460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Pages visitées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914400" y="294436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coefficient positif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914400" y="3657600"/>
            <a:ext cx="2880360" cy="120700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Plus un visiteur consulte de pages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plus il est susceptible de convertir</a:t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3950208" y="1609344"/>
            <a:ext cx="384048" cy="384048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480560" y="1325880"/>
            <a:ext cx="2240280" cy="841248"/>
          </a:xfrm>
          <a:prstGeom prst="rect">
            <a:avLst/>
          </a:prstGeom>
          <a:solidFill>
            <a:srgbClr val="76A5AF"/>
          </a:solidFill>
          <a:ln cap="flat" cmpd="sng" w="9525">
            <a:solidFill>
              <a:srgbClr val="06304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fidélité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160520" y="251460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user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160520" y="294436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effet négatif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4160520" y="3657600"/>
            <a:ext cx="2880360" cy="120700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visiteurs déjà revenus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convertissent mieux que les nouveaux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7196328" y="1609344"/>
            <a:ext cx="384048" cy="384048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726680" y="1325880"/>
            <a:ext cx="2240280" cy="841248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segments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7406640" y="251460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22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Pays &amp; âge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406640" y="294436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écarts visibles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7406640" y="3657600"/>
            <a:ext cx="2880360" cy="1207008"/>
          </a:xfrm>
          <a:prstGeom prst="rect">
            <a:avLst/>
          </a:prstGeom>
          <a:solidFill>
            <a:srgbClr val="F5FEFD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500"/>
              <a:buFont typeface="Arial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 pays et l’âge modifient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probabilité de conversion</a:t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320040" y="201168"/>
            <a:ext cx="7680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2300"/>
              <a:buFont typeface="Play"/>
              <a:buNone/>
            </a:pPr>
            <a:r>
              <a:rPr b="1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Difficultés rencontrées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p7"/>
          <p:cNvCxnSpPr/>
          <p:nvPr/>
        </p:nvCxnSpPr>
        <p:spPr>
          <a:xfrm>
            <a:off x="320040" y="658368"/>
            <a:ext cx="2011680" cy="0"/>
          </a:xfrm>
          <a:prstGeom prst="straightConnector1">
            <a:avLst/>
          </a:prstGeom>
          <a:noFill/>
          <a:ln cap="flat" cmpd="sng" w="254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7"/>
          <p:cNvSpPr/>
          <p:nvPr/>
        </p:nvSpPr>
        <p:spPr>
          <a:xfrm>
            <a:off x="822960" y="1234440"/>
            <a:ext cx="594360" cy="594360"/>
          </a:xfrm>
          <a:prstGeom prst="rect">
            <a:avLst/>
          </a:prstGeom>
          <a:solidFill>
            <a:srgbClr val="FF595E"/>
          </a:solidFill>
          <a:ln cap="flat" cmpd="sng" w="9525">
            <a:solidFill>
              <a:srgbClr val="FF59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645920" y="1261872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 positive très minoritaire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445657" y="1380800"/>
            <a:ext cx="329100" cy="3291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6355080" y="1188720"/>
            <a:ext cx="4663440" cy="713232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Optimisation du seuil pour maximiser le F1-score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822960" y="2743200"/>
            <a:ext cx="594360" cy="594360"/>
          </a:xfrm>
          <a:prstGeom prst="rect">
            <a:avLst/>
          </a:prstGeom>
          <a:solidFill>
            <a:srgbClr val="FFB703"/>
          </a:solidFill>
          <a:ln cap="flat" cmpd="sng" w="9525">
            <a:solidFill>
              <a:srgbClr val="FFB70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645920" y="2770632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Performance vs interprétabilité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5445707" y="2766060"/>
            <a:ext cx="329100" cy="3291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6355080" y="2697480"/>
            <a:ext cx="4663440" cy="713232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Régression logistique retenue plutôt qu’un modèle moins lisible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822960" y="4251960"/>
            <a:ext cx="594360" cy="594360"/>
          </a:xfrm>
          <a:prstGeom prst="rect">
            <a:avLst/>
          </a:prstGeom>
          <a:solidFill>
            <a:srgbClr val="11AAA3"/>
          </a:solidFill>
          <a:ln cap="flat" cmpd="sng" w="9525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645920" y="4279392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304A"/>
              </a:buClr>
              <a:buSzPts val="18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Variables disponibles limitées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445657" y="4251957"/>
            <a:ext cx="329100" cy="329100"/>
          </a:xfrm>
          <a:prstGeom prst="chevron">
            <a:avLst>
              <a:gd fmla="val 50000" name="adj"/>
            </a:avLst>
          </a:prstGeom>
          <a:solidFill>
            <a:srgbClr val="11AAA3"/>
          </a:solidFill>
          <a:ln cap="flat" cmpd="sng" w="12700">
            <a:solidFill>
              <a:srgbClr val="11AA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355080" y="4206240"/>
            <a:ext cx="4663440" cy="713232"/>
          </a:xfrm>
          <a:prstGeom prst="rect">
            <a:avLst/>
          </a:prstGeom>
          <a:solidFill>
            <a:srgbClr val="E9FAF8"/>
          </a:solidFill>
          <a:ln cap="flat" cmpd="sng" w="9525">
            <a:solidFill>
              <a:srgbClr val="DFF8F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263A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Limites rappelées : corrélation ≠ causalité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822960" y="5961888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7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Point fort : le projet transforme un modèle simple en recommandations marketing exploitables.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11475720" y="6473952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/>
        </p:nvSpPr>
        <p:spPr>
          <a:xfrm>
            <a:off x="457200" y="274325"/>
            <a:ext cx="839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6579A"/>
                </a:solidFill>
                <a:latin typeface="Arial"/>
                <a:ea typeface="Arial"/>
                <a:cs typeface="Arial"/>
                <a:sym typeface="Arial"/>
              </a:rPr>
              <a:t>Conclusion : de la prédiction à l'action</a:t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507575" y="1072700"/>
            <a:ext cx="4755000" cy="49167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Résultats clés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284 580 visiteurs analysés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F1-score : 0,777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Seuil optimal : 0,44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Ce que nous retenons 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✔ Les pages visitées sont le meilleur indicateur.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✔ Les visiteurs fidèles convertissent davantage.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✔ Un modèle simple est suffisant pour orienter le marketing.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5628225" y="1072650"/>
            <a:ext cx="5669400" cy="4916700"/>
          </a:xfrm>
          <a:prstGeom prst="roundRect">
            <a:avLst>
              <a:gd fmla="val 16667" name="adj"/>
            </a:avLst>
          </a:prstGeom>
          <a:solidFill>
            <a:srgbClr val="45818E"/>
          </a:solidFill>
          <a:ln cap="flat" cmpd="sng" w="9525">
            <a:solidFill>
              <a:srgbClr val="3E6E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Exploitation métier</a:t>
            </a:r>
            <a:endParaRPr b="1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Visiteur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Score de conversion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↓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Segmentation des visiteurs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↓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Campagne personnalisée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↓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Augmentation du taux de conversion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5da45ec31_0_105"/>
          <p:cNvSpPr/>
          <p:nvPr/>
        </p:nvSpPr>
        <p:spPr>
          <a:xfrm>
            <a:off x="780267" y="1827113"/>
            <a:ext cx="106068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7500"/>
              <a:buFont typeface="Calibri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Merci !</a:t>
            </a:r>
            <a:endParaRPr b="0" i="0" sz="7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f5da45ec31_0_105"/>
          <p:cNvSpPr/>
          <p:nvPr/>
        </p:nvSpPr>
        <p:spPr>
          <a:xfrm>
            <a:off x="3708450" y="4430400"/>
            <a:ext cx="56892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CDSD – Groupe 4 – 2026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5da45ec31_0_105"/>
          <p:cNvSpPr/>
          <p:nvPr/>
        </p:nvSpPr>
        <p:spPr>
          <a:xfrm>
            <a:off x="11475720" y="6473952"/>
            <a:ext cx="4116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A2B3"/>
              </a:buClr>
              <a:buSzPts val="700"/>
              <a:buFont typeface="Arial"/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2026-07-28T14:11:22Z</dcterms:created>
  <dc:creator>OpenAI</dc:creator>
</cp:coreProperties>
</file>