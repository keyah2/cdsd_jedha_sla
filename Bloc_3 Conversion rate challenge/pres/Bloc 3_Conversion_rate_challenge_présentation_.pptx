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olors3.xml" ContentType="application/vnd.ms-office.chartcolorstyle+xml"/>
  <Override PartName="/ppt/charts/style2.xml" ContentType="application/vnd.ms-office.chartstyl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3.xml" ContentType="application/vnd.ms-office.chartstyl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_rels/chart3.xml.rels><?xml version="1.0" encoding="UTF-8"?>
<Relationships xmlns="http://schemas.openxmlformats.org/package/2006/relationships"><Relationship Id="rId1" Type="http://schemas.microsoft.com/office/2011/relationships/chartStyle" Target="style3.xml"/><Relationship Id="rId2" Type="http://schemas.microsoft.com/office/2011/relationships/chartColorStyle" Target="colors3.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barChart>
        <c:barDir val="col"/>
        <c:grouping val="clustered"/>
        <c:varyColors val="0"/>
        <c:ser>
          <c:idx val="0"/>
          <c:order val="0"/>
          <c:tx>
            <c:strRef>
              <c:f>label 0</c:f>
              <c:strCache>
                <c:ptCount val="1"/>
                <c:pt idx="0">
                  <c:v>Répartition</c:v>
                </c:pt>
              </c:strCache>
            </c:strRef>
          </c:tx>
          <c:spPr>
            <a:solidFill>
              <a:srgbClr val="1BA4A7"/>
            </a:solidFill>
            <a:ln w="0">
              <a:noFill/>
            </a:ln>
          </c:spPr>
          <c:invertIfNegative val="0"/>
          <c:dLbls>
            <c:numFmt formatCode="#,##0" sourceLinked="0"/>
            <c:txPr>
              <a:bodyPr wrap="square"/>
              <a:lstStyle/>
              <a:p>
                <a:pPr>
                  <a:defRPr sz="120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Non convertis</c:v>
                </c:pt>
                <c:pt idx="1">
                  <c:v>Convertis</c:v>
                </c:pt>
              </c:strCache>
            </c:strRef>
          </c:cat>
          <c:val>
            <c:numRef>
              <c:f>0</c:f>
              <c:numCache>
                <c:formatCode>General</c:formatCode>
                <c:ptCount val="2"/>
                <c:pt idx="0">
                  <c:v>96.77</c:v>
                </c:pt>
                <c:pt idx="1">
                  <c:v>3.23</c:v>
                </c:pt>
              </c:numCache>
            </c:numRef>
          </c:val>
        </c:ser>
        <c:gapWidth val="150"/>
        <c:overlap val="0"/>
        <c:axId val="72824099"/>
        <c:axId val="99998810"/>
      </c:barChart>
      <c:catAx>
        <c:axId val="72824099"/>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000" b="0" u="none" strike="noStrike">
                <a:solidFill>
                  <a:srgbClr val="000000"/>
                </a:solidFill>
                <a:uFillTx/>
                <a:latin typeface="Aptos"/>
              </a:defRPr>
            </a:pPr>
          </a:p>
        </c:txPr>
        <c:crossAx val="99998810"/>
        <c:crosses val="autoZero"/>
        <c:auto val="1"/>
        <c:lblAlgn val="ctr"/>
        <c:lblOffset val="100"/>
        <c:noMultiLvlLbl val="0"/>
      </c:catAx>
      <c:valAx>
        <c:axId val="99998810"/>
        <c:scaling>
          <c:orientation val="minMax"/>
          <c:max val="100"/>
          <c:min val="0"/>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000000"/>
                </a:solidFill>
                <a:uFillTx/>
                <a:latin typeface="Aptos"/>
              </a:defRPr>
            </a:pPr>
          </a:p>
        </c:txPr>
        <c:crossAx val="72824099"/>
        <c:crosses val="autoZero"/>
        <c:crossBetween val="between"/>
        <c:majorUnit val="20"/>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barChart>
        <c:barDir val="col"/>
        <c:grouping val="clustered"/>
        <c:varyColors val="0"/>
        <c:ser>
          <c:idx val="0"/>
          <c:order val="0"/>
          <c:tx>
            <c:strRef>
              <c:f>label 0</c:f>
              <c:strCache>
                <c:ptCount val="1"/>
                <c:pt idx="0">
                  <c:v>F1-score</c:v>
                </c:pt>
              </c:strCache>
            </c:strRef>
          </c:tx>
          <c:spPr>
            <a:solidFill>
              <a:srgbClr val="1BA4A7"/>
            </a:solidFill>
            <a:ln w="0">
              <a:noFill/>
            </a:ln>
          </c:spPr>
          <c:invertIfNegative val="0"/>
          <c:dLbls>
            <c:numFmt formatCode="#,##0" sourceLinked="0"/>
            <c:txPr>
              <a:bodyPr wrap="square"/>
              <a:lstStyle/>
              <a:p>
                <a:pPr>
                  <a:defRPr sz="120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LogReg seuil 0,50</c:v>
                </c:pt>
                <c:pt idx="1">
                  <c:v>LogReg seuil 0,44</c:v>
                </c:pt>
                <c:pt idx="2">
                  <c:v>AdaBoost seuil optimisé</c:v>
                </c:pt>
              </c:strCache>
            </c:strRef>
          </c:cat>
          <c:val>
            <c:numRef>
              <c:f>0</c:f>
              <c:numCache>
                <c:formatCode>General</c:formatCode>
                <c:ptCount val="3"/>
                <c:pt idx="0">
                  <c:v>0.7645</c:v>
                </c:pt>
                <c:pt idx="1">
                  <c:v>0.7771</c:v>
                </c:pt>
                <c:pt idx="2">
                  <c:v>0.7415</c:v>
                </c:pt>
              </c:numCache>
            </c:numRef>
          </c:val>
        </c:ser>
        <c:gapWidth val="150"/>
        <c:overlap val="0"/>
        <c:axId val="32955382"/>
        <c:axId val="14343754"/>
      </c:barChart>
      <c:catAx>
        <c:axId val="32955382"/>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900" b="0" u="none" strike="noStrike">
                <a:solidFill>
                  <a:srgbClr val="000000"/>
                </a:solidFill>
                <a:uFillTx/>
                <a:latin typeface="Aptos"/>
              </a:defRPr>
            </a:pPr>
          </a:p>
        </c:txPr>
        <c:crossAx val="14343754"/>
        <c:crosses val="autoZero"/>
        <c:auto val="1"/>
        <c:lblAlgn val="ctr"/>
        <c:lblOffset val="100"/>
        <c:noMultiLvlLbl val="0"/>
      </c:catAx>
      <c:valAx>
        <c:axId val="14343754"/>
        <c:scaling>
          <c:orientation val="minMax"/>
          <c:max val="0.8"/>
          <c:min val="0.7"/>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900" b="0" u="none" strike="noStrike">
                <a:solidFill>
                  <a:srgbClr val="000000"/>
                </a:solidFill>
                <a:uFillTx/>
                <a:latin typeface="Aptos"/>
              </a:defRPr>
            </a:pPr>
          </a:p>
        </c:txPr>
        <c:crossAx val="32955382"/>
        <c:crosses val="autoZero"/>
        <c:crossBetween val="between"/>
        <c:majorUnit val="0.02"/>
      </c:valAx>
      <c:spPr>
        <a:noFill/>
        <a:ln w="0">
          <a:noFill/>
        </a:ln>
      </c:spPr>
    </c:plotArea>
    <c:plotVisOnly val="1"/>
    <c:dispBlanksAs val="span"/>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barChart>
        <c:barDir val="col"/>
        <c:grouping val="clustered"/>
        <c:varyColors val="0"/>
        <c:ser>
          <c:idx val="0"/>
          <c:order val="0"/>
          <c:tx>
            <c:strRef>
              <c:f>label 0</c:f>
              <c:strCache>
                <c:ptCount val="1"/>
                <c:pt idx="0">
                  <c:v>Coefficient</c:v>
                </c:pt>
              </c:strCache>
            </c:strRef>
          </c:tx>
          <c:spPr>
            <a:solidFill>
              <a:srgbClr val="1BA4A7"/>
            </a:solidFill>
            <a:ln w="0">
              <a:noFill/>
            </a:ln>
          </c:spPr>
          <c:invertIfNegative val="0"/>
          <c:dLbls>
            <c:numFmt formatCode="#,##0" sourceLinked="0"/>
            <c:txPr>
              <a:bodyPr wrap="square"/>
              <a:lstStyle/>
              <a:p>
                <a:pPr>
                  <a:defRPr sz="1200" b="0" u="none" strike="noStrik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8"/>
                <c:pt idx="0">
                  <c:v>China</c:v>
                </c:pt>
                <c:pt idx="1">
                  <c:v>Pages visitées</c:v>
                </c:pt>
                <c:pt idx="2">
                  <c:v>Source Direct</c:v>
                </c:pt>
                <c:pt idx="3">
                  <c:v>Source SEO</c:v>
                </c:pt>
                <c:pt idx="4">
                  <c:v>Source Ads</c:v>
                </c:pt>
                <c:pt idx="5">
                  <c:v>New user</c:v>
                </c:pt>
                <c:pt idx="6">
                  <c:v>US</c:v>
                </c:pt>
                <c:pt idx="7">
                  <c:v>Âge</c:v>
                </c:pt>
              </c:strCache>
            </c:strRef>
          </c:cat>
          <c:val>
            <c:numRef>
              <c:f>0</c:f>
              <c:numCache>
                <c:formatCode>General</c:formatCode>
                <c:ptCount val="8"/>
                <c:pt idx="0">
                  <c:v>-3.48</c:v>
                </c:pt>
                <c:pt idx="1">
                  <c:v>2.48</c:v>
                </c:pt>
                <c:pt idx="2">
                  <c:v>-1.65</c:v>
                </c:pt>
                <c:pt idx="3">
                  <c:v>-1.49</c:v>
                </c:pt>
                <c:pt idx="4">
                  <c:v>-1.45</c:v>
                </c:pt>
                <c:pt idx="5">
                  <c:v>-0.78</c:v>
                </c:pt>
                <c:pt idx="6">
                  <c:v>-0.66</c:v>
                </c:pt>
                <c:pt idx="7">
                  <c:v>-0.59</c:v>
                </c:pt>
              </c:numCache>
            </c:numRef>
          </c:val>
        </c:ser>
        <c:gapWidth val="150"/>
        <c:overlap val="0"/>
        <c:axId val="92085425"/>
        <c:axId val="88050144"/>
      </c:barChart>
      <c:catAx>
        <c:axId val="9208542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850" b="0" u="none" strike="noStrike">
                <a:solidFill>
                  <a:srgbClr val="000000"/>
                </a:solidFill>
                <a:uFillTx/>
                <a:latin typeface="Aptos"/>
              </a:defRPr>
            </a:pPr>
          </a:p>
        </c:txPr>
        <c:crossAx val="88050144"/>
        <c:crosses val="autoZero"/>
        <c:auto val="1"/>
        <c:lblAlgn val="ctr"/>
        <c:lblOffset val="100"/>
        <c:noMultiLvlLbl val="0"/>
      </c:catAx>
      <c:valAx>
        <c:axId val="88050144"/>
        <c:scaling>
          <c:orientation val="minMax"/>
          <c:max val="3"/>
          <c:min val="-4"/>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850" b="0" u="none" strike="noStrike">
                <a:solidFill>
                  <a:srgbClr val="000000"/>
                </a:solidFill>
                <a:uFillTx/>
                <a:latin typeface="Aptos"/>
              </a:defRPr>
            </a:pPr>
          </a:p>
        </c:txPr>
        <c:crossAx val="92085425"/>
        <c:crosses val="autoZero"/>
        <c:crossBetween val="between"/>
        <c:majorUnit val="1"/>
      </c:valAx>
      <c:spPr>
        <a:noFill/>
        <a:ln w="0">
          <a:noFill/>
        </a:ln>
      </c:spPr>
    </c:plotArea>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colors3.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fr-FR" sz="1800" b="0" u="none" strike="noStrike">
                <a:solidFill>
                  <a:schemeClr val="dk1"/>
                </a:solidFill>
                <a:effectLst/>
                <a:uFillTx/>
                <a:latin typeface="Aptos"/>
              </a:rPr>
              <a:t>Cliquez pour déplacer la diapo</a:t>
            </a:r>
            <a:endParaRPr lang="fr-FR" sz="1800" b="0" u="none" strike="noStrike">
              <a:solidFill>
                <a:schemeClr val="dk1"/>
              </a:solidFill>
              <a:effectLst/>
              <a:uFillTx/>
              <a:latin typeface="Apto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02165975-7D9C-4A25-AE9A-663622FEDCCE}"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0" y="0"/>
            <a:ext cx="0" cy="0"/>
          </a:xfrm>
          <a:prstGeom prst="rect">
            <a:avLst/>
          </a:prstGeom>
          <a:ln w="0">
            <a:noFill/>
          </a:ln>
        </p:spPr>
      </p:sp>
      <p:sp>
        <p:nvSpPr>
          <p:cNvPr id="2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Bonjour, je présente le challenge Conversion Rate du Bloc 3. L’objectif est de prédire l’inscription d’un visiteur à une newsletter à partir de quelques variables de session et de profil. Le point central du projet est d’avoir une méthode propre : comprendre les données, préparer les variables, choisir une métrique adaptée, comparer les modèles, puis transformer les résultats en recommandations métier.</a:t>
            </a:r>
            <a:endParaRPr lang="fr-FR" sz="2000" b="0" u="none" strike="noStrike">
              <a:solidFill>
                <a:srgbClr val="000000"/>
              </a:solidFill>
              <a:effectLst/>
              <a:uFillTx/>
              <a:latin typeface="Arial"/>
            </a:endParaRPr>
          </a:p>
        </p:txBody>
      </p:sp>
      <p:sp>
        <p:nvSpPr>
          <p:cNvPr id="238"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5BFB30F-3A17-40A0-A259-333A9EB9EE4A}"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0" y="0"/>
            <a:ext cx="0" cy="0"/>
          </a:xfrm>
          <a:prstGeom prst="rect">
            <a:avLst/>
          </a:prstGeom>
          <a:ln w="0">
            <a:noFill/>
          </a:ln>
        </p:spPr>
      </p:sp>
      <p:sp>
        <p:nvSpPr>
          <p:cNvPr id="2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problématique métier est de savoir quels visiteurs ont le plus de chances de s’inscrire. Le modèle n’a pas seulement pour but de produire une prédiction, il doit aussi aider à comprendre ce qui explique la conversion. Les données sont volontairement simples : pays, âge, ancienneté du visiteur, source d’acquisition et nombre de pages visitées. Cette simplicité rend l’interprétation très importante.</a:t>
            </a:r>
            <a:endParaRPr lang="fr-FR" sz="2000" b="0" u="none" strike="noStrike">
              <a:solidFill>
                <a:srgbClr val="000000"/>
              </a:solidFill>
              <a:effectLst/>
              <a:uFillTx/>
              <a:latin typeface="Arial"/>
            </a:endParaRPr>
          </a:p>
        </p:txBody>
      </p:sp>
      <p:sp>
        <p:nvSpPr>
          <p:cNvPr id="241"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7BCA02E-5BD4-4C7D-857A-52A704863357}"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0" y="0"/>
            <a:ext cx="0" cy="0"/>
          </a:xfrm>
          <a:prstGeom prst="rect">
            <a:avLst/>
          </a:prstGeom>
          <a:ln w="0">
            <a:noFill/>
          </a:ln>
        </p:spPr>
      </p:sp>
      <p:sp>
        <p:nvSpPr>
          <p:cNvPr id="2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premier audit montre que le dataset est propre : pas de valeurs manquantes, des colonnes simples et exploitables, et une séparation claire entre train et test. La vraie difficulté est ailleurs : la conversion est rare. Cela veut dire qu’un modèle peut avoir une très bonne accuracy en prédisant presque toujours zéro, tout en étant inutile pour identifier les vrais convertis.</a:t>
            </a:r>
            <a:endParaRPr lang="fr-FR" sz="2000" b="0" u="none" strike="noStrike">
              <a:solidFill>
                <a:srgbClr val="000000"/>
              </a:solidFill>
              <a:effectLst/>
              <a:uFillTx/>
              <a:latin typeface="Arial"/>
            </a:endParaRPr>
          </a:p>
        </p:txBody>
      </p:sp>
      <p:sp>
        <p:nvSpPr>
          <p:cNvPr id="244"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87873A1-E037-4A04-93BC-D385F8016A8F}"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0" y="0"/>
            <a:ext cx="0" cy="0"/>
          </a:xfrm>
          <a:prstGeom prst="rect">
            <a:avLst/>
          </a:prstGeom>
          <a:ln w="0">
            <a:noFill/>
          </a:ln>
        </p:spPr>
      </p:sp>
      <p:sp>
        <p:nvSpPr>
          <p:cNvPr id="2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cible est très déséquilibrée : seulement 3,23 % des visiteurs convertissent. C’est pour cela que l’accuracy n’est pas la métrique principale. Le projet utilise le F1-score, qui combine la précision et le rappel. L’idée est de trouver un compromis : détecter suffisamment de convertis, mais sans classer trop de visiteurs non convertis comme positifs.</a:t>
            </a:r>
            <a:endParaRPr lang="fr-FR" sz="2000" b="0" u="none" strike="noStrike">
              <a:solidFill>
                <a:srgbClr val="000000"/>
              </a:solidFill>
              <a:effectLst/>
              <a:uFillTx/>
              <a:latin typeface="Arial"/>
            </a:endParaRPr>
          </a:p>
        </p:txBody>
      </p:sp>
      <p:sp>
        <p:nvSpPr>
          <p:cNvPr id="247"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A8B6196-4968-47DF-81CA-55A80A8B5263}"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0" y="0"/>
            <a:ext cx="0" cy="0"/>
          </a:xfrm>
          <a:prstGeom prst="rect">
            <a:avLst/>
          </a:prstGeom>
          <a:ln w="0">
            <a:noFill/>
          </a:ln>
        </p:spPr>
      </p:sp>
      <p:sp>
        <p:nvSpPr>
          <p:cNvPr id="2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méthode reste volontairement lisible. Je sépare les variables explicatives et la cible, puis j’utilise un split stratifié pour conserver la proportion de convertis. Les variables catégorielles sont encodées, les variables numériques sont standardisées, et tout est regroupé dans un pipeline scikit-learn. Ensuite, je compare une régression logistique et un modèle d’ensemble, puis je choisis selon la métrique officielle.</a:t>
            </a:r>
            <a:endParaRPr lang="fr-FR" sz="2000" b="0" u="none" strike="noStrike">
              <a:solidFill>
                <a:srgbClr val="000000"/>
              </a:solidFill>
              <a:effectLst/>
              <a:uFillTx/>
              <a:latin typeface="Arial"/>
            </a:endParaRPr>
          </a:p>
        </p:txBody>
      </p:sp>
      <p:sp>
        <p:nvSpPr>
          <p:cNvPr id="250"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61F663B-926C-4A71-AAE3-E9409AFF0FE9}"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0" y="0"/>
            <a:ext cx="0" cy="0"/>
          </a:xfrm>
          <a:prstGeom prst="rect">
            <a:avLst/>
          </a:prstGeom>
          <a:ln w="0">
            <a:noFill/>
          </a:ln>
        </p:spPr>
      </p:sp>
      <p:sp>
        <p:nvSpPr>
          <p:cNvPr id="2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régression logistique sert d’abord de modèle de base, mais elle devient aussi le modèle final. Avec le seuil classique de 0,5, elle obtient déjà un F1-score solide. L’amélioration vient ensuite de l’ajustement du seuil, parce que la classe positive est rare. Ce choix reste cohérent : le modèle est performant, stable et beaucoup plus simple à expliquer qu’un modèle plus opaque.</a:t>
            </a:r>
            <a:endParaRPr lang="fr-FR" sz="2000" b="0" u="none" strike="noStrike">
              <a:solidFill>
                <a:srgbClr val="000000"/>
              </a:solidFill>
              <a:effectLst/>
              <a:uFillTx/>
              <a:latin typeface="Arial"/>
            </a:endParaRPr>
          </a:p>
        </p:txBody>
      </p:sp>
      <p:sp>
        <p:nvSpPr>
          <p:cNvPr id="253"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BF0A0AD-14C5-4297-8664-30EE418DFA83}"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0" y="0"/>
            <a:ext cx="0" cy="0"/>
          </a:xfrm>
          <a:prstGeom prst="rect">
            <a:avLst/>
          </a:prstGeom>
          <a:ln w="0">
            <a:noFill/>
          </a:ln>
        </p:spPr>
      </p:sp>
      <p:sp>
        <p:nvSpPr>
          <p:cNvPr id="2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seuil par défaut de 0,5 n’est pas forcément optimal. En testant différents seuils, le meilleur compromis F1 est obtenu autour de 0,44. Le modèle atteint un F1-score de 0,7771, avec une précision de 0,8446 et un rappel de 0,7195. La matrice de confusion montre que le modèle identifie 1 321 conversions sur la validation, tout en gardant un nombre limité de fausses alertes.</a:t>
            </a:r>
            <a:endParaRPr lang="fr-FR" sz="2000" b="0" u="none" strike="noStrike">
              <a:solidFill>
                <a:srgbClr val="000000"/>
              </a:solidFill>
              <a:effectLst/>
              <a:uFillTx/>
              <a:latin typeface="Arial"/>
            </a:endParaRPr>
          </a:p>
        </p:txBody>
      </p:sp>
      <p:sp>
        <p:nvSpPr>
          <p:cNvPr id="256"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9A9396CA-E317-4700-8C2A-5F91F8081445}"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0" y="0"/>
            <a:ext cx="0" cy="0"/>
          </a:xfrm>
          <a:prstGeom prst="rect">
            <a:avLst/>
          </a:prstGeom>
          <a:ln w="0">
            <a:noFill/>
          </a:ln>
        </p:spPr>
      </p:sp>
      <p:sp>
        <p:nvSpPr>
          <p:cNvPr id="2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J’ai comparé la régression logistique à un modèle d’ensemble, AdaBoost. Le résultat est intéressant : le modèle plus complexe n’améliore pas le F1-score. AdaBoost obtient un meilleur rappel, mais au prix d’une précision plus faible. Le modèle final retenu est donc la régression logistique optimisée, car elle a le meilleur F1-score et reste plus claire à interpréter.</a:t>
            </a:r>
            <a:endParaRPr lang="fr-FR" sz="2000" b="0" u="none" strike="noStrike">
              <a:solidFill>
                <a:srgbClr val="000000"/>
              </a:solidFill>
              <a:effectLst/>
              <a:uFillTx/>
              <a:latin typeface="Arial"/>
            </a:endParaRPr>
          </a:p>
        </p:txBody>
      </p:sp>
      <p:sp>
        <p:nvSpPr>
          <p:cNvPr id="259"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9EF6ECA-C088-4E2C-8DAD-42A4DCADCE06}"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0" y="0"/>
            <a:ext cx="0" cy="0"/>
          </a:xfrm>
          <a:prstGeom prst="rect">
            <a:avLst/>
          </a:prstGeom>
          <a:ln w="0">
            <a:noFill/>
          </a:ln>
        </p:spPr>
      </p:sp>
      <p:sp>
        <p:nvSpPr>
          <p:cNvPr id="2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L’interprétation montre que le nombre de pages visitées est le signal le plus favorable à la conversion. Cela donne une recommandation métier claire : améliorer l’engagement sur le site et pousser les visiteurs vers plus de contenu pertinent. À l’inverse, les nouveaux visiteurs convertissent moins bien, donc il faut travailler leur parcours. Enfin, les coefficients indiquent des différences par pays et par source, mais il faut rester prudent : ce sont des associations statistiques, pas des causalités prouvées.</a:t>
            </a:r>
            <a:endParaRPr lang="fr-FR" sz="2000" b="0" u="none" strike="noStrike">
              <a:solidFill>
                <a:srgbClr val="000000"/>
              </a:solidFill>
              <a:effectLst/>
              <a:uFillTx/>
              <a:latin typeface="Arial"/>
            </a:endParaRPr>
          </a:p>
        </p:txBody>
      </p:sp>
      <p:sp>
        <p:nvSpPr>
          <p:cNvPr id="262"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9E8B116-25C8-45D9-ABD4-928D7C52A284}"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0" y="0"/>
            <a:ext cx="0" cy="0"/>
          </a:xfrm>
          <a:prstGeom prst="rect">
            <a:avLst/>
          </a:prstGeom>
          <a:ln w="0">
            <a:noFill/>
          </a:ln>
        </p:spPr>
      </p:sp>
      <p:sp>
        <p:nvSpPr>
          <p:cNvPr id="2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Pour conclure, ce projet montre une chaîne complète de classification supervisée : données, preprocessing, modèle, optimisation du seuil, comparaison, interprétation et prédictions finales. La principale valeur est d’avoir une approche simple mais bien justifiée, avec un modèle lisible et un résultat directement exploitable. Les limites sont aussi importantes : peu de variables, pas de causalité stricte, et un seuil à surveiller si les données changent. Merci pour votre attention, je suis disponible pour les questions.</a:t>
            </a:r>
            <a:endParaRPr lang="fr-FR" sz="2000" b="0" u="none" strike="noStrike">
              <a:solidFill>
                <a:srgbClr val="000000"/>
              </a:solidFill>
              <a:effectLst/>
              <a:uFillTx/>
              <a:latin typeface="Arial"/>
            </a:endParaRPr>
          </a:p>
        </p:txBody>
      </p:sp>
      <p:sp>
        <p:nvSpPr>
          <p:cNvPr id="265"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BBEFB93-43C9-4B80-A8C3-E1DC8E106666}"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ptos"/>
              </a:defRPr>
            </a:lvl1pPr>
          </a:lstStyle>
          <a:p>
            <a:pPr indent="0" algn="l">
              <a:buNone/>
            </a:pPr>
            <a:r>
              <a:rPr lang="fr-FR" sz="1800" b="0" u="none" strike="noStrike">
                <a:solidFill>
                  <a:schemeClr val="dk1"/>
                </a:solidFill>
                <a:effectLst/>
                <a:uFillTx/>
                <a:latin typeface="Aptos"/>
              </a:rPr>
              <a:t>Cliquez pour éditer le format du texte-titre</a:t>
            </a:r>
            <a:endParaRPr lang="fr-FR"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fr-FR"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fr-FR"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fr-FR"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fr-FR"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fr-FR"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fr-FR"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fr-FR" sz="3200" b="0" u="none" strike="noStrike">
                <a:solidFill>
                  <a:schemeClr val="dk1"/>
                </a:solidFill>
                <a:effectLst/>
                <a:uFillTx/>
                <a:latin typeface="Aptos"/>
              </a:rPr>
              <a:t>Cliquez pour éditer le format du plan de texte</a:t>
            </a:r>
            <a:endParaRPr lang="fr-FR"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fr-FR" sz="2400" b="0" u="none" strike="noStrike">
                <a:solidFill>
                  <a:schemeClr val="dk1"/>
                </a:solidFill>
                <a:effectLst/>
                <a:uFillTx/>
                <a:latin typeface="Aptos"/>
              </a:rPr>
              <a:t>Second niveau de plan</a:t>
            </a:r>
            <a:endParaRPr lang="fr-FR"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fr-FR" sz="2000" b="0" u="none" strike="noStrike">
                <a:solidFill>
                  <a:schemeClr val="dk1"/>
                </a:solidFill>
                <a:effectLst/>
                <a:uFillTx/>
                <a:latin typeface="Aptos"/>
              </a:rPr>
              <a:t>Troisième niveau de plan</a:t>
            </a:r>
            <a:endParaRPr lang="fr-FR"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fr-FR" sz="2000" b="0" u="none" strike="noStrike">
                <a:solidFill>
                  <a:schemeClr val="dk1"/>
                </a:solidFill>
                <a:effectLst/>
                <a:uFillTx/>
                <a:latin typeface="Aptos"/>
              </a:rPr>
              <a:t>Quatrième niveau de plan</a:t>
            </a:r>
            <a:endParaRPr lang="fr-FR"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Cinquième niveau de plan</a:t>
            </a:r>
            <a:endParaRPr lang="fr-FR"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Sixième niveau de plan</a:t>
            </a:r>
            <a:endParaRPr lang="fr-FR"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Septième niveau de plan</a:t>
            </a:r>
            <a:endParaRPr lang="fr-FR" sz="20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940"/>
        </a:solidFill>
      </p:bgPr>
    </p:bg>
    <p:spTree>
      <p:nvGrpSpPr>
        <p:cNvPr id="1" name=""/>
        <p:cNvGrpSpPr/>
        <p:nvPr/>
      </p:nvGrpSpPr>
      <p:grpSpPr>
        <a:xfrm>
          <a:off x="0" y="0"/>
          <a:ext cx="0" cy="0"/>
          <a:chOff x="0" y="0"/>
          <a:chExt cx="0" cy="0"/>
        </a:xfrm>
      </p:grpSpPr>
      <p:sp>
        <p:nvSpPr>
          <p:cNvPr id="10" name="Shape 0"/>
          <p:cNvSpPr/>
          <p:nvPr/>
        </p:nvSpPr>
        <p:spPr>
          <a:xfrm>
            <a:off x="0" y="0"/>
            <a:ext cx="12191400" cy="685764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 name="Shape 1"/>
          <p:cNvSpPr/>
          <p:nvPr/>
        </p:nvSpPr>
        <p:spPr>
          <a:xfrm>
            <a:off x="0" y="0"/>
            <a:ext cx="12191400" cy="118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 name="Shape 2"/>
          <p:cNvSpPr/>
          <p:nvPr/>
        </p:nvSpPr>
        <p:spPr>
          <a:xfrm>
            <a:off x="8092440" y="777240"/>
            <a:ext cx="3428640" cy="5166000"/>
          </a:xfrm>
          <a:prstGeom prst="rect">
            <a:avLst/>
          </a:prstGeom>
          <a:solidFill>
            <a:srgbClr val="173B59"/>
          </a:solidFill>
          <a:ln w="12700">
            <a:solidFill>
              <a:srgbClr val="173B5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 name="Shape 3"/>
          <p:cNvSpPr/>
          <p:nvPr/>
        </p:nvSpPr>
        <p:spPr>
          <a:xfrm>
            <a:off x="8458200" y="1097280"/>
            <a:ext cx="2697120" cy="9108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 name="Shape 4"/>
          <p:cNvSpPr/>
          <p:nvPr/>
        </p:nvSpPr>
        <p:spPr>
          <a:xfrm>
            <a:off x="8458200" y="1444680"/>
            <a:ext cx="2194200" cy="91080"/>
          </a:xfrm>
          <a:prstGeom prst="rect">
            <a:avLst/>
          </a:prstGeom>
          <a:solidFill>
            <a:srgbClr val="D8A24E"/>
          </a:solidFill>
          <a:ln w="12700">
            <a:solidFill>
              <a:srgbClr val="D8A24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 name="Shape 5"/>
          <p:cNvSpPr/>
          <p:nvPr/>
        </p:nvSpPr>
        <p:spPr>
          <a:xfrm>
            <a:off x="8458200" y="1792080"/>
            <a:ext cx="1645560" cy="91080"/>
          </a:xfrm>
          <a:prstGeom prst="rect">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 name="Text 6"/>
          <p:cNvSpPr/>
          <p:nvPr/>
        </p:nvSpPr>
        <p:spPr>
          <a:xfrm>
            <a:off x="713160" y="987480"/>
            <a:ext cx="62175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Aptos Display"/>
                <a:ea typeface="Aptos Display"/>
              </a:rPr>
              <a:t>Challenge Conversion Rate</a:t>
            </a:r>
            <a:endParaRPr lang="fr-FR" sz="2800" b="0" u="none" strike="noStrike">
              <a:solidFill>
                <a:srgbClr val="FFFFFF"/>
              </a:solidFill>
              <a:effectLst/>
              <a:uFillTx/>
              <a:latin typeface="Arial"/>
            </a:endParaRPr>
          </a:p>
        </p:txBody>
      </p:sp>
      <p:sp>
        <p:nvSpPr>
          <p:cNvPr id="17" name="Text 7"/>
          <p:cNvSpPr/>
          <p:nvPr/>
        </p:nvSpPr>
        <p:spPr>
          <a:xfrm>
            <a:off x="749880" y="1609200"/>
            <a:ext cx="64004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50" b="0" u="none" strike="noStrike">
                <a:solidFill>
                  <a:srgbClr val="DAE5ED"/>
                </a:solidFill>
                <a:effectLst/>
                <a:uFillTx/>
                <a:latin typeface="Aptos"/>
              </a:rPr>
              <a:t>Prédiction de l’abonnement à la newsletter</a:t>
            </a:r>
            <a:endParaRPr lang="fr-FR" sz="1650" b="0" u="none" strike="noStrike">
              <a:solidFill>
                <a:srgbClr val="FFFFFF"/>
              </a:solidFill>
              <a:effectLst/>
              <a:uFillTx/>
              <a:latin typeface="Arial"/>
            </a:endParaRPr>
          </a:p>
        </p:txBody>
      </p:sp>
      <p:sp>
        <p:nvSpPr>
          <p:cNvPr id="18" name="Text 8"/>
          <p:cNvSpPr/>
          <p:nvPr/>
        </p:nvSpPr>
        <p:spPr>
          <a:xfrm>
            <a:off x="749880" y="2048400"/>
            <a:ext cx="676620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20" b="0" u="none" strike="noStrike">
                <a:solidFill>
                  <a:srgbClr val="D1DEE7"/>
                </a:solidFill>
                <a:effectLst/>
                <a:uFillTx/>
                <a:latin typeface="Aptos"/>
              </a:rPr>
              <a:t>Classification binaire · F1-score · Pipeline scikit-learn · Interprétation métier</a:t>
            </a:r>
            <a:endParaRPr lang="fr-FR" sz="1220" b="0" u="none" strike="noStrike">
              <a:solidFill>
                <a:srgbClr val="FFFFFF"/>
              </a:solidFill>
              <a:effectLst/>
              <a:uFillTx/>
              <a:latin typeface="Arial"/>
            </a:endParaRPr>
          </a:p>
        </p:txBody>
      </p:sp>
      <p:sp>
        <p:nvSpPr>
          <p:cNvPr id="19" name="Text 9"/>
          <p:cNvSpPr/>
          <p:nvPr/>
        </p:nvSpPr>
        <p:spPr>
          <a:xfrm>
            <a:off x="8458200" y="2377440"/>
            <a:ext cx="20113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20" b="1" u="none" strike="noStrike">
                <a:solidFill>
                  <a:srgbClr val="FFFFFF"/>
                </a:solidFill>
                <a:effectLst/>
                <a:uFillTx/>
                <a:latin typeface="Aptos"/>
              </a:rPr>
              <a:t>Repères clés</a:t>
            </a:r>
            <a:endParaRPr lang="fr-FR" sz="1220" b="0" u="none" strike="noStrike">
              <a:solidFill>
                <a:srgbClr val="FFFFFF"/>
              </a:solidFill>
              <a:effectLst/>
              <a:uFillTx/>
              <a:latin typeface="Arial"/>
            </a:endParaRPr>
          </a:p>
        </p:txBody>
      </p:sp>
      <p:sp>
        <p:nvSpPr>
          <p:cNvPr id="20" name="Text 10"/>
          <p:cNvSpPr/>
          <p:nvPr/>
        </p:nvSpPr>
        <p:spPr>
          <a:xfrm>
            <a:off x="8458200" y="2743200"/>
            <a:ext cx="1828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BA4A7"/>
                </a:solidFill>
                <a:effectLst/>
                <a:uFillTx/>
                <a:latin typeface="Aptos Display"/>
                <a:ea typeface="Aptos Display"/>
              </a:rPr>
              <a:t>284 580</a:t>
            </a:r>
            <a:endParaRPr lang="fr-FR" sz="2200" b="0" u="none" strike="noStrike">
              <a:solidFill>
                <a:srgbClr val="FFFFFF"/>
              </a:solidFill>
              <a:effectLst/>
              <a:uFillTx/>
              <a:latin typeface="Arial"/>
            </a:endParaRPr>
          </a:p>
        </p:txBody>
      </p:sp>
      <p:sp>
        <p:nvSpPr>
          <p:cNvPr id="21" name="Text 11"/>
          <p:cNvSpPr/>
          <p:nvPr/>
        </p:nvSpPr>
        <p:spPr>
          <a:xfrm>
            <a:off x="8458200" y="3035880"/>
            <a:ext cx="21942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80" b="0" u="none" strike="noStrike">
                <a:solidFill>
                  <a:srgbClr val="D7E3EB"/>
                </a:solidFill>
                <a:effectLst/>
                <a:uFillTx/>
                <a:latin typeface="Aptos"/>
              </a:rPr>
              <a:t>lignes d’entraînement</a:t>
            </a:r>
            <a:endParaRPr lang="fr-FR" sz="980" b="0" u="none" strike="noStrike">
              <a:solidFill>
                <a:srgbClr val="FFFFFF"/>
              </a:solidFill>
              <a:effectLst/>
              <a:uFillTx/>
              <a:latin typeface="Arial"/>
            </a:endParaRPr>
          </a:p>
        </p:txBody>
      </p:sp>
      <p:sp>
        <p:nvSpPr>
          <p:cNvPr id="22" name="Text 12"/>
          <p:cNvSpPr/>
          <p:nvPr/>
        </p:nvSpPr>
        <p:spPr>
          <a:xfrm>
            <a:off x="8458200" y="3438000"/>
            <a:ext cx="1828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31 620</a:t>
            </a:r>
            <a:endParaRPr lang="fr-FR" sz="2200" b="0" u="none" strike="noStrike">
              <a:solidFill>
                <a:srgbClr val="FFFFFF"/>
              </a:solidFill>
              <a:effectLst/>
              <a:uFillTx/>
              <a:latin typeface="Arial"/>
            </a:endParaRPr>
          </a:p>
        </p:txBody>
      </p:sp>
      <p:sp>
        <p:nvSpPr>
          <p:cNvPr id="23" name="Text 13"/>
          <p:cNvSpPr/>
          <p:nvPr/>
        </p:nvSpPr>
        <p:spPr>
          <a:xfrm>
            <a:off x="8458200" y="3730680"/>
            <a:ext cx="18284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80" b="0" u="none" strike="noStrike">
                <a:solidFill>
                  <a:srgbClr val="D7E3EB"/>
                </a:solidFill>
                <a:effectLst/>
                <a:uFillTx/>
                <a:latin typeface="Aptos"/>
              </a:rPr>
              <a:t>lignes de test</a:t>
            </a:r>
            <a:endParaRPr lang="fr-FR" sz="980" b="0" u="none" strike="noStrike">
              <a:solidFill>
                <a:srgbClr val="FFFFFF"/>
              </a:solidFill>
              <a:effectLst/>
              <a:uFillTx/>
              <a:latin typeface="Arial"/>
            </a:endParaRPr>
          </a:p>
        </p:txBody>
      </p:sp>
      <p:sp>
        <p:nvSpPr>
          <p:cNvPr id="24" name="Text 14"/>
          <p:cNvSpPr/>
          <p:nvPr/>
        </p:nvSpPr>
        <p:spPr>
          <a:xfrm>
            <a:off x="8458200" y="4133160"/>
            <a:ext cx="1828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D8A24E"/>
                </a:solidFill>
                <a:effectLst/>
                <a:uFillTx/>
                <a:latin typeface="Aptos Display"/>
                <a:ea typeface="Aptos Display"/>
              </a:rPr>
              <a:t>0,7771</a:t>
            </a:r>
            <a:endParaRPr lang="fr-FR" sz="2200" b="0" u="none" strike="noStrike">
              <a:solidFill>
                <a:srgbClr val="FFFFFF"/>
              </a:solidFill>
              <a:effectLst/>
              <a:uFillTx/>
              <a:latin typeface="Arial"/>
            </a:endParaRPr>
          </a:p>
        </p:txBody>
      </p:sp>
      <p:sp>
        <p:nvSpPr>
          <p:cNvPr id="25" name="Text 15"/>
          <p:cNvSpPr/>
          <p:nvPr/>
        </p:nvSpPr>
        <p:spPr>
          <a:xfrm>
            <a:off x="8458200" y="4425840"/>
            <a:ext cx="201132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80" b="0" u="none" strike="noStrike">
                <a:solidFill>
                  <a:srgbClr val="D7E3EB"/>
                </a:solidFill>
                <a:effectLst/>
                <a:uFillTx/>
                <a:latin typeface="Aptos"/>
              </a:rPr>
              <a:t>F1-score validation</a:t>
            </a:r>
            <a:endParaRPr lang="fr-FR" sz="980" b="0" u="none" strike="noStrike">
              <a:solidFill>
                <a:srgbClr val="FFFFFF"/>
              </a:solidFill>
              <a:effectLst/>
              <a:uFillTx/>
              <a:latin typeface="Arial"/>
            </a:endParaRPr>
          </a:p>
        </p:txBody>
      </p:sp>
      <p:sp>
        <p:nvSpPr>
          <p:cNvPr id="26" name="Shape 16"/>
          <p:cNvSpPr/>
          <p:nvPr/>
        </p:nvSpPr>
        <p:spPr>
          <a:xfrm>
            <a:off x="749880" y="4480560"/>
            <a:ext cx="6537600" cy="1005480"/>
          </a:xfrm>
          <a:prstGeom prst="roundRect">
            <a:avLst>
              <a:gd name="adj" fmla="val 5455"/>
            </a:avLst>
          </a:prstGeom>
          <a:solidFill>
            <a:srgbClr val="16374F"/>
          </a:solidFill>
          <a:ln w="8890">
            <a:solidFill>
              <a:srgbClr val="16374F"/>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7" name="Text 17"/>
          <p:cNvSpPr/>
          <p:nvPr/>
        </p:nvSpPr>
        <p:spPr>
          <a:xfrm>
            <a:off x="914400" y="4590360"/>
            <a:ext cx="6208560" cy="785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520" b="1" u="none" strike="noStrike">
                <a:solidFill>
                  <a:srgbClr val="FFFFFF"/>
                </a:solidFill>
                <a:effectLst/>
                <a:uFillTx/>
                <a:latin typeface="Aptos Display"/>
                <a:ea typeface="Aptos Display"/>
              </a:rPr>
              <a:t>Objectif : prédire si un visiteur s’abonne, puis comprendre les facteurs de conversion pour orienter les actions marketing et produit.</a:t>
            </a:r>
            <a:endParaRPr lang="fr-FR" sz="1520" b="0" u="none" strike="noStrike">
              <a:solidFill>
                <a:srgbClr val="FFFFFF"/>
              </a:solidFill>
              <a:effectLst/>
              <a:uFillTx/>
              <a:latin typeface="Arial"/>
            </a:endParaRPr>
          </a:p>
        </p:txBody>
      </p:sp>
      <p:sp>
        <p:nvSpPr>
          <p:cNvPr id="28" name="Text 18"/>
          <p:cNvSpPr/>
          <p:nvPr/>
        </p:nvSpPr>
        <p:spPr>
          <a:xfrm>
            <a:off x="749880" y="6236280"/>
            <a:ext cx="255996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80" b="0" u="none" strike="noStrike">
                <a:solidFill>
                  <a:srgbClr val="D5E1E9"/>
                </a:solidFill>
                <a:effectLst/>
                <a:uFillTx/>
                <a:latin typeface="Aptos"/>
              </a:rPr>
              <a:t>Groupe 3 — Bloc 3</a:t>
            </a:r>
            <a:endParaRPr lang="fr-FR" sz="980" b="0" u="none" strike="noStrike">
              <a:solidFill>
                <a:srgbClr val="FFFFFF"/>
              </a:solidFill>
              <a:effectLst/>
              <a:uFillTx/>
              <a:latin typeface="Arial"/>
            </a:endParaRPr>
          </a:p>
        </p:txBody>
      </p:sp>
      <p:sp>
        <p:nvSpPr>
          <p:cNvPr id="29" name="Text 19"/>
          <p:cNvSpPr/>
          <p:nvPr/>
        </p:nvSpPr>
        <p:spPr>
          <a:xfrm>
            <a:off x="8321040" y="6236280"/>
            <a:ext cx="292572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80" b="0" u="none" strike="noStrike">
                <a:solidFill>
                  <a:srgbClr val="D5E1E9"/>
                </a:solidFill>
                <a:effectLst/>
                <a:uFillTx/>
                <a:latin typeface="Aptos"/>
              </a:rPr>
              <a:t>Présentation 5 min + questions 5 min</a:t>
            </a:r>
            <a:endParaRPr lang="fr-FR" sz="980" b="0" u="none" strike="noStrike">
              <a:solidFill>
                <a:srgbClr val="FFFFFF"/>
              </a:solidFill>
              <a:effectLst/>
              <a:uFillTx/>
              <a:latin typeface="Arial"/>
            </a:endParaRPr>
          </a:p>
        </p:txBody>
      </p:sp>
      <p:sp>
        <p:nvSpPr>
          <p:cNvPr id="30" name="Text 20"/>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D9E2E9"/>
                </a:solidFill>
                <a:effectLst/>
                <a:uFillTx/>
                <a:latin typeface="Aptos"/>
              </a:rPr>
              <a:t>Challenge Conversion Rate — Bloc 3</a:t>
            </a:r>
            <a:endParaRPr lang="fr-FR" sz="750" b="0" u="none" strike="noStrike">
              <a:solidFill>
                <a:srgbClr val="FFFFFF"/>
              </a:solidFill>
              <a:effectLst/>
              <a:uFillTx/>
              <a:latin typeface="Arial"/>
            </a:endParaRPr>
          </a:p>
        </p:txBody>
      </p:sp>
      <p:sp>
        <p:nvSpPr>
          <p:cNvPr id="31" name="Text 21"/>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D9E2E9"/>
                </a:solidFill>
                <a:effectLst/>
                <a:uFillTx/>
                <a:latin typeface="Aptos"/>
              </a:rPr>
              <a:t>1</a:t>
            </a:r>
            <a:endParaRPr lang="fr-FR"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32"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Problème métier</a:t>
            </a:r>
            <a:endParaRPr lang="fr-FR" sz="2200" b="0" u="none" strike="noStrike">
              <a:solidFill>
                <a:srgbClr val="000000"/>
              </a:solidFill>
              <a:effectLst/>
              <a:uFillTx/>
              <a:latin typeface="Arial"/>
            </a:endParaRPr>
          </a:p>
        </p:txBody>
      </p:sp>
      <p:sp>
        <p:nvSpPr>
          <p:cNvPr id="36"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Identifier les visiteurs les plus susceptibles de s’inscrire</a:t>
            </a:r>
            <a:endParaRPr lang="fr-FR" sz="1020" b="0" u="none" strike="noStrike">
              <a:solidFill>
                <a:srgbClr val="000000"/>
              </a:solidFill>
              <a:effectLst/>
              <a:uFillTx/>
              <a:latin typeface="Arial"/>
            </a:endParaRPr>
          </a:p>
        </p:txBody>
      </p:sp>
      <p:sp>
        <p:nvSpPr>
          <p:cNvPr id="37" name="Shape 5"/>
          <p:cNvSpPr/>
          <p:nvPr/>
        </p:nvSpPr>
        <p:spPr>
          <a:xfrm>
            <a:off x="658440" y="1078920"/>
            <a:ext cx="5074560" cy="4617360"/>
          </a:xfrm>
          <a:prstGeom prst="roundRect">
            <a:avLst>
              <a:gd name="adj" fmla="val 1188"/>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8" name="Shape 6"/>
          <p:cNvSpPr/>
          <p:nvPr/>
        </p:nvSpPr>
        <p:spPr>
          <a:xfrm>
            <a:off x="6016680" y="1078920"/>
            <a:ext cx="5486040" cy="4617360"/>
          </a:xfrm>
          <a:prstGeom prst="roundRect">
            <a:avLst>
              <a:gd name="adj" fmla="val 1188"/>
            </a:avLst>
          </a:prstGeom>
          <a:solidFill>
            <a:srgbClr val="ECF4F7"/>
          </a:solidFill>
          <a:ln w="8890">
            <a:solidFill>
              <a:srgbClr val="ECF4F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 name="Shape 7"/>
          <p:cNvSpPr/>
          <p:nvPr/>
        </p:nvSpPr>
        <p:spPr>
          <a:xfrm>
            <a:off x="868680" y="1371600"/>
            <a:ext cx="1782720" cy="310680"/>
          </a:xfrm>
          <a:prstGeom prst="roundRect">
            <a:avLst>
              <a:gd name="adj" fmla="val 23529"/>
            </a:avLst>
          </a:prstGeom>
          <a:solidFill>
            <a:srgbClr val="DDF2F1"/>
          </a:solidFill>
          <a:ln w="12700">
            <a:solidFill>
              <a:srgbClr val="DDF2F1"/>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 name="Text 8"/>
          <p:cNvSpPr/>
          <p:nvPr/>
        </p:nvSpPr>
        <p:spPr>
          <a:xfrm>
            <a:off x="960120" y="1444680"/>
            <a:ext cx="159984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1" u="none" strike="noStrike">
                <a:solidFill>
                  <a:srgbClr val="1BA4A7"/>
                </a:solidFill>
                <a:effectLst/>
                <a:uFillTx/>
                <a:latin typeface="Aptos"/>
              </a:rPr>
              <a:t>QUESTION CENTRALE</a:t>
            </a:r>
            <a:endParaRPr lang="fr-FR" sz="1050" b="0" u="none" strike="noStrike">
              <a:solidFill>
                <a:srgbClr val="000000"/>
              </a:solidFill>
              <a:effectLst/>
              <a:uFillTx/>
              <a:latin typeface="Arial"/>
            </a:endParaRPr>
          </a:p>
        </p:txBody>
      </p:sp>
      <p:sp>
        <p:nvSpPr>
          <p:cNvPr id="41" name="Text 9"/>
          <p:cNvSpPr/>
          <p:nvPr/>
        </p:nvSpPr>
        <p:spPr>
          <a:xfrm>
            <a:off x="868680" y="1810440"/>
            <a:ext cx="4480200" cy="95976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2000" b="1" u="none" strike="noStrike">
                <a:solidFill>
                  <a:srgbClr val="0F2940"/>
                </a:solidFill>
                <a:effectLst/>
                <a:uFillTx/>
                <a:latin typeface="Aptos"/>
              </a:rPr>
              <a:t>Peut-on prédire la conversion d’un visiteur et comprendre les facteurs qui favorisent l’inscription ?</a:t>
            </a:r>
            <a:endParaRPr lang="fr-FR" sz="2000" b="0" u="none" strike="noStrike">
              <a:solidFill>
                <a:srgbClr val="000000"/>
              </a:solidFill>
              <a:effectLst/>
              <a:uFillTx/>
              <a:latin typeface="Arial"/>
            </a:endParaRPr>
          </a:p>
        </p:txBody>
      </p:sp>
      <p:sp>
        <p:nvSpPr>
          <p:cNvPr id="42" name="Text 10"/>
          <p:cNvSpPr/>
          <p:nvPr/>
        </p:nvSpPr>
        <p:spPr>
          <a:xfrm>
            <a:off x="868680" y="3108960"/>
            <a:ext cx="18284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Valeur métier</a:t>
            </a:r>
            <a:endParaRPr lang="fr-FR" sz="1250" b="0" u="none" strike="noStrike">
              <a:solidFill>
                <a:srgbClr val="000000"/>
              </a:solidFill>
              <a:effectLst/>
              <a:uFillTx/>
              <a:latin typeface="Arial"/>
            </a:endParaRPr>
          </a:p>
        </p:txBody>
      </p:sp>
      <p:sp>
        <p:nvSpPr>
          <p:cNvPr id="43" name="Text 11"/>
          <p:cNvSpPr/>
          <p:nvPr/>
        </p:nvSpPr>
        <p:spPr>
          <a:xfrm>
            <a:off x="914400" y="3420000"/>
            <a:ext cx="4434480" cy="155412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prioriser les visiteurs à fort potentiel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mieux comprendre les freins à la conversion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orienter les actions marketing et produit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garder une lecture interprétable du modèle.</a:t>
            </a:r>
            <a:endParaRPr lang="fr-FR" sz="1200" b="0" u="none" strike="noStrike">
              <a:solidFill>
                <a:srgbClr val="000000"/>
              </a:solidFill>
              <a:effectLst/>
              <a:uFillTx/>
              <a:latin typeface="Arial"/>
            </a:endParaRPr>
          </a:p>
        </p:txBody>
      </p:sp>
      <p:sp>
        <p:nvSpPr>
          <p:cNvPr id="44" name="Shape 12"/>
          <p:cNvSpPr/>
          <p:nvPr/>
        </p:nvSpPr>
        <p:spPr>
          <a:xfrm>
            <a:off x="868680" y="5120640"/>
            <a:ext cx="4525920" cy="511560"/>
          </a:xfrm>
          <a:prstGeom prst="roundRect">
            <a:avLst>
              <a:gd name="adj" fmla="val 10714"/>
            </a:avLst>
          </a:prstGeom>
          <a:solidFill>
            <a:srgbClr val="F7EEDC"/>
          </a:solidFill>
          <a:ln w="8890">
            <a:solidFill>
              <a:srgbClr val="F7EEDC"/>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5" name="Text 13"/>
          <p:cNvSpPr/>
          <p:nvPr/>
        </p:nvSpPr>
        <p:spPr>
          <a:xfrm>
            <a:off x="1033200" y="5230440"/>
            <a:ext cx="4196880" cy="29232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US" sz="1280" b="1" u="none" strike="noStrike">
                <a:solidFill>
                  <a:srgbClr val="0F2940"/>
                </a:solidFill>
                <a:effectLst/>
                <a:uFillTx/>
                <a:latin typeface="Aptos Display"/>
                <a:ea typeface="Aptos Display"/>
              </a:rPr>
              <a:t>Idée directrice : passer d’un simple score de prédiction à une lecture exploitable des comportements de navigation.</a:t>
            </a:r>
            <a:endParaRPr lang="fr-FR" sz="1280" b="0" u="none" strike="noStrike">
              <a:solidFill>
                <a:srgbClr val="000000"/>
              </a:solidFill>
              <a:effectLst/>
              <a:uFillTx/>
              <a:latin typeface="Arial"/>
            </a:endParaRPr>
          </a:p>
        </p:txBody>
      </p:sp>
      <p:sp>
        <p:nvSpPr>
          <p:cNvPr id="46" name="Shape 14"/>
          <p:cNvSpPr/>
          <p:nvPr/>
        </p:nvSpPr>
        <p:spPr>
          <a:xfrm>
            <a:off x="6272640" y="1334880"/>
            <a:ext cx="1737000" cy="932400"/>
          </a:xfrm>
          <a:prstGeom prst="roundRect">
            <a:avLst>
              <a:gd name="adj" fmla="val 588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 name="Shape 15"/>
          <p:cNvSpPr/>
          <p:nvPr/>
        </p:nvSpPr>
        <p:spPr>
          <a:xfrm>
            <a:off x="6400800" y="1463040"/>
            <a:ext cx="72720" cy="676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8" name="Text 16"/>
          <p:cNvSpPr/>
          <p:nvPr/>
        </p:nvSpPr>
        <p:spPr>
          <a:xfrm>
            <a:off x="6565320" y="1499760"/>
            <a:ext cx="133452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1BA4A7"/>
                </a:solidFill>
                <a:effectLst/>
                <a:uFillTx/>
                <a:latin typeface="Aptos Display"/>
                <a:ea typeface="Aptos Display"/>
              </a:rPr>
              <a:t>5</a:t>
            </a:r>
            <a:endParaRPr lang="fr-FR" sz="2100" b="0" u="none" strike="noStrike">
              <a:solidFill>
                <a:srgbClr val="000000"/>
              </a:solidFill>
              <a:effectLst/>
              <a:uFillTx/>
              <a:latin typeface="Arial"/>
            </a:endParaRPr>
          </a:p>
        </p:txBody>
      </p:sp>
      <p:sp>
        <p:nvSpPr>
          <p:cNvPr id="49" name="Text 17"/>
          <p:cNvSpPr/>
          <p:nvPr/>
        </p:nvSpPr>
        <p:spPr>
          <a:xfrm>
            <a:off x="6565320" y="1865520"/>
            <a:ext cx="1334520" cy="2192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000" b="0" u="none" strike="noStrike">
                <a:solidFill>
                  <a:srgbClr val="6F8190"/>
                </a:solidFill>
                <a:effectLst/>
                <a:uFillTx/>
                <a:latin typeface="Aptos"/>
              </a:rPr>
              <a:t>variables explicatives</a:t>
            </a:r>
            <a:endParaRPr lang="fr-FR" sz="1000" b="0" u="none" strike="noStrike">
              <a:solidFill>
                <a:srgbClr val="000000"/>
              </a:solidFill>
              <a:effectLst/>
              <a:uFillTx/>
              <a:latin typeface="Arial"/>
            </a:endParaRPr>
          </a:p>
        </p:txBody>
      </p:sp>
      <p:sp>
        <p:nvSpPr>
          <p:cNvPr id="50" name="Shape 18"/>
          <p:cNvSpPr/>
          <p:nvPr/>
        </p:nvSpPr>
        <p:spPr>
          <a:xfrm>
            <a:off x="8229600" y="1334880"/>
            <a:ext cx="1599840" cy="932400"/>
          </a:xfrm>
          <a:prstGeom prst="roundRect">
            <a:avLst>
              <a:gd name="adj" fmla="val 588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1" name="Shape 19"/>
          <p:cNvSpPr/>
          <p:nvPr/>
        </p:nvSpPr>
        <p:spPr>
          <a:xfrm>
            <a:off x="8357760" y="1463040"/>
            <a:ext cx="72720" cy="67644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2" name="Text 20"/>
          <p:cNvSpPr/>
          <p:nvPr/>
        </p:nvSpPr>
        <p:spPr>
          <a:xfrm>
            <a:off x="8522280" y="1499760"/>
            <a:ext cx="119736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0F2940"/>
                </a:solidFill>
                <a:effectLst/>
                <a:uFillTx/>
                <a:latin typeface="Aptos Display"/>
                <a:ea typeface="Aptos Display"/>
              </a:rPr>
              <a:t>1</a:t>
            </a:r>
            <a:endParaRPr lang="fr-FR" sz="2100" b="0" u="none" strike="noStrike">
              <a:solidFill>
                <a:srgbClr val="000000"/>
              </a:solidFill>
              <a:effectLst/>
              <a:uFillTx/>
              <a:latin typeface="Arial"/>
            </a:endParaRPr>
          </a:p>
        </p:txBody>
      </p:sp>
      <p:sp>
        <p:nvSpPr>
          <p:cNvPr id="53" name="Text 21"/>
          <p:cNvSpPr/>
          <p:nvPr/>
        </p:nvSpPr>
        <p:spPr>
          <a:xfrm>
            <a:off x="8522280" y="1865520"/>
            <a:ext cx="119736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cible : converted</a:t>
            </a:r>
            <a:endParaRPr lang="fr-FR" sz="1000" b="0" u="none" strike="noStrike">
              <a:solidFill>
                <a:srgbClr val="000000"/>
              </a:solidFill>
              <a:effectLst/>
              <a:uFillTx/>
              <a:latin typeface="Arial"/>
            </a:endParaRPr>
          </a:p>
        </p:txBody>
      </p:sp>
      <p:sp>
        <p:nvSpPr>
          <p:cNvPr id="54" name="Shape 22"/>
          <p:cNvSpPr/>
          <p:nvPr/>
        </p:nvSpPr>
        <p:spPr>
          <a:xfrm>
            <a:off x="6272640" y="2615040"/>
            <a:ext cx="4617360" cy="2559960"/>
          </a:xfrm>
          <a:prstGeom prst="roundRect">
            <a:avLst>
              <a:gd name="adj" fmla="val 2143"/>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5" name="Text 23"/>
          <p:cNvSpPr/>
          <p:nvPr/>
        </p:nvSpPr>
        <p:spPr>
          <a:xfrm>
            <a:off x="6492240" y="2889360"/>
            <a:ext cx="2468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Variables disponibles</a:t>
            </a:r>
            <a:endParaRPr lang="fr-FR" sz="1250" b="0" u="none" strike="noStrike">
              <a:solidFill>
                <a:srgbClr val="000000"/>
              </a:solidFill>
              <a:effectLst/>
              <a:uFillTx/>
              <a:latin typeface="Arial"/>
            </a:endParaRPr>
          </a:p>
        </p:txBody>
      </p:sp>
      <p:sp>
        <p:nvSpPr>
          <p:cNvPr id="56" name="Text 24"/>
          <p:cNvSpPr/>
          <p:nvPr/>
        </p:nvSpPr>
        <p:spPr>
          <a:xfrm>
            <a:off x="6510600" y="3237120"/>
            <a:ext cx="1599840" cy="1645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60" b="1" u="none" strike="noStrike">
                <a:solidFill>
                  <a:srgbClr val="FFFFFF"/>
                </a:solidFill>
                <a:effectLst/>
                <a:uFillTx/>
                <a:latin typeface="Aptos"/>
              </a:rPr>
              <a:t>country</a:t>
            </a:r>
            <a:endParaRPr lang="fr-FR" sz="1160" b="0" u="none" strike="noStrike">
              <a:solidFill>
                <a:srgbClr val="000000"/>
              </a:solidFill>
              <a:effectLst/>
              <a:uFillTx/>
              <a:latin typeface="Arial"/>
            </a:endParaRPr>
          </a:p>
          <a:p>
            <a:pPr defTabSz="914400">
              <a:lnSpc>
                <a:spcPct val="100000"/>
              </a:lnSpc>
              <a:tabLst>
                <a:tab pos="0" algn="l"/>
              </a:tabLst>
            </a:pPr>
            <a:r>
              <a:rPr lang="en-US" sz="1160" b="1" u="none" strike="noStrike">
                <a:solidFill>
                  <a:srgbClr val="FFFFFF"/>
                </a:solidFill>
                <a:effectLst/>
                <a:uFillTx/>
                <a:latin typeface="Aptos"/>
              </a:rPr>
              <a:t>source</a:t>
            </a:r>
            <a:endParaRPr lang="fr-FR" sz="1160" b="0" u="none" strike="noStrike">
              <a:solidFill>
                <a:srgbClr val="000000"/>
              </a:solidFill>
              <a:effectLst/>
              <a:uFillTx/>
              <a:latin typeface="Arial"/>
            </a:endParaRPr>
          </a:p>
          <a:p>
            <a:pPr defTabSz="914400">
              <a:lnSpc>
                <a:spcPct val="100000"/>
              </a:lnSpc>
              <a:tabLst>
                <a:tab pos="0" algn="l"/>
              </a:tabLst>
            </a:pPr>
            <a:r>
              <a:rPr lang="en-US" sz="1160" b="1" u="none" strike="noStrike">
                <a:solidFill>
                  <a:srgbClr val="FFFFFF"/>
                </a:solidFill>
                <a:effectLst/>
                <a:uFillTx/>
                <a:latin typeface="Aptos"/>
              </a:rPr>
              <a:t>age</a:t>
            </a:r>
            <a:endParaRPr lang="fr-FR" sz="1160" b="0" u="none" strike="noStrike">
              <a:solidFill>
                <a:srgbClr val="000000"/>
              </a:solidFill>
              <a:effectLst/>
              <a:uFillTx/>
              <a:latin typeface="Arial"/>
            </a:endParaRPr>
          </a:p>
          <a:p>
            <a:pPr defTabSz="914400">
              <a:lnSpc>
                <a:spcPct val="100000"/>
              </a:lnSpc>
              <a:tabLst>
                <a:tab pos="0" algn="l"/>
              </a:tabLst>
            </a:pPr>
            <a:r>
              <a:rPr lang="en-US" sz="1160" b="1" u="none" strike="noStrike">
                <a:solidFill>
                  <a:srgbClr val="FFFFFF"/>
                </a:solidFill>
                <a:effectLst/>
                <a:uFillTx/>
                <a:latin typeface="Aptos"/>
              </a:rPr>
              <a:t>new_user</a:t>
            </a:r>
            <a:endParaRPr lang="fr-FR" sz="1160" b="0" u="none" strike="noStrike">
              <a:solidFill>
                <a:srgbClr val="000000"/>
              </a:solidFill>
              <a:effectLst/>
              <a:uFillTx/>
              <a:latin typeface="Arial"/>
            </a:endParaRPr>
          </a:p>
          <a:p>
            <a:pPr defTabSz="914400">
              <a:lnSpc>
                <a:spcPct val="100000"/>
              </a:lnSpc>
              <a:tabLst>
                <a:tab pos="0" algn="l"/>
              </a:tabLst>
            </a:pPr>
            <a:r>
              <a:rPr lang="en-US" sz="1160" b="1" u="none" strike="noStrike">
                <a:solidFill>
                  <a:srgbClr val="FFFFFF"/>
                </a:solidFill>
                <a:effectLst/>
                <a:uFillTx/>
                <a:latin typeface="Aptos"/>
              </a:rPr>
              <a:t>total_pages_visited</a:t>
            </a:r>
            <a:endParaRPr lang="fr-FR" sz="1160" b="0" u="none" strike="noStrike">
              <a:solidFill>
                <a:srgbClr val="000000"/>
              </a:solidFill>
              <a:effectLst/>
              <a:uFillTx/>
              <a:latin typeface="Arial"/>
            </a:endParaRPr>
          </a:p>
          <a:p>
            <a:pPr defTabSz="914400">
              <a:lnSpc>
                <a:spcPct val="100000"/>
              </a:lnSpc>
              <a:tabLst>
                <a:tab pos="0" algn="l"/>
              </a:tabLst>
            </a:pPr>
            <a:r>
              <a:rPr lang="en-US" sz="1160" b="1" u="none" strike="noStrike">
                <a:solidFill>
                  <a:srgbClr val="FFFFFF"/>
                </a:solidFill>
                <a:effectLst/>
                <a:uFillTx/>
                <a:latin typeface="Aptos"/>
              </a:rPr>
              <a:t>converted</a:t>
            </a:r>
            <a:endParaRPr lang="fr-FR" sz="1160" b="0" u="none" strike="noStrike">
              <a:solidFill>
                <a:srgbClr val="000000"/>
              </a:solidFill>
              <a:effectLst/>
              <a:uFillTx/>
              <a:latin typeface="Arial"/>
            </a:endParaRPr>
          </a:p>
        </p:txBody>
      </p:sp>
      <p:sp>
        <p:nvSpPr>
          <p:cNvPr id="57" name="Text 25"/>
          <p:cNvSpPr/>
          <p:nvPr/>
        </p:nvSpPr>
        <p:spPr>
          <a:xfrm>
            <a:off x="8211240" y="3237120"/>
            <a:ext cx="2285640" cy="1645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D8E5ED"/>
                </a:solidFill>
                <a:effectLst/>
                <a:uFillTx/>
                <a:latin typeface="Aptos"/>
              </a:rPr>
              <a:t>origine du visiteur</a:t>
            </a:r>
            <a:endParaRPr lang="fr-FR"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8E5ED"/>
                </a:solidFill>
                <a:effectLst/>
                <a:uFillTx/>
                <a:latin typeface="Aptos"/>
              </a:rPr>
              <a:t>canal d’acquisition</a:t>
            </a:r>
            <a:endParaRPr lang="fr-FR"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8E5ED"/>
                </a:solidFill>
                <a:effectLst/>
                <a:uFillTx/>
                <a:latin typeface="Aptos"/>
              </a:rPr>
              <a:t>profil utilisateur</a:t>
            </a:r>
            <a:endParaRPr lang="fr-FR"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8E5ED"/>
                </a:solidFill>
                <a:effectLst/>
                <a:uFillTx/>
                <a:latin typeface="Aptos"/>
              </a:rPr>
              <a:t>ancienneté</a:t>
            </a:r>
            <a:endParaRPr lang="fr-FR"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8E5ED"/>
                </a:solidFill>
                <a:effectLst/>
                <a:uFillTx/>
                <a:latin typeface="Aptos"/>
              </a:rPr>
              <a:t>engagement de navigation</a:t>
            </a:r>
            <a:endParaRPr lang="fr-FR"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D8E5ED"/>
                </a:solidFill>
                <a:effectLst/>
                <a:uFillTx/>
                <a:latin typeface="Aptos"/>
              </a:rPr>
              <a:t>cible à prédire</a:t>
            </a:r>
            <a:endParaRPr lang="fr-FR" sz="1100" b="0" u="none" strike="noStrike">
              <a:solidFill>
                <a:srgbClr val="000000"/>
              </a:solidFill>
              <a:effectLst/>
              <a:uFillTx/>
              <a:latin typeface="Arial"/>
            </a:endParaRPr>
          </a:p>
        </p:txBody>
      </p:sp>
      <p:sp>
        <p:nvSpPr>
          <p:cNvPr id="58" name="Text 26"/>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59" name="Text 27"/>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2</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60"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1"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2"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3"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Données et premiers contrôles</a:t>
            </a:r>
            <a:endParaRPr lang="fr-FR" sz="2200" b="0" u="none" strike="noStrike">
              <a:solidFill>
                <a:srgbClr val="000000"/>
              </a:solidFill>
              <a:effectLst/>
              <a:uFillTx/>
              <a:latin typeface="Arial"/>
            </a:endParaRPr>
          </a:p>
        </p:txBody>
      </p:sp>
      <p:sp>
        <p:nvSpPr>
          <p:cNvPr id="64"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Un dataset propre, mais une cible fortement déséquilibrée</a:t>
            </a:r>
            <a:endParaRPr lang="fr-FR" sz="1020" b="0" u="none" strike="noStrike">
              <a:solidFill>
                <a:srgbClr val="000000"/>
              </a:solidFill>
              <a:effectLst/>
              <a:uFillTx/>
              <a:latin typeface="Arial"/>
            </a:endParaRPr>
          </a:p>
        </p:txBody>
      </p:sp>
      <p:sp>
        <p:nvSpPr>
          <p:cNvPr id="65" name="Shape 5"/>
          <p:cNvSpPr/>
          <p:nvPr/>
        </p:nvSpPr>
        <p:spPr>
          <a:xfrm>
            <a:off x="694800" y="1097280"/>
            <a:ext cx="182844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6" name="Shape 6"/>
          <p:cNvSpPr/>
          <p:nvPr/>
        </p:nvSpPr>
        <p:spPr>
          <a:xfrm>
            <a:off x="822960" y="1225440"/>
            <a:ext cx="72720" cy="63972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7" name="Text 7"/>
          <p:cNvSpPr/>
          <p:nvPr/>
        </p:nvSpPr>
        <p:spPr>
          <a:xfrm>
            <a:off x="987480" y="1261800"/>
            <a:ext cx="142596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0F2940"/>
                </a:solidFill>
                <a:effectLst/>
                <a:uFillTx/>
                <a:latin typeface="Aptos Display"/>
                <a:ea typeface="Aptos Display"/>
              </a:rPr>
              <a:t>284 580</a:t>
            </a:r>
            <a:endParaRPr lang="fr-FR" sz="2100" b="0" u="none" strike="noStrike">
              <a:solidFill>
                <a:srgbClr val="000000"/>
              </a:solidFill>
              <a:effectLst/>
              <a:uFillTx/>
              <a:latin typeface="Arial"/>
            </a:endParaRPr>
          </a:p>
        </p:txBody>
      </p:sp>
      <p:sp>
        <p:nvSpPr>
          <p:cNvPr id="68" name="Text 8"/>
          <p:cNvSpPr/>
          <p:nvPr/>
        </p:nvSpPr>
        <p:spPr>
          <a:xfrm>
            <a:off x="987480" y="1627560"/>
            <a:ext cx="142596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observations train</a:t>
            </a:r>
            <a:endParaRPr lang="fr-FR" sz="1000" b="0" u="none" strike="noStrike">
              <a:solidFill>
                <a:srgbClr val="000000"/>
              </a:solidFill>
              <a:effectLst/>
              <a:uFillTx/>
              <a:latin typeface="Arial"/>
            </a:endParaRPr>
          </a:p>
        </p:txBody>
      </p:sp>
      <p:sp>
        <p:nvSpPr>
          <p:cNvPr id="69" name="Shape 9"/>
          <p:cNvSpPr/>
          <p:nvPr/>
        </p:nvSpPr>
        <p:spPr>
          <a:xfrm>
            <a:off x="2724840" y="1097280"/>
            <a:ext cx="178272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0" name="Shape 10"/>
          <p:cNvSpPr/>
          <p:nvPr/>
        </p:nvSpPr>
        <p:spPr>
          <a:xfrm>
            <a:off x="2853000" y="1225440"/>
            <a:ext cx="72720" cy="63972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1" name="Text 11"/>
          <p:cNvSpPr/>
          <p:nvPr/>
        </p:nvSpPr>
        <p:spPr>
          <a:xfrm>
            <a:off x="3017520" y="1261800"/>
            <a:ext cx="138024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1BA4A7"/>
                </a:solidFill>
                <a:effectLst/>
                <a:uFillTx/>
                <a:latin typeface="Aptos Display"/>
                <a:ea typeface="Aptos Display"/>
              </a:rPr>
              <a:t>31 620</a:t>
            </a:r>
            <a:endParaRPr lang="fr-FR" sz="2100" b="0" u="none" strike="noStrike">
              <a:solidFill>
                <a:srgbClr val="000000"/>
              </a:solidFill>
              <a:effectLst/>
              <a:uFillTx/>
              <a:latin typeface="Arial"/>
            </a:endParaRPr>
          </a:p>
        </p:txBody>
      </p:sp>
      <p:sp>
        <p:nvSpPr>
          <p:cNvPr id="72" name="Text 12"/>
          <p:cNvSpPr/>
          <p:nvPr/>
        </p:nvSpPr>
        <p:spPr>
          <a:xfrm>
            <a:off x="3017520" y="1627560"/>
            <a:ext cx="138024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observations test</a:t>
            </a:r>
            <a:endParaRPr lang="fr-FR" sz="1000" b="0" u="none" strike="noStrike">
              <a:solidFill>
                <a:srgbClr val="000000"/>
              </a:solidFill>
              <a:effectLst/>
              <a:uFillTx/>
              <a:latin typeface="Arial"/>
            </a:endParaRPr>
          </a:p>
        </p:txBody>
      </p:sp>
      <p:sp>
        <p:nvSpPr>
          <p:cNvPr id="73" name="Shape 13"/>
          <p:cNvSpPr/>
          <p:nvPr/>
        </p:nvSpPr>
        <p:spPr>
          <a:xfrm>
            <a:off x="4709160" y="1097280"/>
            <a:ext cx="155412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4" name="Shape 14"/>
          <p:cNvSpPr/>
          <p:nvPr/>
        </p:nvSpPr>
        <p:spPr>
          <a:xfrm>
            <a:off x="4837320" y="1225440"/>
            <a:ext cx="72720" cy="639720"/>
          </a:xfrm>
          <a:prstGeom prst="rect">
            <a:avLst/>
          </a:prstGeom>
          <a:solidFill>
            <a:srgbClr val="3B8B5E"/>
          </a:solidFill>
          <a:ln w="12700">
            <a:solidFill>
              <a:srgbClr val="3B8B5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5" name="Text 15"/>
          <p:cNvSpPr/>
          <p:nvPr/>
        </p:nvSpPr>
        <p:spPr>
          <a:xfrm>
            <a:off x="5001840" y="1261800"/>
            <a:ext cx="115164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3B8B5E"/>
                </a:solidFill>
                <a:effectLst/>
                <a:uFillTx/>
                <a:latin typeface="Aptos Display"/>
                <a:ea typeface="Aptos Display"/>
              </a:rPr>
              <a:t>0</a:t>
            </a:r>
            <a:endParaRPr lang="fr-FR" sz="2100" b="0" u="none" strike="noStrike">
              <a:solidFill>
                <a:srgbClr val="000000"/>
              </a:solidFill>
              <a:effectLst/>
              <a:uFillTx/>
              <a:latin typeface="Arial"/>
            </a:endParaRPr>
          </a:p>
        </p:txBody>
      </p:sp>
      <p:sp>
        <p:nvSpPr>
          <p:cNvPr id="76" name="Text 16"/>
          <p:cNvSpPr/>
          <p:nvPr/>
        </p:nvSpPr>
        <p:spPr>
          <a:xfrm>
            <a:off x="5001840" y="1627560"/>
            <a:ext cx="1151640" cy="21924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000" b="0" u="none" strike="noStrike">
                <a:solidFill>
                  <a:srgbClr val="6F8190"/>
                </a:solidFill>
                <a:effectLst/>
                <a:uFillTx/>
                <a:latin typeface="Aptos"/>
              </a:rPr>
              <a:t>valeur manquante</a:t>
            </a:r>
            <a:endParaRPr lang="fr-FR" sz="1000" b="0" u="none" strike="noStrike">
              <a:solidFill>
                <a:srgbClr val="000000"/>
              </a:solidFill>
              <a:effectLst/>
              <a:uFillTx/>
              <a:latin typeface="Arial"/>
            </a:endParaRPr>
          </a:p>
        </p:txBody>
      </p:sp>
      <p:sp>
        <p:nvSpPr>
          <p:cNvPr id="77" name="Shape 17"/>
          <p:cNvSpPr/>
          <p:nvPr/>
        </p:nvSpPr>
        <p:spPr>
          <a:xfrm>
            <a:off x="6464880" y="1097280"/>
            <a:ext cx="137124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8" name="Shape 18"/>
          <p:cNvSpPr/>
          <p:nvPr/>
        </p:nvSpPr>
        <p:spPr>
          <a:xfrm>
            <a:off x="6592680" y="1225440"/>
            <a:ext cx="72720" cy="639720"/>
          </a:xfrm>
          <a:prstGeom prst="rect">
            <a:avLst/>
          </a:prstGeom>
          <a:solidFill>
            <a:srgbClr val="D8A24E"/>
          </a:solidFill>
          <a:ln w="12700">
            <a:solidFill>
              <a:srgbClr val="D8A24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9" name="Text 19"/>
          <p:cNvSpPr/>
          <p:nvPr/>
        </p:nvSpPr>
        <p:spPr>
          <a:xfrm>
            <a:off x="6757560" y="1261800"/>
            <a:ext cx="96876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D8A24E"/>
                </a:solidFill>
                <a:effectLst/>
                <a:uFillTx/>
                <a:latin typeface="Aptos Display"/>
                <a:ea typeface="Aptos Display"/>
              </a:rPr>
              <a:t>6</a:t>
            </a:r>
            <a:endParaRPr lang="fr-FR" sz="2100" b="0" u="none" strike="noStrike">
              <a:solidFill>
                <a:srgbClr val="000000"/>
              </a:solidFill>
              <a:effectLst/>
              <a:uFillTx/>
              <a:latin typeface="Arial"/>
            </a:endParaRPr>
          </a:p>
        </p:txBody>
      </p:sp>
      <p:sp>
        <p:nvSpPr>
          <p:cNvPr id="80" name="Text 20"/>
          <p:cNvSpPr/>
          <p:nvPr/>
        </p:nvSpPr>
        <p:spPr>
          <a:xfrm>
            <a:off x="6757560" y="1627560"/>
            <a:ext cx="96876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colonnes train</a:t>
            </a:r>
            <a:endParaRPr lang="fr-FR" sz="1000" b="0" u="none" strike="noStrike">
              <a:solidFill>
                <a:srgbClr val="000000"/>
              </a:solidFill>
              <a:effectLst/>
              <a:uFillTx/>
              <a:latin typeface="Arial"/>
            </a:endParaRPr>
          </a:p>
        </p:txBody>
      </p:sp>
      <p:sp>
        <p:nvSpPr>
          <p:cNvPr id="81" name="Shape 21"/>
          <p:cNvSpPr/>
          <p:nvPr/>
        </p:nvSpPr>
        <p:spPr>
          <a:xfrm>
            <a:off x="8037720" y="1097280"/>
            <a:ext cx="137124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2" name="Shape 22"/>
          <p:cNvSpPr/>
          <p:nvPr/>
        </p:nvSpPr>
        <p:spPr>
          <a:xfrm>
            <a:off x="8165520" y="1225440"/>
            <a:ext cx="72720" cy="63972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3" name="Text 23"/>
          <p:cNvSpPr/>
          <p:nvPr/>
        </p:nvSpPr>
        <p:spPr>
          <a:xfrm>
            <a:off x="8330040" y="1261800"/>
            <a:ext cx="96876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1BA4A7"/>
                </a:solidFill>
                <a:effectLst/>
                <a:uFillTx/>
                <a:latin typeface="Aptos Display"/>
                <a:ea typeface="Aptos Display"/>
              </a:rPr>
              <a:t>5</a:t>
            </a:r>
            <a:endParaRPr lang="fr-FR" sz="2100" b="0" u="none" strike="noStrike">
              <a:solidFill>
                <a:srgbClr val="000000"/>
              </a:solidFill>
              <a:effectLst/>
              <a:uFillTx/>
              <a:latin typeface="Arial"/>
            </a:endParaRPr>
          </a:p>
        </p:txBody>
      </p:sp>
      <p:sp>
        <p:nvSpPr>
          <p:cNvPr id="84" name="Text 24"/>
          <p:cNvSpPr/>
          <p:nvPr/>
        </p:nvSpPr>
        <p:spPr>
          <a:xfrm>
            <a:off x="8330040" y="1627560"/>
            <a:ext cx="96876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colonnes test</a:t>
            </a:r>
            <a:endParaRPr lang="fr-FR" sz="1000" b="0" u="none" strike="noStrike">
              <a:solidFill>
                <a:srgbClr val="000000"/>
              </a:solidFill>
              <a:effectLst/>
              <a:uFillTx/>
              <a:latin typeface="Arial"/>
            </a:endParaRPr>
          </a:p>
        </p:txBody>
      </p:sp>
      <p:sp>
        <p:nvSpPr>
          <p:cNvPr id="85" name="Shape 25"/>
          <p:cNvSpPr/>
          <p:nvPr/>
        </p:nvSpPr>
        <p:spPr>
          <a:xfrm>
            <a:off x="694800" y="2331720"/>
            <a:ext cx="5166000" cy="3245760"/>
          </a:xfrm>
          <a:prstGeom prst="roundRect">
            <a:avLst>
              <a:gd name="adj" fmla="val 1690"/>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6" name="Shape 26"/>
          <p:cNvSpPr/>
          <p:nvPr/>
        </p:nvSpPr>
        <p:spPr>
          <a:xfrm>
            <a:off x="6126480" y="2331720"/>
            <a:ext cx="5348880" cy="3245760"/>
          </a:xfrm>
          <a:prstGeom prst="roundRect">
            <a:avLst>
              <a:gd name="adj" fmla="val 1690"/>
            </a:avLst>
          </a:prstGeom>
          <a:solidFill>
            <a:srgbClr val="F0F5F8"/>
          </a:solidFill>
          <a:ln w="8890">
            <a:solidFill>
              <a:srgbClr val="F0F5F8"/>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7" name="Text 27"/>
          <p:cNvSpPr/>
          <p:nvPr/>
        </p:nvSpPr>
        <p:spPr>
          <a:xfrm>
            <a:off x="914400" y="2615040"/>
            <a:ext cx="25599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Lecture des variables</a:t>
            </a:r>
            <a:endParaRPr lang="fr-FR" sz="1250" b="0" u="none" strike="noStrike">
              <a:solidFill>
                <a:srgbClr val="000000"/>
              </a:solidFill>
              <a:effectLst/>
              <a:uFillTx/>
              <a:latin typeface="Arial"/>
            </a:endParaRPr>
          </a:p>
        </p:txBody>
      </p:sp>
      <p:sp>
        <p:nvSpPr>
          <p:cNvPr id="88" name="Text 28"/>
          <p:cNvSpPr/>
          <p:nvPr/>
        </p:nvSpPr>
        <p:spPr>
          <a:xfrm>
            <a:off x="932760" y="2971800"/>
            <a:ext cx="1874160" cy="11700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80" b="1" u="none" strike="noStrike">
                <a:solidFill>
                  <a:srgbClr val="0F2940"/>
                </a:solidFill>
                <a:effectLst/>
                <a:uFillTx/>
                <a:latin typeface="Aptos"/>
              </a:rPr>
              <a:t>country / source</a:t>
            </a:r>
            <a:endParaRPr lang="fr-FR" sz="1180" b="0" u="none" strike="noStrike">
              <a:solidFill>
                <a:srgbClr val="000000"/>
              </a:solidFill>
              <a:effectLst/>
              <a:uFillTx/>
              <a:latin typeface="Arial"/>
            </a:endParaRPr>
          </a:p>
          <a:p>
            <a:pPr defTabSz="914400">
              <a:lnSpc>
                <a:spcPct val="100000"/>
              </a:lnSpc>
              <a:tabLst>
                <a:tab pos="0" algn="l"/>
              </a:tabLst>
            </a:pPr>
            <a:r>
              <a:rPr lang="en-US" sz="1180" b="1" u="none" strike="noStrike">
                <a:solidFill>
                  <a:srgbClr val="0F2940"/>
                </a:solidFill>
                <a:effectLst/>
                <a:uFillTx/>
                <a:latin typeface="Aptos"/>
              </a:rPr>
              <a:t>age / new_user</a:t>
            </a:r>
            <a:endParaRPr lang="fr-FR" sz="1180" b="0" u="none" strike="noStrike">
              <a:solidFill>
                <a:srgbClr val="000000"/>
              </a:solidFill>
              <a:effectLst/>
              <a:uFillTx/>
              <a:latin typeface="Arial"/>
            </a:endParaRPr>
          </a:p>
          <a:p>
            <a:pPr defTabSz="914400">
              <a:lnSpc>
                <a:spcPct val="100000"/>
              </a:lnSpc>
              <a:tabLst>
                <a:tab pos="0" algn="l"/>
              </a:tabLst>
            </a:pPr>
            <a:r>
              <a:rPr lang="en-US" sz="1180" b="1" u="none" strike="noStrike">
                <a:solidFill>
                  <a:srgbClr val="0F2940"/>
                </a:solidFill>
                <a:effectLst/>
                <a:uFillTx/>
                <a:latin typeface="Aptos"/>
              </a:rPr>
              <a:t>total_pages_visited</a:t>
            </a:r>
            <a:endParaRPr lang="fr-FR" sz="1180" b="0" u="none" strike="noStrike">
              <a:solidFill>
                <a:srgbClr val="000000"/>
              </a:solidFill>
              <a:effectLst/>
              <a:uFillTx/>
              <a:latin typeface="Arial"/>
            </a:endParaRPr>
          </a:p>
          <a:p>
            <a:pPr defTabSz="914400">
              <a:lnSpc>
                <a:spcPct val="100000"/>
              </a:lnSpc>
              <a:tabLst>
                <a:tab pos="0" algn="l"/>
              </a:tabLst>
            </a:pPr>
            <a:r>
              <a:rPr lang="en-US" sz="1180" b="1" u="none" strike="noStrike">
                <a:solidFill>
                  <a:srgbClr val="0F2940"/>
                </a:solidFill>
                <a:effectLst/>
                <a:uFillTx/>
                <a:latin typeface="Aptos"/>
              </a:rPr>
              <a:t>converted</a:t>
            </a:r>
            <a:endParaRPr lang="fr-FR" sz="1180" b="0" u="none" strike="noStrike">
              <a:solidFill>
                <a:srgbClr val="000000"/>
              </a:solidFill>
              <a:effectLst/>
              <a:uFillTx/>
              <a:latin typeface="Arial"/>
            </a:endParaRPr>
          </a:p>
        </p:txBody>
      </p:sp>
      <p:sp>
        <p:nvSpPr>
          <p:cNvPr id="89" name="Text 29"/>
          <p:cNvSpPr/>
          <p:nvPr/>
        </p:nvSpPr>
        <p:spPr>
          <a:xfrm>
            <a:off x="2871360" y="2971800"/>
            <a:ext cx="2422800" cy="11700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30" b="0" u="none" strike="noStrike">
                <a:solidFill>
                  <a:srgbClr val="172635"/>
                </a:solidFill>
                <a:effectLst/>
                <a:uFillTx/>
                <a:latin typeface="Aptos"/>
              </a:rPr>
              <a:t>variables catégorielles</a:t>
            </a:r>
            <a:endParaRPr lang="fr-FR" sz="1130" b="0" u="none" strike="noStrike">
              <a:solidFill>
                <a:srgbClr val="000000"/>
              </a:solidFill>
              <a:effectLst/>
              <a:uFillTx/>
              <a:latin typeface="Arial"/>
            </a:endParaRPr>
          </a:p>
          <a:p>
            <a:pPr defTabSz="914400">
              <a:lnSpc>
                <a:spcPct val="100000"/>
              </a:lnSpc>
              <a:tabLst>
                <a:tab pos="0" algn="l"/>
              </a:tabLst>
            </a:pPr>
            <a:r>
              <a:rPr lang="en-US" sz="1130" b="0" u="none" strike="noStrike">
                <a:solidFill>
                  <a:srgbClr val="172635"/>
                </a:solidFill>
                <a:effectLst/>
                <a:uFillTx/>
                <a:latin typeface="Aptos"/>
              </a:rPr>
              <a:t>profil utilisateur</a:t>
            </a:r>
            <a:endParaRPr lang="fr-FR" sz="1130" b="0" u="none" strike="noStrike">
              <a:solidFill>
                <a:srgbClr val="000000"/>
              </a:solidFill>
              <a:effectLst/>
              <a:uFillTx/>
              <a:latin typeface="Arial"/>
            </a:endParaRPr>
          </a:p>
          <a:p>
            <a:pPr defTabSz="914400">
              <a:lnSpc>
                <a:spcPct val="100000"/>
              </a:lnSpc>
              <a:tabLst>
                <a:tab pos="0" algn="l"/>
              </a:tabLst>
            </a:pPr>
            <a:r>
              <a:rPr lang="en-US" sz="1130" b="0" u="none" strike="noStrike">
                <a:solidFill>
                  <a:srgbClr val="172635"/>
                </a:solidFill>
                <a:effectLst/>
                <a:uFillTx/>
                <a:latin typeface="Aptos"/>
              </a:rPr>
              <a:t>engagement de navigation</a:t>
            </a:r>
            <a:endParaRPr lang="fr-FR" sz="1130" b="0" u="none" strike="noStrike">
              <a:solidFill>
                <a:srgbClr val="000000"/>
              </a:solidFill>
              <a:effectLst/>
              <a:uFillTx/>
              <a:latin typeface="Arial"/>
            </a:endParaRPr>
          </a:p>
          <a:p>
            <a:pPr defTabSz="914400">
              <a:lnSpc>
                <a:spcPct val="100000"/>
              </a:lnSpc>
              <a:tabLst>
                <a:tab pos="0" algn="l"/>
              </a:tabLst>
            </a:pPr>
            <a:r>
              <a:rPr lang="en-US" sz="1130" b="0" u="none" strike="noStrike">
                <a:solidFill>
                  <a:srgbClr val="172635"/>
                </a:solidFill>
                <a:effectLst/>
                <a:uFillTx/>
                <a:latin typeface="Aptos"/>
              </a:rPr>
              <a:t>cible à prédire</a:t>
            </a:r>
            <a:endParaRPr lang="fr-FR" sz="1130" b="0" u="none" strike="noStrike">
              <a:solidFill>
                <a:srgbClr val="000000"/>
              </a:solidFill>
              <a:effectLst/>
              <a:uFillTx/>
              <a:latin typeface="Arial"/>
            </a:endParaRPr>
          </a:p>
        </p:txBody>
      </p:sp>
      <p:sp>
        <p:nvSpPr>
          <p:cNvPr id="90" name="Text 30"/>
          <p:cNvSpPr/>
          <p:nvPr/>
        </p:nvSpPr>
        <p:spPr>
          <a:xfrm>
            <a:off x="6382440" y="2615040"/>
            <a:ext cx="274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Première conclusion</a:t>
            </a:r>
            <a:endParaRPr lang="fr-FR" sz="1250" b="0" u="none" strike="noStrike">
              <a:solidFill>
                <a:srgbClr val="000000"/>
              </a:solidFill>
              <a:effectLst/>
              <a:uFillTx/>
              <a:latin typeface="Arial"/>
            </a:endParaRPr>
          </a:p>
        </p:txBody>
      </p:sp>
      <p:sp>
        <p:nvSpPr>
          <p:cNvPr id="91" name="Text 31"/>
          <p:cNvSpPr/>
          <p:nvPr/>
        </p:nvSpPr>
        <p:spPr>
          <a:xfrm>
            <a:off x="6419160" y="2962800"/>
            <a:ext cx="4525920" cy="137124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la qualité de données ne bloque pas le projet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la difficulté vient surtout du faible taux de conversion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la métrique doit refléter la classe positive.</a:t>
            </a:r>
            <a:endParaRPr lang="fr-FR" sz="1200" b="0" u="none" strike="noStrike">
              <a:solidFill>
                <a:srgbClr val="000000"/>
              </a:solidFill>
              <a:effectLst/>
              <a:uFillTx/>
              <a:latin typeface="Arial"/>
            </a:endParaRPr>
          </a:p>
        </p:txBody>
      </p:sp>
      <p:sp>
        <p:nvSpPr>
          <p:cNvPr id="92" name="Shape 32"/>
          <p:cNvSpPr/>
          <p:nvPr/>
        </p:nvSpPr>
        <p:spPr>
          <a:xfrm>
            <a:off x="6400800" y="4663440"/>
            <a:ext cx="4571640" cy="529920"/>
          </a:xfrm>
          <a:prstGeom prst="roundRect">
            <a:avLst>
              <a:gd name="adj" fmla="val 10345"/>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3" name="Text 33"/>
          <p:cNvSpPr/>
          <p:nvPr/>
        </p:nvSpPr>
        <p:spPr>
          <a:xfrm>
            <a:off x="6565320" y="4773240"/>
            <a:ext cx="4242600" cy="31068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300" b="1" u="none" strike="noStrike">
                <a:solidFill>
                  <a:srgbClr val="FFFFFF"/>
                </a:solidFill>
                <a:effectLst/>
                <a:uFillTx/>
                <a:latin typeface="Aptos Display"/>
                <a:ea typeface="Aptos Display"/>
              </a:rPr>
              <a:t>La cible rare impose de raisonner en précision, rappel et F1-score plutôt qu’en simple accuracy.</a:t>
            </a:r>
            <a:endParaRPr lang="fr-FR" sz="1300" b="0" u="none" strike="noStrike">
              <a:solidFill>
                <a:srgbClr val="000000"/>
              </a:solidFill>
              <a:effectLst/>
              <a:uFillTx/>
              <a:latin typeface="Arial"/>
            </a:endParaRPr>
          </a:p>
        </p:txBody>
      </p:sp>
      <p:sp>
        <p:nvSpPr>
          <p:cNvPr id="94" name="Text 34"/>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95" name="Text 35"/>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3</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96"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7"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8"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9"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Déséquilibre de la cible</a:t>
            </a:r>
            <a:endParaRPr lang="fr-FR" sz="2200" b="0" u="none" strike="noStrike">
              <a:solidFill>
                <a:srgbClr val="000000"/>
              </a:solidFill>
              <a:effectLst/>
              <a:uFillTx/>
              <a:latin typeface="Arial"/>
            </a:endParaRPr>
          </a:p>
        </p:txBody>
      </p:sp>
      <p:sp>
        <p:nvSpPr>
          <p:cNvPr id="100"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Pourquoi le F1-score est la bonne métrique de pilotage</a:t>
            </a:r>
            <a:endParaRPr lang="fr-FR" sz="1020" b="0" u="none" strike="noStrike">
              <a:solidFill>
                <a:srgbClr val="000000"/>
              </a:solidFill>
              <a:effectLst/>
              <a:uFillTx/>
              <a:latin typeface="Arial"/>
            </a:endParaRPr>
          </a:p>
        </p:txBody>
      </p:sp>
      <p:sp>
        <p:nvSpPr>
          <p:cNvPr id="101" name="Shape 5"/>
          <p:cNvSpPr/>
          <p:nvPr/>
        </p:nvSpPr>
        <p:spPr>
          <a:xfrm>
            <a:off x="685800" y="1078920"/>
            <a:ext cx="5531760" cy="4434480"/>
          </a:xfrm>
          <a:prstGeom prst="roundRect">
            <a:avLst>
              <a:gd name="adj" fmla="val 1237"/>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2" name="Shape 6"/>
          <p:cNvSpPr/>
          <p:nvPr/>
        </p:nvSpPr>
        <p:spPr>
          <a:xfrm>
            <a:off x="6446520" y="1078920"/>
            <a:ext cx="5074560" cy="4434480"/>
          </a:xfrm>
          <a:prstGeom prst="roundRect">
            <a:avLst>
              <a:gd name="adj" fmla="val 1237"/>
            </a:avLst>
          </a:prstGeom>
          <a:solidFill>
            <a:srgbClr val="EEF4F7"/>
          </a:solidFill>
          <a:ln w="8890">
            <a:solidFill>
              <a:srgbClr val="EEF4F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3" name="Text 7"/>
          <p:cNvSpPr/>
          <p:nvPr/>
        </p:nvSpPr>
        <p:spPr>
          <a:xfrm>
            <a:off x="914400" y="1389960"/>
            <a:ext cx="2468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Répartition de la cible</a:t>
            </a:r>
            <a:endParaRPr lang="fr-FR" sz="1250" b="0" u="none" strike="noStrike">
              <a:solidFill>
                <a:srgbClr val="000000"/>
              </a:solidFill>
              <a:effectLst/>
              <a:uFillTx/>
              <a:latin typeface="Arial"/>
            </a:endParaRPr>
          </a:p>
        </p:txBody>
      </p:sp>
      <p:graphicFrame>
        <p:nvGraphicFramePr>
          <p:cNvPr id="104" name="Chart 0"/>
          <p:cNvGraphicFramePr/>
          <p:nvPr/>
        </p:nvGraphicFramePr>
        <p:xfrm>
          <a:off x="914400" y="1755720"/>
          <a:ext cx="5028840" cy="3245760"/>
        </p:xfrm>
        <a:graphic>
          <a:graphicData uri="http://schemas.openxmlformats.org/drawingml/2006/chart">
            <c:chart xmlns:c="http://schemas.openxmlformats.org/drawingml/2006/chart" xmlns:r="http://schemas.openxmlformats.org/officeDocument/2006/relationships" r:id="rId1"/>
          </a:graphicData>
        </a:graphic>
      </p:graphicFrame>
      <p:sp>
        <p:nvSpPr>
          <p:cNvPr id="105" name="Shape 8"/>
          <p:cNvSpPr/>
          <p:nvPr/>
        </p:nvSpPr>
        <p:spPr>
          <a:xfrm>
            <a:off x="6693480" y="1389960"/>
            <a:ext cx="191988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6" name="Shape 9"/>
          <p:cNvSpPr/>
          <p:nvPr/>
        </p:nvSpPr>
        <p:spPr>
          <a:xfrm>
            <a:off x="6821280" y="1517760"/>
            <a:ext cx="72720" cy="63972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7" name="Text 10"/>
          <p:cNvSpPr/>
          <p:nvPr/>
        </p:nvSpPr>
        <p:spPr>
          <a:xfrm>
            <a:off x="6986160" y="1554480"/>
            <a:ext cx="151740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0F2940"/>
                </a:solidFill>
                <a:effectLst/>
                <a:uFillTx/>
                <a:latin typeface="Aptos Display"/>
                <a:ea typeface="Aptos Display"/>
              </a:rPr>
              <a:t>96,77 %</a:t>
            </a:r>
            <a:endParaRPr lang="fr-FR" sz="2100" b="0" u="none" strike="noStrike">
              <a:solidFill>
                <a:srgbClr val="000000"/>
              </a:solidFill>
              <a:effectLst/>
              <a:uFillTx/>
              <a:latin typeface="Arial"/>
            </a:endParaRPr>
          </a:p>
        </p:txBody>
      </p:sp>
      <p:sp>
        <p:nvSpPr>
          <p:cNvPr id="108" name="Text 11"/>
          <p:cNvSpPr/>
          <p:nvPr/>
        </p:nvSpPr>
        <p:spPr>
          <a:xfrm>
            <a:off x="6986160" y="1920240"/>
            <a:ext cx="151740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non convertis</a:t>
            </a:r>
            <a:endParaRPr lang="fr-FR" sz="1000" b="0" u="none" strike="noStrike">
              <a:solidFill>
                <a:srgbClr val="000000"/>
              </a:solidFill>
              <a:effectLst/>
              <a:uFillTx/>
              <a:latin typeface="Arial"/>
            </a:endParaRPr>
          </a:p>
        </p:txBody>
      </p:sp>
      <p:sp>
        <p:nvSpPr>
          <p:cNvPr id="109" name="Shape 12"/>
          <p:cNvSpPr/>
          <p:nvPr/>
        </p:nvSpPr>
        <p:spPr>
          <a:xfrm>
            <a:off x="8851320" y="1389960"/>
            <a:ext cx="187416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0" name="Shape 13"/>
          <p:cNvSpPr/>
          <p:nvPr/>
        </p:nvSpPr>
        <p:spPr>
          <a:xfrm>
            <a:off x="8979480" y="1517760"/>
            <a:ext cx="72720" cy="639720"/>
          </a:xfrm>
          <a:prstGeom prst="rect">
            <a:avLst/>
          </a:prstGeom>
          <a:solidFill>
            <a:srgbClr val="D8A24E"/>
          </a:solidFill>
          <a:ln w="12700">
            <a:solidFill>
              <a:srgbClr val="D8A24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1" name="Text 14"/>
          <p:cNvSpPr/>
          <p:nvPr/>
        </p:nvSpPr>
        <p:spPr>
          <a:xfrm>
            <a:off x="9144000" y="1554480"/>
            <a:ext cx="147168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D8A24E"/>
                </a:solidFill>
                <a:effectLst/>
                <a:uFillTx/>
                <a:latin typeface="Aptos Display"/>
                <a:ea typeface="Aptos Display"/>
              </a:rPr>
              <a:t>3,23 %</a:t>
            </a:r>
            <a:endParaRPr lang="fr-FR" sz="2100" b="0" u="none" strike="noStrike">
              <a:solidFill>
                <a:srgbClr val="000000"/>
              </a:solidFill>
              <a:effectLst/>
              <a:uFillTx/>
              <a:latin typeface="Arial"/>
            </a:endParaRPr>
          </a:p>
        </p:txBody>
      </p:sp>
      <p:sp>
        <p:nvSpPr>
          <p:cNvPr id="112" name="Text 15"/>
          <p:cNvSpPr/>
          <p:nvPr/>
        </p:nvSpPr>
        <p:spPr>
          <a:xfrm>
            <a:off x="9144000" y="1920240"/>
            <a:ext cx="14716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convertis</a:t>
            </a:r>
            <a:endParaRPr lang="fr-FR" sz="1000" b="0" u="none" strike="noStrike">
              <a:solidFill>
                <a:srgbClr val="000000"/>
              </a:solidFill>
              <a:effectLst/>
              <a:uFillTx/>
              <a:latin typeface="Arial"/>
            </a:endParaRPr>
          </a:p>
        </p:txBody>
      </p:sp>
      <p:sp>
        <p:nvSpPr>
          <p:cNvPr id="113" name="Text 16"/>
          <p:cNvSpPr/>
          <p:nvPr/>
        </p:nvSpPr>
        <p:spPr>
          <a:xfrm>
            <a:off x="6675120" y="2651760"/>
            <a:ext cx="31086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Pourquoi l’accuracy ne suffit pas</a:t>
            </a:r>
            <a:endParaRPr lang="fr-FR" sz="1250" b="0" u="none" strike="noStrike">
              <a:solidFill>
                <a:srgbClr val="000000"/>
              </a:solidFill>
              <a:effectLst/>
              <a:uFillTx/>
              <a:latin typeface="Arial"/>
            </a:endParaRPr>
          </a:p>
        </p:txBody>
      </p:sp>
      <p:sp>
        <p:nvSpPr>
          <p:cNvPr id="114" name="Text 17"/>
          <p:cNvSpPr/>
          <p:nvPr/>
        </p:nvSpPr>
        <p:spPr>
          <a:xfrm>
            <a:off x="6720840" y="2980800"/>
            <a:ext cx="4297320" cy="132552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une prédiction majoritaire peut paraître correcte ;</a:t>
            </a:r>
            <a:endParaRPr lang="fr-FR" sz="118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mais elle ne détecte pas les visiteurs réellement intéressants ;</a:t>
            </a:r>
            <a:endParaRPr lang="fr-FR" sz="118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le F1-score équilibre précision et rappel.</a:t>
            </a:r>
            <a:endParaRPr lang="fr-FR" sz="1180" b="0" u="none" strike="noStrike">
              <a:solidFill>
                <a:srgbClr val="000000"/>
              </a:solidFill>
              <a:effectLst/>
              <a:uFillTx/>
              <a:latin typeface="Arial"/>
            </a:endParaRPr>
          </a:p>
        </p:txBody>
      </p:sp>
      <p:sp>
        <p:nvSpPr>
          <p:cNvPr id="115" name="Shape 18"/>
          <p:cNvSpPr/>
          <p:nvPr/>
        </p:nvSpPr>
        <p:spPr>
          <a:xfrm>
            <a:off x="6675120" y="4663440"/>
            <a:ext cx="4343040" cy="566640"/>
          </a:xfrm>
          <a:prstGeom prst="roundRect">
            <a:avLst>
              <a:gd name="adj" fmla="val 9677"/>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6" name="Text 19"/>
          <p:cNvSpPr/>
          <p:nvPr/>
        </p:nvSpPr>
        <p:spPr>
          <a:xfrm>
            <a:off x="6839640" y="4773240"/>
            <a:ext cx="4014000" cy="34704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300" b="1" u="none" strike="noStrike">
                <a:solidFill>
                  <a:srgbClr val="FFFFFF"/>
                </a:solidFill>
                <a:effectLst/>
                <a:uFillTx/>
                <a:latin typeface="Aptos Display"/>
                <a:ea typeface="Aptos Display"/>
              </a:rPr>
              <a:t>Le F1-score récompense un modèle qui trouve les convertis sans générer trop de fausses alertes.</a:t>
            </a:r>
            <a:endParaRPr lang="fr-FR" sz="1300" b="0" u="none" strike="noStrike">
              <a:solidFill>
                <a:srgbClr val="000000"/>
              </a:solidFill>
              <a:effectLst/>
              <a:uFillTx/>
              <a:latin typeface="Arial"/>
            </a:endParaRPr>
          </a:p>
        </p:txBody>
      </p:sp>
      <p:sp>
        <p:nvSpPr>
          <p:cNvPr id="117" name="Text 20"/>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118" name="Text 21"/>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4</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19"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0"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1"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2"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Méthode de modélisation</a:t>
            </a:r>
            <a:endParaRPr lang="fr-FR" sz="2200" b="0" u="none" strike="noStrike">
              <a:solidFill>
                <a:srgbClr val="000000"/>
              </a:solidFill>
              <a:effectLst/>
              <a:uFillTx/>
              <a:latin typeface="Arial"/>
            </a:endParaRPr>
          </a:p>
        </p:txBody>
      </p:sp>
      <p:sp>
        <p:nvSpPr>
          <p:cNvPr id="123"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Une chaîne scikit-learn propre, lisible et reproductible</a:t>
            </a:r>
            <a:endParaRPr lang="fr-FR" sz="1020" b="0" u="none" strike="noStrike">
              <a:solidFill>
                <a:srgbClr val="000000"/>
              </a:solidFill>
              <a:effectLst/>
              <a:uFillTx/>
              <a:latin typeface="Arial"/>
            </a:endParaRPr>
          </a:p>
        </p:txBody>
      </p:sp>
      <p:sp>
        <p:nvSpPr>
          <p:cNvPr id="124" name="Shape 5"/>
          <p:cNvSpPr/>
          <p:nvPr/>
        </p:nvSpPr>
        <p:spPr>
          <a:xfrm>
            <a:off x="749880" y="1060560"/>
            <a:ext cx="10698120" cy="658080"/>
          </a:xfrm>
          <a:prstGeom prst="roundRect">
            <a:avLst>
              <a:gd name="adj" fmla="val 8333"/>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5" name="Text 6"/>
          <p:cNvSpPr/>
          <p:nvPr/>
        </p:nvSpPr>
        <p:spPr>
          <a:xfrm>
            <a:off x="914400" y="1170360"/>
            <a:ext cx="10369080" cy="4384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50" b="1" u="none" strike="noStrike">
                <a:solidFill>
                  <a:srgbClr val="FFFFFF"/>
                </a:solidFill>
                <a:effectLst/>
                <a:uFillTx/>
                <a:latin typeface="Aptos Display"/>
                <a:ea typeface="Aptos Display"/>
              </a:rPr>
              <a:t>Données → split stratifié → prétraitement → modèle → seuil → prédictions test</a:t>
            </a:r>
            <a:endParaRPr lang="fr-FR" sz="1850" b="0" u="none" strike="noStrike">
              <a:solidFill>
                <a:srgbClr val="000000"/>
              </a:solidFill>
              <a:effectLst/>
              <a:uFillTx/>
              <a:latin typeface="Arial"/>
            </a:endParaRPr>
          </a:p>
        </p:txBody>
      </p:sp>
      <p:sp>
        <p:nvSpPr>
          <p:cNvPr id="126" name="Shape 7"/>
          <p:cNvSpPr/>
          <p:nvPr/>
        </p:nvSpPr>
        <p:spPr>
          <a:xfrm>
            <a:off x="749880" y="2030040"/>
            <a:ext cx="5074560" cy="3456000"/>
          </a:xfrm>
          <a:prstGeom prst="roundRect">
            <a:avLst>
              <a:gd name="adj" fmla="val 1587"/>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7" name="Shape 8"/>
          <p:cNvSpPr/>
          <p:nvPr/>
        </p:nvSpPr>
        <p:spPr>
          <a:xfrm>
            <a:off x="6355080" y="2030040"/>
            <a:ext cx="5074560" cy="3456000"/>
          </a:xfrm>
          <a:prstGeom prst="roundRect">
            <a:avLst>
              <a:gd name="adj" fmla="val 1587"/>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8" name="Text 9"/>
          <p:cNvSpPr/>
          <p:nvPr/>
        </p:nvSpPr>
        <p:spPr>
          <a:xfrm>
            <a:off x="969120" y="2322720"/>
            <a:ext cx="274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Préparation des variables</a:t>
            </a:r>
            <a:endParaRPr lang="fr-FR" sz="1250" b="0" u="none" strike="noStrike">
              <a:solidFill>
                <a:srgbClr val="000000"/>
              </a:solidFill>
              <a:effectLst/>
              <a:uFillTx/>
              <a:latin typeface="Arial"/>
            </a:endParaRPr>
          </a:p>
        </p:txBody>
      </p:sp>
      <p:sp>
        <p:nvSpPr>
          <p:cNvPr id="129" name="Text 10"/>
          <p:cNvSpPr/>
          <p:nvPr/>
        </p:nvSpPr>
        <p:spPr>
          <a:xfrm>
            <a:off x="1005840" y="2670120"/>
            <a:ext cx="4498560" cy="155412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séparation X / y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split train / validation stratifié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OneHotEncoder pour `country` et `source`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StandardScaler pour les variables numériques.</a:t>
            </a:r>
            <a:endParaRPr lang="fr-FR" sz="1200" b="0" u="none" strike="noStrike">
              <a:solidFill>
                <a:srgbClr val="000000"/>
              </a:solidFill>
              <a:effectLst/>
              <a:uFillTx/>
              <a:latin typeface="Arial"/>
            </a:endParaRPr>
          </a:p>
        </p:txBody>
      </p:sp>
      <p:sp>
        <p:nvSpPr>
          <p:cNvPr id="130" name="Shape 11"/>
          <p:cNvSpPr/>
          <p:nvPr/>
        </p:nvSpPr>
        <p:spPr>
          <a:xfrm>
            <a:off x="987480" y="4809600"/>
            <a:ext cx="4525920" cy="511560"/>
          </a:xfrm>
          <a:prstGeom prst="roundRect">
            <a:avLst>
              <a:gd name="adj" fmla="val 10714"/>
            </a:avLst>
          </a:prstGeom>
          <a:solidFill>
            <a:srgbClr val="DDF2F1"/>
          </a:solidFill>
          <a:ln w="8890">
            <a:solidFill>
              <a:srgbClr val="DDF2F1"/>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1" name="Text 12"/>
          <p:cNvSpPr/>
          <p:nvPr/>
        </p:nvSpPr>
        <p:spPr>
          <a:xfrm>
            <a:off x="1152000" y="4919400"/>
            <a:ext cx="4196880" cy="29232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240" b="1" u="none" strike="noStrike">
                <a:solidFill>
                  <a:srgbClr val="0F2940"/>
                </a:solidFill>
                <a:effectLst/>
                <a:uFillTx/>
                <a:latin typeface="Aptos Display"/>
                <a:ea typeface="Aptos Display"/>
              </a:rPr>
              <a:t>Le preprocessing est encapsulé dans un `Pipeline` pour limiter les erreurs et faciliter la réexécution.</a:t>
            </a:r>
            <a:endParaRPr lang="fr-FR" sz="1240" b="0" u="none" strike="noStrike">
              <a:solidFill>
                <a:srgbClr val="000000"/>
              </a:solidFill>
              <a:effectLst/>
              <a:uFillTx/>
              <a:latin typeface="Arial"/>
            </a:endParaRPr>
          </a:p>
        </p:txBody>
      </p:sp>
      <p:sp>
        <p:nvSpPr>
          <p:cNvPr id="132" name="Text 13"/>
          <p:cNvSpPr/>
          <p:nvPr/>
        </p:nvSpPr>
        <p:spPr>
          <a:xfrm>
            <a:off x="6583680" y="2322720"/>
            <a:ext cx="21942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Modélisation</a:t>
            </a:r>
            <a:endParaRPr lang="fr-FR" sz="1250" b="0" u="none" strike="noStrike">
              <a:solidFill>
                <a:srgbClr val="000000"/>
              </a:solidFill>
              <a:effectLst/>
              <a:uFillTx/>
              <a:latin typeface="Arial"/>
            </a:endParaRPr>
          </a:p>
        </p:txBody>
      </p:sp>
      <p:sp>
        <p:nvSpPr>
          <p:cNvPr id="133" name="Text 14"/>
          <p:cNvSpPr/>
          <p:nvPr/>
        </p:nvSpPr>
        <p:spPr>
          <a:xfrm>
            <a:off x="6629400" y="2670120"/>
            <a:ext cx="4480200" cy="155412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baseline : régression logistique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optimisation du seuil pour le F1-score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benchmark avec AdaBoost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modèle final réentraîné sur tout le train.</a:t>
            </a:r>
            <a:endParaRPr lang="fr-FR" sz="1200" b="0" u="none" strike="noStrike">
              <a:solidFill>
                <a:srgbClr val="000000"/>
              </a:solidFill>
              <a:effectLst/>
              <a:uFillTx/>
              <a:latin typeface="Arial"/>
            </a:endParaRPr>
          </a:p>
        </p:txBody>
      </p:sp>
      <p:sp>
        <p:nvSpPr>
          <p:cNvPr id="134" name="Shape 15"/>
          <p:cNvSpPr/>
          <p:nvPr/>
        </p:nvSpPr>
        <p:spPr>
          <a:xfrm>
            <a:off x="6629400" y="4809600"/>
            <a:ext cx="4480200" cy="511560"/>
          </a:xfrm>
          <a:prstGeom prst="roundRect">
            <a:avLst>
              <a:gd name="adj" fmla="val 10714"/>
            </a:avLst>
          </a:prstGeom>
          <a:solidFill>
            <a:srgbClr val="F7EEDC"/>
          </a:solidFill>
          <a:ln w="8890">
            <a:solidFill>
              <a:srgbClr val="F7EEDC"/>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5" name="Text 16"/>
          <p:cNvSpPr/>
          <p:nvPr/>
        </p:nvSpPr>
        <p:spPr>
          <a:xfrm>
            <a:off x="6793920" y="4919400"/>
            <a:ext cx="4151160" cy="29232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240" b="1" u="none" strike="noStrike">
                <a:solidFill>
                  <a:srgbClr val="0F2940"/>
                </a:solidFill>
                <a:effectLst/>
                <a:uFillTx/>
                <a:latin typeface="Aptos Display"/>
                <a:ea typeface="Aptos Display"/>
              </a:rPr>
              <a:t>Le bon niveau de sophistication est celui qui améliore réellement la décision.</a:t>
            </a:r>
            <a:endParaRPr lang="fr-FR" sz="1240" b="0" u="none" strike="noStrike">
              <a:solidFill>
                <a:srgbClr val="000000"/>
              </a:solidFill>
              <a:effectLst/>
              <a:uFillTx/>
              <a:latin typeface="Arial"/>
            </a:endParaRPr>
          </a:p>
        </p:txBody>
      </p:sp>
      <p:sp>
        <p:nvSpPr>
          <p:cNvPr id="136" name="Text 17"/>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137" name="Text 18"/>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5</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38"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9"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0"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1"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Modèle de base</a:t>
            </a:r>
            <a:endParaRPr lang="fr-FR" sz="2200" b="0" u="none" strike="noStrike">
              <a:solidFill>
                <a:srgbClr val="000000"/>
              </a:solidFill>
              <a:effectLst/>
              <a:uFillTx/>
              <a:latin typeface="Arial"/>
            </a:endParaRPr>
          </a:p>
        </p:txBody>
      </p:sp>
      <p:sp>
        <p:nvSpPr>
          <p:cNvPr id="142"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La régression logistique fournit une base solide et interprétable</a:t>
            </a:r>
            <a:endParaRPr lang="fr-FR" sz="1020" b="0" u="none" strike="noStrike">
              <a:solidFill>
                <a:srgbClr val="000000"/>
              </a:solidFill>
              <a:effectLst/>
              <a:uFillTx/>
              <a:latin typeface="Arial"/>
            </a:endParaRPr>
          </a:p>
        </p:txBody>
      </p:sp>
      <p:sp>
        <p:nvSpPr>
          <p:cNvPr id="143" name="Shape 5"/>
          <p:cNvSpPr/>
          <p:nvPr/>
        </p:nvSpPr>
        <p:spPr>
          <a:xfrm>
            <a:off x="749880" y="1078920"/>
            <a:ext cx="228564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4" name="Shape 6"/>
          <p:cNvSpPr/>
          <p:nvPr/>
        </p:nvSpPr>
        <p:spPr>
          <a:xfrm>
            <a:off x="877680" y="1207080"/>
            <a:ext cx="72720" cy="63972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5" name="Text 7"/>
          <p:cNvSpPr/>
          <p:nvPr/>
        </p:nvSpPr>
        <p:spPr>
          <a:xfrm>
            <a:off x="1042560" y="1243440"/>
            <a:ext cx="188316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0F2940"/>
                </a:solidFill>
                <a:effectLst/>
                <a:uFillTx/>
                <a:latin typeface="Aptos Display"/>
                <a:ea typeface="Aptos Display"/>
              </a:rPr>
              <a:t>0,7645</a:t>
            </a:r>
            <a:endParaRPr lang="fr-FR" sz="2100" b="0" u="none" strike="noStrike">
              <a:solidFill>
                <a:srgbClr val="000000"/>
              </a:solidFill>
              <a:effectLst/>
              <a:uFillTx/>
              <a:latin typeface="Arial"/>
            </a:endParaRPr>
          </a:p>
        </p:txBody>
      </p:sp>
      <p:sp>
        <p:nvSpPr>
          <p:cNvPr id="146" name="Text 8"/>
          <p:cNvSpPr/>
          <p:nvPr/>
        </p:nvSpPr>
        <p:spPr>
          <a:xfrm>
            <a:off x="1042560" y="1609200"/>
            <a:ext cx="188316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F1-score avec seuil 0,50</a:t>
            </a:r>
            <a:endParaRPr lang="fr-FR" sz="1000" b="0" u="none" strike="noStrike">
              <a:solidFill>
                <a:srgbClr val="000000"/>
              </a:solidFill>
              <a:effectLst/>
              <a:uFillTx/>
              <a:latin typeface="Arial"/>
            </a:endParaRPr>
          </a:p>
        </p:txBody>
      </p:sp>
      <p:sp>
        <p:nvSpPr>
          <p:cNvPr id="147" name="Shape 9"/>
          <p:cNvSpPr/>
          <p:nvPr/>
        </p:nvSpPr>
        <p:spPr>
          <a:xfrm>
            <a:off x="3273480" y="1078920"/>
            <a:ext cx="169128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8" name="Shape 10"/>
          <p:cNvSpPr/>
          <p:nvPr/>
        </p:nvSpPr>
        <p:spPr>
          <a:xfrm>
            <a:off x="3401640" y="1207080"/>
            <a:ext cx="72720" cy="63972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9" name="Text 11"/>
          <p:cNvSpPr/>
          <p:nvPr/>
        </p:nvSpPr>
        <p:spPr>
          <a:xfrm>
            <a:off x="3566160" y="1243440"/>
            <a:ext cx="128880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1BA4A7"/>
                </a:solidFill>
                <a:effectLst/>
                <a:uFillTx/>
                <a:latin typeface="Aptos Display"/>
                <a:ea typeface="Aptos Display"/>
              </a:rPr>
              <a:t>0,44</a:t>
            </a:r>
            <a:endParaRPr lang="fr-FR" sz="2100" b="0" u="none" strike="noStrike">
              <a:solidFill>
                <a:srgbClr val="000000"/>
              </a:solidFill>
              <a:effectLst/>
              <a:uFillTx/>
              <a:latin typeface="Arial"/>
            </a:endParaRPr>
          </a:p>
        </p:txBody>
      </p:sp>
      <p:sp>
        <p:nvSpPr>
          <p:cNvPr id="150" name="Text 12"/>
          <p:cNvSpPr/>
          <p:nvPr/>
        </p:nvSpPr>
        <p:spPr>
          <a:xfrm>
            <a:off x="3566160" y="1609200"/>
            <a:ext cx="128880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seuil final retenu</a:t>
            </a:r>
            <a:endParaRPr lang="fr-FR" sz="1000" b="0" u="none" strike="noStrike">
              <a:solidFill>
                <a:srgbClr val="000000"/>
              </a:solidFill>
              <a:effectLst/>
              <a:uFillTx/>
              <a:latin typeface="Arial"/>
            </a:endParaRPr>
          </a:p>
        </p:txBody>
      </p:sp>
      <p:sp>
        <p:nvSpPr>
          <p:cNvPr id="151" name="Shape 13"/>
          <p:cNvSpPr/>
          <p:nvPr/>
        </p:nvSpPr>
        <p:spPr>
          <a:xfrm>
            <a:off x="5184720" y="1078920"/>
            <a:ext cx="187416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2" name="Shape 14"/>
          <p:cNvSpPr/>
          <p:nvPr/>
        </p:nvSpPr>
        <p:spPr>
          <a:xfrm>
            <a:off x="5312520" y="1207080"/>
            <a:ext cx="72720" cy="639720"/>
          </a:xfrm>
          <a:prstGeom prst="rect">
            <a:avLst/>
          </a:prstGeom>
          <a:solidFill>
            <a:srgbClr val="D8A24E"/>
          </a:solidFill>
          <a:ln w="12700">
            <a:solidFill>
              <a:srgbClr val="D8A24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3" name="Text 15"/>
          <p:cNvSpPr/>
          <p:nvPr/>
        </p:nvSpPr>
        <p:spPr>
          <a:xfrm>
            <a:off x="5477400" y="1243440"/>
            <a:ext cx="147168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D8A24E"/>
                </a:solidFill>
                <a:effectLst/>
                <a:uFillTx/>
                <a:latin typeface="Aptos Display"/>
                <a:ea typeface="Aptos Display"/>
              </a:rPr>
              <a:t>C = 0,1</a:t>
            </a:r>
            <a:endParaRPr lang="fr-FR" sz="2100" b="0" u="none" strike="noStrike">
              <a:solidFill>
                <a:srgbClr val="000000"/>
              </a:solidFill>
              <a:effectLst/>
              <a:uFillTx/>
              <a:latin typeface="Arial"/>
            </a:endParaRPr>
          </a:p>
        </p:txBody>
      </p:sp>
      <p:sp>
        <p:nvSpPr>
          <p:cNvPr id="154" name="Text 16"/>
          <p:cNvSpPr/>
          <p:nvPr/>
        </p:nvSpPr>
        <p:spPr>
          <a:xfrm>
            <a:off x="5477400" y="1609200"/>
            <a:ext cx="14716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régularisation retenue</a:t>
            </a:r>
            <a:endParaRPr lang="fr-FR" sz="1000" b="0" u="none" strike="noStrike">
              <a:solidFill>
                <a:srgbClr val="000000"/>
              </a:solidFill>
              <a:effectLst/>
              <a:uFillTx/>
              <a:latin typeface="Arial"/>
            </a:endParaRPr>
          </a:p>
        </p:txBody>
      </p:sp>
      <p:sp>
        <p:nvSpPr>
          <p:cNvPr id="155" name="Shape 17"/>
          <p:cNvSpPr/>
          <p:nvPr/>
        </p:nvSpPr>
        <p:spPr>
          <a:xfrm>
            <a:off x="749880" y="2304360"/>
            <a:ext cx="5120280" cy="3273120"/>
          </a:xfrm>
          <a:prstGeom prst="roundRect">
            <a:avLst>
              <a:gd name="adj" fmla="val 1676"/>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6" name="Shape 18"/>
          <p:cNvSpPr/>
          <p:nvPr/>
        </p:nvSpPr>
        <p:spPr>
          <a:xfrm>
            <a:off x="6263640" y="2304360"/>
            <a:ext cx="5166000" cy="3273120"/>
          </a:xfrm>
          <a:prstGeom prst="roundRect">
            <a:avLst>
              <a:gd name="adj" fmla="val 1676"/>
            </a:avLst>
          </a:prstGeom>
          <a:solidFill>
            <a:srgbClr val="EEF4F7"/>
          </a:solidFill>
          <a:ln w="8890">
            <a:solidFill>
              <a:srgbClr val="EEF4F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7" name="Text 19"/>
          <p:cNvSpPr/>
          <p:nvPr/>
        </p:nvSpPr>
        <p:spPr>
          <a:xfrm>
            <a:off x="987480" y="2615040"/>
            <a:ext cx="26514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Pourquoi ce modèle ?</a:t>
            </a:r>
            <a:endParaRPr lang="fr-FR" sz="1250" b="0" u="none" strike="noStrike">
              <a:solidFill>
                <a:srgbClr val="000000"/>
              </a:solidFill>
              <a:effectLst/>
              <a:uFillTx/>
              <a:latin typeface="Arial"/>
            </a:endParaRPr>
          </a:p>
        </p:txBody>
      </p:sp>
      <p:sp>
        <p:nvSpPr>
          <p:cNvPr id="158" name="Text 20"/>
          <p:cNvSpPr/>
          <p:nvPr/>
        </p:nvSpPr>
        <p:spPr>
          <a:xfrm>
            <a:off x="1024200" y="2944440"/>
            <a:ext cx="4525920" cy="146268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rapide à entraîner sur un volume important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cohérent avec les variables disponibles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compatible avec un pipeline propre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interprétable grâce aux coefficients.</a:t>
            </a:r>
            <a:endParaRPr lang="fr-FR" sz="1200" b="0" u="none" strike="noStrike">
              <a:solidFill>
                <a:srgbClr val="000000"/>
              </a:solidFill>
              <a:effectLst/>
              <a:uFillTx/>
              <a:latin typeface="Arial"/>
            </a:endParaRPr>
          </a:p>
        </p:txBody>
      </p:sp>
      <p:sp>
        <p:nvSpPr>
          <p:cNvPr id="159" name="Text 21"/>
          <p:cNvSpPr/>
          <p:nvPr/>
        </p:nvSpPr>
        <p:spPr>
          <a:xfrm>
            <a:off x="6492240" y="2615040"/>
            <a:ext cx="31086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Arbitrage méthodologique</a:t>
            </a:r>
            <a:endParaRPr lang="fr-FR" sz="1250" b="0" u="none" strike="noStrike">
              <a:solidFill>
                <a:srgbClr val="000000"/>
              </a:solidFill>
              <a:effectLst/>
              <a:uFillTx/>
              <a:latin typeface="Arial"/>
            </a:endParaRPr>
          </a:p>
        </p:txBody>
      </p:sp>
      <p:sp>
        <p:nvSpPr>
          <p:cNvPr id="160" name="Text 22"/>
          <p:cNvSpPr/>
          <p:nvPr/>
        </p:nvSpPr>
        <p:spPr>
          <a:xfrm>
            <a:off x="6510600" y="2944440"/>
            <a:ext cx="4525920" cy="132552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la performance seule ne suffit pas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le modèle doit aussi être expliqué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l’ajustement du seuil est plus utile qu’une complexité non justifiée.</a:t>
            </a:r>
            <a:endParaRPr lang="fr-FR" sz="1200" b="0" u="none" strike="noStrike">
              <a:solidFill>
                <a:srgbClr val="000000"/>
              </a:solidFill>
              <a:effectLst/>
              <a:uFillTx/>
              <a:latin typeface="Arial"/>
            </a:endParaRPr>
          </a:p>
        </p:txBody>
      </p:sp>
      <p:sp>
        <p:nvSpPr>
          <p:cNvPr id="161" name="Shape 23"/>
          <p:cNvSpPr/>
          <p:nvPr/>
        </p:nvSpPr>
        <p:spPr>
          <a:xfrm>
            <a:off x="6492240" y="4736520"/>
            <a:ext cx="4571640" cy="548280"/>
          </a:xfrm>
          <a:prstGeom prst="roundRect">
            <a:avLst>
              <a:gd name="adj" fmla="val 10000"/>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2" name="Text 24"/>
          <p:cNvSpPr/>
          <p:nvPr/>
        </p:nvSpPr>
        <p:spPr>
          <a:xfrm>
            <a:off x="6656760" y="4846320"/>
            <a:ext cx="4242600" cy="32868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280" b="1" u="none" strike="noStrike">
                <a:solidFill>
                  <a:srgbClr val="FFFFFF"/>
                </a:solidFill>
                <a:effectLst/>
                <a:uFillTx/>
                <a:latin typeface="Aptos Display"/>
                <a:ea typeface="Aptos Display"/>
              </a:rPr>
              <a:t>Ici, la régression logistique donne le meilleur compromis entre performance, stabilité et lisibilité.</a:t>
            </a:r>
            <a:endParaRPr lang="fr-FR" sz="1280" b="0" u="none" strike="noStrike">
              <a:solidFill>
                <a:srgbClr val="000000"/>
              </a:solidFill>
              <a:effectLst/>
              <a:uFillTx/>
              <a:latin typeface="Arial"/>
            </a:endParaRPr>
          </a:p>
        </p:txBody>
      </p:sp>
      <p:sp>
        <p:nvSpPr>
          <p:cNvPr id="163" name="Text 25"/>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164" name="Text 26"/>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6</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65"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6"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7"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8"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Seuil de décision et résultats</a:t>
            </a:r>
            <a:endParaRPr lang="fr-FR" sz="2200" b="0" u="none" strike="noStrike">
              <a:solidFill>
                <a:srgbClr val="000000"/>
              </a:solidFill>
              <a:effectLst/>
              <a:uFillTx/>
              <a:latin typeface="Arial"/>
            </a:endParaRPr>
          </a:p>
        </p:txBody>
      </p:sp>
      <p:sp>
        <p:nvSpPr>
          <p:cNvPr id="169"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L’optimisation du seuil améliore le compromis précision / rappel</a:t>
            </a:r>
            <a:endParaRPr lang="fr-FR" sz="1020" b="0" u="none" strike="noStrike">
              <a:solidFill>
                <a:srgbClr val="000000"/>
              </a:solidFill>
              <a:effectLst/>
              <a:uFillTx/>
              <a:latin typeface="Arial"/>
            </a:endParaRPr>
          </a:p>
        </p:txBody>
      </p:sp>
      <p:sp>
        <p:nvSpPr>
          <p:cNvPr id="170" name="Shape 5"/>
          <p:cNvSpPr/>
          <p:nvPr/>
        </p:nvSpPr>
        <p:spPr>
          <a:xfrm>
            <a:off x="713160" y="1078920"/>
            <a:ext cx="164556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1" name="Shape 6"/>
          <p:cNvSpPr/>
          <p:nvPr/>
        </p:nvSpPr>
        <p:spPr>
          <a:xfrm>
            <a:off x="841320" y="1207080"/>
            <a:ext cx="72720" cy="63972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2" name="Text 7"/>
          <p:cNvSpPr/>
          <p:nvPr/>
        </p:nvSpPr>
        <p:spPr>
          <a:xfrm>
            <a:off x="1005840" y="1243440"/>
            <a:ext cx="124308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1BA4A7"/>
                </a:solidFill>
                <a:effectLst/>
                <a:uFillTx/>
                <a:latin typeface="Aptos Display"/>
                <a:ea typeface="Aptos Display"/>
              </a:rPr>
              <a:t>0,7771</a:t>
            </a:r>
            <a:endParaRPr lang="fr-FR" sz="2100" b="0" u="none" strike="noStrike">
              <a:solidFill>
                <a:srgbClr val="000000"/>
              </a:solidFill>
              <a:effectLst/>
              <a:uFillTx/>
              <a:latin typeface="Arial"/>
            </a:endParaRPr>
          </a:p>
        </p:txBody>
      </p:sp>
      <p:sp>
        <p:nvSpPr>
          <p:cNvPr id="173" name="Text 8"/>
          <p:cNvSpPr/>
          <p:nvPr/>
        </p:nvSpPr>
        <p:spPr>
          <a:xfrm>
            <a:off x="1005840" y="1609200"/>
            <a:ext cx="12430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F1-score</a:t>
            </a:r>
            <a:endParaRPr lang="fr-FR" sz="1000" b="0" u="none" strike="noStrike">
              <a:solidFill>
                <a:srgbClr val="000000"/>
              </a:solidFill>
              <a:effectLst/>
              <a:uFillTx/>
              <a:latin typeface="Arial"/>
            </a:endParaRPr>
          </a:p>
        </p:txBody>
      </p:sp>
      <p:sp>
        <p:nvSpPr>
          <p:cNvPr id="174" name="Shape 9"/>
          <p:cNvSpPr/>
          <p:nvPr/>
        </p:nvSpPr>
        <p:spPr>
          <a:xfrm>
            <a:off x="2578680" y="1078920"/>
            <a:ext cx="164556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5" name="Shape 10"/>
          <p:cNvSpPr/>
          <p:nvPr/>
        </p:nvSpPr>
        <p:spPr>
          <a:xfrm>
            <a:off x="2706480" y="1207080"/>
            <a:ext cx="72720" cy="63972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6" name="Text 11"/>
          <p:cNvSpPr/>
          <p:nvPr/>
        </p:nvSpPr>
        <p:spPr>
          <a:xfrm>
            <a:off x="2871360" y="1243440"/>
            <a:ext cx="124308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0F2940"/>
                </a:solidFill>
                <a:effectLst/>
                <a:uFillTx/>
                <a:latin typeface="Aptos Display"/>
                <a:ea typeface="Aptos Display"/>
              </a:rPr>
              <a:t>0,8446</a:t>
            </a:r>
            <a:endParaRPr lang="fr-FR" sz="2100" b="0" u="none" strike="noStrike">
              <a:solidFill>
                <a:srgbClr val="000000"/>
              </a:solidFill>
              <a:effectLst/>
              <a:uFillTx/>
              <a:latin typeface="Arial"/>
            </a:endParaRPr>
          </a:p>
        </p:txBody>
      </p:sp>
      <p:sp>
        <p:nvSpPr>
          <p:cNvPr id="177" name="Text 12"/>
          <p:cNvSpPr/>
          <p:nvPr/>
        </p:nvSpPr>
        <p:spPr>
          <a:xfrm>
            <a:off x="2871360" y="1609200"/>
            <a:ext cx="12430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precision</a:t>
            </a:r>
            <a:endParaRPr lang="fr-FR" sz="1000" b="0" u="none" strike="noStrike">
              <a:solidFill>
                <a:srgbClr val="000000"/>
              </a:solidFill>
              <a:effectLst/>
              <a:uFillTx/>
              <a:latin typeface="Arial"/>
            </a:endParaRPr>
          </a:p>
        </p:txBody>
      </p:sp>
      <p:sp>
        <p:nvSpPr>
          <p:cNvPr id="178" name="Shape 13"/>
          <p:cNvSpPr/>
          <p:nvPr/>
        </p:nvSpPr>
        <p:spPr>
          <a:xfrm>
            <a:off x="4443840" y="1078920"/>
            <a:ext cx="1645560" cy="895680"/>
          </a:xfrm>
          <a:prstGeom prst="roundRect">
            <a:avLst>
              <a:gd name="adj" fmla="val 612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9" name="Shape 14"/>
          <p:cNvSpPr/>
          <p:nvPr/>
        </p:nvSpPr>
        <p:spPr>
          <a:xfrm>
            <a:off x="4572000" y="1207080"/>
            <a:ext cx="72720" cy="639720"/>
          </a:xfrm>
          <a:prstGeom prst="rect">
            <a:avLst/>
          </a:prstGeom>
          <a:solidFill>
            <a:srgbClr val="D8A24E"/>
          </a:solidFill>
          <a:ln w="12700">
            <a:solidFill>
              <a:srgbClr val="D8A24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0" name="Text 15"/>
          <p:cNvSpPr/>
          <p:nvPr/>
        </p:nvSpPr>
        <p:spPr>
          <a:xfrm>
            <a:off x="4736520" y="1243440"/>
            <a:ext cx="1243080" cy="29232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2100" b="1" u="none" strike="noStrike">
                <a:solidFill>
                  <a:srgbClr val="D8A24E"/>
                </a:solidFill>
                <a:effectLst/>
                <a:uFillTx/>
                <a:latin typeface="Aptos Display"/>
                <a:ea typeface="Aptos Display"/>
              </a:rPr>
              <a:t>0,7195</a:t>
            </a:r>
            <a:endParaRPr lang="fr-FR" sz="2100" b="0" u="none" strike="noStrike">
              <a:solidFill>
                <a:srgbClr val="000000"/>
              </a:solidFill>
              <a:effectLst/>
              <a:uFillTx/>
              <a:latin typeface="Arial"/>
            </a:endParaRPr>
          </a:p>
        </p:txBody>
      </p:sp>
      <p:sp>
        <p:nvSpPr>
          <p:cNvPr id="181" name="Text 16"/>
          <p:cNvSpPr/>
          <p:nvPr/>
        </p:nvSpPr>
        <p:spPr>
          <a:xfrm>
            <a:off x="4736520" y="1609200"/>
            <a:ext cx="12430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6F8190"/>
                </a:solidFill>
                <a:effectLst/>
                <a:uFillTx/>
                <a:latin typeface="Aptos"/>
              </a:rPr>
              <a:t>recall</a:t>
            </a:r>
            <a:endParaRPr lang="fr-FR" sz="1000" b="0" u="none" strike="noStrike">
              <a:solidFill>
                <a:srgbClr val="000000"/>
              </a:solidFill>
              <a:effectLst/>
              <a:uFillTx/>
              <a:latin typeface="Arial"/>
            </a:endParaRPr>
          </a:p>
        </p:txBody>
      </p:sp>
      <p:sp>
        <p:nvSpPr>
          <p:cNvPr id="182" name="Shape 17"/>
          <p:cNvSpPr/>
          <p:nvPr/>
        </p:nvSpPr>
        <p:spPr>
          <a:xfrm>
            <a:off x="731520" y="2304360"/>
            <a:ext cx="5394600" cy="3245760"/>
          </a:xfrm>
          <a:prstGeom prst="roundRect">
            <a:avLst>
              <a:gd name="adj" fmla="val 1690"/>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3" name="Shape 18"/>
          <p:cNvSpPr/>
          <p:nvPr/>
        </p:nvSpPr>
        <p:spPr>
          <a:xfrm>
            <a:off x="6446520" y="2304360"/>
            <a:ext cx="4983120" cy="3245760"/>
          </a:xfrm>
          <a:prstGeom prst="roundRect">
            <a:avLst>
              <a:gd name="adj" fmla="val 1690"/>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4" name="Text 19"/>
          <p:cNvSpPr/>
          <p:nvPr/>
        </p:nvSpPr>
        <p:spPr>
          <a:xfrm>
            <a:off x="969120" y="2615040"/>
            <a:ext cx="36572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Matrice de confusion sur validation</a:t>
            </a:r>
            <a:endParaRPr lang="fr-FR" sz="1250" b="0" u="none" strike="noStrike">
              <a:solidFill>
                <a:srgbClr val="000000"/>
              </a:solidFill>
              <a:effectLst/>
              <a:uFillTx/>
              <a:latin typeface="Arial"/>
            </a:endParaRPr>
          </a:p>
        </p:txBody>
      </p:sp>
      <p:sp>
        <p:nvSpPr>
          <p:cNvPr id="185" name="Text 20"/>
          <p:cNvSpPr/>
          <p:nvPr/>
        </p:nvSpPr>
        <p:spPr>
          <a:xfrm>
            <a:off x="960120" y="2999160"/>
            <a:ext cx="4571640" cy="1142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20" b="0" u="none" strike="noStrike">
                <a:solidFill>
                  <a:srgbClr val="FFFFFF"/>
                </a:solidFill>
                <a:effectLst/>
                <a:uFillTx/>
                <a:latin typeface="Aptos"/>
              </a:rPr>
              <a:t>             Prédit 0    Prédit 1</a:t>
            </a:r>
            <a:endParaRPr lang="fr-FR" sz="1320" b="0" u="none" strike="noStrike">
              <a:solidFill>
                <a:srgbClr val="000000"/>
              </a:solidFill>
              <a:effectLst/>
              <a:uFillTx/>
              <a:latin typeface="Arial"/>
            </a:endParaRPr>
          </a:p>
          <a:p>
            <a:pPr defTabSz="914400">
              <a:lnSpc>
                <a:spcPct val="100000"/>
              </a:lnSpc>
              <a:tabLst>
                <a:tab pos="0" algn="l"/>
              </a:tabLst>
            </a:pPr>
            <a:r>
              <a:rPr lang="en-US" sz="1320" b="0" u="none" strike="noStrike">
                <a:solidFill>
                  <a:srgbClr val="FFFFFF"/>
                </a:solidFill>
                <a:effectLst/>
                <a:uFillTx/>
                <a:latin typeface="Aptos"/>
              </a:rPr>
              <a:t>Réel 0        54 837        243</a:t>
            </a:r>
            <a:endParaRPr lang="fr-FR" sz="1320" b="0" u="none" strike="noStrike">
              <a:solidFill>
                <a:srgbClr val="000000"/>
              </a:solidFill>
              <a:effectLst/>
              <a:uFillTx/>
              <a:latin typeface="Arial"/>
            </a:endParaRPr>
          </a:p>
          <a:p>
            <a:pPr defTabSz="914400">
              <a:lnSpc>
                <a:spcPct val="100000"/>
              </a:lnSpc>
              <a:tabLst>
                <a:tab pos="0" algn="l"/>
              </a:tabLst>
            </a:pPr>
            <a:r>
              <a:rPr lang="en-US" sz="1320" b="0" u="none" strike="noStrike">
                <a:solidFill>
                  <a:srgbClr val="FFFFFF"/>
                </a:solidFill>
                <a:effectLst/>
                <a:uFillTx/>
                <a:latin typeface="Aptos"/>
              </a:rPr>
              <a:t>Réel 1           515      1 321</a:t>
            </a:r>
            <a:endParaRPr lang="fr-FR" sz="1320" b="0" u="none" strike="noStrike">
              <a:solidFill>
                <a:srgbClr val="000000"/>
              </a:solidFill>
              <a:effectLst/>
              <a:uFillTx/>
              <a:latin typeface="Arial"/>
            </a:endParaRPr>
          </a:p>
        </p:txBody>
      </p:sp>
      <p:sp>
        <p:nvSpPr>
          <p:cNvPr id="186" name="Text 21"/>
          <p:cNvSpPr/>
          <p:nvPr/>
        </p:nvSpPr>
        <p:spPr>
          <a:xfrm>
            <a:off x="6656760" y="2615040"/>
            <a:ext cx="18284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Lecture</a:t>
            </a:r>
            <a:endParaRPr lang="fr-FR" sz="1250" b="0" u="none" strike="noStrike">
              <a:solidFill>
                <a:srgbClr val="000000"/>
              </a:solidFill>
              <a:effectLst/>
              <a:uFillTx/>
              <a:latin typeface="Arial"/>
            </a:endParaRPr>
          </a:p>
        </p:txBody>
      </p:sp>
      <p:sp>
        <p:nvSpPr>
          <p:cNvPr id="187" name="Text 22"/>
          <p:cNvSpPr/>
          <p:nvPr/>
        </p:nvSpPr>
        <p:spPr>
          <a:xfrm>
            <a:off x="6675120" y="2926080"/>
            <a:ext cx="4388760" cy="162720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1 321 conversions correctement identifiées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243 fausses alertes seulement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515 conversions restent manquées ;</a:t>
            </a:r>
            <a:endParaRPr lang="fr-FR" sz="120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le seuil de 0,44 privilégie un équilibre F1.</a:t>
            </a:r>
            <a:endParaRPr lang="fr-FR" sz="1200" b="0" u="none" strike="noStrike">
              <a:solidFill>
                <a:srgbClr val="000000"/>
              </a:solidFill>
              <a:effectLst/>
              <a:uFillTx/>
              <a:latin typeface="Arial"/>
            </a:endParaRPr>
          </a:p>
        </p:txBody>
      </p:sp>
      <p:sp>
        <p:nvSpPr>
          <p:cNvPr id="188" name="Shape 23"/>
          <p:cNvSpPr/>
          <p:nvPr/>
        </p:nvSpPr>
        <p:spPr>
          <a:xfrm>
            <a:off x="6675120" y="4736520"/>
            <a:ext cx="4434480" cy="529920"/>
          </a:xfrm>
          <a:prstGeom prst="roundRect">
            <a:avLst>
              <a:gd name="adj" fmla="val 10345"/>
            </a:avLst>
          </a:prstGeom>
          <a:solidFill>
            <a:srgbClr val="DDF2F1"/>
          </a:solidFill>
          <a:ln w="8890">
            <a:solidFill>
              <a:srgbClr val="DDF2F1"/>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9" name="Text 24"/>
          <p:cNvSpPr/>
          <p:nvPr/>
        </p:nvSpPr>
        <p:spPr>
          <a:xfrm>
            <a:off x="6839640" y="4846320"/>
            <a:ext cx="4105440" cy="31068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260" b="1" u="none" strike="noStrike">
                <a:solidFill>
                  <a:srgbClr val="0F2940"/>
                </a:solidFill>
                <a:effectLst/>
                <a:uFillTx/>
                <a:latin typeface="Aptos Display"/>
                <a:ea typeface="Aptos Display"/>
              </a:rPr>
              <a:t>Le seuil dépend de la métrique retenue et du coût métier des erreurs.</a:t>
            </a:r>
            <a:endParaRPr lang="fr-FR" sz="1260" b="0" u="none" strike="noStrike">
              <a:solidFill>
                <a:srgbClr val="000000"/>
              </a:solidFill>
              <a:effectLst/>
              <a:uFillTx/>
              <a:latin typeface="Arial"/>
            </a:endParaRPr>
          </a:p>
        </p:txBody>
      </p:sp>
      <p:sp>
        <p:nvSpPr>
          <p:cNvPr id="190" name="Text 25"/>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191" name="Text 26"/>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7</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192"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3"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4"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5"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Comparaison des modèles</a:t>
            </a:r>
            <a:endParaRPr lang="fr-FR" sz="2200" b="0" u="none" strike="noStrike">
              <a:solidFill>
                <a:srgbClr val="000000"/>
              </a:solidFill>
              <a:effectLst/>
              <a:uFillTx/>
              <a:latin typeface="Arial"/>
            </a:endParaRPr>
          </a:p>
        </p:txBody>
      </p:sp>
      <p:sp>
        <p:nvSpPr>
          <p:cNvPr id="196"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fontScale="92500" lnSpcReduction="9999"/>
          </a:bodyPr>
          <a:p>
            <a:pPr algn="r" defTabSz="914400">
              <a:lnSpc>
                <a:spcPct val="100000"/>
              </a:lnSpc>
              <a:tabLst>
                <a:tab pos="0" algn="l"/>
              </a:tabLst>
            </a:pPr>
            <a:r>
              <a:rPr lang="en-US" sz="1020" b="0" u="none" strike="noStrike">
                <a:solidFill>
                  <a:srgbClr val="D9E4EC"/>
                </a:solidFill>
                <a:effectLst/>
                <a:uFillTx/>
                <a:latin typeface="Aptos"/>
              </a:rPr>
              <a:t>Un modèle plus complexe n’apporte pas toujours une meilleure décision</a:t>
            </a:r>
            <a:endParaRPr lang="fr-FR" sz="1020" b="0" u="none" strike="noStrike">
              <a:solidFill>
                <a:srgbClr val="000000"/>
              </a:solidFill>
              <a:effectLst/>
              <a:uFillTx/>
              <a:latin typeface="Arial"/>
            </a:endParaRPr>
          </a:p>
        </p:txBody>
      </p:sp>
      <p:sp>
        <p:nvSpPr>
          <p:cNvPr id="197" name="Shape 5"/>
          <p:cNvSpPr/>
          <p:nvPr/>
        </p:nvSpPr>
        <p:spPr>
          <a:xfrm>
            <a:off x="731520" y="1078920"/>
            <a:ext cx="6034680" cy="4525920"/>
          </a:xfrm>
          <a:prstGeom prst="roundRect">
            <a:avLst>
              <a:gd name="adj" fmla="val 1212"/>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8" name="Shape 6"/>
          <p:cNvSpPr/>
          <p:nvPr/>
        </p:nvSpPr>
        <p:spPr>
          <a:xfrm>
            <a:off x="7086600" y="1078920"/>
            <a:ext cx="4343040" cy="4525920"/>
          </a:xfrm>
          <a:prstGeom prst="roundRect">
            <a:avLst>
              <a:gd name="adj" fmla="val 1263"/>
            </a:avLst>
          </a:prstGeom>
          <a:solidFill>
            <a:srgbClr val="EEF4F7"/>
          </a:solidFill>
          <a:ln w="8890">
            <a:solidFill>
              <a:srgbClr val="EEF4F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graphicFrame>
        <p:nvGraphicFramePr>
          <p:cNvPr id="199" name="Chart 0"/>
          <p:cNvGraphicFramePr/>
          <p:nvPr/>
        </p:nvGraphicFramePr>
        <p:xfrm>
          <a:off x="932760" y="1499760"/>
          <a:ext cx="5577480" cy="3611520"/>
        </p:xfrm>
        <a:graphic>
          <a:graphicData uri="http://schemas.openxmlformats.org/drawingml/2006/chart">
            <c:chart xmlns:c="http://schemas.openxmlformats.org/drawingml/2006/chart" xmlns:r="http://schemas.openxmlformats.org/officeDocument/2006/relationships" r:id="rId1"/>
          </a:graphicData>
        </a:graphic>
      </p:graphicFrame>
      <p:sp>
        <p:nvSpPr>
          <p:cNvPr id="200" name="Text 7"/>
          <p:cNvSpPr/>
          <p:nvPr/>
        </p:nvSpPr>
        <p:spPr>
          <a:xfrm>
            <a:off x="7315200" y="1417320"/>
            <a:ext cx="18284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Choix final</a:t>
            </a:r>
            <a:endParaRPr lang="fr-FR" sz="1250" b="0" u="none" strike="noStrike">
              <a:solidFill>
                <a:srgbClr val="000000"/>
              </a:solidFill>
              <a:effectLst/>
              <a:uFillTx/>
              <a:latin typeface="Arial"/>
            </a:endParaRPr>
          </a:p>
        </p:txBody>
      </p:sp>
      <p:sp>
        <p:nvSpPr>
          <p:cNvPr id="201" name="Text 8"/>
          <p:cNvSpPr/>
          <p:nvPr/>
        </p:nvSpPr>
        <p:spPr>
          <a:xfrm>
            <a:off x="7333560" y="1774080"/>
            <a:ext cx="3702960" cy="148104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la régression logistique optimisée obtient le meilleur F1 ;</a:t>
            </a:r>
            <a:endParaRPr lang="fr-FR" sz="118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AdaBoost améliore le rappel mais baisse la précision ;</a:t>
            </a:r>
            <a:endParaRPr lang="fr-FR" sz="118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80" b="0" u="none" strike="noStrike">
                <a:solidFill>
                  <a:srgbClr val="172635"/>
                </a:solidFill>
                <a:effectLst/>
                <a:uFillTx/>
                <a:latin typeface="Aptos"/>
              </a:rPr>
              <a:t>le modèle final reste plus lisible et mieux justifiable.</a:t>
            </a:r>
            <a:endParaRPr lang="fr-FR" sz="1180" b="0" u="none" strike="noStrike">
              <a:solidFill>
                <a:srgbClr val="000000"/>
              </a:solidFill>
              <a:effectLst/>
              <a:uFillTx/>
              <a:latin typeface="Arial"/>
            </a:endParaRPr>
          </a:p>
        </p:txBody>
      </p:sp>
      <p:sp>
        <p:nvSpPr>
          <p:cNvPr id="202" name="Shape 9"/>
          <p:cNvSpPr/>
          <p:nvPr/>
        </p:nvSpPr>
        <p:spPr>
          <a:xfrm>
            <a:off x="7315200" y="3749040"/>
            <a:ext cx="3702960" cy="859320"/>
          </a:xfrm>
          <a:prstGeom prst="roundRect">
            <a:avLst>
              <a:gd name="adj" fmla="val 6383"/>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3" name="Text 10"/>
          <p:cNvSpPr/>
          <p:nvPr/>
        </p:nvSpPr>
        <p:spPr>
          <a:xfrm>
            <a:off x="7479720" y="3858840"/>
            <a:ext cx="3373920" cy="63972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600" b="1" u="none" strike="noStrike">
                <a:solidFill>
                  <a:srgbClr val="FFFFFF"/>
                </a:solidFill>
                <a:effectLst/>
                <a:uFillTx/>
                <a:latin typeface="Aptos Display"/>
                <a:ea typeface="Aptos Display"/>
              </a:rPr>
              <a:t>Modèle retenu : `LogisticRegression(C=0.1)` avec seuil de décision `0.44`.</a:t>
            </a:r>
            <a:endParaRPr lang="fr-FR" sz="1600" b="0" u="none" strike="noStrike">
              <a:solidFill>
                <a:srgbClr val="000000"/>
              </a:solidFill>
              <a:effectLst/>
              <a:uFillTx/>
              <a:latin typeface="Arial"/>
            </a:endParaRPr>
          </a:p>
        </p:txBody>
      </p:sp>
      <p:sp>
        <p:nvSpPr>
          <p:cNvPr id="204" name="Text 11"/>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205" name="Text 12"/>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8</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7F9"/>
        </a:solidFill>
      </p:bgPr>
    </p:bg>
    <p:spTree>
      <p:nvGrpSpPr>
        <p:cNvPr id="1" name=""/>
        <p:cNvGrpSpPr/>
        <p:nvPr/>
      </p:nvGrpSpPr>
      <p:grpSpPr>
        <a:xfrm>
          <a:off x="0" y="0"/>
          <a:ext cx="0" cy="0"/>
          <a:chOff x="0" y="0"/>
          <a:chExt cx="0" cy="0"/>
        </a:xfrm>
      </p:grpSpPr>
      <p:sp>
        <p:nvSpPr>
          <p:cNvPr id="206" name="Shape 0"/>
          <p:cNvSpPr/>
          <p:nvPr/>
        </p:nvSpPr>
        <p:spPr>
          <a:xfrm>
            <a:off x="0" y="0"/>
            <a:ext cx="12191400" cy="6857640"/>
          </a:xfrm>
          <a:prstGeom prst="rect">
            <a:avLst/>
          </a:prstGeom>
          <a:solidFill>
            <a:srgbClr val="F4F7F9"/>
          </a:solidFill>
          <a:ln w="12700">
            <a:solidFill>
              <a:srgbClr val="F4F7F9"/>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7" name="Shape 1"/>
          <p:cNvSpPr/>
          <p:nvPr/>
        </p:nvSpPr>
        <p:spPr>
          <a:xfrm>
            <a:off x="0" y="0"/>
            <a:ext cx="12191400" cy="109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8" name="Shape 2"/>
          <p:cNvSpPr/>
          <p:nvPr/>
        </p:nvSpPr>
        <p:spPr>
          <a:xfrm>
            <a:off x="0" y="109800"/>
            <a:ext cx="12191400" cy="65808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9" name="Text 3"/>
          <p:cNvSpPr/>
          <p:nvPr/>
        </p:nvSpPr>
        <p:spPr>
          <a:xfrm>
            <a:off x="640080" y="265320"/>
            <a:ext cx="63090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Interprétation et recommandations</a:t>
            </a:r>
            <a:endParaRPr lang="fr-FR" sz="2200" b="0" u="none" strike="noStrike">
              <a:solidFill>
                <a:srgbClr val="000000"/>
              </a:solidFill>
              <a:effectLst/>
              <a:uFillTx/>
              <a:latin typeface="Arial"/>
            </a:endParaRPr>
          </a:p>
        </p:txBody>
      </p:sp>
      <p:sp>
        <p:nvSpPr>
          <p:cNvPr id="210" name="Text 4"/>
          <p:cNvSpPr/>
          <p:nvPr/>
        </p:nvSpPr>
        <p:spPr>
          <a:xfrm>
            <a:off x="6949440" y="283320"/>
            <a:ext cx="4571640" cy="200880"/>
          </a:xfrm>
          <a:prstGeom prst="rect">
            <a:avLst/>
          </a:prstGeom>
          <a:noFill/>
          <a:ln w="0">
            <a:noFill/>
          </a:ln>
        </p:spPr>
        <p:style>
          <a:lnRef idx="0"/>
          <a:fillRef idx="0"/>
          <a:effectRef idx="0"/>
          <a:fontRef idx="minor"/>
        </p:style>
        <p:txBody>
          <a:bodyPr lIns="0" tIns="0" rIns="0" bIns="0" anchor="ctr">
            <a:normAutofit/>
          </a:bodyPr>
          <a:p>
            <a:pPr algn="r" defTabSz="914400">
              <a:lnSpc>
                <a:spcPct val="100000"/>
              </a:lnSpc>
              <a:tabLst>
                <a:tab pos="0" algn="l"/>
              </a:tabLst>
            </a:pPr>
            <a:r>
              <a:rPr lang="en-US" sz="1020" b="0" u="none" strike="noStrike">
                <a:solidFill>
                  <a:srgbClr val="D9E4EC"/>
                </a:solidFill>
                <a:effectLst/>
                <a:uFillTx/>
                <a:latin typeface="Aptos"/>
              </a:rPr>
              <a:t>Transformer le modèle en décisions actionnables</a:t>
            </a:r>
            <a:endParaRPr lang="fr-FR" sz="1020" b="0" u="none" strike="noStrike">
              <a:solidFill>
                <a:srgbClr val="000000"/>
              </a:solidFill>
              <a:effectLst/>
              <a:uFillTx/>
              <a:latin typeface="Arial"/>
            </a:endParaRPr>
          </a:p>
        </p:txBody>
      </p:sp>
      <p:sp>
        <p:nvSpPr>
          <p:cNvPr id="211" name="Shape 5"/>
          <p:cNvSpPr/>
          <p:nvPr/>
        </p:nvSpPr>
        <p:spPr>
          <a:xfrm>
            <a:off x="694800" y="1078920"/>
            <a:ext cx="6491880" cy="4590000"/>
          </a:xfrm>
          <a:prstGeom prst="roundRect">
            <a:avLst>
              <a:gd name="adj" fmla="val 1195"/>
            </a:avLst>
          </a:prstGeom>
          <a:solidFill>
            <a:srgbClr val="FFFFFF"/>
          </a:solidFill>
          <a:ln w="8890">
            <a:solidFill>
              <a:srgbClr val="D8E0E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2" name="Shape 6"/>
          <p:cNvSpPr/>
          <p:nvPr/>
        </p:nvSpPr>
        <p:spPr>
          <a:xfrm>
            <a:off x="7479720" y="1078920"/>
            <a:ext cx="4004640" cy="4590000"/>
          </a:xfrm>
          <a:prstGeom prst="roundRect">
            <a:avLst>
              <a:gd name="adj" fmla="val 1370"/>
            </a:avLst>
          </a:prstGeom>
          <a:solidFill>
            <a:srgbClr val="EEF4F7"/>
          </a:solidFill>
          <a:ln w="8890">
            <a:solidFill>
              <a:srgbClr val="EEF4F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graphicFrame>
        <p:nvGraphicFramePr>
          <p:cNvPr id="213" name="Chart 0"/>
          <p:cNvGraphicFramePr/>
          <p:nvPr/>
        </p:nvGraphicFramePr>
        <p:xfrm>
          <a:off x="914400" y="1481400"/>
          <a:ext cx="6053040" cy="3748680"/>
        </p:xfrm>
        <a:graphic>
          <a:graphicData uri="http://schemas.openxmlformats.org/drawingml/2006/chart">
            <c:chart xmlns:c="http://schemas.openxmlformats.org/drawingml/2006/chart" xmlns:r="http://schemas.openxmlformats.org/officeDocument/2006/relationships" r:id="rId1"/>
          </a:graphicData>
        </a:graphic>
      </p:graphicFrame>
      <p:sp>
        <p:nvSpPr>
          <p:cNvPr id="214" name="Text 7"/>
          <p:cNvSpPr/>
          <p:nvPr/>
        </p:nvSpPr>
        <p:spPr>
          <a:xfrm>
            <a:off x="7699320" y="1389960"/>
            <a:ext cx="246852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Recommandations</a:t>
            </a:r>
            <a:endParaRPr lang="fr-FR" sz="1250" b="0" u="none" strike="noStrike">
              <a:solidFill>
                <a:srgbClr val="000000"/>
              </a:solidFill>
              <a:effectLst/>
              <a:uFillTx/>
              <a:latin typeface="Arial"/>
            </a:endParaRPr>
          </a:p>
        </p:txBody>
      </p:sp>
      <p:sp>
        <p:nvSpPr>
          <p:cNvPr id="215" name="Text 8"/>
          <p:cNvSpPr/>
          <p:nvPr/>
        </p:nvSpPr>
        <p:spPr>
          <a:xfrm>
            <a:off x="7680960" y="1737360"/>
            <a:ext cx="3401280" cy="254160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120" b="0" u="none" strike="noStrike">
                <a:solidFill>
                  <a:srgbClr val="172635"/>
                </a:solidFill>
                <a:effectLst/>
                <a:uFillTx/>
                <a:latin typeface="Aptos"/>
              </a:rPr>
              <a:t>augmenter l’engagement : contenu, navigation, recommandations internes ;</a:t>
            </a:r>
            <a:endParaRPr lang="fr-FR" sz="112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20" b="0" u="none" strike="noStrike">
                <a:solidFill>
                  <a:srgbClr val="172635"/>
                </a:solidFill>
                <a:effectLst/>
                <a:uFillTx/>
                <a:latin typeface="Aptos"/>
              </a:rPr>
              <a:t>travailler les nouveaux visiteurs avec un parcours plus guidé ;</a:t>
            </a:r>
            <a:endParaRPr lang="fr-FR" sz="112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20" b="0" u="none" strike="noStrike">
                <a:solidFill>
                  <a:srgbClr val="172635"/>
                </a:solidFill>
                <a:effectLst/>
                <a:uFillTx/>
                <a:latin typeface="Aptos"/>
              </a:rPr>
              <a:t>segmenter les actions par pays et source d’acquisition ;</a:t>
            </a:r>
            <a:endParaRPr lang="fr-FR" sz="1120" b="0" u="none" strike="noStrike">
              <a:solidFill>
                <a:srgbClr val="000000"/>
              </a:solidFill>
              <a:effectLst/>
              <a:uFillTx/>
              <a:latin typeface="Arial"/>
            </a:endParaRPr>
          </a:p>
          <a:p>
            <a:pPr marL="177840" indent="-177840" defTabSz="914400">
              <a:lnSpc>
                <a:spcPct val="100000"/>
              </a:lnSpc>
              <a:buClr>
                <a:srgbClr val="172635"/>
              </a:buClr>
              <a:buFont typeface="Symbol" charset="2"/>
              <a:buChar char=""/>
            </a:pPr>
            <a:r>
              <a:rPr lang="en-US" sz="1120" b="0" u="none" strike="noStrike">
                <a:solidFill>
                  <a:srgbClr val="172635"/>
                </a:solidFill>
                <a:effectLst/>
                <a:uFillTx/>
                <a:latin typeface="Aptos"/>
              </a:rPr>
              <a:t>utiliser le score comme aide à la priorisation, pas comme vérité causale.</a:t>
            </a:r>
            <a:endParaRPr lang="fr-FR" sz="1120" b="0" u="none" strike="noStrike">
              <a:solidFill>
                <a:srgbClr val="000000"/>
              </a:solidFill>
              <a:effectLst/>
              <a:uFillTx/>
              <a:latin typeface="Arial"/>
            </a:endParaRPr>
          </a:p>
        </p:txBody>
      </p:sp>
      <p:sp>
        <p:nvSpPr>
          <p:cNvPr id="216" name="Shape 9"/>
          <p:cNvSpPr/>
          <p:nvPr/>
        </p:nvSpPr>
        <p:spPr>
          <a:xfrm>
            <a:off x="7680960" y="4590360"/>
            <a:ext cx="3401280" cy="822600"/>
          </a:xfrm>
          <a:prstGeom prst="roundRect">
            <a:avLst>
              <a:gd name="adj" fmla="val 6667"/>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17" name="Text 10"/>
          <p:cNvSpPr/>
          <p:nvPr/>
        </p:nvSpPr>
        <p:spPr>
          <a:xfrm>
            <a:off x="7845480" y="4700160"/>
            <a:ext cx="3071880" cy="603000"/>
          </a:xfrm>
          <a:prstGeom prst="rect">
            <a:avLst/>
          </a:prstGeom>
          <a:noFill/>
          <a:ln w="0">
            <a:noFill/>
          </a:ln>
        </p:spPr>
        <p:style>
          <a:lnRef idx="0"/>
          <a:fillRef idx="0"/>
          <a:effectRef idx="0"/>
          <a:fontRef idx="minor"/>
        </p:style>
        <p:txBody>
          <a:bodyPr lIns="0" tIns="0" rIns="0" bIns="0" anchor="ctr">
            <a:normAutofit fontScale="77500" lnSpcReduction="19999"/>
          </a:bodyPr>
          <a:p>
            <a:pPr defTabSz="914400">
              <a:lnSpc>
                <a:spcPct val="100000"/>
              </a:lnSpc>
              <a:tabLst>
                <a:tab pos="0" algn="l"/>
              </a:tabLst>
            </a:pPr>
            <a:r>
              <a:rPr lang="en-US" sz="1480" b="1" u="none" strike="noStrike">
                <a:solidFill>
                  <a:srgbClr val="FFFFFF"/>
                </a:solidFill>
                <a:effectLst/>
                <a:uFillTx/>
                <a:latin typeface="Aptos Display"/>
                <a:ea typeface="Aptos Display"/>
              </a:rPr>
              <a:t>`total_pages_visited` est le signal le plus favorable : l’enjeu métier est d’augmenter la profondeur de navigation utile.</a:t>
            </a:r>
            <a:endParaRPr lang="fr-FR" sz="1480" b="0" u="none" strike="noStrike">
              <a:solidFill>
                <a:srgbClr val="000000"/>
              </a:solidFill>
              <a:effectLst/>
              <a:uFillTx/>
              <a:latin typeface="Arial"/>
            </a:endParaRPr>
          </a:p>
        </p:txBody>
      </p:sp>
      <p:sp>
        <p:nvSpPr>
          <p:cNvPr id="218" name="Text 11"/>
          <p:cNvSpPr/>
          <p:nvPr/>
        </p:nvSpPr>
        <p:spPr>
          <a:xfrm>
            <a:off x="502920" y="6473880"/>
            <a:ext cx="41144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F8190"/>
                </a:solidFill>
                <a:effectLst/>
                <a:uFillTx/>
                <a:latin typeface="Aptos"/>
              </a:rPr>
              <a:t>Challenge Conversion Rate — Bloc 3</a:t>
            </a:r>
            <a:endParaRPr lang="fr-FR" sz="750" b="0" u="none" strike="noStrike">
              <a:solidFill>
                <a:srgbClr val="000000"/>
              </a:solidFill>
              <a:effectLst/>
              <a:uFillTx/>
              <a:latin typeface="Arial"/>
            </a:endParaRPr>
          </a:p>
        </p:txBody>
      </p:sp>
      <p:sp>
        <p:nvSpPr>
          <p:cNvPr id="219" name="Text 12"/>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6F8190"/>
                </a:solidFill>
                <a:effectLst/>
                <a:uFillTx/>
                <a:latin typeface="Aptos"/>
              </a:rPr>
              <a:t>9</a:t>
            </a:r>
            <a:endParaRPr lang="fr-FR" sz="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940"/>
        </a:solidFill>
      </p:bgPr>
    </p:bg>
    <p:spTree>
      <p:nvGrpSpPr>
        <p:cNvPr id="1" name=""/>
        <p:cNvGrpSpPr/>
        <p:nvPr/>
      </p:nvGrpSpPr>
      <p:grpSpPr>
        <a:xfrm>
          <a:off x="0" y="0"/>
          <a:ext cx="0" cy="0"/>
          <a:chOff x="0" y="0"/>
          <a:chExt cx="0" cy="0"/>
        </a:xfrm>
      </p:grpSpPr>
      <p:sp>
        <p:nvSpPr>
          <p:cNvPr id="220" name="Shape 0"/>
          <p:cNvSpPr/>
          <p:nvPr/>
        </p:nvSpPr>
        <p:spPr>
          <a:xfrm>
            <a:off x="0" y="0"/>
            <a:ext cx="12191400" cy="6857640"/>
          </a:xfrm>
          <a:prstGeom prst="rect">
            <a:avLst/>
          </a:prstGeom>
          <a:solidFill>
            <a:srgbClr val="0F2940"/>
          </a:solidFill>
          <a:ln w="12700">
            <a:solidFill>
              <a:srgbClr val="0F2940"/>
            </a:solidFill>
            <a:round/>
          </a:ln>
        </p:spPr>
        <p:style>
          <a:lnRef idx="0"/>
          <a:fillRef idx="0"/>
          <a:effectRef idx="0"/>
          <a:fontRef idx="minor"/>
        </p:style>
        <p:txBody>
          <a:bodyPr lIns="90000" tIns="45000" rIns="90000" bIns="45000" anchor="t">
            <a:noAutofit/>
          </a:bodyPr>
          <a:p>
            <a:endParaRPr lang="fr-FR" sz="1800" b="0" u="none" strike="noStrike">
              <a:solidFill>
                <a:schemeClr val="lt2"/>
              </a:solidFill>
              <a:effectLst/>
              <a:uFillTx/>
              <a:latin typeface="Aptos"/>
            </a:endParaRPr>
          </a:p>
        </p:txBody>
      </p:sp>
      <p:sp>
        <p:nvSpPr>
          <p:cNvPr id="221" name="Shape 1"/>
          <p:cNvSpPr/>
          <p:nvPr/>
        </p:nvSpPr>
        <p:spPr>
          <a:xfrm>
            <a:off x="360" y="-41040"/>
            <a:ext cx="12191400" cy="118440"/>
          </a:xfrm>
          <a:prstGeom prst="rect">
            <a:avLst/>
          </a:prstGeom>
          <a:solidFill>
            <a:srgbClr val="1BA4A7"/>
          </a:solidFill>
          <a:ln w="12700">
            <a:solidFill>
              <a:srgbClr val="1BA4A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2" name="Text 2"/>
          <p:cNvSpPr/>
          <p:nvPr/>
        </p:nvSpPr>
        <p:spPr>
          <a:xfrm>
            <a:off x="749880" y="640080"/>
            <a:ext cx="237708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Aptos Display"/>
                <a:ea typeface="Aptos Display"/>
              </a:rPr>
              <a:t>Conclusion</a:t>
            </a:r>
            <a:endParaRPr lang="fr-FR" sz="2400" b="0" u="none" strike="noStrike">
              <a:solidFill>
                <a:srgbClr val="FFFFFF"/>
              </a:solidFill>
              <a:effectLst/>
              <a:uFillTx/>
              <a:latin typeface="Arial"/>
            </a:endParaRPr>
          </a:p>
        </p:txBody>
      </p:sp>
      <p:sp>
        <p:nvSpPr>
          <p:cNvPr id="223" name="Text 3"/>
          <p:cNvSpPr/>
          <p:nvPr/>
        </p:nvSpPr>
        <p:spPr>
          <a:xfrm>
            <a:off x="749880" y="1005840"/>
            <a:ext cx="6857640" cy="219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80" b="0" u="none" strike="noStrike">
                <a:solidFill>
                  <a:srgbClr val="D7E3EB"/>
                </a:solidFill>
                <a:effectLst/>
                <a:uFillTx/>
                <a:latin typeface="Aptos"/>
              </a:rPr>
              <a:t>Une approche simple, robuste et interprétable pour prédire la conversion</a:t>
            </a:r>
            <a:endParaRPr lang="fr-FR" sz="1280" b="0" u="none" strike="noStrike">
              <a:solidFill>
                <a:srgbClr val="FFFFFF"/>
              </a:solidFill>
              <a:effectLst/>
              <a:uFillTx/>
              <a:latin typeface="Arial"/>
            </a:endParaRPr>
          </a:p>
        </p:txBody>
      </p:sp>
      <p:sp>
        <p:nvSpPr>
          <p:cNvPr id="224" name="Shape 4"/>
          <p:cNvSpPr/>
          <p:nvPr/>
        </p:nvSpPr>
        <p:spPr>
          <a:xfrm>
            <a:off x="768240" y="1536120"/>
            <a:ext cx="5074560" cy="3520080"/>
          </a:xfrm>
          <a:prstGeom prst="roundRect">
            <a:avLst>
              <a:gd name="adj" fmla="val 1558"/>
            </a:avLst>
          </a:prstGeom>
          <a:solidFill>
            <a:srgbClr val="173B59"/>
          </a:solidFill>
          <a:ln w="8890">
            <a:solidFill>
              <a:srgbClr val="173B59"/>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5" name="Shape 5"/>
          <p:cNvSpPr/>
          <p:nvPr/>
        </p:nvSpPr>
        <p:spPr>
          <a:xfrm>
            <a:off x="6309360" y="1536120"/>
            <a:ext cx="5101920" cy="3520080"/>
          </a:xfrm>
          <a:prstGeom prst="roundRect">
            <a:avLst>
              <a:gd name="adj" fmla="val 1558"/>
            </a:avLst>
          </a:prstGeom>
          <a:solidFill>
            <a:srgbClr val="FFFFFF"/>
          </a:solidFill>
          <a:ln w="8890">
            <a:solidFill>
              <a:srgbClr val="FFFFFF"/>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26" name="Text 6"/>
          <p:cNvSpPr/>
          <p:nvPr/>
        </p:nvSpPr>
        <p:spPr>
          <a:xfrm>
            <a:off x="1005840" y="1847160"/>
            <a:ext cx="32000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BA4A7"/>
                </a:solidFill>
                <a:effectLst/>
                <a:uFillTx/>
                <a:latin typeface="Aptos"/>
              </a:rPr>
              <a:t>Ce que le projet démontre</a:t>
            </a:r>
            <a:endParaRPr lang="fr-FR" sz="1250" b="0" u="none" strike="noStrike">
              <a:solidFill>
                <a:srgbClr val="FFFFFF"/>
              </a:solidFill>
              <a:effectLst/>
              <a:uFillTx/>
              <a:latin typeface="Arial"/>
            </a:endParaRPr>
          </a:p>
        </p:txBody>
      </p:sp>
      <p:sp>
        <p:nvSpPr>
          <p:cNvPr id="227" name="Text 7"/>
          <p:cNvSpPr/>
          <p:nvPr/>
        </p:nvSpPr>
        <p:spPr>
          <a:xfrm>
            <a:off x="1005840" y="2176200"/>
            <a:ext cx="4461840" cy="157248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FFFFFF"/>
              </a:buClr>
              <a:buFont typeface="Symbol" charset="2"/>
              <a:buChar char=""/>
            </a:pPr>
            <a:r>
              <a:rPr lang="en-US" sz="1200" b="0" u="none" strike="noStrike">
                <a:solidFill>
                  <a:srgbClr val="FFFFFF"/>
                </a:solidFill>
                <a:effectLst/>
                <a:uFillTx/>
                <a:latin typeface="Aptos"/>
              </a:rPr>
              <a:t>un pipeline complet de classification supervisée ;</a:t>
            </a:r>
            <a:endParaRPr lang="fr-FR" sz="1200" b="0" u="none" strike="noStrike">
              <a:solidFill>
                <a:srgbClr val="FFFFFF"/>
              </a:solidFill>
              <a:effectLst/>
              <a:uFillTx/>
              <a:latin typeface="Arial"/>
            </a:endParaRPr>
          </a:p>
          <a:p>
            <a:pPr marL="177840" indent="-177840" defTabSz="914400">
              <a:lnSpc>
                <a:spcPct val="100000"/>
              </a:lnSpc>
              <a:buClr>
                <a:srgbClr val="FFFFFF"/>
              </a:buClr>
              <a:buFont typeface="Symbol" charset="2"/>
              <a:buChar char=""/>
            </a:pPr>
            <a:r>
              <a:rPr lang="en-US" sz="1200" b="0" u="none" strike="noStrike">
                <a:solidFill>
                  <a:srgbClr val="FFFFFF"/>
                </a:solidFill>
                <a:effectLst/>
                <a:uFillTx/>
                <a:latin typeface="Aptos"/>
              </a:rPr>
              <a:t>un choix de métrique adapté à une cible rare ;</a:t>
            </a:r>
            <a:endParaRPr lang="fr-FR" sz="1200" b="0" u="none" strike="noStrike">
              <a:solidFill>
                <a:srgbClr val="FFFFFF"/>
              </a:solidFill>
              <a:effectLst/>
              <a:uFillTx/>
              <a:latin typeface="Arial"/>
            </a:endParaRPr>
          </a:p>
          <a:p>
            <a:pPr marL="177840" indent="-177840" defTabSz="914400">
              <a:lnSpc>
                <a:spcPct val="100000"/>
              </a:lnSpc>
              <a:buClr>
                <a:srgbClr val="FFFFFF"/>
              </a:buClr>
              <a:buFont typeface="Symbol" charset="2"/>
              <a:buChar char=""/>
            </a:pPr>
            <a:r>
              <a:rPr lang="en-US" sz="1200" b="0" u="none" strike="noStrike">
                <a:solidFill>
                  <a:srgbClr val="FFFFFF"/>
                </a:solidFill>
                <a:effectLst/>
                <a:uFillTx/>
                <a:latin typeface="Aptos"/>
              </a:rPr>
              <a:t>un seuil optimisé pour maximiser le F1-score ;</a:t>
            </a:r>
            <a:endParaRPr lang="fr-FR" sz="1200" b="0" u="none" strike="noStrike">
              <a:solidFill>
                <a:srgbClr val="FFFFFF"/>
              </a:solidFill>
              <a:effectLst/>
              <a:uFillTx/>
              <a:latin typeface="Arial"/>
            </a:endParaRPr>
          </a:p>
          <a:p>
            <a:pPr marL="177840" indent="-177840" defTabSz="914400">
              <a:lnSpc>
                <a:spcPct val="100000"/>
              </a:lnSpc>
              <a:buClr>
                <a:srgbClr val="FFFFFF"/>
              </a:buClr>
              <a:buFont typeface="Symbol" charset="2"/>
              <a:buChar char=""/>
            </a:pPr>
            <a:r>
              <a:rPr lang="en-US" sz="1200" b="0" u="none" strike="noStrike">
                <a:solidFill>
                  <a:srgbClr val="FFFFFF"/>
                </a:solidFill>
                <a:effectLst/>
                <a:uFillTx/>
                <a:latin typeface="Aptos"/>
              </a:rPr>
              <a:t>une interprétation directement reliée aux actions métier.</a:t>
            </a:r>
            <a:endParaRPr lang="fr-FR" sz="1200" b="0" u="none" strike="noStrike">
              <a:solidFill>
                <a:srgbClr val="FFFFFF"/>
              </a:solidFill>
              <a:effectLst/>
              <a:uFillTx/>
              <a:latin typeface="Arial"/>
            </a:endParaRPr>
          </a:p>
        </p:txBody>
      </p:sp>
      <p:sp>
        <p:nvSpPr>
          <p:cNvPr id="228" name="Text 8"/>
          <p:cNvSpPr/>
          <p:nvPr/>
        </p:nvSpPr>
        <p:spPr>
          <a:xfrm>
            <a:off x="6546960" y="1847160"/>
            <a:ext cx="34743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2940"/>
                </a:solidFill>
                <a:effectLst/>
                <a:uFillTx/>
                <a:latin typeface="Aptos"/>
              </a:rPr>
              <a:t>Limites et suites possibles</a:t>
            </a:r>
            <a:endParaRPr lang="fr-FR" sz="1250" b="0" u="none" strike="noStrike">
              <a:solidFill>
                <a:srgbClr val="FFFFFF"/>
              </a:solidFill>
              <a:effectLst/>
              <a:uFillTx/>
              <a:latin typeface="Arial"/>
            </a:endParaRPr>
          </a:p>
        </p:txBody>
      </p:sp>
      <p:sp>
        <p:nvSpPr>
          <p:cNvPr id="229" name="Text 9"/>
          <p:cNvSpPr/>
          <p:nvPr/>
        </p:nvSpPr>
        <p:spPr>
          <a:xfrm>
            <a:off x="6546960" y="2176200"/>
            <a:ext cx="4461840" cy="1572480"/>
          </a:xfrm>
          <a:prstGeom prst="rect">
            <a:avLst/>
          </a:prstGeom>
          <a:noFill/>
          <a:ln w="0">
            <a:noFill/>
          </a:ln>
        </p:spPr>
        <p:style>
          <a:lnRef idx="0"/>
          <a:fillRef idx="0"/>
          <a:effectRef idx="0"/>
          <a:fontRef idx="minor"/>
        </p:style>
        <p:txBody>
          <a:bodyPr lIns="360" tIns="360" rIns="360" bIns="360" anchor="ctr">
            <a:normAutofit/>
          </a:bodyPr>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peu de variables disponibles ;</a:t>
            </a:r>
            <a:endParaRPr lang="fr-FR" sz="1200" b="0" u="none" strike="noStrike">
              <a:solidFill>
                <a:srgbClr val="FFFFFF"/>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les coefficients ne prouvent pas une causalité ;</a:t>
            </a:r>
            <a:endParaRPr lang="fr-FR" sz="1200" b="0" u="none" strike="noStrike">
              <a:solidFill>
                <a:srgbClr val="FFFFFF"/>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le seuil peut varier selon les données ;</a:t>
            </a:r>
            <a:endParaRPr lang="fr-FR" sz="1200" b="0" u="none" strike="noStrike">
              <a:solidFill>
                <a:srgbClr val="FFFFFF"/>
              </a:solidFill>
              <a:effectLst/>
              <a:uFillTx/>
              <a:latin typeface="Arial"/>
            </a:endParaRPr>
          </a:p>
          <a:p>
            <a:pPr marL="177840" indent="-177840" defTabSz="914400">
              <a:lnSpc>
                <a:spcPct val="100000"/>
              </a:lnSpc>
              <a:buClr>
                <a:srgbClr val="172635"/>
              </a:buClr>
              <a:buFont typeface="Symbol" charset="2"/>
              <a:buChar char=""/>
            </a:pPr>
            <a:r>
              <a:rPr lang="en-US" sz="1200" b="0" u="none" strike="noStrike">
                <a:solidFill>
                  <a:srgbClr val="172635"/>
                </a:solidFill>
                <a:effectLst/>
                <a:uFillTx/>
                <a:latin typeface="Aptos"/>
              </a:rPr>
              <a:t>analyse d’erreurs et segmentation à approfondir.</a:t>
            </a:r>
            <a:endParaRPr lang="fr-FR" sz="1200" b="0" u="none" strike="noStrike">
              <a:solidFill>
                <a:srgbClr val="FFFFFF"/>
              </a:solidFill>
              <a:effectLst/>
              <a:uFillTx/>
              <a:latin typeface="Arial"/>
            </a:endParaRPr>
          </a:p>
        </p:txBody>
      </p:sp>
      <p:sp>
        <p:nvSpPr>
          <p:cNvPr id="230" name="Shape 10"/>
          <p:cNvSpPr/>
          <p:nvPr/>
        </p:nvSpPr>
        <p:spPr>
          <a:xfrm>
            <a:off x="768240" y="5285160"/>
            <a:ext cx="6400440" cy="785880"/>
          </a:xfrm>
          <a:prstGeom prst="roundRect">
            <a:avLst>
              <a:gd name="adj" fmla="val 6977"/>
            </a:avLst>
          </a:prstGeom>
          <a:solidFill>
            <a:srgbClr val="16374F"/>
          </a:solidFill>
          <a:ln w="8890">
            <a:solidFill>
              <a:srgbClr val="16374F"/>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31" name="Text 11"/>
          <p:cNvSpPr/>
          <p:nvPr/>
        </p:nvSpPr>
        <p:spPr>
          <a:xfrm>
            <a:off x="932760" y="5394960"/>
            <a:ext cx="6071400" cy="56664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pPr>
            <a:r>
              <a:rPr lang="en-US" sz="1600" b="1" u="none" strike="noStrike">
                <a:solidFill>
                  <a:srgbClr val="FFFFFF"/>
                </a:solidFill>
                <a:effectLst/>
                <a:uFillTx/>
                <a:latin typeface="Aptos Display"/>
                <a:ea typeface="Aptos Display"/>
              </a:rPr>
              <a:t>Résultat final : un modèle de régression logistique optimisé, lisible, reproductible, et un fichier de prédictions final pour le jeu de test.</a:t>
            </a:r>
            <a:endParaRPr lang="fr-FR" sz="1600" b="0" u="none" strike="noStrike">
              <a:solidFill>
                <a:srgbClr val="FFFFFF"/>
              </a:solidFill>
              <a:effectLst/>
              <a:uFillTx/>
              <a:latin typeface="Arial"/>
            </a:endParaRPr>
          </a:p>
        </p:txBody>
      </p:sp>
      <p:sp>
        <p:nvSpPr>
          <p:cNvPr id="232" name="Shape 12"/>
          <p:cNvSpPr/>
          <p:nvPr/>
        </p:nvSpPr>
        <p:spPr>
          <a:xfrm>
            <a:off x="7333560" y="5367600"/>
            <a:ext cx="4177440" cy="1000800"/>
          </a:xfrm>
          <a:prstGeom prst="roundRect">
            <a:avLst>
              <a:gd name="adj" fmla="val 6522"/>
            </a:avLst>
          </a:prstGeom>
          <a:solidFill>
            <a:srgbClr val="1BA4A7"/>
          </a:solidFill>
          <a:ln w="8890">
            <a:solidFill>
              <a:srgbClr val="1BA4A7"/>
            </a:solidFill>
            <a:round/>
          </a:ln>
          <a:effectLst>
            <a:outerShdw algn="bl" blurRad="12600" dir="2700000" dist="50402" rotWithShape="0">
              <a:srgbClr val="9BA9B5">
                <a:alpha val="10000"/>
              </a:srgbClr>
            </a:outerShdw>
          </a:effectLst>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33" name="Text 13"/>
          <p:cNvSpPr/>
          <p:nvPr/>
        </p:nvSpPr>
        <p:spPr>
          <a:xfrm>
            <a:off x="7444080" y="5547240"/>
            <a:ext cx="3967200" cy="82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FFFFFF"/>
                </a:solidFill>
                <a:effectLst/>
                <a:uFillTx/>
                <a:latin typeface="Aptos Display"/>
                <a:ea typeface="Aptos Display"/>
              </a:rPr>
              <a:t>Merci pour votre attention                                          Questions / réponses</a:t>
            </a:r>
            <a:endParaRPr lang="fr-FR" sz="1000" b="0" u="none" strike="noStrike">
              <a:solidFill>
                <a:srgbClr val="FFFFFF"/>
              </a:solidFill>
              <a:effectLst/>
              <a:uFillTx/>
              <a:latin typeface="Arial"/>
            </a:endParaRPr>
          </a:p>
          <a:p>
            <a:pPr defTabSz="914400">
              <a:lnSpc>
                <a:spcPct val="100000"/>
              </a:lnSpc>
              <a:tabLst>
                <a:tab pos="0" algn="l"/>
              </a:tabLst>
            </a:pPr>
            <a:r>
              <a:rPr lang="en-US" sz="1000" b="0" u="none" strike="noStrike">
                <a:solidFill>
                  <a:srgbClr val="FFFFFF"/>
                </a:solidFill>
                <a:effectLst/>
                <a:uFillTx/>
                <a:latin typeface="Aptos Display"/>
                <a:ea typeface="Aptos Display"/>
              </a:rPr>
              <a:t> </a:t>
            </a:r>
            <a:endParaRPr lang="fr-FR" sz="1000" b="0" u="none" strike="noStrike">
              <a:solidFill>
                <a:srgbClr val="FFFFFF"/>
              </a:solidFill>
              <a:effectLst/>
              <a:uFillTx/>
              <a:latin typeface="Arial"/>
            </a:endParaRPr>
          </a:p>
          <a:p>
            <a:pPr defTabSz="914400">
              <a:lnSpc>
                <a:spcPct val="100000"/>
              </a:lnSpc>
              <a:tabLst>
                <a:tab pos="0" algn="l"/>
              </a:tabLst>
            </a:pPr>
            <a:endParaRPr lang="fr-FR" sz="1000" b="0" u="none" strike="noStrike">
              <a:solidFill>
                <a:srgbClr val="FFFFFF"/>
              </a:solidFill>
              <a:effectLst/>
              <a:uFillTx/>
              <a:latin typeface="Arial"/>
            </a:endParaRPr>
          </a:p>
          <a:p>
            <a:pPr defTabSz="914400">
              <a:lnSpc>
                <a:spcPct val="100000"/>
              </a:lnSpc>
              <a:tabLst>
                <a:tab pos="0" algn="l"/>
              </a:tabLst>
            </a:pPr>
            <a:endParaRPr lang="fr-FR" sz="1000" b="0" u="none" strike="noStrike">
              <a:solidFill>
                <a:srgbClr val="FFFFFF"/>
              </a:solidFill>
              <a:effectLst/>
              <a:uFillTx/>
              <a:latin typeface="Arial"/>
            </a:endParaRPr>
          </a:p>
          <a:p>
            <a:pPr defTabSz="914400">
              <a:lnSpc>
                <a:spcPct val="100000"/>
              </a:lnSpc>
              <a:tabLst>
                <a:tab pos="0" algn="l"/>
              </a:tabLst>
            </a:pPr>
            <a:endParaRPr lang="fr-FR" sz="1000" b="0" u="none" strike="noStrike">
              <a:solidFill>
                <a:srgbClr val="FFFFFF"/>
              </a:solidFill>
              <a:effectLst/>
              <a:uFillTx/>
              <a:latin typeface="Arial"/>
            </a:endParaRPr>
          </a:p>
        </p:txBody>
      </p:sp>
      <p:sp>
        <p:nvSpPr>
          <p:cNvPr id="234" name="Text 14"/>
          <p:cNvSpPr/>
          <p:nvPr/>
        </p:nvSpPr>
        <p:spPr>
          <a:xfrm>
            <a:off x="502920" y="6473880"/>
            <a:ext cx="20876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D9E2E9"/>
                </a:solidFill>
                <a:effectLst/>
                <a:uFillTx/>
                <a:latin typeface="Aptos"/>
              </a:rPr>
              <a:t>Challenge Conversion Rate — Bloc 3</a:t>
            </a:r>
            <a:endParaRPr lang="fr-FR" sz="750" b="0" u="none" strike="noStrike">
              <a:solidFill>
                <a:srgbClr val="FFFFFF"/>
              </a:solidFill>
              <a:effectLst/>
              <a:uFillTx/>
              <a:latin typeface="Arial"/>
            </a:endParaRPr>
          </a:p>
        </p:txBody>
      </p:sp>
      <p:sp>
        <p:nvSpPr>
          <p:cNvPr id="235" name="Text 15"/>
          <p:cNvSpPr/>
          <p:nvPr/>
        </p:nvSpPr>
        <p:spPr>
          <a:xfrm>
            <a:off x="11338560" y="6446520"/>
            <a:ext cx="31968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1" u="none" strike="noStrike">
                <a:solidFill>
                  <a:srgbClr val="D9E2E9"/>
                </a:solidFill>
                <a:effectLst/>
                <a:uFillTx/>
                <a:latin typeface="Aptos"/>
              </a:rPr>
              <a:t>10</a:t>
            </a:r>
            <a:endParaRPr lang="fr-FR"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LibreOffice/26.2.3.2$Windows_X86_64 LibreOffice_project/70e089b17412e4cb7773e41413306b17a2328c34</Application>
  <AppVersion>15.0000</AppVersion>
  <Words>1697</Words>
  <Paragraphs>201</Paragraphs>
  <Company>Jedha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2026-05-03T03:03:23Z</dcterms:created>
  <dc:creator>OpenAI for Etudiant JEDHA</dc:creator>
  <dc:description/>
  <dc:language>fr-FR</dc:language>
  <cp:lastModifiedBy/>
  <dcterms:modified xsi:type="dcterms:W3CDTF">2026-05-28T15:38:14Z</dcterms:modified>
  <cp:revision>3</cp:revision>
  <dc:subject>Challenge Conversion Rate — Présentation corporate</dc:subject>
  <dc:title>Challenge Conversion Rate — Prédiction de l’abonnement à la newsletter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Grand écran</vt:lpwstr>
  </property>
  <property fmtid="{D5CDD505-2E9C-101B-9397-08002B2CF9AE}" pid="4" name="Slides">
    <vt:i4>10</vt:i4>
  </property>
</Properties>
</file>