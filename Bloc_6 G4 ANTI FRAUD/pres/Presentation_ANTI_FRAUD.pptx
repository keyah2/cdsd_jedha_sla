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embeddedFontLst>
    <p:embeddedFont>
      <p:font typeface="Play"/>
      <p:regular r:id="rId15"/>
      <p:bold r:id="rId16"/>
      <p:italic r:id="rId1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font" Target="fonts/Font_1_Play_Regular.fntdata"/><Relationship Id="rId16" Type="http://schemas.openxmlformats.org/officeDocument/2006/relationships/font" Target="fonts/Font_2_Play_Bold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C9F2AD-14B6-49EE-9F04-79F6229E3069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-223200" y="1143000"/>
            <a:ext cx="7304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080" y="4400640"/>
            <a:ext cx="548712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9862B2-4BE7-489B-BA26-553F1D0DAA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pour éditer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format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 texte-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1A7466-BC77-4AF5-B99D-94209B55BE6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du texte-titre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286C013-B1C1-4798-B943-0C94178FBF2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43335D-9E8E-410B-916A-C8E2CDCE2D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pour éditer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format du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55E5C6-435B-4A30-8E10-2B895AEB243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772F1A-FADA-40CC-AC5E-E89344C5305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</a:t>
            </a: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AF00D2-A7AB-49D6-ACD1-AF2483DC690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FC84D7-6B0A-41C7-9BFF-014A525E3C3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B8CA28-1600-4F89-871A-E049AEAC189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32B5B6-8564-481D-BB11-1AEA3900069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26EBAC-9E7D-4A59-8352-3C9B0EFCEA1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CABAFC-F2DA-495E-B2D5-3DD3E68B21A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75240" y="2072520"/>
            <a:ext cx="5486040" cy="1950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1" u="none" strike="noStrike">
                <a:solidFill>
                  <a:srgbClr val="1C3860"/>
                </a:solidFill>
                <a:effectLst/>
                <a:uFillTx/>
                <a:latin typeface="Calibri"/>
                <a:ea typeface="Calibri"/>
              </a:rPr>
              <a:t>Détection de fraude aux paiements en ligne </a:t>
            </a:r>
            <a:endParaRPr lang="fr-F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86;g3f5fb95cfcb_0_6"/>
          <p:cNvPicPr/>
          <p:nvPr/>
        </p:nvPicPr>
        <p:blipFill>
          <a:blip r:embed="rId1"/>
          <a:stretch/>
        </p:blipFill>
        <p:spPr>
          <a:xfrm>
            <a:off x="6247080" y="3461040"/>
            <a:ext cx="5090760" cy="33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87;g3f5fb95cfcb_0_6"/>
          <p:cNvPicPr/>
          <p:nvPr/>
        </p:nvPicPr>
        <p:blipFill>
          <a:blip r:embed="rId2"/>
          <a:stretch/>
        </p:blipFill>
        <p:spPr>
          <a:xfrm>
            <a:off x="1120680" y="1049760"/>
            <a:ext cx="1297440" cy="8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88;g3f5fb95cfcb_0_6"/>
          <p:cNvSpPr/>
          <p:nvPr/>
        </p:nvSpPr>
        <p:spPr>
          <a:xfrm>
            <a:off x="567000" y="5910120"/>
            <a:ext cx="47743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CDSD – Groupe 4 – 2026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93;p2"/>
          <p:cNvSpPr/>
          <p:nvPr/>
        </p:nvSpPr>
        <p:spPr>
          <a:xfrm>
            <a:off x="115200" y="-6408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4;p2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Comprendre et anticiper la fraude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5;p2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6;p2"/>
          <p:cNvSpPr/>
          <p:nvPr/>
        </p:nvSpPr>
        <p:spPr>
          <a:xfrm>
            <a:off x="11292840" y="65379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7;p2"/>
          <p:cNvSpPr/>
          <p:nvPr/>
        </p:nvSpPr>
        <p:spPr>
          <a:xfrm>
            <a:off x="685800" y="96012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Le défi métier</a:t>
            </a:r>
            <a:endParaRPr lang="fr-F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98;p2"/>
          <p:cNvSpPr/>
          <p:nvPr/>
        </p:nvSpPr>
        <p:spPr>
          <a:xfrm>
            <a:off x="685800" y="150876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Détecter un maximum de transactions frauduleuses sans bloquer inutilement les clients légitimes.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99;p2"/>
          <p:cNvSpPr/>
          <p:nvPr/>
        </p:nvSpPr>
        <p:spPr>
          <a:xfrm>
            <a:off x="777240" y="27432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0;p2"/>
          <p:cNvSpPr/>
          <p:nvPr/>
        </p:nvSpPr>
        <p:spPr>
          <a:xfrm>
            <a:off x="914400" y="2971800"/>
            <a:ext cx="639720" cy="63972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$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1;p2"/>
          <p:cNvSpPr/>
          <p:nvPr/>
        </p:nvSpPr>
        <p:spPr>
          <a:xfrm>
            <a:off x="1645920" y="29534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Transaction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;p2"/>
          <p:cNvSpPr/>
          <p:nvPr/>
        </p:nvSpPr>
        <p:spPr>
          <a:xfrm>
            <a:off x="1645920" y="33649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paiement en ligne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Google Shape;103;p2"/>
          <p:cNvCxnSpPr/>
          <p:nvPr/>
        </p:nvCxnSpPr>
        <p:spPr>
          <a:xfrm>
            <a:off x="3200400" y="3364920"/>
            <a:ext cx="320400" cy="360"/>
          </a:xfrm>
          <a:prstGeom prst="straightConnector1">
            <a:avLst/>
          </a:prstGeom>
          <a:ln w="38100">
            <a:solidFill>
              <a:srgbClr val="12BCB8"/>
            </a:solidFill>
            <a:round/>
          </a:ln>
        </p:spPr>
      </p:cxnSp>
      <p:sp>
        <p:nvSpPr>
          <p:cNvPr id="83" name="Google Shape;104;p2"/>
          <p:cNvSpPr/>
          <p:nvPr/>
        </p:nvSpPr>
        <p:spPr>
          <a:xfrm>
            <a:off x="3657600" y="27432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5;p2"/>
          <p:cNvSpPr/>
          <p:nvPr/>
        </p:nvSpPr>
        <p:spPr>
          <a:xfrm>
            <a:off x="3794760" y="2971800"/>
            <a:ext cx="639720" cy="63972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%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6;p2"/>
          <p:cNvSpPr/>
          <p:nvPr/>
        </p:nvSpPr>
        <p:spPr>
          <a:xfrm>
            <a:off x="4526280" y="29534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Score risque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7;p2"/>
          <p:cNvSpPr/>
          <p:nvPr/>
        </p:nvSpPr>
        <p:spPr>
          <a:xfrm>
            <a:off x="4526280" y="33649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probabilité fraude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Google Shape;108;p2"/>
          <p:cNvCxnSpPr/>
          <p:nvPr/>
        </p:nvCxnSpPr>
        <p:spPr>
          <a:xfrm>
            <a:off x="6080760" y="3364920"/>
            <a:ext cx="320400" cy="360"/>
          </a:xfrm>
          <a:prstGeom prst="straightConnector1">
            <a:avLst/>
          </a:prstGeom>
          <a:ln w="38100">
            <a:solidFill>
              <a:srgbClr val="12BCB8"/>
            </a:solidFill>
            <a:round/>
          </a:ln>
        </p:spPr>
      </p:cxnSp>
      <p:sp>
        <p:nvSpPr>
          <p:cNvPr id="88" name="Google Shape;109;p2"/>
          <p:cNvSpPr/>
          <p:nvPr/>
        </p:nvSpPr>
        <p:spPr>
          <a:xfrm>
            <a:off x="6537960" y="27432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0;p2"/>
          <p:cNvSpPr/>
          <p:nvPr/>
        </p:nvSpPr>
        <p:spPr>
          <a:xfrm>
            <a:off x="6675120" y="2971800"/>
            <a:ext cx="639720" cy="639720"/>
          </a:xfrm>
          <a:prstGeom prst="ellipse">
            <a:avLst/>
          </a:prstGeom>
          <a:solidFill>
            <a:srgbClr val="10B981"/>
          </a:solidFill>
          <a:ln w="952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1;p2"/>
          <p:cNvSpPr/>
          <p:nvPr/>
        </p:nvSpPr>
        <p:spPr>
          <a:xfrm>
            <a:off x="7406640" y="29534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Décision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2;p2"/>
          <p:cNvSpPr/>
          <p:nvPr/>
        </p:nvSpPr>
        <p:spPr>
          <a:xfrm>
            <a:off x="7406640" y="33649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alerte / validation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3;p2"/>
          <p:cNvSpPr/>
          <p:nvPr/>
        </p:nvSpPr>
        <p:spPr>
          <a:xfrm>
            <a:off x="7406640" y="1947600"/>
            <a:ext cx="4023000" cy="2504160"/>
          </a:xfrm>
          <a:prstGeom prst="roundRect">
            <a:avLst>
              <a:gd name="adj" fmla="val 16667"/>
            </a:avLst>
          </a:prstGeom>
          <a:solidFill>
            <a:srgbClr val="E2FAF8"/>
          </a:solidFill>
          <a:ln w="12700">
            <a:solidFill>
              <a:srgbClr val="12B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4;p2"/>
          <p:cNvSpPr/>
          <p:nvPr/>
        </p:nvSpPr>
        <p:spPr>
          <a:xfrm>
            <a:off x="7726680" y="2191680"/>
            <a:ext cx="33829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Question centrale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15;p2"/>
          <p:cNvSpPr/>
          <p:nvPr/>
        </p:nvSpPr>
        <p:spPr>
          <a:xfrm>
            <a:off x="7624440" y="2937960"/>
            <a:ext cx="358776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• Quels facteurs augmentent le risque ?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• Comment prioriser les alertes ?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• Quel impact financier peut-on éviter ?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16;p2"/>
          <p:cNvSpPr/>
          <p:nvPr/>
        </p:nvSpPr>
        <p:spPr>
          <a:xfrm>
            <a:off x="731520" y="5074920"/>
            <a:ext cx="6400440" cy="712800"/>
          </a:xfrm>
          <a:prstGeom prst="roundRect">
            <a:avLst>
              <a:gd name="adj" fmla="val 16667"/>
            </a:avLst>
          </a:prstGeom>
          <a:solidFill>
            <a:srgbClr val="F2F8FC"/>
          </a:solidFill>
          <a:ln w="12700">
            <a:solidFill>
              <a:srgbClr val="DCE7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17;p2"/>
          <p:cNvSpPr/>
          <p:nvPr/>
        </p:nvSpPr>
        <p:spPr>
          <a:xfrm>
            <a:off x="960120" y="523044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Objectif : passer d’une détection manuelle à un outil d’aide à la décision exploitable.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Google Shape;118;p2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23;p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4;p4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Dataset : transactions e-commerce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5;p4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6;p4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7;p4"/>
          <p:cNvSpPr/>
          <p:nvPr/>
        </p:nvSpPr>
        <p:spPr>
          <a:xfrm>
            <a:off x="777240" y="1097280"/>
            <a:ext cx="23770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8;p4"/>
          <p:cNvSpPr/>
          <p:nvPr/>
        </p:nvSpPr>
        <p:spPr>
          <a:xfrm>
            <a:off x="887040" y="1261800"/>
            <a:ext cx="215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BCB8"/>
                </a:solidFill>
                <a:effectLst/>
                <a:uFillTx/>
                <a:latin typeface="Play"/>
                <a:ea typeface="Play"/>
              </a:rPr>
              <a:t>59 939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9;p4"/>
          <p:cNvSpPr/>
          <p:nvPr/>
        </p:nvSpPr>
        <p:spPr>
          <a:xfrm>
            <a:off x="887040" y="166428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transactions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0;p4"/>
          <p:cNvSpPr/>
          <p:nvPr/>
        </p:nvSpPr>
        <p:spPr>
          <a:xfrm>
            <a:off x="3429000" y="1097280"/>
            <a:ext cx="23770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1;p4"/>
          <p:cNvSpPr/>
          <p:nvPr/>
        </p:nvSpPr>
        <p:spPr>
          <a:xfrm>
            <a:off x="3538800" y="1261800"/>
            <a:ext cx="215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7404C"/>
                </a:solidFill>
                <a:effectLst/>
                <a:uFillTx/>
                <a:latin typeface="Play"/>
                <a:ea typeface="Play"/>
              </a:rPr>
              <a:t>2,21 %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2;p4"/>
          <p:cNvSpPr/>
          <p:nvPr/>
        </p:nvSpPr>
        <p:spPr>
          <a:xfrm>
            <a:off x="3538800" y="166428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fraudes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3;p4"/>
          <p:cNvSpPr/>
          <p:nvPr/>
        </p:nvSpPr>
        <p:spPr>
          <a:xfrm>
            <a:off x="6080760" y="1097280"/>
            <a:ext cx="23770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4;p4"/>
          <p:cNvSpPr/>
          <p:nvPr/>
        </p:nvSpPr>
        <p:spPr>
          <a:xfrm>
            <a:off x="6190560" y="1261800"/>
            <a:ext cx="215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3B82F6"/>
                </a:solidFill>
                <a:effectLst/>
                <a:uFillTx/>
                <a:latin typeface="Play"/>
                <a:ea typeface="Play"/>
              </a:rPr>
              <a:t>97,79 %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5;p4"/>
          <p:cNvSpPr/>
          <p:nvPr/>
        </p:nvSpPr>
        <p:spPr>
          <a:xfrm>
            <a:off x="6190560" y="166428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non fraude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6;p4"/>
          <p:cNvSpPr/>
          <p:nvPr/>
        </p:nvSpPr>
        <p:spPr>
          <a:xfrm>
            <a:off x="8732520" y="1097280"/>
            <a:ext cx="23770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7;p4"/>
          <p:cNvSpPr/>
          <p:nvPr/>
        </p:nvSpPr>
        <p:spPr>
          <a:xfrm>
            <a:off x="8842320" y="1261800"/>
            <a:ext cx="215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B981"/>
                </a:solidFill>
                <a:effectLst/>
                <a:uFillTx/>
                <a:latin typeface="Play"/>
                <a:ea typeface="Play"/>
              </a:rPr>
              <a:t>48+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38;p4"/>
          <p:cNvSpPr/>
          <p:nvPr/>
        </p:nvSpPr>
        <p:spPr>
          <a:xfrm>
            <a:off x="8842320" y="166428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features créées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39;p4"/>
          <p:cNvSpPr/>
          <p:nvPr/>
        </p:nvSpPr>
        <p:spPr>
          <a:xfrm>
            <a:off x="777240" y="2560320"/>
            <a:ext cx="493740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0;p4"/>
          <p:cNvSpPr/>
          <p:nvPr/>
        </p:nvSpPr>
        <p:spPr>
          <a:xfrm>
            <a:off x="1051560" y="27889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Un fort déséquilibre à traiter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1;p4"/>
          <p:cNvSpPr/>
          <p:nvPr/>
        </p:nvSpPr>
        <p:spPr>
          <a:xfrm>
            <a:off x="833040" y="3726000"/>
            <a:ext cx="1096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7404C"/>
                </a:solidFill>
                <a:effectLst/>
                <a:uFillTx/>
                <a:latin typeface="Arial"/>
                <a:ea typeface="Arial"/>
              </a:rPr>
              <a:t>Fraude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2;p4"/>
          <p:cNvSpPr/>
          <p:nvPr/>
        </p:nvSpPr>
        <p:spPr>
          <a:xfrm>
            <a:off x="1694880" y="3666600"/>
            <a:ext cx="3200040" cy="255600"/>
          </a:xfrm>
          <a:prstGeom prst="roundRect">
            <a:avLst>
              <a:gd name="adj" fmla="val 16667"/>
            </a:avLst>
          </a:prstGeom>
          <a:solidFill>
            <a:srgbClr val="E6EFF6"/>
          </a:solidFill>
          <a:ln w="12700">
            <a:solidFill>
              <a:srgbClr val="E6EF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3;p4"/>
          <p:cNvSpPr/>
          <p:nvPr/>
        </p:nvSpPr>
        <p:spPr>
          <a:xfrm>
            <a:off x="1694880" y="3666600"/>
            <a:ext cx="70560" cy="255600"/>
          </a:xfrm>
          <a:prstGeom prst="roundRect">
            <a:avLst>
              <a:gd name="adj" fmla="val 16667"/>
            </a:avLst>
          </a:prstGeom>
          <a:solidFill>
            <a:srgbClr val="E7404C"/>
          </a:solidFill>
          <a:ln w="12700">
            <a:solidFill>
              <a:srgbClr val="E740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5280" rIns="3528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4;p4"/>
          <p:cNvSpPr/>
          <p:nvPr/>
        </p:nvSpPr>
        <p:spPr>
          <a:xfrm>
            <a:off x="4800600" y="368964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7404C"/>
                </a:solidFill>
                <a:effectLst/>
                <a:uFillTx/>
                <a:latin typeface="Arial"/>
                <a:ea typeface="Arial"/>
              </a:rPr>
              <a:t>2,21 %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5;p4"/>
          <p:cNvSpPr/>
          <p:nvPr/>
        </p:nvSpPr>
        <p:spPr>
          <a:xfrm>
            <a:off x="833040" y="4270320"/>
            <a:ext cx="1096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Non fraude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6;p4"/>
          <p:cNvSpPr/>
          <p:nvPr/>
        </p:nvSpPr>
        <p:spPr>
          <a:xfrm>
            <a:off x="1694880" y="4215600"/>
            <a:ext cx="3200040" cy="255600"/>
          </a:xfrm>
          <a:prstGeom prst="roundRect">
            <a:avLst>
              <a:gd name="adj" fmla="val 16667"/>
            </a:avLst>
          </a:prstGeom>
          <a:solidFill>
            <a:srgbClr val="E6EFF6"/>
          </a:solidFill>
          <a:ln w="12700">
            <a:solidFill>
              <a:srgbClr val="E6EF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7;p4"/>
          <p:cNvSpPr/>
          <p:nvPr/>
        </p:nvSpPr>
        <p:spPr>
          <a:xfrm>
            <a:off x="1670760" y="4215600"/>
            <a:ext cx="3129120" cy="255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8;p4"/>
          <p:cNvSpPr/>
          <p:nvPr/>
        </p:nvSpPr>
        <p:spPr>
          <a:xfrm>
            <a:off x="4627800" y="4270320"/>
            <a:ext cx="9140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97,79 %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9;p4"/>
          <p:cNvSpPr/>
          <p:nvPr/>
        </p:nvSpPr>
        <p:spPr>
          <a:xfrm>
            <a:off x="6126480" y="2560320"/>
            <a:ext cx="4937400" cy="2468520"/>
          </a:xfrm>
          <a:prstGeom prst="roundRect">
            <a:avLst>
              <a:gd name="adj" fmla="val 16667"/>
            </a:avLst>
          </a:prstGeom>
          <a:solidFill>
            <a:srgbClr val="E2FAF8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0;p4"/>
          <p:cNvSpPr/>
          <p:nvPr/>
        </p:nvSpPr>
        <p:spPr>
          <a:xfrm>
            <a:off x="6446520" y="27979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Informations disponibles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1;p4"/>
          <p:cNvSpPr/>
          <p:nvPr/>
        </p:nvSpPr>
        <p:spPr>
          <a:xfrm>
            <a:off x="6492240" y="3337560"/>
            <a:ext cx="164160" cy="16416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rIns="820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2;p4"/>
          <p:cNvSpPr/>
          <p:nvPr/>
        </p:nvSpPr>
        <p:spPr>
          <a:xfrm>
            <a:off x="6812280" y="325512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Montant &amp; moyens de paiement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53;p4"/>
          <p:cNvSpPr/>
          <p:nvPr/>
        </p:nvSpPr>
        <p:spPr>
          <a:xfrm>
            <a:off x="6492240" y="3684960"/>
            <a:ext cx="164160" cy="16416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rIns="820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54;p4"/>
          <p:cNvSpPr/>
          <p:nvPr/>
        </p:nvSpPr>
        <p:spPr>
          <a:xfrm>
            <a:off x="6812280" y="36028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Contexte temporel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55;p4"/>
          <p:cNvSpPr/>
          <p:nvPr/>
        </p:nvSpPr>
        <p:spPr>
          <a:xfrm>
            <a:off x="6492240" y="4032360"/>
            <a:ext cx="164160" cy="164160"/>
          </a:xfrm>
          <a:prstGeom prst="ellipse">
            <a:avLst/>
          </a:prstGeom>
          <a:solidFill>
            <a:srgbClr val="10B981"/>
          </a:solidFill>
          <a:ln w="952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rIns="820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56;p4"/>
          <p:cNvSpPr/>
          <p:nvPr/>
        </p:nvSpPr>
        <p:spPr>
          <a:xfrm>
            <a:off x="6812280" y="39502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Géographie client / banque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57;p4"/>
          <p:cNvSpPr/>
          <p:nvPr/>
        </p:nvSpPr>
        <p:spPr>
          <a:xfrm>
            <a:off x="6492240" y="4380120"/>
            <a:ext cx="164160" cy="16416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rIns="8208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58;p4"/>
          <p:cNvSpPr/>
          <p:nvPr/>
        </p:nvSpPr>
        <p:spPr>
          <a:xfrm>
            <a:off x="6812280" y="42976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Utilisateur &amp; historique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59;p4"/>
          <p:cNvSpPr/>
          <p:nvPr/>
        </p:nvSpPr>
        <p:spPr>
          <a:xfrm>
            <a:off x="6492240" y="4727520"/>
            <a:ext cx="164160" cy="164160"/>
          </a:xfrm>
          <a:prstGeom prst="ellipse">
            <a:avLst/>
          </a:prstGeom>
          <a:solidFill>
            <a:srgbClr val="E7404C"/>
          </a:solidFill>
          <a:ln w="9525">
            <a:solidFill>
              <a:srgbClr val="E740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rIns="8208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0;p4"/>
          <p:cNvSpPr/>
          <p:nvPr/>
        </p:nvSpPr>
        <p:spPr>
          <a:xfrm>
            <a:off x="6812280" y="46450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Indicateurs sécurité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1;p4"/>
          <p:cNvSpPr/>
          <p:nvPr/>
        </p:nvSpPr>
        <p:spPr>
          <a:xfrm>
            <a:off x="777240" y="5532120"/>
            <a:ext cx="10286640" cy="502560"/>
          </a:xfrm>
          <a:prstGeom prst="roundRect">
            <a:avLst>
              <a:gd name="adj" fmla="val 16667"/>
            </a:avLst>
          </a:prstGeom>
          <a:solidFill>
            <a:srgbClr val="F2F8FC"/>
          </a:solidFill>
          <a:ln w="12700">
            <a:solidFill>
              <a:srgbClr val="DCE7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2;p4"/>
          <p:cNvSpPr/>
          <p:nvPr/>
        </p:nvSpPr>
        <p:spPr>
          <a:xfrm>
            <a:off x="1005840" y="562356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Conséquence : privilégier le recall, le F1-score et le coût métier plutôt que l’accuracy seule.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Google Shape;163;p4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68;p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69;p6"/>
          <p:cNvSpPr/>
          <p:nvPr/>
        </p:nvSpPr>
        <p:spPr>
          <a:xfrm>
            <a:off x="1143000" y="182880"/>
            <a:ext cx="6674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Feature engineering : enrichir le signal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0;p6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1;p6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2;p6"/>
          <p:cNvSpPr/>
          <p:nvPr/>
        </p:nvSpPr>
        <p:spPr>
          <a:xfrm>
            <a:off x="777240" y="1051560"/>
            <a:ext cx="990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Transformer des transactions brutes en signaux métier exploitables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3;p6"/>
          <p:cNvSpPr/>
          <p:nvPr/>
        </p:nvSpPr>
        <p:spPr>
          <a:xfrm>
            <a:off x="731520" y="1920240"/>
            <a:ext cx="228564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4;p6"/>
          <p:cNvSpPr/>
          <p:nvPr/>
        </p:nvSpPr>
        <p:spPr>
          <a:xfrm>
            <a:off x="960120" y="21488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Données brutes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5;p6"/>
          <p:cNvSpPr/>
          <p:nvPr/>
        </p:nvSpPr>
        <p:spPr>
          <a:xfrm>
            <a:off x="960120" y="2697480"/>
            <a:ext cx="1828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25560" rIns="38160" bIns="2556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montant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date / heure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pays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canal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catégorie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Google Shape;176;p6"/>
          <p:cNvCxnSpPr/>
          <p:nvPr/>
        </p:nvCxnSpPr>
        <p:spPr>
          <a:xfrm>
            <a:off x="3154680" y="3017520"/>
            <a:ext cx="640440" cy="360"/>
          </a:xfrm>
          <a:prstGeom prst="straightConnector1">
            <a:avLst/>
          </a:prstGeom>
          <a:ln w="38100">
            <a:solidFill>
              <a:srgbClr val="12BCB8"/>
            </a:solidFill>
            <a:round/>
          </a:ln>
        </p:spPr>
      </p:cxnSp>
      <p:sp>
        <p:nvSpPr>
          <p:cNvPr id="148" name="Google Shape;177;p6"/>
          <p:cNvSpPr/>
          <p:nvPr/>
        </p:nvSpPr>
        <p:spPr>
          <a:xfrm>
            <a:off x="3886200" y="1417320"/>
            <a:ext cx="4205880" cy="3245760"/>
          </a:xfrm>
          <a:prstGeom prst="roundRect">
            <a:avLst>
              <a:gd name="adj" fmla="val 16667"/>
            </a:avLst>
          </a:prstGeom>
          <a:solidFill>
            <a:srgbClr val="E2FAF8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78;p6"/>
          <p:cNvSpPr/>
          <p:nvPr/>
        </p:nvSpPr>
        <p:spPr>
          <a:xfrm>
            <a:off x="4160520" y="16916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Création de variables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79;p6"/>
          <p:cNvSpPr/>
          <p:nvPr/>
        </p:nvSpPr>
        <p:spPr>
          <a:xfrm>
            <a:off x="4251960" y="219456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0;p6"/>
          <p:cNvSpPr/>
          <p:nvPr/>
        </p:nvSpPr>
        <p:spPr>
          <a:xfrm>
            <a:off x="4251960" y="219456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Temporelles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1;p6"/>
          <p:cNvSpPr/>
          <p:nvPr/>
        </p:nvSpPr>
        <p:spPr>
          <a:xfrm>
            <a:off x="6080760" y="219456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12BCB8"/>
          </a:solidFill>
          <a:ln w="12700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82;p6"/>
          <p:cNvSpPr/>
          <p:nvPr/>
        </p:nvSpPr>
        <p:spPr>
          <a:xfrm>
            <a:off x="6080760" y="219456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Comportementales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83;p6"/>
          <p:cNvSpPr/>
          <p:nvPr/>
        </p:nvSpPr>
        <p:spPr>
          <a:xfrm>
            <a:off x="4251960" y="283464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E7404C"/>
          </a:solidFill>
          <a:ln w="12700">
            <a:solidFill>
              <a:srgbClr val="E740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84;p6"/>
          <p:cNvSpPr/>
          <p:nvPr/>
        </p:nvSpPr>
        <p:spPr>
          <a:xfrm>
            <a:off x="4251960" y="283464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Sécurité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85;p6"/>
          <p:cNvSpPr/>
          <p:nvPr/>
        </p:nvSpPr>
        <p:spPr>
          <a:xfrm>
            <a:off x="6080760" y="283464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86;p6"/>
          <p:cNvSpPr/>
          <p:nvPr/>
        </p:nvSpPr>
        <p:spPr>
          <a:xfrm>
            <a:off x="6080760" y="283464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Géo &amp; Log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87;p6"/>
          <p:cNvSpPr/>
          <p:nvPr/>
        </p:nvSpPr>
        <p:spPr>
          <a:xfrm>
            <a:off x="4251960" y="347472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7C5DFA"/>
          </a:solidFill>
          <a:ln w="12700">
            <a:solidFill>
              <a:srgbClr val="7C5D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88;p6"/>
          <p:cNvSpPr/>
          <p:nvPr/>
        </p:nvSpPr>
        <p:spPr>
          <a:xfrm>
            <a:off x="4251960" y="347472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Canal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89;p6"/>
          <p:cNvSpPr/>
          <p:nvPr/>
        </p:nvSpPr>
        <p:spPr>
          <a:xfrm>
            <a:off x="6080760" y="347472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0;p6"/>
          <p:cNvSpPr/>
          <p:nvPr/>
        </p:nvSpPr>
        <p:spPr>
          <a:xfrm>
            <a:off x="6080760" y="347472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Montants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Google Shape;191;p6"/>
          <p:cNvCxnSpPr/>
          <p:nvPr/>
        </p:nvCxnSpPr>
        <p:spPr>
          <a:xfrm>
            <a:off x="8229600" y="3017520"/>
            <a:ext cx="640440" cy="360"/>
          </a:xfrm>
          <a:prstGeom prst="straightConnector1">
            <a:avLst/>
          </a:prstGeom>
          <a:ln w="38100">
            <a:solidFill>
              <a:srgbClr val="12BCB8"/>
            </a:solidFill>
            <a:round/>
          </a:ln>
        </p:spPr>
      </p:cxnSp>
      <p:sp>
        <p:nvSpPr>
          <p:cNvPr id="163" name="Google Shape;192;p6"/>
          <p:cNvSpPr/>
          <p:nvPr/>
        </p:nvSpPr>
        <p:spPr>
          <a:xfrm>
            <a:off x="9006840" y="1920240"/>
            <a:ext cx="233136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3;p6"/>
          <p:cNvSpPr/>
          <p:nvPr/>
        </p:nvSpPr>
        <p:spPr>
          <a:xfrm>
            <a:off x="9281160" y="21488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Dataset prêt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94;p6"/>
          <p:cNvSpPr/>
          <p:nvPr/>
        </p:nvSpPr>
        <p:spPr>
          <a:xfrm>
            <a:off x="9418320" y="278892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BCB8"/>
                </a:solidFill>
                <a:effectLst/>
                <a:uFillTx/>
                <a:latin typeface="Play"/>
                <a:ea typeface="Play"/>
              </a:rPr>
              <a:t>48 features</a:t>
            </a:r>
            <a:br>
              <a:rPr sz="2400"/>
            </a:br>
            <a:r>
              <a:rPr lang="en-US" sz="2400" b="1" u="none" strike="noStrike">
                <a:solidFill>
                  <a:srgbClr val="12BCB8"/>
                </a:solidFill>
                <a:effectLst/>
                <a:uFillTx/>
                <a:latin typeface="Play"/>
                <a:ea typeface="Play"/>
              </a:rPr>
              <a:t>ajoutées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195;p6"/>
          <p:cNvSpPr/>
          <p:nvPr/>
        </p:nvSpPr>
        <p:spPr>
          <a:xfrm>
            <a:off x="1097280" y="5349240"/>
            <a:ext cx="9966600" cy="566640"/>
          </a:xfrm>
          <a:prstGeom prst="roundRect">
            <a:avLst>
              <a:gd name="adj" fmla="val 16667"/>
            </a:avLst>
          </a:prstGeom>
          <a:solidFill>
            <a:srgbClr val="031222"/>
          </a:solidFill>
          <a:ln w="12700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96;p6"/>
          <p:cNvSpPr/>
          <p:nvPr/>
        </p:nvSpPr>
        <p:spPr>
          <a:xfrm>
            <a:off x="1325880" y="5459040"/>
            <a:ext cx="9509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 feature engineering rend les signaux de fraude plus visibles pour le modèle.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Google Shape;197;p6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02;p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3;p7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Comparaison des modèles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4;p7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5;p7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6;p7"/>
          <p:cNvSpPr/>
          <p:nvPr/>
        </p:nvSpPr>
        <p:spPr>
          <a:xfrm>
            <a:off x="777240" y="987480"/>
            <a:ext cx="594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Performance post feature engineering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07;p7"/>
          <p:cNvSpPr/>
          <p:nvPr/>
        </p:nvSpPr>
        <p:spPr>
          <a:xfrm>
            <a:off x="777240" y="1600200"/>
            <a:ext cx="644616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08;p7"/>
          <p:cNvSpPr/>
          <p:nvPr/>
        </p:nvSpPr>
        <p:spPr>
          <a:xfrm>
            <a:off x="1143000" y="18745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Modèle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09;p7"/>
          <p:cNvSpPr/>
          <p:nvPr/>
        </p:nvSpPr>
        <p:spPr>
          <a:xfrm>
            <a:off x="4023360" y="1874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Recall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0;p7"/>
          <p:cNvSpPr/>
          <p:nvPr/>
        </p:nvSpPr>
        <p:spPr>
          <a:xfrm>
            <a:off x="4937760" y="1874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Precision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1;p7"/>
          <p:cNvSpPr/>
          <p:nvPr/>
        </p:nvSpPr>
        <p:spPr>
          <a:xfrm>
            <a:off x="5852160" y="1874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F1-score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12;p7"/>
          <p:cNvSpPr/>
          <p:nvPr/>
        </p:nvSpPr>
        <p:spPr>
          <a:xfrm>
            <a:off x="1005840" y="2395800"/>
            <a:ext cx="301320" cy="30132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13;p7"/>
          <p:cNvSpPr/>
          <p:nvPr/>
        </p:nvSpPr>
        <p:spPr>
          <a:xfrm>
            <a:off x="1417320" y="239580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Logistic Regression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4;p7"/>
          <p:cNvSpPr/>
          <p:nvPr/>
        </p:nvSpPr>
        <p:spPr>
          <a:xfrm>
            <a:off x="3703320" y="242316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15;p7"/>
          <p:cNvSpPr/>
          <p:nvPr/>
        </p:nvSpPr>
        <p:spPr>
          <a:xfrm>
            <a:off x="3703320" y="2423160"/>
            <a:ext cx="654120" cy="2008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16;p7"/>
          <p:cNvSpPr/>
          <p:nvPr/>
        </p:nvSpPr>
        <p:spPr>
          <a:xfrm>
            <a:off x="3703320" y="267912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0.8949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17;p7"/>
          <p:cNvSpPr/>
          <p:nvPr/>
        </p:nvSpPr>
        <p:spPr>
          <a:xfrm>
            <a:off x="4663440" y="242316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18;p7"/>
          <p:cNvSpPr/>
          <p:nvPr/>
        </p:nvSpPr>
        <p:spPr>
          <a:xfrm>
            <a:off x="4663440" y="2423160"/>
            <a:ext cx="160200" cy="2008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0280" rIns="80280"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19;p7"/>
          <p:cNvSpPr/>
          <p:nvPr/>
        </p:nvSpPr>
        <p:spPr>
          <a:xfrm>
            <a:off x="4663440" y="267912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0.2194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0;p7"/>
          <p:cNvSpPr/>
          <p:nvPr/>
        </p:nvSpPr>
        <p:spPr>
          <a:xfrm>
            <a:off x="5623560" y="242316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1;p7"/>
          <p:cNvSpPr/>
          <p:nvPr/>
        </p:nvSpPr>
        <p:spPr>
          <a:xfrm>
            <a:off x="5623560" y="2423160"/>
            <a:ext cx="257400" cy="2008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2;p7"/>
          <p:cNvSpPr/>
          <p:nvPr/>
        </p:nvSpPr>
        <p:spPr>
          <a:xfrm>
            <a:off x="5623560" y="267912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0.3524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23;p7"/>
          <p:cNvSpPr/>
          <p:nvPr/>
        </p:nvSpPr>
        <p:spPr>
          <a:xfrm>
            <a:off x="1005840" y="3264480"/>
            <a:ext cx="301320" cy="301320"/>
          </a:xfrm>
          <a:prstGeom prst="ellipse">
            <a:avLst/>
          </a:prstGeom>
          <a:solidFill>
            <a:srgbClr val="10B981"/>
          </a:solidFill>
          <a:ln w="952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24;p7"/>
          <p:cNvSpPr/>
          <p:nvPr/>
        </p:nvSpPr>
        <p:spPr>
          <a:xfrm>
            <a:off x="1417320" y="326448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25;p7"/>
          <p:cNvSpPr/>
          <p:nvPr/>
        </p:nvSpPr>
        <p:spPr>
          <a:xfrm>
            <a:off x="3703320" y="329184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26;p7"/>
          <p:cNvSpPr/>
          <p:nvPr/>
        </p:nvSpPr>
        <p:spPr>
          <a:xfrm>
            <a:off x="3703320" y="3291840"/>
            <a:ext cx="627120" cy="2008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27;p7"/>
          <p:cNvSpPr/>
          <p:nvPr/>
        </p:nvSpPr>
        <p:spPr>
          <a:xfrm>
            <a:off x="3703320" y="354780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0.8578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28;p7"/>
          <p:cNvSpPr/>
          <p:nvPr/>
        </p:nvSpPr>
        <p:spPr>
          <a:xfrm>
            <a:off x="4663440" y="329184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29;p7"/>
          <p:cNvSpPr/>
          <p:nvPr/>
        </p:nvSpPr>
        <p:spPr>
          <a:xfrm>
            <a:off x="4663440" y="3291840"/>
            <a:ext cx="474480" cy="2008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0;p7"/>
          <p:cNvSpPr/>
          <p:nvPr/>
        </p:nvSpPr>
        <p:spPr>
          <a:xfrm>
            <a:off x="4663440" y="354780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0.6491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1;p7"/>
          <p:cNvSpPr/>
          <p:nvPr/>
        </p:nvSpPr>
        <p:spPr>
          <a:xfrm>
            <a:off x="5623560" y="329184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32;p7"/>
          <p:cNvSpPr/>
          <p:nvPr/>
        </p:nvSpPr>
        <p:spPr>
          <a:xfrm>
            <a:off x="5623560" y="3291840"/>
            <a:ext cx="540360" cy="2008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33;p7"/>
          <p:cNvSpPr/>
          <p:nvPr/>
        </p:nvSpPr>
        <p:spPr>
          <a:xfrm>
            <a:off x="5623560" y="354780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0.7390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34;p7"/>
          <p:cNvSpPr/>
          <p:nvPr/>
        </p:nvSpPr>
        <p:spPr>
          <a:xfrm>
            <a:off x="1005840" y="4133160"/>
            <a:ext cx="301320" cy="30132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35;p7"/>
          <p:cNvSpPr/>
          <p:nvPr/>
        </p:nvSpPr>
        <p:spPr>
          <a:xfrm>
            <a:off x="1417320" y="41331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XGBoost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36;p7"/>
          <p:cNvSpPr/>
          <p:nvPr/>
        </p:nvSpPr>
        <p:spPr>
          <a:xfrm>
            <a:off x="3703320" y="416052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37;p7"/>
          <p:cNvSpPr/>
          <p:nvPr/>
        </p:nvSpPr>
        <p:spPr>
          <a:xfrm>
            <a:off x="3703320" y="4160520"/>
            <a:ext cx="608400" cy="2008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38;p7"/>
          <p:cNvSpPr/>
          <p:nvPr/>
        </p:nvSpPr>
        <p:spPr>
          <a:xfrm>
            <a:off x="3703320" y="441648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0.8321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39;p7"/>
          <p:cNvSpPr/>
          <p:nvPr/>
        </p:nvSpPr>
        <p:spPr>
          <a:xfrm>
            <a:off x="4663440" y="416052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0;p7"/>
          <p:cNvSpPr/>
          <p:nvPr/>
        </p:nvSpPr>
        <p:spPr>
          <a:xfrm>
            <a:off x="4663440" y="4160520"/>
            <a:ext cx="578880" cy="2008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1;p7"/>
          <p:cNvSpPr/>
          <p:nvPr/>
        </p:nvSpPr>
        <p:spPr>
          <a:xfrm>
            <a:off x="4663440" y="441648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0.7919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42;p7"/>
          <p:cNvSpPr/>
          <p:nvPr/>
        </p:nvSpPr>
        <p:spPr>
          <a:xfrm>
            <a:off x="5623560" y="4160520"/>
            <a:ext cx="731160" cy="200880"/>
          </a:xfrm>
          <a:prstGeom prst="roundRect">
            <a:avLst>
              <a:gd name="adj" fmla="val 16667"/>
            </a:avLst>
          </a:prstGeom>
          <a:solidFill>
            <a:srgbClr val="EBF1F7"/>
          </a:solidFill>
          <a:ln w="12700">
            <a:solidFill>
              <a:srgbClr val="EB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43;p7"/>
          <p:cNvSpPr/>
          <p:nvPr/>
        </p:nvSpPr>
        <p:spPr>
          <a:xfrm>
            <a:off x="5623560" y="4160520"/>
            <a:ext cx="593280" cy="2008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44;p7"/>
          <p:cNvSpPr/>
          <p:nvPr/>
        </p:nvSpPr>
        <p:spPr>
          <a:xfrm>
            <a:off x="5623560" y="4416480"/>
            <a:ext cx="776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0.8115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45;p7"/>
          <p:cNvSpPr/>
          <p:nvPr/>
        </p:nvSpPr>
        <p:spPr>
          <a:xfrm>
            <a:off x="7589520" y="1600200"/>
            <a:ext cx="3702960" cy="3840120"/>
          </a:xfrm>
          <a:prstGeom prst="roundRect">
            <a:avLst>
              <a:gd name="adj" fmla="val 16667"/>
            </a:avLst>
          </a:prstGeom>
          <a:solidFill>
            <a:srgbClr val="031222"/>
          </a:solidFill>
          <a:ln w="12700">
            <a:solidFill>
              <a:srgbClr val="031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46;p7"/>
          <p:cNvSpPr/>
          <p:nvPr/>
        </p:nvSpPr>
        <p:spPr>
          <a:xfrm>
            <a:off x="8001000" y="19202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Modèle retenu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47;p7"/>
          <p:cNvSpPr/>
          <p:nvPr/>
        </p:nvSpPr>
        <p:spPr>
          <a:xfrm>
            <a:off x="7955280" y="2514600"/>
            <a:ext cx="2971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9E0B"/>
                </a:solidFill>
                <a:effectLst/>
                <a:uFillTx/>
                <a:latin typeface="Play"/>
                <a:ea typeface="Play"/>
              </a:rPr>
              <a:t>XGBoost</a:t>
            </a:r>
            <a:endParaRPr lang="fr-F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48;p7"/>
          <p:cNvSpPr/>
          <p:nvPr/>
        </p:nvSpPr>
        <p:spPr>
          <a:xfrm>
            <a:off x="8001000" y="32918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Recall fraude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49;p7"/>
          <p:cNvSpPr/>
          <p:nvPr/>
        </p:nvSpPr>
        <p:spPr>
          <a:xfrm>
            <a:off x="9829800" y="329184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BCB8"/>
                </a:solidFill>
                <a:effectLst/>
                <a:uFillTx/>
                <a:latin typeface="Arial"/>
                <a:ea typeface="Arial"/>
              </a:rPr>
              <a:t>83,21 %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50;p7"/>
          <p:cNvSpPr/>
          <p:nvPr/>
        </p:nvSpPr>
        <p:spPr>
          <a:xfrm>
            <a:off x="8001000" y="380376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Precision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51;p7"/>
          <p:cNvSpPr/>
          <p:nvPr/>
        </p:nvSpPr>
        <p:spPr>
          <a:xfrm>
            <a:off x="9829800" y="38037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BCB8"/>
                </a:solidFill>
                <a:effectLst/>
                <a:uFillTx/>
                <a:latin typeface="Arial"/>
                <a:ea typeface="Arial"/>
              </a:rPr>
              <a:t>79,19 %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52;p7"/>
          <p:cNvSpPr/>
          <p:nvPr/>
        </p:nvSpPr>
        <p:spPr>
          <a:xfrm>
            <a:off x="8001000" y="43160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F1-score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53;p7"/>
          <p:cNvSpPr/>
          <p:nvPr/>
        </p:nvSpPr>
        <p:spPr>
          <a:xfrm>
            <a:off x="9829800" y="431604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BCB8"/>
                </a:solidFill>
                <a:effectLst/>
                <a:uFillTx/>
                <a:latin typeface="Arial"/>
                <a:ea typeface="Arial"/>
              </a:rPr>
              <a:t>0,8115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54;p7"/>
          <p:cNvSpPr/>
          <p:nvPr/>
        </p:nvSpPr>
        <p:spPr>
          <a:xfrm>
            <a:off x="7955280" y="50749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Meilleur compromis entre détection et fausses alertes.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Google Shape;255;p7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60;p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1;p3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Application : du fichier au score de risque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62;p3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63;p3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64;p3"/>
          <p:cNvSpPr/>
          <p:nvPr/>
        </p:nvSpPr>
        <p:spPr>
          <a:xfrm>
            <a:off x="640080" y="9874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Une interface orientée décision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65;p3"/>
          <p:cNvSpPr/>
          <p:nvPr/>
        </p:nvSpPr>
        <p:spPr>
          <a:xfrm>
            <a:off x="8612640" y="1616040"/>
            <a:ext cx="475200" cy="47520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66;p3"/>
          <p:cNvSpPr/>
          <p:nvPr/>
        </p:nvSpPr>
        <p:spPr>
          <a:xfrm>
            <a:off x="9170280" y="1581840"/>
            <a:ext cx="2834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Upload CSV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67;p3"/>
          <p:cNvSpPr/>
          <p:nvPr/>
        </p:nvSpPr>
        <p:spPr>
          <a:xfrm>
            <a:off x="9170280" y="1838520"/>
            <a:ext cx="2834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import du fichier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68;p3"/>
          <p:cNvSpPr/>
          <p:nvPr/>
        </p:nvSpPr>
        <p:spPr>
          <a:xfrm>
            <a:off x="8571600" y="2477520"/>
            <a:ext cx="475200" cy="47520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69;p3"/>
          <p:cNvSpPr/>
          <p:nvPr/>
        </p:nvSpPr>
        <p:spPr>
          <a:xfrm>
            <a:off x="9170280" y="2505600"/>
            <a:ext cx="2834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Audit de masse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70;p3"/>
          <p:cNvSpPr/>
          <p:nvPr/>
        </p:nvSpPr>
        <p:spPr>
          <a:xfrm>
            <a:off x="9170280" y="2734560"/>
            <a:ext cx="2834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score par transaction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71;p3"/>
          <p:cNvSpPr/>
          <p:nvPr/>
        </p:nvSpPr>
        <p:spPr>
          <a:xfrm>
            <a:off x="8612640" y="3324960"/>
            <a:ext cx="475200" cy="47520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72;p3"/>
          <p:cNvSpPr/>
          <p:nvPr/>
        </p:nvSpPr>
        <p:spPr>
          <a:xfrm>
            <a:off x="9211320" y="3429000"/>
            <a:ext cx="2834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Explication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73;p3"/>
          <p:cNvSpPr/>
          <p:nvPr/>
        </p:nvSpPr>
        <p:spPr>
          <a:xfrm>
            <a:off x="9211320" y="3687840"/>
            <a:ext cx="2834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facteurs SHAP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74;p3"/>
          <p:cNvSpPr/>
          <p:nvPr/>
        </p:nvSpPr>
        <p:spPr>
          <a:xfrm>
            <a:off x="8612640" y="4172400"/>
            <a:ext cx="475200" cy="47520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75;p3"/>
          <p:cNvSpPr/>
          <p:nvPr/>
        </p:nvSpPr>
        <p:spPr>
          <a:xfrm>
            <a:off x="9170280" y="4183560"/>
            <a:ext cx="2834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76;p3"/>
          <p:cNvSpPr/>
          <p:nvPr/>
        </p:nvSpPr>
        <p:spPr>
          <a:xfrm>
            <a:off x="9170280" y="4439880"/>
            <a:ext cx="28342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alerte ou validation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77;p3"/>
          <p:cNvSpPr/>
          <p:nvPr/>
        </p:nvSpPr>
        <p:spPr>
          <a:xfrm>
            <a:off x="7413480" y="5276160"/>
            <a:ext cx="3977280" cy="566640"/>
          </a:xfrm>
          <a:prstGeom prst="roundRect">
            <a:avLst>
              <a:gd name="adj" fmla="val 16667"/>
            </a:avLst>
          </a:prstGeom>
          <a:solidFill>
            <a:srgbClr val="031222"/>
          </a:solidFill>
          <a:ln w="12700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78;p3"/>
          <p:cNvSpPr/>
          <p:nvPr/>
        </p:nvSpPr>
        <p:spPr>
          <a:xfrm>
            <a:off x="7642080" y="5331240"/>
            <a:ext cx="3520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Livrable : application de scoring opérationnelle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Google Shape;279;p3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Google Shape;280;p3"/>
          <p:cNvPicPr/>
          <p:nvPr/>
        </p:nvPicPr>
        <p:blipFill>
          <a:blip r:embed="rId2"/>
          <a:stretch/>
        </p:blipFill>
        <p:spPr>
          <a:xfrm>
            <a:off x="58680" y="1652760"/>
            <a:ext cx="8295480" cy="337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85;p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31222"/>
          </a:solidFill>
          <a:ln w="9525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86;p5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Play"/>
                <a:ea typeface="Play"/>
              </a:rPr>
              <a:t>Comprendre les facteurs de risque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87;p5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88;p5"/>
          <p:cNvSpPr/>
          <p:nvPr/>
        </p:nvSpPr>
        <p:spPr>
          <a:xfrm>
            <a:off x="11585160" y="659844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89;p5"/>
          <p:cNvSpPr/>
          <p:nvPr/>
        </p:nvSpPr>
        <p:spPr>
          <a:xfrm>
            <a:off x="685800" y="9601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Interprétabilité avec SHAP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0;p5"/>
          <p:cNvSpPr/>
          <p:nvPr/>
        </p:nvSpPr>
        <p:spPr>
          <a:xfrm>
            <a:off x="685800" y="148140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1DDE2"/>
                </a:solidFill>
                <a:effectLst/>
                <a:uFillTx/>
                <a:latin typeface="Arial"/>
                <a:ea typeface="Arial"/>
              </a:rPr>
              <a:t>Le modèle ne donne pas seulement un score : il explique pourquoi une transaction semble risquée.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91;p5"/>
          <p:cNvSpPr/>
          <p:nvPr/>
        </p:nvSpPr>
        <p:spPr>
          <a:xfrm>
            <a:off x="8165160" y="2136960"/>
            <a:ext cx="3794400" cy="4617360"/>
          </a:xfrm>
          <a:prstGeom prst="roundRect">
            <a:avLst>
              <a:gd name="adj" fmla="val 16667"/>
            </a:avLst>
          </a:prstGeom>
          <a:solidFill>
            <a:srgbClr val="061628"/>
          </a:solidFill>
          <a:ln w="12700">
            <a:solidFill>
              <a:srgbClr val="123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292;p5"/>
          <p:cNvSpPr/>
          <p:nvPr/>
        </p:nvSpPr>
        <p:spPr>
          <a:xfrm>
            <a:off x="8578800" y="2596680"/>
            <a:ext cx="3108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2BCB8"/>
                </a:solidFill>
                <a:effectLst/>
                <a:uFillTx/>
                <a:latin typeface="Arial"/>
                <a:ea typeface="Arial"/>
              </a:rPr>
              <a:t>Facteurs influents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93;p5"/>
          <p:cNvSpPr/>
          <p:nvPr/>
        </p:nvSpPr>
        <p:spPr>
          <a:xfrm>
            <a:off x="8507880" y="3423240"/>
            <a:ext cx="347040" cy="347040"/>
          </a:xfrm>
          <a:prstGeom prst="ellipse">
            <a:avLst/>
          </a:prstGeom>
          <a:solidFill>
            <a:srgbClr val="E7404C"/>
          </a:solidFill>
          <a:ln w="9525">
            <a:solidFill>
              <a:srgbClr val="E740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294;p5"/>
          <p:cNvSpPr/>
          <p:nvPr/>
        </p:nvSpPr>
        <p:spPr>
          <a:xfrm>
            <a:off x="8898480" y="3405960"/>
            <a:ext cx="274284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account_age_days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295;p5"/>
          <p:cNvSpPr/>
          <p:nvPr/>
        </p:nvSpPr>
        <p:spPr>
          <a:xfrm>
            <a:off x="8944560" y="3649320"/>
            <a:ext cx="2742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Ancienneté du compte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96;p5"/>
          <p:cNvSpPr/>
          <p:nvPr/>
        </p:nvSpPr>
        <p:spPr>
          <a:xfrm>
            <a:off x="8507880" y="4092480"/>
            <a:ext cx="347040" cy="34704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97;p5"/>
          <p:cNvSpPr/>
          <p:nvPr/>
        </p:nvSpPr>
        <p:spPr>
          <a:xfrm>
            <a:off x="8898480" y="4092480"/>
            <a:ext cx="274284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user_fraud_rate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298;p5"/>
          <p:cNvSpPr/>
          <p:nvPr/>
        </p:nvSpPr>
        <p:spPr>
          <a:xfrm>
            <a:off x="8898480" y="4363560"/>
            <a:ext cx="2742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Historique de fraude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99;p5"/>
          <p:cNvSpPr/>
          <p:nvPr/>
        </p:nvSpPr>
        <p:spPr>
          <a:xfrm>
            <a:off x="8507880" y="4761360"/>
            <a:ext cx="347040" cy="347040"/>
          </a:xfrm>
          <a:prstGeom prst="ellipse">
            <a:avLst/>
          </a:prstGeom>
          <a:solidFill>
            <a:srgbClr val="28AAE6"/>
          </a:solidFill>
          <a:ln w="9525">
            <a:solidFill>
              <a:srgbClr val="28AA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0;p5"/>
          <p:cNvSpPr/>
          <p:nvPr/>
        </p:nvSpPr>
        <p:spPr>
          <a:xfrm>
            <a:off x="8944560" y="4761360"/>
            <a:ext cx="274284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shipping_distance_km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01;p5"/>
          <p:cNvSpPr/>
          <p:nvPr/>
        </p:nvSpPr>
        <p:spPr>
          <a:xfrm>
            <a:off x="8944560" y="5011920"/>
            <a:ext cx="2742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Distance livraison / IP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02;p5"/>
          <p:cNvSpPr/>
          <p:nvPr/>
        </p:nvSpPr>
        <p:spPr>
          <a:xfrm>
            <a:off x="8507880" y="5461560"/>
            <a:ext cx="347040" cy="347040"/>
          </a:xfrm>
          <a:prstGeom prst="ellipse">
            <a:avLst/>
          </a:prstGeom>
          <a:solidFill>
            <a:srgbClr val="10B981"/>
          </a:solidFill>
          <a:ln w="952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03;p5"/>
          <p:cNvSpPr/>
          <p:nvPr/>
        </p:nvSpPr>
        <p:spPr>
          <a:xfrm>
            <a:off x="8944560" y="5473080"/>
            <a:ext cx="274284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avs_match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04;p5"/>
          <p:cNvSpPr/>
          <p:nvPr/>
        </p:nvSpPr>
        <p:spPr>
          <a:xfrm>
            <a:off x="8944560" y="5721480"/>
            <a:ext cx="2742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Vérification adresse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05;p5"/>
          <p:cNvSpPr/>
          <p:nvPr/>
        </p:nvSpPr>
        <p:spPr>
          <a:xfrm>
            <a:off x="8507880" y="6091200"/>
            <a:ext cx="347040" cy="347040"/>
          </a:xfrm>
          <a:prstGeom prst="ellipse">
            <a:avLst/>
          </a:prstGeom>
          <a:solidFill>
            <a:srgbClr val="7C5DFA"/>
          </a:solidFill>
          <a:ln w="9525">
            <a:solidFill>
              <a:srgbClr val="7C5D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06;p5"/>
          <p:cNvSpPr/>
          <p:nvPr/>
        </p:nvSpPr>
        <p:spPr>
          <a:xfrm>
            <a:off x="8898480" y="6058440"/>
            <a:ext cx="274284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security_mismatch_score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07;p5"/>
          <p:cNvSpPr/>
          <p:nvPr/>
        </p:nvSpPr>
        <p:spPr>
          <a:xfrm>
            <a:off x="8898480" y="6306120"/>
            <a:ext cx="2742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ED2DC"/>
                </a:solidFill>
                <a:effectLst/>
                <a:uFillTx/>
                <a:latin typeface="Arial"/>
                <a:ea typeface="Arial"/>
              </a:rPr>
              <a:t>Incohérence sécurité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Google Shape;308;p5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oogle Shape;309;p5"/>
          <p:cNvPicPr/>
          <p:nvPr/>
        </p:nvPicPr>
        <p:blipFill>
          <a:blip r:embed="rId2"/>
          <a:stretch/>
        </p:blipFill>
        <p:spPr>
          <a:xfrm>
            <a:off x="1037520" y="2048040"/>
            <a:ext cx="5645160" cy="3380760"/>
          </a:xfrm>
          <a:prstGeom prst="rect">
            <a:avLst/>
          </a:prstGeom>
          <a:solidFill>
            <a:srgbClr val="031222"/>
          </a:solidFill>
          <a:ln w="9525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</p:pic>
      <p:pic>
        <p:nvPicPr>
          <p:cNvPr id="269" name="Google Shape;310;p5"/>
          <p:cNvPicPr/>
          <p:nvPr/>
        </p:nvPicPr>
        <p:blipFill>
          <a:blip r:embed="rId3"/>
          <a:stretch/>
        </p:blipFill>
        <p:spPr>
          <a:xfrm>
            <a:off x="1037520" y="5406840"/>
            <a:ext cx="5645160" cy="1340280"/>
          </a:xfrm>
          <a:prstGeom prst="rect">
            <a:avLst/>
          </a:prstGeom>
          <a:solidFill>
            <a:srgbClr val="031222"/>
          </a:solidFill>
          <a:ln w="9525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315;p11"/>
          <p:cNvSpPr/>
          <p:nvPr/>
        </p:nvSpPr>
        <p:spPr>
          <a:xfrm>
            <a:off x="-61200" y="0"/>
            <a:ext cx="122526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16;p11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Application, tests et déploiement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17;p11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18;p11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19;p11"/>
          <p:cNvSpPr/>
          <p:nvPr/>
        </p:nvSpPr>
        <p:spPr>
          <a:xfrm>
            <a:off x="10484640" y="813960"/>
            <a:ext cx="16455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Risque Faible (&lt;30%)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20;p11"/>
          <p:cNvSpPr/>
          <p:nvPr/>
        </p:nvSpPr>
        <p:spPr>
          <a:xfrm>
            <a:off x="11056320" y="850680"/>
            <a:ext cx="502560" cy="50256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21;p11"/>
          <p:cNvSpPr/>
          <p:nvPr/>
        </p:nvSpPr>
        <p:spPr>
          <a:xfrm>
            <a:off x="10484640" y="2121480"/>
            <a:ext cx="16455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Risque Modéré (30-70%)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22;p11"/>
          <p:cNvSpPr/>
          <p:nvPr/>
        </p:nvSpPr>
        <p:spPr>
          <a:xfrm>
            <a:off x="11056320" y="2158560"/>
            <a:ext cx="502560" cy="502560"/>
          </a:xfrm>
          <a:prstGeom prst="ellipse">
            <a:avLst/>
          </a:prstGeom>
          <a:solidFill>
            <a:srgbClr val="10B981"/>
          </a:solidFill>
          <a:ln w="952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23;p11"/>
          <p:cNvSpPr/>
          <p:nvPr/>
        </p:nvSpPr>
        <p:spPr>
          <a:xfrm>
            <a:off x="3981240" y="5851080"/>
            <a:ext cx="3565800" cy="548280"/>
          </a:xfrm>
          <a:prstGeom prst="roundRect">
            <a:avLst>
              <a:gd name="adj" fmla="val 16667"/>
            </a:avLst>
          </a:prstGeom>
          <a:solidFill>
            <a:srgbClr val="E2FAF8"/>
          </a:solidFill>
          <a:ln w="12700">
            <a:solidFill>
              <a:srgbClr val="DCE7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24;p11"/>
          <p:cNvSpPr/>
          <p:nvPr/>
        </p:nvSpPr>
        <p:spPr>
          <a:xfrm>
            <a:off x="4164120" y="5815440"/>
            <a:ext cx="320004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La solution est testable sur https://huggingface.co/spaces/JedhaSla/detecteur-fraude-ecommerce-v2.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Google Shape;325;p11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Google Shape;326;p11"/>
          <p:cNvPicPr/>
          <p:nvPr/>
        </p:nvPicPr>
        <p:blipFill>
          <a:blip r:embed="rId2"/>
          <a:stretch/>
        </p:blipFill>
        <p:spPr>
          <a:xfrm>
            <a:off x="360360" y="850680"/>
            <a:ext cx="9869760" cy="463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Google Shape;327;p11"/>
          <p:cNvSpPr/>
          <p:nvPr/>
        </p:nvSpPr>
        <p:spPr>
          <a:xfrm>
            <a:off x="10484640" y="3379680"/>
            <a:ext cx="16455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Risque élevé (70-95%)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28;p11"/>
          <p:cNvSpPr/>
          <p:nvPr/>
        </p:nvSpPr>
        <p:spPr>
          <a:xfrm>
            <a:off x="10484640" y="4600800"/>
            <a:ext cx="16455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Risque Critique (&gt;95%)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29;p11"/>
          <p:cNvSpPr/>
          <p:nvPr/>
        </p:nvSpPr>
        <p:spPr>
          <a:xfrm>
            <a:off x="11056320" y="3429000"/>
            <a:ext cx="502560" cy="502560"/>
          </a:xfrm>
          <a:prstGeom prst="ellipse">
            <a:avLst/>
          </a:prstGeom>
          <a:solidFill>
            <a:srgbClr val="6AA84F"/>
          </a:solidFill>
          <a:ln w="9525">
            <a:solidFill>
              <a:srgbClr val="6AA8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30;p11"/>
          <p:cNvSpPr/>
          <p:nvPr/>
        </p:nvSpPr>
        <p:spPr>
          <a:xfrm>
            <a:off x="11056320" y="4672800"/>
            <a:ext cx="502560" cy="502560"/>
          </a:xfrm>
          <a:prstGeom prst="ellipse">
            <a:avLst/>
          </a:prstGeom>
          <a:solidFill>
            <a:srgbClr val="38761D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335;p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1222"/>
          </a:solidFill>
          <a:ln w="9525">
            <a:solidFill>
              <a:srgbClr val="00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36;p10"/>
          <p:cNvSpPr/>
          <p:nvPr/>
        </p:nvSpPr>
        <p:spPr>
          <a:xfrm>
            <a:off x="502920" y="2559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Impact financier estimé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37;p10"/>
          <p:cNvSpPr/>
          <p:nvPr/>
        </p:nvSpPr>
        <p:spPr>
          <a:xfrm>
            <a:off x="1097280" y="713160"/>
            <a:ext cx="868320" cy="45360"/>
          </a:xfrm>
          <a:prstGeom prst="rect">
            <a:avLst/>
          </a:prstGeom>
          <a:solidFill>
            <a:srgbClr val="13B8C4"/>
          </a:solidFill>
          <a:ln w="9525">
            <a:solidFill>
              <a:srgbClr val="13B8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Google Shape;338;p10" descr="image.png"/>
          <p:cNvPicPr/>
          <p:nvPr/>
        </p:nvPicPr>
        <p:blipFill>
          <a:blip r:embed="rId1"/>
          <a:stretch/>
        </p:blipFill>
        <p:spPr>
          <a:xfrm>
            <a:off x="320040" y="1417320"/>
            <a:ext cx="690336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Google Shape;339;p10"/>
          <p:cNvSpPr/>
          <p:nvPr/>
        </p:nvSpPr>
        <p:spPr>
          <a:xfrm>
            <a:off x="7498080" y="1143000"/>
            <a:ext cx="4160160" cy="4434480"/>
          </a:xfrm>
          <a:prstGeom prst="roundRect">
            <a:avLst>
              <a:gd name="adj" fmla="val 16667"/>
            </a:avLst>
          </a:prstGeom>
          <a:solidFill>
            <a:srgbClr val="00192D"/>
          </a:solidFill>
          <a:ln w="9525">
            <a:solidFill>
              <a:srgbClr val="144B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40;p10"/>
          <p:cNvSpPr/>
          <p:nvPr/>
        </p:nvSpPr>
        <p:spPr>
          <a:xfrm>
            <a:off x="7790760" y="141732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Résultat de l’audit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41;p10"/>
          <p:cNvSpPr/>
          <p:nvPr/>
        </p:nvSpPr>
        <p:spPr>
          <a:xfrm>
            <a:off x="7772400" y="2103120"/>
            <a:ext cx="1572480" cy="822600"/>
          </a:xfrm>
          <a:prstGeom prst="roundRect">
            <a:avLst>
              <a:gd name="adj" fmla="val 16667"/>
            </a:avLst>
          </a:prstGeom>
          <a:solidFill>
            <a:srgbClr val="00192D"/>
          </a:solidFill>
          <a:ln w="9525">
            <a:solidFill>
              <a:srgbClr val="80B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42;p10"/>
          <p:cNvSpPr/>
          <p:nvPr/>
        </p:nvSpPr>
        <p:spPr>
          <a:xfrm>
            <a:off x="7818120" y="219456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B8C4"/>
                </a:solidFill>
                <a:effectLst/>
                <a:uFillTx/>
                <a:latin typeface="Arial"/>
                <a:ea typeface="Arial"/>
              </a:rPr>
              <a:t>59 939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43;p10"/>
          <p:cNvSpPr/>
          <p:nvPr/>
        </p:nvSpPr>
        <p:spPr>
          <a:xfrm>
            <a:off x="7818120" y="2505600"/>
            <a:ext cx="1481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transactions analysées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44;p10"/>
          <p:cNvSpPr/>
          <p:nvPr/>
        </p:nvSpPr>
        <p:spPr>
          <a:xfrm>
            <a:off x="9674280" y="2103120"/>
            <a:ext cx="1572480" cy="822600"/>
          </a:xfrm>
          <a:prstGeom prst="roundRect">
            <a:avLst>
              <a:gd name="adj" fmla="val 16667"/>
            </a:avLst>
          </a:prstGeom>
          <a:solidFill>
            <a:srgbClr val="00192D"/>
          </a:solidFill>
          <a:ln w="9525">
            <a:solidFill>
              <a:srgbClr val="80B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45;p10"/>
          <p:cNvSpPr/>
          <p:nvPr/>
        </p:nvSpPr>
        <p:spPr>
          <a:xfrm>
            <a:off x="9720000" y="219456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4B48"/>
                </a:solidFill>
                <a:effectLst/>
                <a:uFillTx/>
                <a:latin typeface="Arial"/>
                <a:ea typeface="Arial"/>
              </a:rPr>
              <a:t>1 850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46;p10"/>
          <p:cNvSpPr/>
          <p:nvPr/>
        </p:nvSpPr>
        <p:spPr>
          <a:xfrm>
            <a:off x="9720000" y="2505600"/>
            <a:ext cx="1481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alertes critiques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47;p10"/>
          <p:cNvSpPr/>
          <p:nvPr/>
        </p:nvSpPr>
        <p:spPr>
          <a:xfrm>
            <a:off x="8339400" y="3182040"/>
            <a:ext cx="2331360" cy="859320"/>
          </a:xfrm>
          <a:prstGeom prst="roundRect">
            <a:avLst>
              <a:gd name="adj" fmla="val 16667"/>
            </a:avLst>
          </a:prstGeom>
          <a:solidFill>
            <a:srgbClr val="00192D"/>
          </a:solidFill>
          <a:ln w="9525">
            <a:solidFill>
              <a:srgbClr val="80B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48;p10"/>
          <p:cNvSpPr/>
          <p:nvPr/>
        </p:nvSpPr>
        <p:spPr>
          <a:xfrm>
            <a:off x="8385120" y="3273480"/>
            <a:ext cx="223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$966,829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49;p10"/>
          <p:cNvSpPr/>
          <p:nvPr/>
        </p:nvSpPr>
        <p:spPr>
          <a:xfrm>
            <a:off x="8385120" y="3584520"/>
            <a:ext cx="2239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perte potentielle évitée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50;p10"/>
          <p:cNvSpPr/>
          <p:nvPr/>
        </p:nvSpPr>
        <p:spPr>
          <a:xfrm>
            <a:off x="7845480" y="4434840"/>
            <a:ext cx="3611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 modèle cible en priorité les transactions à fort risque financier.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51;p10"/>
          <p:cNvSpPr/>
          <p:nvPr/>
        </p:nvSpPr>
        <p:spPr>
          <a:xfrm>
            <a:off x="11475720" y="6446520"/>
            <a:ext cx="319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56;p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57;p12"/>
          <p:cNvSpPr/>
          <p:nvPr/>
        </p:nvSpPr>
        <p:spPr>
          <a:xfrm>
            <a:off x="1143000" y="1828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Conclusion et perspectives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58;p12"/>
          <p:cNvSpPr/>
          <p:nvPr/>
        </p:nvSpPr>
        <p:spPr>
          <a:xfrm>
            <a:off x="1143000" y="777240"/>
            <a:ext cx="868320" cy="36360"/>
          </a:xfrm>
          <a:prstGeom prst="rect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59;p12"/>
          <p:cNvSpPr/>
          <p:nvPr/>
        </p:nvSpPr>
        <p:spPr>
          <a:xfrm>
            <a:off x="11292840" y="6537960"/>
            <a:ext cx="4568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0;p12"/>
          <p:cNvSpPr/>
          <p:nvPr/>
        </p:nvSpPr>
        <p:spPr>
          <a:xfrm>
            <a:off x="777240" y="105156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Un système de détection</a:t>
            </a:r>
            <a:br>
              <a:rPr sz="2500"/>
            </a:br>
            <a:r>
              <a:rPr lang="en-US" sz="2500" b="1" u="none" strike="noStrike">
                <a:solidFill>
                  <a:srgbClr val="081F37"/>
                </a:solidFill>
                <a:effectLst/>
                <a:uFillTx/>
                <a:latin typeface="Play"/>
                <a:ea typeface="Play"/>
              </a:rPr>
              <a:t>orienté impact métier</a:t>
            </a:r>
            <a:endParaRPr lang="fr-F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1;p12"/>
          <p:cNvSpPr/>
          <p:nvPr/>
        </p:nvSpPr>
        <p:spPr>
          <a:xfrm>
            <a:off x="822960" y="2240280"/>
            <a:ext cx="21027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2;p12"/>
          <p:cNvSpPr/>
          <p:nvPr/>
        </p:nvSpPr>
        <p:spPr>
          <a:xfrm>
            <a:off x="932760" y="2404800"/>
            <a:ext cx="188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B981"/>
                </a:solidFill>
                <a:effectLst/>
                <a:uFillTx/>
                <a:latin typeface="Play"/>
                <a:ea typeface="Play"/>
              </a:rPr>
              <a:t>1 850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63;p12"/>
          <p:cNvSpPr/>
          <p:nvPr/>
        </p:nvSpPr>
        <p:spPr>
          <a:xfrm>
            <a:off x="932760" y="2807280"/>
            <a:ext cx="188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alertes critiques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64;p12"/>
          <p:cNvSpPr/>
          <p:nvPr/>
        </p:nvSpPr>
        <p:spPr>
          <a:xfrm>
            <a:off x="3154680" y="2240280"/>
            <a:ext cx="21027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65;p12"/>
          <p:cNvSpPr/>
          <p:nvPr/>
        </p:nvSpPr>
        <p:spPr>
          <a:xfrm>
            <a:off x="3264480" y="2404800"/>
            <a:ext cx="188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9E0B"/>
                </a:solidFill>
                <a:effectLst/>
                <a:uFillTx/>
                <a:latin typeface="Play"/>
                <a:ea typeface="Play"/>
              </a:rPr>
              <a:t>3,09 %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366;p12"/>
          <p:cNvSpPr/>
          <p:nvPr/>
        </p:nvSpPr>
        <p:spPr>
          <a:xfrm>
            <a:off x="3264480" y="2807280"/>
            <a:ext cx="188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taux d’alertes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367;p12"/>
          <p:cNvSpPr/>
          <p:nvPr/>
        </p:nvSpPr>
        <p:spPr>
          <a:xfrm>
            <a:off x="5486400" y="2240280"/>
            <a:ext cx="21027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68;p12"/>
          <p:cNvSpPr/>
          <p:nvPr/>
        </p:nvSpPr>
        <p:spPr>
          <a:xfrm>
            <a:off x="5596200" y="2404800"/>
            <a:ext cx="188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7404C"/>
                </a:solidFill>
                <a:effectLst/>
                <a:uFillTx/>
                <a:latin typeface="Play"/>
                <a:ea typeface="Play"/>
              </a:rPr>
              <a:t>$966,829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369;p12"/>
          <p:cNvSpPr/>
          <p:nvPr/>
        </p:nvSpPr>
        <p:spPr>
          <a:xfrm>
            <a:off x="5596200" y="2807280"/>
            <a:ext cx="188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perte potentielle évitée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70;p12"/>
          <p:cNvSpPr/>
          <p:nvPr/>
        </p:nvSpPr>
        <p:spPr>
          <a:xfrm>
            <a:off x="7955280" y="1097280"/>
            <a:ext cx="3428640" cy="4388760"/>
          </a:xfrm>
          <a:prstGeom prst="roundRect">
            <a:avLst>
              <a:gd name="adj" fmla="val 16667"/>
            </a:avLst>
          </a:prstGeom>
          <a:solidFill>
            <a:srgbClr val="E2FAF8"/>
          </a:solidFill>
          <a:ln w="12700">
            <a:solidFill>
              <a:srgbClr val="DCE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71;p12"/>
          <p:cNvSpPr/>
          <p:nvPr/>
        </p:nvSpPr>
        <p:spPr>
          <a:xfrm>
            <a:off x="8321040" y="1444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Perspectives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72;p12"/>
          <p:cNvSpPr/>
          <p:nvPr/>
        </p:nvSpPr>
        <p:spPr>
          <a:xfrm>
            <a:off x="8229600" y="2057400"/>
            <a:ext cx="347040" cy="34704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73;p12"/>
          <p:cNvSpPr/>
          <p:nvPr/>
        </p:nvSpPr>
        <p:spPr>
          <a:xfrm>
            <a:off x="8686800" y="20300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Données réelles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74;p12"/>
          <p:cNvSpPr/>
          <p:nvPr/>
        </p:nvSpPr>
        <p:spPr>
          <a:xfrm>
            <a:off x="8686800" y="225864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enrichir les signaux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75;p12"/>
          <p:cNvSpPr/>
          <p:nvPr/>
        </p:nvSpPr>
        <p:spPr>
          <a:xfrm>
            <a:off x="8229600" y="2770560"/>
            <a:ext cx="347040" cy="34704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76;p12"/>
          <p:cNvSpPr/>
          <p:nvPr/>
        </p:nvSpPr>
        <p:spPr>
          <a:xfrm>
            <a:off x="8686800" y="274320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Seuil dynamique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77;p12"/>
          <p:cNvSpPr/>
          <p:nvPr/>
        </p:nvSpPr>
        <p:spPr>
          <a:xfrm>
            <a:off x="8686800" y="29718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adapter au coût métier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378;p12"/>
          <p:cNvSpPr/>
          <p:nvPr/>
        </p:nvSpPr>
        <p:spPr>
          <a:xfrm>
            <a:off x="8229600" y="3483720"/>
            <a:ext cx="347040" cy="34704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379;p12"/>
          <p:cNvSpPr/>
          <p:nvPr/>
        </p:nvSpPr>
        <p:spPr>
          <a:xfrm>
            <a:off x="8686800" y="345636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Monitoring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80;p12"/>
          <p:cNvSpPr/>
          <p:nvPr/>
        </p:nvSpPr>
        <p:spPr>
          <a:xfrm>
            <a:off x="8686800" y="368496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surveiller la dérive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81;p12"/>
          <p:cNvSpPr/>
          <p:nvPr/>
        </p:nvSpPr>
        <p:spPr>
          <a:xfrm>
            <a:off x="8229600" y="4197240"/>
            <a:ext cx="347040" cy="347040"/>
          </a:xfrm>
          <a:prstGeom prst="ellipse">
            <a:avLst/>
          </a:prstGeom>
          <a:solidFill>
            <a:srgbClr val="12BCB8"/>
          </a:solidFill>
          <a:ln w="9525">
            <a:solidFill>
              <a:srgbClr val="12BC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82;p12"/>
          <p:cNvSpPr/>
          <p:nvPr/>
        </p:nvSpPr>
        <p:spPr>
          <a:xfrm>
            <a:off x="8686800" y="41695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MLOps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83;p12"/>
          <p:cNvSpPr/>
          <p:nvPr/>
        </p:nvSpPr>
        <p:spPr>
          <a:xfrm>
            <a:off x="8686800" y="439812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2697A"/>
                </a:solidFill>
                <a:effectLst/>
                <a:uFillTx/>
                <a:latin typeface="Arial"/>
                <a:ea typeface="Arial"/>
              </a:rPr>
              <a:t>passage en production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84;p12"/>
          <p:cNvSpPr/>
          <p:nvPr/>
        </p:nvSpPr>
        <p:spPr>
          <a:xfrm>
            <a:off x="822960" y="3886200"/>
            <a:ext cx="6583320" cy="1005480"/>
          </a:xfrm>
          <a:prstGeom prst="roundRect">
            <a:avLst>
              <a:gd name="adj" fmla="val 16667"/>
            </a:avLst>
          </a:prstGeom>
          <a:solidFill>
            <a:srgbClr val="F2F8FC"/>
          </a:solidFill>
          <a:ln w="12700">
            <a:solidFill>
              <a:srgbClr val="DCE7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85;p12"/>
          <p:cNvSpPr/>
          <p:nvPr/>
        </p:nvSpPr>
        <p:spPr>
          <a:xfrm>
            <a:off x="1097280" y="406908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Apports clés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86;p12"/>
          <p:cNvSpPr/>
          <p:nvPr/>
        </p:nvSpPr>
        <p:spPr>
          <a:xfrm>
            <a:off x="1097280" y="4434840"/>
            <a:ext cx="6034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1F37"/>
                </a:solidFill>
                <a:effectLst/>
                <a:uFillTx/>
                <a:latin typeface="Arial"/>
                <a:ea typeface="Arial"/>
              </a:rPr>
              <a:t>Comprendre le risque  •  Détecter sans bloquer inutilement  •  Prioriser les actions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387;p12"/>
          <p:cNvSpPr/>
          <p:nvPr/>
        </p:nvSpPr>
        <p:spPr>
          <a:xfrm>
            <a:off x="1280160" y="5623560"/>
            <a:ext cx="9600840" cy="566640"/>
          </a:xfrm>
          <a:prstGeom prst="roundRect">
            <a:avLst>
              <a:gd name="adj" fmla="val 16667"/>
            </a:avLst>
          </a:prstGeom>
          <a:solidFill>
            <a:srgbClr val="031222"/>
          </a:solidFill>
          <a:ln w="12700">
            <a:solidFill>
              <a:srgbClr val="0312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388;p12"/>
          <p:cNvSpPr/>
          <p:nvPr/>
        </p:nvSpPr>
        <p:spPr>
          <a:xfrm>
            <a:off x="1508760" y="573336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 projet transforme un dataset déséquilibré en outil d’aide à la décision, capable de prioriser les transactions les plus risquées.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Google Shape;389;p12"/>
          <p:cNvPicPr/>
          <p:nvPr/>
        </p:nvPicPr>
        <p:blipFill>
          <a:blip r:embed="rId1"/>
          <a:stretch/>
        </p:blipFill>
        <p:spPr>
          <a:xfrm>
            <a:off x="435960" y="274320"/>
            <a:ext cx="523800" cy="38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D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95;g3f5fb95cfcb_0_20"/>
          <p:cNvSpPr/>
          <p:nvPr/>
        </p:nvSpPr>
        <p:spPr>
          <a:xfrm>
            <a:off x="780120" y="1827000"/>
            <a:ext cx="1060632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60840" rIns="122040" bIns="608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C3860"/>
                </a:solidFill>
                <a:effectLst/>
                <a:uFillTx/>
                <a:latin typeface="Arial"/>
                <a:ea typeface="Arial"/>
              </a:rPr>
              <a:t>Merci !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396;g3f5fb95cfcb_0_20"/>
          <p:cNvSpPr/>
          <p:nvPr/>
        </p:nvSpPr>
        <p:spPr>
          <a:xfrm>
            <a:off x="3708360" y="4677120"/>
            <a:ext cx="47743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CDSD – Groupe 4 – 2026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397;g3f5fb95cfcb_0_20"/>
          <p:cNvSpPr/>
          <p:nvPr/>
        </p:nvSpPr>
        <p:spPr>
          <a:xfrm>
            <a:off x="11475720" y="6473880"/>
            <a:ext cx="41112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6E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fr-FR</dc:language>
  <cp:lastModifiedBy/>
  <dcterms:modified xsi:type="dcterms:W3CDTF">2026-08-02T17:44:44Z</dcterms:modified>
  <cp:revision>1</cp:revision>
  <dc:subject/>
  <dc:title/>
</cp:coreProperties>
</file>