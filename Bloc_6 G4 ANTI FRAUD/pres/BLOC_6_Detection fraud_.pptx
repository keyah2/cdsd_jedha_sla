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5D8F11-265C-4863-B595-1C86380952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BF9998-2E6D-48E0-994A-0CD2CF1709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3E4590-1FBC-454B-AED0-4A3841AECE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763DB9-384D-4962-B8B4-BC144F01A5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A0CB8D-892C-4966-9E2D-55DE988FDB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3E55EB-6D90-4CBB-BB4E-50AAE25280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0870A3-A875-460F-BBF2-F52A0B02E3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D39E03-D73E-4C6F-A3DD-F28892A2C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F34322-1023-47BA-97B4-3861D17FB1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F9862F-3ED2-42B4-A577-0D398D6BAA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235017-4CCA-4D90-9B98-A573FB6FB2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21600"/>
            <a:ext cx="12191760" cy="685764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7818120" y="548640"/>
            <a:ext cx="27000" cy="534888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02920" y="548640"/>
            <a:ext cx="6583320" cy="14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Analyse et prédiction du risque de fraude aux paiements en ligne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436680" y="198000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D2E6E8"/>
                </a:solidFill>
                <a:effectLst/>
                <a:uFillTx/>
                <a:latin typeface="Aptos"/>
              </a:rPr>
              <a:t>Détecteur de fraude e-commerce · Application Streamlit · Modèle XGBoost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6"/>
          <p:cNvSpPr/>
          <p:nvPr/>
        </p:nvSpPr>
        <p:spPr>
          <a:xfrm>
            <a:off x="530280" y="4480560"/>
            <a:ext cx="5394600" cy="919440"/>
          </a:xfrm>
          <a:prstGeom prst="rect">
            <a:avLst/>
          </a:prstGeom>
          <a:solidFill>
            <a:srgbClr val="0C4B58"/>
          </a:solidFill>
          <a:ln>
            <a:solidFill>
              <a:srgbClr val="0C4B5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545760" y="4529880"/>
            <a:ext cx="55501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Objectif : identifier les transactions à risque et prioriser les contrôles sans dégrader inutilement l’expérience client.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8" descr="slide01_pic00.png"/>
          <p:cNvPicPr/>
          <p:nvPr/>
        </p:nvPicPr>
        <p:blipFill>
          <a:blip r:embed="rId1"/>
          <a:srcRect l="0" t="42" r="0" b="42"/>
          <a:stretch/>
        </p:blipFill>
        <p:spPr>
          <a:xfrm>
            <a:off x="6080760" y="3429000"/>
            <a:ext cx="2468520" cy="164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Rectangle 9"/>
          <p:cNvSpPr/>
          <p:nvPr/>
        </p:nvSpPr>
        <p:spPr>
          <a:xfrm>
            <a:off x="8229600" y="960120"/>
            <a:ext cx="1508400" cy="658080"/>
          </a:xfrm>
          <a:prstGeom prst="rect">
            <a:avLst/>
          </a:prstGeom>
          <a:solidFill>
            <a:srgbClr val="052A34"/>
          </a:solidFill>
          <a:ln>
            <a:solidFill>
              <a:srgbClr val="0A74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8321040" y="103320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299 695</a:t>
            </a:r>
            <a:endParaRPr lang="fr-F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8321040" y="132588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transactions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8229600" y="1847160"/>
            <a:ext cx="1508400" cy="658080"/>
          </a:xfrm>
          <a:prstGeom prst="rect">
            <a:avLst/>
          </a:prstGeom>
          <a:solidFill>
            <a:srgbClr val="052A34"/>
          </a:solidFill>
          <a:ln>
            <a:solidFill>
              <a:srgbClr val="0A74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8321040" y="192024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≈ 2,2 %</a:t>
            </a:r>
            <a:endParaRPr lang="fr-F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4"/>
          <p:cNvSpPr/>
          <p:nvPr/>
        </p:nvSpPr>
        <p:spPr>
          <a:xfrm>
            <a:off x="8321040" y="221292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fraudes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5"/>
          <p:cNvSpPr/>
          <p:nvPr/>
        </p:nvSpPr>
        <p:spPr>
          <a:xfrm>
            <a:off x="8229600" y="2734200"/>
            <a:ext cx="1508400" cy="658080"/>
          </a:xfrm>
          <a:prstGeom prst="rect">
            <a:avLst/>
          </a:prstGeom>
          <a:solidFill>
            <a:srgbClr val="052A34"/>
          </a:solidFill>
          <a:ln>
            <a:solidFill>
              <a:srgbClr val="0A74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6"/>
          <p:cNvSpPr/>
          <p:nvPr/>
        </p:nvSpPr>
        <p:spPr>
          <a:xfrm>
            <a:off x="8321040" y="280728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≈ 0,83</a:t>
            </a:r>
            <a:endParaRPr lang="fr-F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7"/>
          <p:cNvSpPr/>
          <p:nvPr/>
        </p:nvSpPr>
        <p:spPr>
          <a:xfrm>
            <a:off x="8321040" y="309996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recall fraude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8"/>
          <p:cNvSpPr/>
          <p:nvPr/>
        </p:nvSpPr>
        <p:spPr>
          <a:xfrm>
            <a:off x="8229600" y="3620880"/>
            <a:ext cx="1508400" cy="658080"/>
          </a:xfrm>
          <a:prstGeom prst="rect">
            <a:avLst/>
          </a:prstGeom>
          <a:solidFill>
            <a:srgbClr val="052A34"/>
          </a:solidFill>
          <a:ln>
            <a:solidFill>
              <a:srgbClr val="0A74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9"/>
          <p:cNvSpPr/>
          <p:nvPr/>
        </p:nvSpPr>
        <p:spPr>
          <a:xfrm>
            <a:off x="8321040" y="369432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≈ 0,79</a:t>
            </a:r>
            <a:endParaRPr lang="fr-F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0"/>
          <p:cNvSpPr/>
          <p:nvPr/>
        </p:nvSpPr>
        <p:spPr>
          <a:xfrm>
            <a:off x="8409600" y="399672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precision fraude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1"/>
          <p:cNvSpPr/>
          <p:nvPr/>
        </p:nvSpPr>
        <p:spPr>
          <a:xfrm>
            <a:off x="530280" y="6272640"/>
            <a:ext cx="2742840" cy="6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C8DCDF"/>
                </a:solidFill>
                <a:effectLst/>
                <a:uFillTx/>
                <a:latin typeface="Aptos"/>
              </a:rPr>
              <a:t>Groupe 3 JEDHA - Bloc 6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2"/>
          <p:cNvSpPr/>
          <p:nvPr/>
        </p:nvSpPr>
        <p:spPr>
          <a:xfrm>
            <a:off x="9555480" y="6272640"/>
            <a:ext cx="210276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8DCDF"/>
                </a:solidFill>
                <a:effectLst/>
                <a:uFillTx/>
                <a:latin typeface="Aptos"/>
              </a:rPr>
              <a:t>Présentation 10 min + questions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760" cy="3106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0" y="311040"/>
            <a:ext cx="12191760" cy="4536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329040" y="15480"/>
            <a:ext cx="694908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Anticiper la fraude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5760000" y="54720"/>
            <a:ext cx="56696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2E6E8"/>
                </a:solidFill>
                <a:effectLst/>
                <a:uFillTx/>
                <a:latin typeface="Aptos"/>
              </a:rPr>
              <a:t>Traduire un risque métier en problème de classification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11658600" y="5040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11731680" y="6611040"/>
            <a:ext cx="155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2</a:t>
            </a:r>
            <a:endParaRPr lang="fr-FR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691560" y="641880"/>
            <a:ext cx="18284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QUESTION CENTRALE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545400" y="1024200"/>
            <a:ext cx="5394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Quels sont les facteurs qui augmentent le risque de fraude aux paiements en ligne ?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502920" y="1980000"/>
            <a:ext cx="530316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Comment les exploiter pour réduire les pertes sans pénaliser l’expérience client ?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11"/>
          <p:cNvSpPr/>
          <p:nvPr/>
        </p:nvSpPr>
        <p:spPr>
          <a:xfrm>
            <a:off x="502920" y="2871360"/>
            <a:ext cx="5120280" cy="234864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2"/>
          <p:cNvSpPr/>
          <p:nvPr/>
        </p:nvSpPr>
        <p:spPr>
          <a:xfrm>
            <a:off x="800280" y="3127320"/>
            <a:ext cx="4708800" cy="12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54720" rIns="7308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Limiter les fraudes non détectées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Éviter un volume excessif de fausses alertes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Transformer le score en aide à la priorisation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Garder une logique exploitable par les métiers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13"/>
          <p:cNvSpPr/>
          <p:nvPr/>
        </p:nvSpPr>
        <p:spPr>
          <a:xfrm>
            <a:off x="6428160" y="768240"/>
            <a:ext cx="4608360" cy="309960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Picture 14" descr="slide02_pic03.jpg"/>
          <p:cNvPicPr/>
          <p:nvPr/>
        </p:nvPicPr>
        <p:blipFill>
          <a:blip r:embed="rId1"/>
          <a:srcRect l="279" t="0" r="279" b="0"/>
          <a:stretch/>
        </p:blipFill>
        <p:spPr>
          <a:xfrm>
            <a:off x="6446520" y="786240"/>
            <a:ext cx="4571640" cy="306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angle 15"/>
          <p:cNvSpPr/>
          <p:nvPr/>
        </p:nvSpPr>
        <p:spPr>
          <a:xfrm>
            <a:off x="502920" y="5257800"/>
            <a:ext cx="10560960" cy="4384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502920" y="5257800"/>
            <a:ext cx="10533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Idée directrice : le bon modèle n’est pas celui qui “bloque tout”, mais celui qui trouve le meilleur compromis entre risque, coût et expérience client.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760" cy="3106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0" y="311040"/>
            <a:ext cx="12191760" cy="4536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329040" y="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Présentation de l’application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3960000" y="54720"/>
            <a:ext cx="746964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D2E6E8"/>
                </a:solidFill>
                <a:effectLst/>
                <a:uFillTx/>
                <a:latin typeface="Aptos"/>
              </a:rPr>
              <a:t>Rendre le modèle utilisable par un utilisateur métier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11658600" y="5040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11731680" y="6611040"/>
            <a:ext cx="155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3</a:t>
            </a:r>
            <a:endParaRPr lang="fr-FR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502920" y="804600"/>
            <a:ext cx="402300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Application Streamlit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502920" y="1170360"/>
            <a:ext cx="41144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Une interface simple pour transformer le modèle en outil d’audit.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10"/>
          <p:cNvSpPr/>
          <p:nvPr/>
        </p:nvSpPr>
        <p:spPr>
          <a:xfrm>
            <a:off x="567000" y="1691640"/>
            <a:ext cx="3611520" cy="74952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11"/>
          <p:cNvSpPr/>
          <p:nvPr/>
        </p:nvSpPr>
        <p:spPr>
          <a:xfrm>
            <a:off x="567000" y="1691640"/>
            <a:ext cx="63720" cy="74952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722520" y="1783080"/>
            <a:ext cx="33372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1. Tester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722520" y="2020680"/>
            <a:ext cx="333720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Simulation d’une transaction unitaire pour obtenir un premier score de risque.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4"/>
          <p:cNvSpPr/>
          <p:nvPr/>
        </p:nvSpPr>
        <p:spPr>
          <a:xfrm>
            <a:off x="567000" y="2615040"/>
            <a:ext cx="3611520" cy="74952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15"/>
          <p:cNvSpPr/>
          <p:nvPr/>
        </p:nvSpPr>
        <p:spPr>
          <a:xfrm>
            <a:off x="567000" y="2615040"/>
            <a:ext cx="63720" cy="74952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6"/>
          <p:cNvSpPr/>
          <p:nvPr/>
        </p:nvSpPr>
        <p:spPr>
          <a:xfrm>
            <a:off x="722520" y="2706480"/>
            <a:ext cx="33372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2. Importer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722520" y="2944440"/>
            <a:ext cx="333720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Chargement d’un fichier JSON ou CSV pour auditer plusieurs transactions.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8"/>
          <p:cNvSpPr/>
          <p:nvPr/>
        </p:nvSpPr>
        <p:spPr>
          <a:xfrm>
            <a:off x="567000" y="3538800"/>
            <a:ext cx="3611520" cy="74952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19"/>
          <p:cNvSpPr/>
          <p:nvPr/>
        </p:nvSpPr>
        <p:spPr>
          <a:xfrm>
            <a:off x="567000" y="3538800"/>
            <a:ext cx="63720" cy="74952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0"/>
          <p:cNvSpPr/>
          <p:nvPr/>
        </p:nvSpPr>
        <p:spPr>
          <a:xfrm>
            <a:off x="722520" y="3630240"/>
            <a:ext cx="33372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3. Décider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1"/>
          <p:cNvSpPr/>
          <p:nvPr/>
        </p:nvSpPr>
        <p:spPr>
          <a:xfrm>
            <a:off x="722520" y="3867840"/>
            <a:ext cx="333720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Affichage d’une prédiction, d’un score et d’un niveau d’alerte.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22"/>
          <p:cNvSpPr/>
          <p:nvPr/>
        </p:nvSpPr>
        <p:spPr>
          <a:xfrm>
            <a:off x="567000" y="4983480"/>
            <a:ext cx="3611520" cy="77652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3"/>
          <p:cNvSpPr/>
          <p:nvPr/>
        </p:nvSpPr>
        <p:spPr>
          <a:xfrm>
            <a:off x="749880" y="5093280"/>
            <a:ext cx="32457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 modèle sort du notebook : il devient exploitable par un utilisateur non technique.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24"/>
          <p:cNvSpPr/>
          <p:nvPr/>
        </p:nvSpPr>
        <p:spPr>
          <a:xfrm>
            <a:off x="4690800" y="914400"/>
            <a:ext cx="6574320" cy="41968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0" name="Picture 25" descr="slide03_pic03.png"/>
          <p:cNvPicPr/>
          <p:nvPr/>
        </p:nvPicPr>
        <p:blipFill>
          <a:blip r:embed="rId1"/>
          <a:stretch/>
        </p:blipFill>
        <p:spPr>
          <a:xfrm>
            <a:off x="4709160" y="932760"/>
            <a:ext cx="6537600" cy="416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Rectangle 26"/>
          <p:cNvSpPr/>
          <p:nvPr/>
        </p:nvSpPr>
        <p:spPr>
          <a:xfrm>
            <a:off x="4709160" y="5220000"/>
            <a:ext cx="6537600" cy="72000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7"/>
          <p:cNvSpPr/>
          <p:nvPr/>
        </p:nvSpPr>
        <p:spPr>
          <a:xfrm>
            <a:off x="4901040" y="5367600"/>
            <a:ext cx="61444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Fonctions clés : simulateur interne · audit JSON · audit CSV · lecture du risque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760" cy="3106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2"/>
          <p:cNvSpPr/>
          <p:nvPr/>
        </p:nvSpPr>
        <p:spPr>
          <a:xfrm>
            <a:off x="0" y="311040"/>
            <a:ext cx="12191760" cy="4536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329040" y="-30960"/>
            <a:ext cx="6949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Détection d’une transaction à risque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7589520" y="54720"/>
            <a:ext cx="3840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2E6E8"/>
                </a:solidFill>
                <a:effectLst/>
                <a:uFillTx/>
                <a:latin typeface="Aptos"/>
              </a:rPr>
              <a:t>Du score technique à la décision opérationnelle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11658600" y="5040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11731680" y="6611040"/>
            <a:ext cx="155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4</a:t>
            </a:r>
            <a:endParaRPr lang="fr-FR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502920" y="80460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Lecture métier de l’alerte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502920" y="1170360"/>
            <a:ext cx="3840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Le modèle ne donne pas seulement une classe : il aide à prioriser l’action.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10"/>
          <p:cNvSpPr/>
          <p:nvPr/>
        </p:nvSpPr>
        <p:spPr>
          <a:xfrm>
            <a:off x="567000" y="1755720"/>
            <a:ext cx="3382920" cy="6580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11"/>
          <p:cNvSpPr/>
          <p:nvPr/>
        </p:nvSpPr>
        <p:spPr>
          <a:xfrm>
            <a:off x="567000" y="1755720"/>
            <a:ext cx="63720" cy="658080"/>
          </a:xfrm>
          <a:prstGeom prst="rect">
            <a:avLst/>
          </a:prstGeom>
          <a:solidFill>
            <a:srgbClr val="CC444E"/>
          </a:solidFill>
          <a:ln>
            <a:solidFill>
              <a:srgbClr val="CC44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2"/>
          <p:cNvSpPr/>
          <p:nvPr/>
        </p:nvSpPr>
        <p:spPr>
          <a:xfrm>
            <a:off x="722520" y="1847160"/>
            <a:ext cx="3108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C444E"/>
                </a:solidFill>
                <a:effectLst/>
                <a:uFillTx/>
                <a:latin typeface="Aptos"/>
              </a:rPr>
              <a:t>Prédiction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3"/>
          <p:cNvSpPr/>
          <p:nvPr/>
        </p:nvSpPr>
        <p:spPr>
          <a:xfrm>
            <a:off x="722520" y="2084760"/>
            <a:ext cx="310860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Transaction signalée comme suspecte.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14"/>
          <p:cNvSpPr/>
          <p:nvPr/>
        </p:nvSpPr>
        <p:spPr>
          <a:xfrm>
            <a:off x="567000" y="2560320"/>
            <a:ext cx="3382920" cy="6580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5"/>
          <p:cNvSpPr/>
          <p:nvPr/>
        </p:nvSpPr>
        <p:spPr>
          <a:xfrm>
            <a:off x="567000" y="2560320"/>
            <a:ext cx="63720" cy="658080"/>
          </a:xfrm>
          <a:prstGeom prst="rect">
            <a:avLst/>
          </a:prstGeom>
          <a:solidFill>
            <a:srgbClr val="F3A646"/>
          </a:solidFill>
          <a:ln>
            <a:solidFill>
              <a:srgbClr val="F3A6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6"/>
          <p:cNvSpPr/>
          <p:nvPr/>
        </p:nvSpPr>
        <p:spPr>
          <a:xfrm>
            <a:off x="722520" y="2579400"/>
            <a:ext cx="3108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3A646"/>
                </a:solidFill>
                <a:effectLst/>
                <a:uFillTx/>
                <a:latin typeface="Aptos"/>
              </a:rPr>
              <a:t>Score de risque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7"/>
          <p:cNvSpPr/>
          <p:nvPr/>
        </p:nvSpPr>
        <p:spPr>
          <a:xfrm>
            <a:off x="722520" y="2806200"/>
            <a:ext cx="310860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Permet de classer les alertes par niveau de priorité.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8"/>
          <p:cNvSpPr/>
          <p:nvPr/>
        </p:nvSpPr>
        <p:spPr>
          <a:xfrm>
            <a:off x="567000" y="3364920"/>
            <a:ext cx="3382920" cy="82260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19"/>
          <p:cNvSpPr/>
          <p:nvPr/>
        </p:nvSpPr>
        <p:spPr>
          <a:xfrm>
            <a:off x="567000" y="3364920"/>
            <a:ext cx="63720" cy="82260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20"/>
          <p:cNvSpPr/>
          <p:nvPr/>
        </p:nvSpPr>
        <p:spPr>
          <a:xfrm>
            <a:off x="722520" y="3456360"/>
            <a:ext cx="31086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Facteurs de risque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1"/>
          <p:cNvSpPr/>
          <p:nvPr/>
        </p:nvSpPr>
        <p:spPr>
          <a:xfrm>
            <a:off x="722520" y="3694320"/>
            <a:ext cx="3108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Justifient l’alerte : compte récent, historique, sécurité, géographie.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22"/>
          <p:cNvSpPr/>
          <p:nvPr/>
        </p:nvSpPr>
        <p:spPr>
          <a:xfrm>
            <a:off x="567000" y="4983480"/>
            <a:ext cx="3382920" cy="77652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3"/>
          <p:cNvSpPr/>
          <p:nvPr/>
        </p:nvSpPr>
        <p:spPr>
          <a:xfrm>
            <a:off x="749880" y="5102280"/>
            <a:ext cx="308124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Décision possible : surveillance, contrôle manuel ou blocage selon la politique de risque.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24"/>
          <p:cNvSpPr/>
          <p:nvPr/>
        </p:nvSpPr>
        <p:spPr>
          <a:xfrm>
            <a:off x="4325040" y="768240"/>
            <a:ext cx="7122960" cy="480924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6" name="Picture 25" descr="slide04_pic00.png"/>
          <p:cNvPicPr/>
          <p:nvPr/>
        </p:nvPicPr>
        <p:blipFill>
          <a:blip r:embed="rId1"/>
          <a:stretch/>
        </p:blipFill>
        <p:spPr>
          <a:xfrm>
            <a:off x="4343400" y="580680"/>
            <a:ext cx="7391520" cy="497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Box 26"/>
          <p:cNvSpPr/>
          <p:nvPr/>
        </p:nvSpPr>
        <p:spPr>
          <a:xfrm>
            <a:off x="4617720" y="568764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Exemple : score élevé + facteurs critiques ⇒ alerte prioritaire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91760" cy="3106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0" y="311040"/>
            <a:ext cx="12191760" cy="4536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329040" y="15480"/>
            <a:ext cx="694908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Résultat financier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5940000" y="54720"/>
            <a:ext cx="54896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2E6E8"/>
                </a:solidFill>
                <a:effectLst/>
                <a:uFillTx/>
                <a:latin typeface="Aptos"/>
              </a:rPr>
              <a:t>Interpréter la performance comme un impact métier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11658600" y="5040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11731680" y="6611040"/>
            <a:ext cx="155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5</a:t>
            </a:r>
            <a:endParaRPr lang="fr-FR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603360" y="62172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C272B"/>
                </a:solidFill>
                <a:effectLst/>
                <a:uFillTx/>
                <a:latin typeface="Aptos"/>
              </a:rPr>
              <a:t>Impact financier de l’audit de masse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621720" y="107892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5D6E74"/>
                </a:solidFill>
                <a:effectLst/>
                <a:uFillTx/>
                <a:latin typeface="Aptos"/>
              </a:rPr>
              <a:t>Passer d’un score de fraude à une priorisation opérationnelle des contrôles.</a:t>
            </a:r>
            <a:endParaRPr lang="fr-F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0"/>
          <p:cNvSpPr/>
          <p:nvPr/>
        </p:nvSpPr>
        <p:spPr>
          <a:xfrm>
            <a:off x="658440" y="1627560"/>
            <a:ext cx="31543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4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ounded Rectangle 11"/>
          <p:cNvSpPr/>
          <p:nvPr/>
        </p:nvSpPr>
        <p:spPr>
          <a:xfrm>
            <a:off x="813960" y="1774080"/>
            <a:ext cx="840960" cy="255600"/>
          </a:xfrm>
          <a:prstGeom prst="roundRect">
            <a:avLst>
              <a:gd name="adj" fmla="val 16667"/>
            </a:avLst>
          </a:prstGeom>
          <a:solidFill>
            <a:srgbClr val="00BCBE"/>
          </a:solidFill>
          <a:ln>
            <a:solidFill>
              <a:srgbClr val="00B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AUDIT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2"/>
          <p:cNvSpPr/>
          <p:nvPr/>
        </p:nvSpPr>
        <p:spPr>
          <a:xfrm>
            <a:off x="822960" y="20847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BCBE"/>
                </a:solidFill>
                <a:effectLst/>
                <a:uFillTx/>
                <a:latin typeface="Aptos"/>
              </a:rPr>
              <a:t>Dataset test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3"/>
          <p:cNvSpPr/>
          <p:nvPr/>
        </p:nvSpPr>
        <p:spPr>
          <a:xfrm>
            <a:off x="822960" y="24598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D6E74"/>
                </a:solidFill>
                <a:effectLst/>
                <a:uFillTx/>
                <a:latin typeface="Aptos"/>
              </a:rPr>
              <a:t>volume analysé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14"/>
          <p:cNvSpPr/>
          <p:nvPr/>
        </p:nvSpPr>
        <p:spPr>
          <a:xfrm>
            <a:off x="4123800" y="1627560"/>
            <a:ext cx="31543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4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ounded Rectangle 15"/>
          <p:cNvSpPr/>
          <p:nvPr/>
        </p:nvSpPr>
        <p:spPr>
          <a:xfrm>
            <a:off x="4279320" y="1774080"/>
            <a:ext cx="840960" cy="255600"/>
          </a:xfrm>
          <a:prstGeom prst="roundRect">
            <a:avLst>
              <a:gd name="adj" fmla="val 16667"/>
            </a:avLst>
          </a:prstGeom>
          <a:solidFill>
            <a:srgbClr val="D54252"/>
          </a:solidFill>
          <a:ln>
            <a:solidFill>
              <a:srgbClr val="D542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ALERTE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6"/>
          <p:cNvSpPr/>
          <p:nvPr/>
        </p:nvSpPr>
        <p:spPr>
          <a:xfrm>
            <a:off x="4288680" y="20847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D54252"/>
                </a:solidFill>
                <a:effectLst/>
                <a:uFillTx/>
                <a:latin typeface="Aptos"/>
              </a:rPr>
              <a:t>4 311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7"/>
          <p:cNvSpPr/>
          <p:nvPr/>
        </p:nvSpPr>
        <p:spPr>
          <a:xfrm>
            <a:off x="4288680" y="24598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D6E74"/>
                </a:solidFill>
                <a:effectLst/>
                <a:uFillTx/>
                <a:latin typeface="Aptos"/>
              </a:rPr>
              <a:t>transactions critiques détectées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8"/>
          <p:cNvSpPr/>
          <p:nvPr/>
        </p:nvSpPr>
        <p:spPr>
          <a:xfrm>
            <a:off x="7589520" y="1627560"/>
            <a:ext cx="31543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4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ounded Rectangle 19"/>
          <p:cNvSpPr/>
          <p:nvPr/>
        </p:nvSpPr>
        <p:spPr>
          <a:xfrm>
            <a:off x="7745040" y="1774080"/>
            <a:ext cx="840960" cy="255600"/>
          </a:xfrm>
          <a:prstGeom prst="roundRect">
            <a:avLst>
              <a:gd name="adj" fmla="val 16667"/>
            </a:avLst>
          </a:prstGeom>
          <a:solidFill>
            <a:srgbClr val="F19C30"/>
          </a:solidFill>
          <a:ln>
            <a:solidFill>
              <a:srgbClr val="F19C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IMPACT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0"/>
          <p:cNvSpPr/>
          <p:nvPr/>
        </p:nvSpPr>
        <p:spPr>
          <a:xfrm>
            <a:off x="7754040" y="20847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19C30"/>
                </a:solidFill>
                <a:effectLst/>
                <a:uFillTx/>
                <a:latin typeface="Aptos"/>
              </a:rPr>
              <a:t>$1,49M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1"/>
          <p:cNvSpPr/>
          <p:nvPr/>
        </p:nvSpPr>
        <p:spPr>
          <a:xfrm>
            <a:off x="7754040" y="24598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D6E74"/>
                </a:solidFill>
                <a:effectLst/>
                <a:uFillTx/>
                <a:latin typeface="Aptos"/>
              </a:rPr>
              <a:t>perte potentielle évitée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22"/>
          <p:cNvSpPr/>
          <p:nvPr/>
        </p:nvSpPr>
        <p:spPr>
          <a:xfrm>
            <a:off x="658440" y="2990160"/>
            <a:ext cx="10807920" cy="712800"/>
          </a:xfrm>
          <a:prstGeom prst="roundRect">
            <a:avLst>
              <a:gd name="adj" fmla="val 16667"/>
            </a:avLst>
          </a:prstGeom>
          <a:solidFill>
            <a:srgbClr val="EBF4F5"/>
          </a:solidFill>
          <a:ln>
            <a:solidFill>
              <a:srgbClr val="D6E5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Oval 23"/>
          <p:cNvSpPr/>
          <p:nvPr/>
        </p:nvSpPr>
        <p:spPr>
          <a:xfrm>
            <a:off x="868680" y="3154680"/>
            <a:ext cx="328680" cy="328680"/>
          </a:xfrm>
          <a:prstGeom prst="ellipse">
            <a:avLst/>
          </a:prstGeom>
          <a:solidFill>
            <a:srgbClr val="003944"/>
          </a:solidFill>
          <a:ln>
            <a:solidFill>
              <a:srgbClr val="0039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4"/>
          <p:cNvSpPr/>
          <p:nvPr/>
        </p:nvSpPr>
        <p:spPr>
          <a:xfrm>
            <a:off x="1298520" y="309060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C272B"/>
                </a:solidFill>
                <a:effectLst/>
                <a:uFillTx/>
                <a:latin typeface="Aptos"/>
              </a:rPr>
              <a:t>Analyser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5"/>
          <p:cNvSpPr/>
          <p:nvPr/>
        </p:nvSpPr>
        <p:spPr>
          <a:xfrm>
            <a:off x="1298520" y="33285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D6E74"/>
                </a:solidFill>
                <a:effectLst/>
                <a:uFillTx/>
                <a:latin typeface="Aptos"/>
              </a:rPr>
              <a:t>les transactions du jeu de test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Oval 26"/>
          <p:cNvSpPr/>
          <p:nvPr/>
        </p:nvSpPr>
        <p:spPr>
          <a:xfrm>
            <a:off x="4361760" y="3154680"/>
            <a:ext cx="328680" cy="328680"/>
          </a:xfrm>
          <a:prstGeom prst="ellipse">
            <a:avLst/>
          </a:prstGeom>
          <a:solidFill>
            <a:srgbClr val="003944"/>
          </a:solidFill>
          <a:ln>
            <a:solidFill>
              <a:srgbClr val="0039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7"/>
          <p:cNvSpPr/>
          <p:nvPr/>
        </p:nvSpPr>
        <p:spPr>
          <a:xfrm>
            <a:off x="4791600" y="309060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C272B"/>
                </a:solidFill>
                <a:effectLst/>
                <a:uFillTx/>
                <a:latin typeface="Aptos"/>
              </a:rPr>
              <a:t>Isoler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8"/>
          <p:cNvSpPr/>
          <p:nvPr/>
        </p:nvSpPr>
        <p:spPr>
          <a:xfrm>
            <a:off x="4791600" y="33285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D6E74"/>
                </a:solidFill>
                <a:effectLst/>
                <a:uFillTx/>
                <a:latin typeface="Aptos"/>
              </a:rPr>
              <a:t>les alertes critiques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Oval 29"/>
          <p:cNvSpPr/>
          <p:nvPr/>
        </p:nvSpPr>
        <p:spPr>
          <a:xfrm>
            <a:off x="7845480" y="3154680"/>
            <a:ext cx="328680" cy="328680"/>
          </a:xfrm>
          <a:prstGeom prst="ellipse">
            <a:avLst/>
          </a:prstGeom>
          <a:solidFill>
            <a:srgbClr val="003944"/>
          </a:solidFill>
          <a:ln>
            <a:solidFill>
              <a:srgbClr val="0039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0"/>
          <p:cNvSpPr/>
          <p:nvPr/>
        </p:nvSpPr>
        <p:spPr>
          <a:xfrm>
            <a:off x="8275320" y="309060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C272B"/>
                </a:solidFill>
                <a:effectLst/>
                <a:uFillTx/>
                <a:latin typeface="Aptos"/>
              </a:rPr>
              <a:t>Estimer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1"/>
          <p:cNvSpPr/>
          <p:nvPr/>
        </p:nvSpPr>
        <p:spPr>
          <a:xfrm>
            <a:off x="8275320" y="332856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D6E74"/>
                </a:solidFill>
                <a:effectLst/>
                <a:uFillTx/>
                <a:latin typeface="Aptos"/>
              </a:rPr>
              <a:t>l’impact financier potentiel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2"/>
          <p:cNvSpPr/>
          <p:nvPr/>
        </p:nvSpPr>
        <p:spPr>
          <a:xfrm>
            <a:off x="3420000" y="31273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BCBE"/>
                </a:solidFill>
                <a:effectLst/>
                <a:uFillTx/>
                <a:latin typeface="Aptos"/>
              </a:rPr>
              <a:t>→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3"/>
          <p:cNvSpPr/>
          <p:nvPr/>
        </p:nvSpPr>
        <p:spPr>
          <a:xfrm>
            <a:off x="6903720" y="31273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BCBE"/>
                </a:solidFill>
                <a:effectLst/>
                <a:uFillTx/>
                <a:latin typeface="Aptos"/>
              </a:rPr>
              <a:t>→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34"/>
          <p:cNvSpPr/>
          <p:nvPr/>
        </p:nvSpPr>
        <p:spPr>
          <a:xfrm>
            <a:off x="658440" y="4060080"/>
            <a:ext cx="5166000" cy="1352880"/>
          </a:xfrm>
          <a:prstGeom prst="roundRect">
            <a:avLst>
              <a:gd name="adj" fmla="val 16667"/>
            </a:avLst>
          </a:prstGeom>
          <a:solidFill>
            <a:srgbClr val="003944"/>
          </a:solidFill>
          <a:ln w="12700">
            <a:solidFill>
              <a:srgbClr val="00394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35"/>
          <p:cNvSpPr/>
          <p:nvPr/>
        </p:nvSpPr>
        <p:spPr>
          <a:xfrm>
            <a:off x="932760" y="427932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Lecture métier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36"/>
          <p:cNvSpPr/>
          <p:nvPr/>
        </p:nvSpPr>
        <p:spPr>
          <a:xfrm>
            <a:off x="941760" y="4617720"/>
            <a:ext cx="4480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• Prioriser les transactions les plus risquées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• Concentrer le contrôle manuel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• Décider : surveillance, contrôle ou blocage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37"/>
          <p:cNvSpPr/>
          <p:nvPr/>
        </p:nvSpPr>
        <p:spPr>
          <a:xfrm>
            <a:off x="6144840" y="4060080"/>
            <a:ext cx="5321520" cy="1352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4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38"/>
          <p:cNvSpPr/>
          <p:nvPr/>
        </p:nvSpPr>
        <p:spPr>
          <a:xfrm>
            <a:off x="6419160" y="426096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C272B"/>
                </a:solidFill>
                <a:effectLst/>
                <a:uFillTx/>
                <a:latin typeface="Aptos"/>
              </a:rPr>
              <a:t>Point de prudence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39"/>
          <p:cNvSpPr/>
          <p:nvPr/>
        </p:nvSpPr>
        <p:spPr>
          <a:xfrm>
            <a:off x="6419160" y="4585320"/>
            <a:ext cx="4861080" cy="4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7360" tIns="18360" rIns="27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D6E74"/>
                </a:solidFill>
                <a:effectLst/>
                <a:uFillTx/>
                <a:latin typeface="Aptos"/>
              </a:rPr>
              <a:t>Le montant est une estimation sur le jeu de test : il illustre une valeur potentielle, pas une promesse automatique en production.</a:t>
            </a:r>
            <a:endParaRPr lang="fr-F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40"/>
          <p:cNvSpPr/>
          <p:nvPr/>
        </p:nvSpPr>
        <p:spPr>
          <a:xfrm>
            <a:off x="6144840" y="4060080"/>
            <a:ext cx="72720" cy="1352880"/>
          </a:xfrm>
          <a:prstGeom prst="rect">
            <a:avLst/>
          </a:prstGeom>
          <a:solidFill>
            <a:srgbClr val="F19C30"/>
          </a:solidFill>
          <a:ln>
            <a:solidFill>
              <a:srgbClr val="F19C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ounded Rectangle 41"/>
          <p:cNvSpPr/>
          <p:nvPr/>
        </p:nvSpPr>
        <p:spPr>
          <a:xfrm>
            <a:off x="658440" y="5669280"/>
            <a:ext cx="10807920" cy="420120"/>
          </a:xfrm>
          <a:prstGeom prst="roundRect">
            <a:avLst>
              <a:gd name="adj" fmla="val 16667"/>
            </a:avLst>
          </a:prstGeom>
          <a:solidFill>
            <a:srgbClr val="004956"/>
          </a:solidFill>
          <a:ln>
            <a:solidFill>
              <a:srgbClr val="00495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Message clé : le modèle transforme la performance technique en priorités de contrôle compréhensibles par le métier.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"/>
          <p:cNvSpPr/>
          <p:nvPr/>
        </p:nvSpPr>
        <p:spPr>
          <a:xfrm>
            <a:off x="0" y="0"/>
            <a:ext cx="12191760" cy="3106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2"/>
          <p:cNvSpPr/>
          <p:nvPr/>
        </p:nvSpPr>
        <p:spPr>
          <a:xfrm>
            <a:off x="0" y="311040"/>
            <a:ext cx="12191760" cy="4536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3"/>
          <p:cNvSpPr/>
          <p:nvPr/>
        </p:nvSpPr>
        <p:spPr>
          <a:xfrm>
            <a:off x="329040" y="-15480"/>
            <a:ext cx="69490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Présentation et exploration du dataset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4"/>
          <p:cNvSpPr/>
          <p:nvPr/>
        </p:nvSpPr>
        <p:spPr>
          <a:xfrm>
            <a:off x="7589520" y="54720"/>
            <a:ext cx="3840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2E6E8"/>
                </a:solidFill>
                <a:effectLst/>
                <a:uFillTx/>
                <a:latin typeface="Aptos"/>
              </a:rPr>
              <a:t>Un problème fortement déséquilibré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11658600" y="5040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7"/>
          <p:cNvSpPr/>
          <p:nvPr/>
        </p:nvSpPr>
        <p:spPr>
          <a:xfrm>
            <a:off x="11731680" y="6611040"/>
            <a:ext cx="155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6</a:t>
            </a:r>
            <a:endParaRPr lang="fr-FR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502920" y="54000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Comprendre la donnée avant le modèle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9"/>
          <p:cNvSpPr/>
          <p:nvPr/>
        </p:nvSpPr>
        <p:spPr>
          <a:xfrm>
            <a:off x="502920" y="1115640"/>
            <a:ext cx="566892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Le cœur du sujet : la fraude est rare, donc les métriques doivent être choisies avec prudence.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10"/>
          <p:cNvSpPr/>
          <p:nvPr/>
        </p:nvSpPr>
        <p:spPr>
          <a:xfrm>
            <a:off x="484560" y="1645920"/>
            <a:ext cx="4288320" cy="273384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7" name="Picture 11" descr="slide06_pic05.png"/>
          <p:cNvPicPr/>
          <p:nvPr/>
        </p:nvPicPr>
        <p:blipFill>
          <a:blip r:embed="rId1"/>
          <a:srcRect l="451" t="0" r="451" b="0"/>
          <a:stretch/>
        </p:blipFill>
        <p:spPr>
          <a:xfrm>
            <a:off x="306360" y="1664280"/>
            <a:ext cx="4617360" cy="292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Box 12"/>
          <p:cNvSpPr/>
          <p:nvPr/>
        </p:nvSpPr>
        <p:spPr>
          <a:xfrm>
            <a:off x="5074920" y="1664280"/>
            <a:ext cx="20113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Dataset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3"/>
          <p:cNvSpPr/>
          <p:nvPr/>
        </p:nvSpPr>
        <p:spPr>
          <a:xfrm>
            <a:off x="5047560" y="2057400"/>
            <a:ext cx="2697120" cy="177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54720" rIns="7308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≈ 300 000 transactions e-commerce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Variables client, transaction, sécurité et géographie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Cible supervisée : is_fraud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Fraudes ≈ 2,2 % des observations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14"/>
          <p:cNvSpPr/>
          <p:nvPr/>
        </p:nvSpPr>
        <p:spPr>
          <a:xfrm>
            <a:off x="5047560" y="4316040"/>
            <a:ext cx="2697120" cy="108396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5"/>
          <p:cNvSpPr/>
          <p:nvPr/>
        </p:nvSpPr>
        <p:spPr>
          <a:xfrm>
            <a:off x="5212080" y="4380120"/>
            <a:ext cx="235872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L’accuracy seule est trompeuse : il faut lire recall, precision, F1-score et matrice de confusion.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16"/>
          <p:cNvSpPr/>
          <p:nvPr/>
        </p:nvSpPr>
        <p:spPr>
          <a:xfrm>
            <a:off x="8074080" y="1033200"/>
            <a:ext cx="3099600" cy="401400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3" name="Picture 17" descr="slide06_pic02.png"/>
          <p:cNvPicPr/>
          <p:nvPr/>
        </p:nvPicPr>
        <p:blipFill>
          <a:blip r:embed="rId2"/>
          <a:stretch/>
        </p:blipFill>
        <p:spPr>
          <a:xfrm>
            <a:off x="8092440" y="695520"/>
            <a:ext cx="3337200" cy="433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Rectangle 18"/>
          <p:cNvSpPr/>
          <p:nvPr/>
        </p:nvSpPr>
        <p:spPr>
          <a:xfrm>
            <a:off x="8055720" y="5257800"/>
            <a:ext cx="3602520" cy="66384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9"/>
          <p:cNvSpPr/>
          <p:nvPr/>
        </p:nvSpPr>
        <p:spPr>
          <a:xfrm>
            <a:off x="8266680" y="5275800"/>
            <a:ext cx="269712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Lecture : la classe fraude est minoritaire, mais c’est celle qui porte le risque métier.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12191760" cy="3106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2"/>
          <p:cNvSpPr/>
          <p:nvPr/>
        </p:nvSpPr>
        <p:spPr>
          <a:xfrm>
            <a:off x="0" y="311040"/>
            <a:ext cx="12191760" cy="4536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329040" y="-61560"/>
            <a:ext cx="694908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Architecture cible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4"/>
          <p:cNvSpPr/>
          <p:nvPr/>
        </p:nvSpPr>
        <p:spPr>
          <a:xfrm>
            <a:off x="6660000" y="54720"/>
            <a:ext cx="47696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2E6E8"/>
                </a:solidFill>
                <a:effectLst/>
                <a:uFillTx/>
                <a:latin typeface="Aptos"/>
              </a:rPr>
              <a:t>Passer du notebook à une chaîne MLOps structurée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5"/>
          <p:cNvSpPr/>
          <p:nvPr/>
        </p:nvSpPr>
        <p:spPr>
          <a:xfrm>
            <a:off x="11658600" y="5040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7"/>
          <p:cNvSpPr/>
          <p:nvPr/>
        </p:nvSpPr>
        <p:spPr>
          <a:xfrm>
            <a:off x="11731680" y="6611040"/>
            <a:ext cx="155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7</a:t>
            </a:r>
            <a:endParaRPr lang="fr-FR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720000" y="540000"/>
            <a:ext cx="384012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Chaîne technique cible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9"/>
          <p:cNvSpPr/>
          <p:nvPr/>
        </p:nvSpPr>
        <p:spPr>
          <a:xfrm>
            <a:off x="685800" y="1260000"/>
            <a:ext cx="63342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Une trajectoire claire : données → préparation → modèle → suivi → usage métier.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ight Arrow 10"/>
          <p:cNvSpPr/>
          <p:nvPr/>
        </p:nvSpPr>
        <p:spPr>
          <a:xfrm>
            <a:off x="2148840" y="2139840"/>
            <a:ext cx="639720" cy="12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ight Arrow 11"/>
          <p:cNvSpPr/>
          <p:nvPr/>
        </p:nvSpPr>
        <p:spPr>
          <a:xfrm>
            <a:off x="4251960" y="2139840"/>
            <a:ext cx="639720" cy="12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ight Arrow 12"/>
          <p:cNvSpPr/>
          <p:nvPr/>
        </p:nvSpPr>
        <p:spPr>
          <a:xfrm>
            <a:off x="6355080" y="2139840"/>
            <a:ext cx="639720" cy="12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ight Arrow 13"/>
          <p:cNvSpPr/>
          <p:nvPr/>
        </p:nvSpPr>
        <p:spPr>
          <a:xfrm>
            <a:off x="8458200" y="2139840"/>
            <a:ext cx="639720" cy="12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14"/>
          <p:cNvSpPr/>
          <p:nvPr/>
        </p:nvSpPr>
        <p:spPr>
          <a:xfrm>
            <a:off x="731520" y="1764720"/>
            <a:ext cx="1416960" cy="868320"/>
          </a:xfrm>
          <a:prstGeom prst="rect">
            <a:avLst/>
          </a:prstGeom>
          <a:solidFill>
            <a:srgbClr val="052A34"/>
          </a:solidFill>
          <a:ln>
            <a:solidFill>
              <a:srgbClr val="0A74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5"/>
          <p:cNvSpPr/>
          <p:nvPr/>
        </p:nvSpPr>
        <p:spPr>
          <a:xfrm>
            <a:off x="841320" y="1856160"/>
            <a:ext cx="11973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S3 RAW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6"/>
          <p:cNvSpPr/>
          <p:nvPr/>
        </p:nvSpPr>
        <p:spPr>
          <a:xfrm>
            <a:off x="841320" y="2094120"/>
            <a:ext cx="119736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r>
              <a:rPr lang="en-US" sz="1200" b="0" u="none" strike="noStrike">
                <a:solidFill>
                  <a:srgbClr val="E6F5F5"/>
                </a:solidFill>
                <a:effectLst/>
                <a:uFillTx/>
                <a:latin typeface="Aptos"/>
              </a:rPr>
              <a:t>données brutes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6F5F5"/>
                </a:solidFill>
                <a:effectLst/>
                <a:uFillTx/>
                <a:latin typeface="Aptos"/>
              </a:rPr>
              <a:t>traçabilité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17"/>
          <p:cNvSpPr/>
          <p:nvPr/>
        </p:nvSpPr>
        <p:spPr>
          <a:xfrm>
            <a:off x="2788920" y="1764720"/>
            <a:ext cx="1462680" cy="868320"/>
          </a:xfrm>
          <a:prstGeom prst="rect">
            <a:avLst/>
          </a:prstGeom>
          <a:solidFill>
            <a:srgbClr val="052A34"/>
          </a:solidFill>
          <a:ln>
            <a:solidFill>
              <a:srgbClr val="0A74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8"/>
          <p:cNvSpPr/>
          <p:nvPr/>
        </p:nvSpPr>
        <p:spPr>
          <a:xfrm>
            <a:off x="2898720" y="1856160"/>
            <a:ext cx="12430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Airflow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9"/>
          <p:cNvSpPr/>
          <p:nvPr/>
        </p:nvSpPr>
        <p:spPr>
          <a:xfrm>
            <a:off x="2898720" y="2094120"/>
            <a:ext cx="124308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r>
              <a:rPr lang="en-US" sz="1200" b="0" u="none" strike="noStrike">
                <a:solidFill>
                  <a:srgbClr val="E6F5F5"/>
                </a:solidFill>
                <a:effectLst/>
                <a:uFillTx/>
                <a:latin typeface="Aptos"/>
              </a:rPr>
              <a:t>ingestion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6F5F5"/>
                </a:solidFill>
                <a:effectLst/>
                <a:uFillTx/>
                <a:latin typeface="Aptos"/>
              </a:rPr>
              <a:t>ordonnancée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20"/>
          <p:cNvSpPr/>
          <p:nvPr/>
        </p:nvSpPr>
        <p:spPr>
          <a:xfrm>
            <a:off x="4892040" y="1764720"/>
            <a:ext cx="1462680" cy="868320"/>
          </a:xfrm>
          <a:prstGeom prst="rect">
            <a:avLst/>
          </a:prstGeom>
          <a:solidFill>
            <a:srgbClr val="052A34"/>
          </a:solidFill>
          <a:ln>
            <a:solidFill>
              <a:srgbClr val="0A74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21"/>
          <p:cNvSpPr/>
          <p:nvPr/>
        </p:nvSpPr>
        <p:spPr>
          <a:xfrm>
            <a:off x="5001840" y="1856160"/>
            <a:ext cx="124308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Preprocessing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2"/>
          <p:cNvSpPr/>
          <p:nvPr/>
        </p:nvSpPr>
        <p:spPr>
          <a:xfrm>
            <a:off x="5001840" y="2094120"/>
            <a:ext cx="124308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r>
              <a:rPr lang="en-US" sz="1200" b="0" u="none" strike="noStrike">
                <a:solidFill>
                  <a:srgbClr val="E6F5F5"/>
                </a:solidFill>
                <a:effectLst/>
                <a:uFillTx/>
                <a:latin typeface="Aptos"/>
              </a:rPr>
              <a:t>nettoyage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6F5F5"/>
                </a:solidFill>
                <a:effectLst/>
                <a:uFillTx/>
                <a:latin typeface="Aptos"/>
              </a:rPr>
              <a:t>features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23"/>
          <p:cNvSpPr/>
          <p:nvPr/>
        </p:nvSpPr>
        <p:spPr>
          <a:xfrm>
            <a:off x="6995160" y="1764720"/>
            <a:ext cx="1462680" cy="1115280"/>
          </a:xfrm>
          <a:prstGeom prst="rect">
            <a:avLst/>
          </a:prstGeom>
          <a:solidFill>
            <a:srgbClr val="052A34"/>
          </a:solidFill>
          <a:ln>
            <a:solidFill>
              <a:srgbClr val="0A74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24"/>
          <p:cNvSpPr/>
          <p:nvPr/>
        </p:nvSpPr>
        <p:spPr>
          <a:xfrm>
            <a:off x="7104960" y="1800000"/>
            <a:ext cx="12430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S3 PROCESSED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5"/>
          <p:cNvSpPr/>
          <p:nvPr/>
        </p:nvSpPr>
        <p:spPr>
          <a:xfrm>
            <a:off x="7104960" y="2209320"/>
            <a:ext cx="124308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r>
              <a:rPr lang="en-US" sz="1200" b="0" u="none" strike="noStrike">
                <a:solidFill>
                  <a:srgbClr val="E6F5F5"/>
                </a:solidFill>
                <a:effectLst/>
                <a:uFillTx/>
                <a:latin typeface="Aptos"/>
              </a:rPr>
              <a:t>données prêtes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6F5F5"/>
                </a:solidFill>
                <a:effectLst/>
                <a:uFillTx/>
                <a:latin typeface="Aptos"/>
              </a:rPr>
              <a:t>modèle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26"/>
          <p:cNvSpPr/>
          <p:nvPr/>
        </p:nvSpPr>
        <p:spPr>
          <a:xfrm>
            <a:off x="9098280" y="1764720"/>
            <a:ext cx="1462680" cy="868320"/>
          </a:xfrm>
          <a:prstGeom prst="rect">
            <a:avLst/>
          </a:prstGeom>
          <a:solidFill>
            <a:srgbClr val="052A34"/>
          </a:solidFill>
          <a:ln>
            <a:solidFill>
              <a:srgbClr val="0A74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7"/>
          <p:cNvSpPr/>
          <p:nvPr/>
        </p:nvSpPr>
        <p:spPr>
          <a:xfrm>
            <a:off x="9208080" y="1856160"/>
            <a:ext cx="12430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Serving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8"/>
          <p:cNvSpPr/>
          <p:nvPr/>
        </p:nvSpPr>
        <p:spPr>
          <a:xfrm>
            <a:off x="9208080" y="2094120"/>
            <a:ext cx="124308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r>
              <a:rPr lang="en-US" sz="1200" b="0" u="none" strike="noStrike">
                <a:solidFill>
                  <a:srgbClr val="E6F5F5"/>
                </a:solidFill>
                <a:effectLst/>
                <a:uFillTx/>
                <a:latin typeface="Aptos"/>
              </a:rPr>
              <a:t>API ou app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E6F5F5"/>
                </a:solidFill>
                <a:effectLst/>
                <a:uFillTx/>
                <a:latin typeface="Aptos"/>
              </a:rPr>
              <a:t>Streamlit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29"/>
          <p:cNvSpPr/>
          <p:nvPr/>
        </p:nvSpPr>
        <p:spPr>
          <a:xfrm>
            <a:off x="731520" y="3291840"/>
            <a:ext cx="2834280" cy="71280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Rectangle 30"/>
          <p:cNvSpPr/>
          <p:nvPr/>
        </p:nvSpPr>
        <p:spPr>
          <a:xfrm>
            <a:off x="731520" y="3291840"/>
            <a:ext cx="63720" cy="71280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31"/>
          <p:cNvSpPr/>
          <p:nvPr/>
        </p:nvSpPr>
        <p:spPr>
          <a:xfrm>
            <a:off x="841320" y="3349800"/>
            <a:ext cx="2559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RAW = traçabilité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2"/>
          <p:cNvSpPr/>
          <p:nvPr/>
        </p:nvSpPr>
        <p:spPr>
          <a:xfrm>
            <a:off x="831960" y="3561840"/>
            <a:ext cx="255996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Conserver la donnée brute permet de contrôler et rejouer le pipeline.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33"/>
          <p:cNvSpPr/>
          <p:nvPr/>
        </p:nvSpPr>
        <p:spPr>
          <a:xfrm>
            <a:off x="795600" y="4187880"/>
            <a:ext cx="2742840" cy="65880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34"/>
          <p:cNvSpPr/>
          <p:nvPr/>
        </p:nvSpPr>
        <p:spPr>
          <a:xfrm>
            <a:off x="731520" y="4187880"/>
            <a:ext cx="63720" cy="71280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35"/>
          <p:cNvSpPr/>
          <p:nvPr/>
        </p:nvSpPr>
        <p:spPr>
          <a:xfrm>
            <a:off x="817560" y="4159440"/>
            <a:ext cx="2559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PROCESSED = exploitation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36"/>
          <p:cNvSpPr/>
          <p:nvPr/>
        </p:nvSpPr>
        <p:spPr>
          <a:xfrm>
            <a:off x="817560" y="4321080"/>
            <a:ext cx="2431800" cy="5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Les données préparées deviennent utilisables pour l’entraînement et la prédiction.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37"/>
          <p:cNvSpPr/>
          <p:nvPr/>
        </p:nvSpPr>
        <p:spPr>
          <a:xfrm>
            <a:off x="731520" y="5083920"/>
            <a:ext cx="2834280" cy="71280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38"/>
          <p:cNvSpPr/>
          <p:nvPr/>
        </p:nvSpPr>
        <p:spPr>
          <a:xfrm>
            <a:off x="731520" y="5083920"/>
            <a:ext cx="63720" cy="712800"/>
          </a:xfrm>
          <a:prstGeom prst="rect">
            <a:avLst/>
          </a:prstGeom>
          <a:solidFill>
            <a:srgbClr val="F3A646"/>
          </a:solidFill>
          <a:ln>
            <a:solidFill>
              <a:srgbClr val="F3A6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39"/>
          <p:cNvSpPr/>
          <p:nvPr/>
        </p:nvSpPr>
        <p:spPr>
          <a:xfrm>
            <a:off x="887040" y="5175360"/>
            <a:ext cx="25599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3A646"/>
                </a:solidFill>
                <a:effectLst/>
                <a:uFillTx/>
                <a:latin typeface="Aptos"/>
              </a:rPr>
              <a:t>Décision contrôlée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40"/>
          <p:cNvSpPr/>
          <p:nvPr/>
        </p:nvSpPr>
        <p:spPr>
          <a:xfrm>
            <a:off x="868680" y="5384880"/>
            <a:ext cx="255996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Le drift invite à analyser puis valider avant tout réentraînement.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41"/>
          <p:cNvSpPr/>
          <p:nvPr/>
        </p:nvSpPr>
        <p:spPr>
          <a:xfrm>
            <a:off x="4069080" y="3520440"/>
            <a:ext cx="2011320" cy="115956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ectangle 42"/>
          <p:cNvSpPr/>
          <p:nvPr/>
        </p:nvSpPr>
        <p:spPr>
          <a:xfrm>
            <a:off x="4069080" y="3520440"/>
            <a:ext cx="63720" cy="840960"/>
          </a:xfrm>
          <a:prstGeom prst="rect">
            <a:avLst/>
          </a:prstGeom>
          <a:solidFill>
            <a:srgbClr val="F3A646"/>
          </a:solidFill>
          <a:ln>
            <a:solidFill>
              <a:srgbClr val="F3A6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43"/>
          <p:cNvSpPr/>
          <p:nvPr/>
        </p:nvSpPr>
        <p:spPr>
          <a:xfrm>
            <a:off x="4187880" y="3574440"/>
            <a:ext cx="17370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3A646"/>
                </a:solidFill>
                <a:effectLst/>
                <a:uFillTx/>
                <a:latin typeface="Aptos"/>
              </a:rPr>
              <a:t>Monitoring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44"/>
          <p:cNvSpPr/>
          <p:nvPr/>
        </p:nvSpPr>
        <p:spPr>
          <a:xfrm>
            <a:off x="4169520" y="3795840"/>
            <a:ext cx="17370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Surveiller la qualité des données, le drift et la stabilité des prédictions.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45"/>
          <p:cNvSpPr/>
          <p:nvPr/>
        </p:nvSpPr>
        <p:spPr>
          <a:xfrm>
            <a:off x="6309360" y="3520440"/>
            <a:ext cx="2011320" cy="133956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Rectangle 46"/>
          <p:cNvSpPr/>
          <p:nvPr/>
        </p:nvSpPr>
        <p:spPr>
          <a:xfrm>
            <a:off x="6309360" y="3520440"/>
            <a:ext cx="63720" cy="840960"/>
          </a:xfrm>
          <a:prstGeom prst="rect">
            <a:avLst/>
          </a:prstGeom>
          <a:solidFill>
            <a:srgbClr val="299E78"/>
          </a:solidFill>
          <a:ln>
            <a:solidFill>
              <a:srgbClr val="299E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47"/>
          <p:cNvSpPr/>
          <p:nvPr/>
        </p:nvSpPr>
        <p:spPr>
          <a:xfrm>
            <a:off x="6464880" y="3611880"/>
            <a:ext cx="17370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99E78"/>
                </a:solidFill>
                <a:effectLst/>
                <a:uFillTx/>
                <a:latin typeface="Aptos"/>
              </a:rPr>
              <a:t>Training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48"/>
          <p:cNvSpPr/>
          <p:nvPr/>
        </p:nvSpPr>
        <p:spPr>
          <a:xfrm>
            <a:off x="6409800" y="3809880"/>
            <a:ext cx="17370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Réentraîner uniquement si les données ou les performances le justifient.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49"/>
          <p:cNvSpPr/>
          <p:nvPr/>
        </p:nvSpPr>
        <p:spPr>
          <a:xfrm>
            <a:off x="8549640" y="3520440"/>
            <a:ext cx="2011320" cy="84096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ectangle 50"/>
          <p:cNvSpPr/>
          <p:nvPr/>
        </p:nvSpPr>
        <p:spPr>
          <a:xfrm>
            <a:off x="8549640" y="3520440"/>
            <a:ext cx="63720" cy="84096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51"/>
          <p:cNvSpPr/>
          <p:nvPr/>
        </p:nvSpPr>
        <p:spPr>
          <a:xfrm>
            <a:off x="8705160" y="3611880"/>
            <a:ext cx="17370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MLflow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52"/>
          <p:cNvSpPr/>
          <p:nvPr/>
        </p:nvSpPr>
        <p:spPr>
          <a:xfrm>
            <a:off x="8650080" y="3795840"/>
            <a:ext cx="17370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Tracer les métriques, les artefacts et les versions du modèle.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53"/>
          <p:cNvSpPr/>
          <p:nvPr/>
        </p:nvSpPr>
        <p:spPr>
          <a:xfrm>
            <a:off x="4069080" y="5139000"/>
            <a:ext cx="6491880" cy="52992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54"/>
          <p:cNvSpPr/>
          <p:nvPr/>
        </p:nvSpPr>
        <p:spPr>
          <a:xfrm>
            <a:off x="4279320" y="5215320"/>
            <a:ext cx="60804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Message clé : passer d’un modèle isolé à une chaîne suivie, traçable et maintenable.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0" y="0"/>
            <a:ext cx="12191760" cy="3106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2"/>
          <p:cNvSpPr/>
          <p:nvPr/>
        </p:nvSpPr>
        <p:spPr>
          <a:xfrm>
            <a:off x="0" y="311040"/>
            <a:ext cx="12191760" cy="4536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3"/>
          <p:cNvSpPr/>
          <p:nvPr/>
        </p:nvSpPr>
        <p:spPr>
          <a:xfrm>
            <a:off x="329040" y="-30960"/>
            <a:ext cx="6949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Airflow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7589520" y="54720"/>
            <a:ext cx="38401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2E6E8"/>
                </a:solidFill>
                <a:effectLst/>
                <a:uFillTx/>
                <a:latin typeface="Aptos"/>
              </a:rPr>
              <a:t>Orchestrer les étapes du pipeline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5"/>
          <p:cNvSpPr/>
          <p:nvPr/>
        </p:nvSpPr>
        <p:spPr>
          <a:xfrm>
            <a:off x="11658600" y="5040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7"/>
          <p:cNvSpPr/>
          <p:nvPr/>
        </p:nvSpPr>
        <p:spPr>
          <a:xfrm>
            <a:off x="11731680" y="6611040"/>
            <a:ext cx="155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8</a:t>
            </a:r>
            <a:endParaRPr lang="fr-FR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8"/>
          <p:cNvSpPr/>
          <p:nvPr/>
        </p:nvSpPr>
        <p:spPr>
          <a:xfrm>
            <a:off x="621720" y="896040"/>
            <a:ext cx="10917720" cy="355680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6" name="Picture 9" descr="slide08_pic04.png"/>
          <p:cNvPicPr/>
          <p:nvPr/>
        </p:nvPicPr>
        <p:blipFill>
          <a:blip r:embed="rId1"/>
          <a:srcRect l="0" t="10540" r="0" b="10540"/>
          <a:stretch/>
        </p:blipFill>
        <p:spPr>
          <a:xfrm>
            <a:off x="640080" y="914400"/>
            <a:ext cx="10881000" cy="352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Rectangle 10"/>
          <p:cNvSpPr/>
          <p:nvPr/>
        </p:nvSpPr>
        <p:spPr>
          <a:xfrm>
            <a:off x="640080" y="4892040"/>
            <a:ext cx="3474360" cy="5482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804600" y="5001840"/>
            <a:ext cx="6397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Rôle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2"/>
          <p:cNvSpPr/>
          <p:nvPr/>
        </p:nvSpPr>
        <p:spPr>
          <a:xfrm>
            <a:off x="1265040" y="4938120"/>
            <a:ext cx="2514240" cy="5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Automatiser les étapes, suivre les erreurs et relancer une tâche sans refaire tout le pipeline.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13"/>
          <p:cNvSpPr/>
          <p:nvPr/>
        </p:nvSpPr>
        <p:spPr>
          <a:xfrm>
            <a:off x="4343400" y="4892040"/>
            <a:ext cx="2925720" cy="5482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14"/>
          <p:cNvSpPr/>
          <p:nvPr/>
        </p:nvSpPr>
        <p:spPr>
          <a:xfrm>
            <a:off x="4498920" y="5001840"/>
            <a:ext cx="6397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DAGs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5"/>
          <p:cNvSpPr/>
          <p:nvPr/>
        </p:nvSpPr>
        <p:spPr>
          <a:xfrm>
            <a:off x="5074920" y="4930200"/>
            <a:ext cx="201132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Ingestion, preprocessing, drift, entraînement ou réentraînement.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16"/>
          <p:cNvSpPr/>
          <p:nvPr/>
        </p:nvSpPr>
        <p:spPr>
          <a:xfrm>
            <a:off x="7498080" y="4892040"/>
            <a:ext cx="3657240" cy="5482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17"/>
          <p:cNvSpPr/>
          <p:nvPr/>
        </p:nvSpPr>
        <p:spPr>
          <a:xfrm>
            <a:off x="7726680" y="5010840"/>
            <a:ext cx="32000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Airflow = chef d’orchestre du projet data.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0" y="0"/>
            <a:ext cx="12191760" cy="3106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ectangle 2"/>
          <p:cNvSpPr/>
          <p:nvPr/>
        </p:nvSpPr>
        <p:spPr>
          <a:xfrm>
            <a:off x="0" y="311040"/>
            <a:ext cx="12191760" cy="4536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3"/>
          <p:cNvSpPr/>
          <p:nvPr/>
        </p:nvSpPr>
        <p:spPr>
          <a:xfrm>
            <a:off x="329040" y="-61560"/>
            <a:ext cx="694908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Conclusion et perspectives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4"/>
          <p:cNvSpPr/>
          <p:nvPr/>
        </p:nvSpPr>
        <p:spPr>
          <a:xfrm>
            <a:off x="5760000" y="54720"/>
            <a:ext cx="566964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D2E6E8"/>
                </a:solidFill>
                <a:effectLst/>
                <a:uFillTx/>
                <a:latin typeface="Aptos"/>
              </a:rPr>
              <a:t>Une solution de priorisation du risque fraude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5"/>
          <p:cNvSpPr/>
          <p:nvPr/>
        </p:nvSpPr>
        <p:spPr>
          <a:xfrm>
            <a:off x="11658600" y="5040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9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7"/>
          <p:cNvSpPr/>
          <p:nvPr/>
        </p:nvSpPr>
        <p:spPr>
          <a:xfrm>
            <a:off x="11731680" y="6611040"/>
            <a:ext cx="155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9</a:t>
            </a:r>
            <a:endParaRPr lang="fr-FR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8"/>
          <p:cNvSpPr/>
          <p:nvPr/>
        </p:nvSpPr>
        <p:spPr>
          <a:xfrm>
            <a:off x="640080" y="868680"/>
            <a:ext cx="37486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Apports clés du modèle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9"/>
          <p:cNvSpPr/>
          <p:nvPr/>
        </p:nvSpPr>
        <p:spPr>
          <a:xfrm>
            <a:off x="777240" y="1353240"/>
            <a:ext cx="4388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54720" rIns="7308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Réduction du risque de fraude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Détection précise sans bloquer inutilement les clients légitimes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Aide à la priorisation des transactions à risque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0"/>
          <p:cNvSpPr/>
          <p:nvPr/>
        </p:nvSpPr>
        <p:spPr>
          <a:xfrm>
            <a:off x="640080" y="3246120"/>
            <a:ext cx="37486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Évolutions possibles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1"/>
          <p:cNvSpPr/>
          <p:nvPr/>
        </p:nvSpPr>
        <p:spPr>
          <a:xfrm>
            <a:off x="777240" y="3703320"/>
            <a:ext cx="4754520" cy="12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54720" rIns="73080" bIns="5472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Modèles plus avancés : Deep Learning, Graph ML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Seuils de décision dynamiques selon le contexte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Détection de nouveaux comportements frauduleux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• Industrialisation complète et monitoring continu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12"/>
          <p:cNvSpPr/>
          <p:nvPr/>
        </p:nvSpPr>
        <p:spPr>
          <a:xfrm>
            <a:off x="6629400" y="960120"/>
            <a:ext cx="1645560" cy="6580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3"/>
          <p:cNvSpPr/>
          <p:nvPr/>
        </p:nvSpPr>
        <p:spPr>
          <a:xfrm>
            <a:off x="6720840" y="103320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XGBoost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4"/>
          <p:cNvSpPr/>
          <p:nvPr/>
        </p:nvSpPr>
        <p:spPr>
          <a:xfrm>
            <a:off x="6720840" y="1325880"/>
            <a:ext cx="146268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modèle final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15"/>
          <p:cNvSpPr/>
          <p:nvPr/>
        </p:nvSpPr>
        <p:spPr>
          <a:xfrm>
            <a:off x="8549640" y="960120"/>
            <a:ext cx="1645560" cy="6580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16"/>
          <p:cNvSpPr/>
          <p:nvPr/>
        </p:nvSpPr>
        <p:spPr>
          <a:xfrm>
            <a:off x="8641080" y="103320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Streamlit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7"/>
          <p:cNvSpPr/>
          <p:nvPr/>
        </p:nvSpPr>
        <p:spPr>
          <a:xfrm>
            <a:off x="8641080" y="1325880"/>
            <a:ext cx="146268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interface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18"/>
          <p:cNvSpPr/>
          <p:nvPr/>
        </p:nvSpPr>
        <p:spPr>
          <a:xfrm>
            <a:off x="6629400" y="1874520"/>
            <a:ext cx="1645560" cy="6580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19"/>
          <p:cNvSpPr/>
          <p:nvPr/>
        </p:nvSpPr>
        <p:spPr>
          <a:xfrm>
            <a:off x="6720840" y="194760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MLOps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0"/>
          <p:cNvSpPr/>
          <p:nvPr/>
        </p:nvSpPr>
        <p:spPr>
          <a:xfrm>
            <a:off x="6720840" y="2240280"/>
            <a:ext cx="146268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approche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21"/>
          <p:cNvSpPr/>
          <p:nvPr/>
        </p:nvSpPr>
        <p:spPr>
          <a:xfrm>
            <a:off x="8549640" y="1874520"/>
            <a:ext cx="1645560" cy="6580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2"/>
          <p:cNvSpPr/>
          <p:nvPr/>
        </p:nvSpPr>
        <p:spPr>
          <a:xfrm>
            <a:off x="8641080" y="1947600"/>
            <a:ext cx="1462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GitHub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3"/>
          <p:cNvSpPr/>
          <p:nvPr/>
        </p:nvSpPr>
        <p:spPr>
          <a:xfrm>
            <a:off x="8641080" y="2240280"/>
            <a:ext cx="146268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dépôt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24"/>
          <p:cNvSpPr/>
          <p:nvPr/>
        </p:nvSpPr>
        <p:spPr>
          <a:xfrm>
            <a:off x="6629400" y="3703320"/>
            <a:ext cx="3748680" cy="11566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25"/>
          <p:cNvSpPr/>
          <p:nvPr/>
        </p:nvSpPr>
        <p:spPr>
          <a:xfrm>
            <a:off x="6885360" y="3764520"/>
            <a:ext cx="3309840" cy="7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 projet fournit une base solide : prédire, expliquer et prioriser les transactions à risque.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0" y="0"/>
            <a:ext cx="12191760" cy="31068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Rectangle 2"/>
          <p:cNvSpPr/>
          <p:nvPr/>
        </p:nvSpPr>
        <p:spPr>
          <a:xfrm>
            <a:off x="0" y="311040"/>
            <a:ext cx="12191760" cy="4536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329040" y="50400"/>
            <a:ext cx="6949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Merci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4"/>
          <p:cNvSpPr/>
          <p:nvPr/>
        </p:nvSpPr>
        <p:spPr>
          <a:xfrm>
            <a:off x="7589520" y="54720"/>
            <a:ext cx="3840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D2E6E8"/>
                </a:solidFill>
                <a:effectLst/>
                <a:uFillTx/>
                <a:latin typeface="Aptos"/>
              </a:rPr>
              <a:t>Détecteur de fraude e-commerce — Bloc 6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5"/>
          <p:cNvSpPr/>
          <p:nvPr/>
        </p:nvSpPr>
        <p:spPr>
          <a:xfrm>
            <a:off x="11658600" y="50400"/>
            <a:ext cx="228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</a:t>
            </a:r>
            <a:endParaRPr lang="fr-F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7"/>
          <p:cNvSpPr/>
          <p:nvPr/>
        </p:nvSpPr>
        <p:spPr>
          <a:xfrm>
            <a:off x="11731680" y="6611040"/>
            <a:ext cx="155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65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10</a:t>
            </a:r>
            <a:endParaRPr lang="fr-FR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8"/>
          <p:cNvSpPr/>
          <p:nvPr/>
        </p:nvSpPr>
        <p:spPr>
          <a:xfrm>
            <a:off x="731520" y="914400"/>
            <a:ext cx="7131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024"/>
                </a:solidFill>
                <a:effectLst/>
                <a:uFillTx/>
                <a:latin typeface="Aptos"/>
              </a:rPr>
              <a:t>Analyse et prédiction du risque de fraude aux paiements en ligne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9"/>
          <p:cNvSpPr/>
          <p:nvPr/>
        </p:nvSpPr>
        <p:spPr>
          <a:xfrm>
            <a:off x="749880" y="1856160"/>
            <a:ext cx="6309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Une réponse complète : modèle, application, architecture et aide à la décision.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10"/>
          <p:cNvSpPr/>
          <p:nvPr/>
        </p:nvSpPr>
        <p:spPr>
          <a:xfrm>
            <a:off x="777240" y="2834640"/>
            <a:ext cx="1645560" cy="6580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11"/>
          <p:cNvSpPr/>
          <p:nvPr/>
        </p:nvSpPr>
        <p:spPr>
          <a:xfrm>
            <a:off x="868680" y="2907720"/>
            <a:ext cx="14626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299 695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2"/>
          <p:cNvSpPr/>
          <p:nvPr/>
        </p:nvSpPr>
        <p:spPr>
          <a:xfrm>
            <a:off x="868680" y="3200400"/>
            <a:ext cx="146268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transactions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13"/>
          <p:cNvSpPr/>
          <p:nvPr/>
        </p:nvSpPr>
        <p:spPr>
          <a:xfrm>
            <a:off x="2651760" y="2834640"/>
            <a:ext cx="1462680" cy="6580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14"/>
          <p:cNvSpPr/>
          <p:nvPr/>
        </p:nvSpPr>
        <p:spPr>
          <a:xfrm>
            <a:off x="2743200" y="2907720"/>
            <a:ext cx="127980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≈ 2,2 %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15"/>
          <p:cNvSpPr/>
          <p:nvPr/>
        </p:nvSpPr>
        <p:spPr>
          <a:xfrm>
            <a:off x="2743200" y="3200400"/>
            <a:ext cx="12798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fraude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16"/>
          <p:cNvSpPr/>
          <p:nvPr/>
        </p:nvSpPr>
        <p:spPr>
          <a:xfrm>
            <a:off x="4343400" y="2834640"/>
            <a:ext cx="1508400" cy="6580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7"/>
          <p:cNvSpPr/>
          <p:nvPr/>
        </p:nvSpPr>
        <p:spPr>
          <a:xfrm>
            <a:off x="4434840" y="2907720"/>
            <a:ext cx="13255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≈ 0,83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8"/>
          <p:cNvSpPr/>
          <p:nvPr/>
        </p:nvSpPr>
        <p:spPr>
          <a:xfrm>
            <a:off x="4434840" y="3200400"/>
            <a:ext cx="13255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recall fraude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19"/>
          <p:cNvSpPr/>
          <p:nvPr/>
        </p:nvSpPr>
        <p:spPr>
          <a:xfrm>
            <a:off x="6080760" y="2834640"/>
            <a:ext cx="1508400" cy="658080"/>
          </a:xfrm>
          <a:prstGeom prst="rect">
            <a:avLst/>
          </a:prstGeom>
          <a:solidFill>
            <a:srgbClr val="FFFFFF"/>
          </a:solidFill>
          <a:ln>
            <a:solidFill>
              <a:srgbClr val="E0EB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20"/>
          <p:cNvSpPr/>
          <p:nvPr/>
        </p:nvSpPr>
        <p:spPr>
          <a:xfrm>
            <a:off x="6172200" y="2907720"/>
            <a:ext cx="13255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2B8B2"/>
                </a:solidFill>
                <a:effectLst/>
                <a:uFillTx/>
                <a:latin typeface="Aptos"/>
              </a:rPr>
              <a:t>≈ 0,79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21"/>
          <p:cNvSpPr/>
          <p:nvPr/>
        </p:nvSpPr>
        <p:spPr>
          <a:xfrm>
            <a:off x="6172200" y="3200400"/>
            <a:ext cx="13255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A696E"/>
                </a:solidFill>
                <a:effectLst/>
                <a:uFillTx/>
                <a:latin typeface="Aptos"/>
              </a:rPr>
              <a:t>precision fraude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ectangle 22"/>
          <p:cNvSpPr/>
          <p:nvPr/>
        </p:nvSpPr>
        <p:spPr>
          <a:xfrm>
            <a:off x="320040" y="4754880"/>
            <a:ext cx="6309000" cy="502560"/>
          </a:xfrm>
          <a:prstGeom prst="rect">
            <a:avLst/>
          </a:prstGeom>
          <a:solidFill>
            <a:srgbClr val="073440"/>
          </a:solidFill>
          <a:ln>
            <a:solidFill>
              <a:srgbClr val="0734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Rectangle 24"/>
          <p:cNvSpPr/>
          <p:nvPr/>
        </p:nvSpPr>
        <p:spPr>
          <a:xfrm>
            <a:off x="8138160" y="4526280"/>
            <a:ext cx="2194200" cy="685440"/>
          </a:xfrm>
          <a:prstGeom prst="rect">
            <a:avLst/>
          </a:prstGeom>
          <a:solidFill>
            <a:srgbClr val="12B8B2"/>
          </a:solidFill>
          <a:ln>
            <a:solidFill>
              <a:srgbClr val="12B8B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25"/>
          <p:cNvSpPr/>
          <p:nvPr/>
        </p:nvSpPr>
        <p:spPr>
          <a:xfrm>
            <a:off x="8458200" y="4681800"/>
            <a:ext cx="155412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36720" rIns="36720" bIns="3672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Questions ?</a:t>
            </a: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6" descr="slide10_pic01.png"/>
          <p:cNvPicPr/>
          <p:nvPr/>
        </p:nvPicPr>
        <p:blipFill>
          <a:blip r:embed="rId1"/>
          <a:srcRect l="1327" t="0" r="1327" b="0"/>
          <a:stretch/>
        </p:blipFill>
        <p:spPr>
          <a:xfrm>
            <a:off x="7315200" y="1463040"/>
            <a:ext cx="4023000" cy="191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LibreOffice/26.2.3.2$Windows_X86_64 LibreOffice_project/70e089b17412e4cb7773e41413306b17a2328c34</Application>
  <AppVersion>15.0000</AppVersion>
  <Words>998</Words>
  <Paragraphs>184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Etudiant Thomas JEDHA</dc:creator>
  <dc:description>generated using python-pptx</dc:description>
  <dc:language>fr-FR</dc:language>
  <cp:lastModifiedBy/>
  <dcterms:modified xsi:type="dcterms:W3CDTF">2026-05-28T17:34:52Z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10</vt:i4>
  </property>
</Properties>
</file>